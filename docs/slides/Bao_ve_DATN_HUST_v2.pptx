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7"/>
    <p:sldId id="264" r:id="rId6"/>
    <p:sldId id="265" r:id="rId5"/>
    <p:sldId id="266" r:id="rId4"/>
    <p:sldId id="267" r:id="rId3"/>
    <p:sldId id="268" r:id="rId2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0"/>
            <a:ext cx="8412480" cy="1554480"/>
          </a:xfrm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  <a:latin typeface="Be Vietnam Pro"/>
              </a:rPr>
              <a:t>PHẦN MỀM QUẢN LÝ KHEN THƯỞNG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Tại Học viện Khoa học Quân sự</a:t>
            </a:r>
          </a:p>
          <a:p>
            <a:pPr algn="ctr"/>
            <a:r>
              <a:rPr sz="1200" b="0">
                <a:solidFill>
                  <a:srgbClr val="FFE8E8"/>
                </a:solidFill>
              </a:rPr>
              <a:t>Đồ án Tốt nghiệp Đại học · Niên khóa 2025/2026</a:t>
            </a:r>
          </a:p>
          <a:p>
            <a:pPr algn="ctr"/>
            <a:r>
              <a:rPr sz="600" b="0">
                <a:solidFill>
                  <a:srgbClr val="FFE8E8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Sinh viên: Trần Anh Đức · MSSV 20220120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Giảng viên hướng dẫn: ThS. Lê Đức Trung</a:t>
            </a:r>
          </a:p>
          <a:p>
            <a:pPr algn="ctr"/>
            <a:r>
              <a:rPr sz="1200" b="0">
                <a:solidFill>
                  <a:srgbClr val="FFE8E8"/>
                </a:solidFill>
              </a:rPr>
              <a:t>Hà Nội,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Nội dung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e Vietnam Pro"/>
              </a:rPr>
              <a:t>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097280"/>
            <a:ext cx="6629400" cy="10515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0000"/>
                </a:solidFill>
                <a:latin typeface="Be Vietnam Pro"/>
              </a:rPr>
              <a:t>PHẦN I — Mở đầu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Mục tiêu · hệ thống &amp; chuỗi danh hiệu · phân tích bài toán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13432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13432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e Vietnam Pro"/>
              </a:rPr>
              <a:t>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313432"/>
            <a:ext cx="6629400" cy="10515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0000"/>
                </a:solidFill>
                <a:latin typeface="Be Vietnam Pro"/>
              </a:rPr>
              <a:t>PHẦN II — Công nghệ &amp; Thiết kế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Công nghệ · kiến trúc · CSDL (ERD) · use-case · quy trình ·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9583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529583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e Vietnam Pro"/>
              </a:rPr>
              <a:t>III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3529583"/>
            <a:ext cx="6629400" cy="10515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0000"/>
                </a:solidFill>
                <a:latin typeface="Be Vietnam Pro"/>
              </a:rPr>
              <a:t>PHẦN III — Các đóng góp nổi bật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Tự động xét điều kiện · số hoá quy trình · nhập Excel · lưu vết &amp; sao lưu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45736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745736"/>
            <a:ext cx="1051560" cy="105156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e Vietnam Pro"/>
              </a:rPr>
              <a:t>IV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4745736"/>
            <a:ext cx="6629400" cy="10515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0000"/>
                </a:solidFill>
                <a:latin typeface="Be Vietnam Pro"/>
              </a:rPr>
              <a:t>PHẦN IV — Đánh giá &amp; Tổng kết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Kiểm thử · triển khai · 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Be Vietnam Pro"/>
              </a:rPr>
              <a:t>PHẦN I — Mở đầu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Mục tiêu của đồ án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Hệ thống và chuỗi danh hiệu khen thưởng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Phân tích bài toán và các thách thức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Mục tiêu của đồ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Bối cảnh và động lực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Khen thưởng tại đơn vị quân đội hiện chủ yếu dựa trên Excel và hồ sơ giấy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Khó tra cứu lịch sử khen thưởng nhiều năm; dễ bỏ sót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Quy định chuỗi danh hiệu phức tạp (BKBQP, CSTĐTQ, BKTTCP) dễ sai khi tính tay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Mục tiêu cụ thể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Quản lý bảy nhóm khen thưởng với bốn cấp vai trò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Tự động hoá xét điều kiện theo quy định hiện hành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Hỗ trợ quy trình: đề xuất → đính kèm quyết định → phê duyệt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Bảo đảm truy vết, bảo mật; chạy trong mạng nội bộ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Mục tiêu cốt lõi: giảm sai sót thủ công, tiết kiệm thời gian, đúng quy định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e Vietnam Pro"/>
              </a:rPr>
              <a:t>Hệ thống khen thưởng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8503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164592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Nhóm khen thưởng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Phân rã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Tiêu chí xét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Hằng năm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Cá nhân (CSTĐCS, CSTT, BKBQP, CSTĐTQ, BKTTCP); Đơn vị (ĐVQT, ĐVTT, BKBQP, BKTTCP)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năm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Niên hạn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HCCSVV (3 hạng), HCQKQT, KNC VSNXD QĐNDVN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năm phục vụ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Cống hiến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HCBVTQ (3 hạng)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120 tháng (nam) / 80 (nữ)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Thành tích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NCKH (đề tài, sáng kiến)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công trình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Đột xuất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sự kiện / chiến công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Phi định kỳ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4937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7280"/>
                </a:solidFill>
              </a:rPr>
              <a:t>Bốn nhóm đầu gồm bảy loại đề xuất xử lý qua Strategy pattern; khen thưởng đột xuất quản lý riêng, ngoài luồng đề xuất.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Chuỗi danh hiệu hằng năm (cá nhân)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8046720" cy="530352"/>
          </a:xfrm>
          <a:prstGeom prst="roundRect">
            <a:avLst>
              <a:gd name="adj" fmla="val 8000"/>
            </a:avLst>
          </a:prstGeom>
          <a:solidFill>
            <a:srgbClr val="FBEFD8"/>
          </a:solidFill>
          <a:ln w="12700">
            <a:solidFill>
              <a:srgbClr val="B56A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6A00"/>
                </a:solidFill>
                <a:latin typeface="Be Vietnam Pro"/>
              </a:rPr>
              <a:t>Nền tảng: CSTĐCS + Nghiên cứu khoa học liên tục mỗi năm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C84642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BKBQP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Chu kỳ 2 năm CSTĐCS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53512" y="2473451"/>
            <a:ext cx="256032" cy="402336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874519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CSTĐTQ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Chu kỳ 3 năm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+ ≥1 BKBQP (cửa sổ 3 năm)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50992" y="2473451"/>
            <a:ext cx="256032" cy="402336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8B101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BKTTCP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Chu kỳ 7 năm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+ 3 BKBQP + 2 CSTĐTQ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e Vietnam Pro"/>
              </a:rPr>
              <a:t>(một lần duy nhất)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8046720" cy="54864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Đơn vị:  ĐVQT  →  BKBQP (2 năm)  →  BKTTCP (7 năm)   ·   có thể nhận lặp lại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98848"/>
            <a:ext cx="8046720" cy="603504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84642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Be Vietnam Pro"/>
              </a:rPr>
              <a:t>Lỡ đợt: bỏ lỡ mốc đề nghị thì chu kỳ vẫn đếm tiếp — chu kỳ sau vẫn được xét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Minh hoạ chuỗi danh hiệu cá nhân — ví dụ 7 năm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931920"/>
            <a:ext cx="8138160" cy="502920"/>
          </a:xfrm>
          <a:prstGeom prst="roundRect">
            <a:avLst>
              <a:gd name="adj" fmla="val 8000"/>
            </a:avLst>
          </a:prstGeom>
          <a:solidFill>
            <a:srgbClr val="FBEFD8"/>
          </a:solidFill>
          <a:ln w="12700">
            <a:solidFill>
              <a:srgbClr val="B56A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56A00"/>
                </a:solidFill>
                <a:latin typeface="Be Vietnam Pro"/>
              </a:rPr>
              <a:t>Nền tảng: CSTĐCS + NCKH liên tục mỗi năm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383280"/>
            <a:ext cx="27432" cy="548639"/>
          </a:xfrm>
          <a:prstGeom prst="roundRect">
            <a:avLst>
              <a:gd name="adj" fmla="val 8000"/>
            </a:avLst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5284" y="2606040"/>
            <a:ext cx="27432" cy="1325879"/>
          </a:xfrm>
          <a:prstGeom prst="roundRect">
            <a:avLst>
              <a:gd name="adj" fmla="val 8000"/>
            </a:avLst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44568" y="3383280"/>
            <a:ext cx="27432" cy="548639"/>
          </a:xfrm>
          <a:prstGeom prst="roundRect">
            <a:avLst>
              <a:gd name="adj" fmla="val 8000"/>
            </a:avLst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03136" y="2606040"/>
            <a:ext cx="27432" cy="1325879"/>
          </a:xfrm>
          <a:prstGeom prst="roundRect">
            <a:avLst>
              <a:gd name="adj" fmla="val 8000"/>
            </a:avLst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32420" y="1783080"/>
            <a:ext cx="27432" cy="2148839"/>
          </a:xfrm>
          <a:prstGeom prst="roundRect">
            <a:avLst>
              <a:gd name="adj" fmla="val 8000"/>
            </a:avLst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87652" y="2926080"/>
            <a:ext cx="1024128" cy="457200"/>
          </a:xfrm>
          <a:prstGeom prst="roundRect">
            <a:avLst>
              <a:gd name="adj" fmla="val 8000"/>
            </a:avLst>
          </a:prstGeom>
          <a:solidFill>
            <a:srgbClr val="C84642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BKBQP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6220" y="2926080"/>
            <a:ext cx="1024128" cy="457200"/>
          </a:xfrm>
          <a:prstGeom prst="roundRect">
            <a:avLst>
              <a:gd name="adj" fmla="val 8000"/>
            </a:avLst>
          </a:prstGeom>
          <a:solidFill>
            <a:srgbClr val="C84642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BKBQP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4788" y="2926080"/>
            <a:ext cx="1024128" cy="457200"/>
          </a:xfrm>
          <a:prstGeom prst="roundRect">
            <a:avLst>
              <a:gd name="adj" fmla="val 8000"/>
            </a:avLst>
          </a:prstGeom>
          <a:solidFill>
            <a:srgbClr val="C84642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BKBQP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6" y="2148840"/>
            <a:ext cx="1024128" cy="4572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CSTĐTQ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4788" y="2148840"/>
            <a:ext cx="1024128" cy="4572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CSTĐTQ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34072" y="1325880"/>
            <a:ext cx="1024128" cy="548640"/>
          </a:xfrm>
          <a:prstGeom prst="roundRect">
            <a:avLst>
              <a:gd name="adj" fmla="val 8000"/>
            </a:avLst>
          </a:prstGeom>
          <a:solidFill>
            <a:srgbClr val="8B101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Be Vietnam Pro"/>
              </a:rPr>
              <a:t>BKTTCP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7652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6936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6220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4788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2" y="4572000"/>
            <a:ext cx="1024128" cy="3657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Be Vietnam Pro"/>
              </a:rPr>
              <a:t>Năm 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8138160" cy="54864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Be Vietnam Pro"/>
              </a:rPr>
              <a:t>BKBQP mỗi 2 năm   ·   CSTĐTQ mỗi 3 năm   ·   BKTTCP sau 7 năm (đủ 3 BKBQP + 2 CSTĐTQ)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Chuỗi danh hiệu hằng năm (đơn vị)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548640"/>
          </a:xfrm>
          <a:prstGeom prst="roundRect">
            <a:avLst>
              <a:gd name="adj" fmla="val 8000"/>
            </a:avLst>
          </a:prstGeom>
          <a:solidFill>
            <a:srgbClr val="FBEFD8"/>
          </a:solidFill>
          <a:ln w="12700">
            <a:solidFill>
              <a:srgbClr val="B56A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56A00"/>
                </a:solidFill>
                <a:latin typeface="Be Vietnam Pro"/>
              </a:rPr>
              <a:t>Nền tảng: ĐVQT (Đơn vị Quyết thắng) liên tục — không cần NCKH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96596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C84642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Be Vietnam Pro"/>
              </a:rPr>
              <a:t>BKBQP đơn vị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e Vietnam Pro"/>
              </a:rPr>
              <a:t>Chu kỳ 2 năm ĐVQT liên tục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96596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8B101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Be Vietnam Pro"/>
              </a:rPr>
              <a:t>BKTTCP đơn vị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e Vietnam Pro"/>
              </a:rPr>
              <a:t>Chu kỳ 7 năm</a:t>
            </a:r>
          </a:p>
          <a:p>
            <a:pPr algn="ctr">
              <a:spcBef>
                <a:spcPts val="10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e Vietnam Pro"/>
              </a:rPr>
              <a:t>+ 3 BKBQP (cửa sổ 7 năm cuối)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34840" y="2560320"/>
            <a:ext cx="320040" cy="457200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8046720" cy="114300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5C8A"/>
                </a:solidFill>
                <a:latin typeface="Be Vietnam Pro"/>
              </a:rPr>
              <a:t>Khác với chuỗi cá nhân: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•  Không có cấp CSTĐTQ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•  Không bắt buộc nghiên cứu khoa học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•  BKBQP và BKTTCP đơn vị có thể nhận lặp lại sau mỗi chu kỳ (không giới hạn một lần)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Các danh hiệu dài hạn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NIÊN HẠN — theo năm phục vụ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84642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HCCSVV hạng Ba    —    10 năm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84642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HCCSVV hạng Nhì    —    15 năm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08376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84642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HCCSVV hạng Nhất    —    20 năm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6674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HCQKQT: 25 năm phục vụ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KNC VSNXD QĐNDVN: nam 25 / nữ 20 năm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Be Vietnam Pro"/>
              </a:rPr>
              <a:t>(đều nhận một lần duy nhất)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Be Vietnam Pro"/>
              </a:rPr>
              <a:t>CỐNG HIẾN — HCBVTQ theo tháng giữ chức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Nhóm hệ số 0.7    → hạng 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350008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Nhóm hệ số 0.8    → hạng Nhì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08376"/>
            <a:ext cx="3931920" cy="54864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Be Vietnam Pro"/>
              </a:rPr>
              <a:t>Nhóm hệ số 0.9 – 1.0    → hạng 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66674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Be Vietnam Pro"/>
              </a:rPr>
              <a:t>Tích luỹ 120 tháng (nam)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Be Vietnam Pro"/>
              </a:rPr>
              <a:t>hoặc 80 tháng (nữ) giữ chức vụ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Be Vietnam Pro"/>
              </a:rPr>
              <a:t>trong từng nhóm hệ số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Phân tích bài toán — bốn thách thức cốt lõi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977639" cy="205740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19" y="1234439"/>
            <a:ext cx="2971799" cy="17373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Be Vietnam Pro"/>
              </a:rPr>
              <a:t>Logic chuỗi danh hiệu nhiều năm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Cửa sổ trượt 3/7 năm, nhận một lần duy nhất, lỡ đợt → phải xét trên toàn dòng thời gian.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79" y="2697480"/>
            <a:ext cx="1207008" cy="31089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Be Vietnam Pro"/>
              </a:rPr>
              <a:t>TRỌNG TÂM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097280"/>
            <a:ext cx="3977639" cy="205740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00600" y="12801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234439"/>
            <a:ext cx="2971799" cy="17373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Be Vietnam Pro"/>
              </a:rPr>
              <a:t>Nhất quán dữ liệu đa bảng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Mỗi lần duyệt cập nhật nhiều bảng → cần giao dịch và chống tranh chấp ghi.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2697480"/>
            <a:ext cx="1207008" cy="310896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Be Vietnam Pro"/>
              </a:rPr>
              <a:t>TRỌNG TÂM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3977639" cy="205740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19" y="3429000"/>
            <a:ext cx="2971799" cy="17373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5C8A"/>
                </a:solidFill>
                <a:latin typeface="Be Vietnam Pro"/>
              </a:rPr>
              <a:t>Phân quyền theo cây tổ chức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Bốn vai trò trên cây đơn vị → hai lớp: kiểm tra vai trò và lọc theo đơn vị.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291840"/>
            <a:ext cx="3977639" cy="205740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34747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429000"/>
            <a:ext cx="2971799" cy="173736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E5C8A"/>
                </a:solidFill>
                <a:latin typeface="Be Vietnam Pro"/>
              </a:rPr>
              <a:t>Vận hành trong mạng nội bộ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F2937"/>
                </a:solidFill>
                <a:latin typeface="Be Vietnam Pro"/>
              </a:rPr>
              <a:t>Không Internet → tự lưu phông chữ, tự sao lưu, tự khởi động lại bằng PM2.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Be Vietnam Pro"/>
              </a:rPr>
              <a:t>PHẦN II — Công nghệ &amp; Thiết kế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Công nghệ và kiến trúc hệ thống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Thiết kế cơ sở dữ liệu (ERD)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Use-case, quy trình duyệt và Strategy pattern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Giao diện (Frontend)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Next.js (App Router) + TypeScript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Ant Design (biểu mẫu, bảng) + Tailwind CSS (bố cục)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Zod kiểm tra dữ liệu; Socket.IO client nhận thông báo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Máy chủ &amp; Cơ sở dữ liệu (Backend)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Express + TypeScript (REST API); Prisma ORM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PostgreSQL (giao dịch ACID đa bảng)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JWT hai token (access + refresh); bcrypt băm mật khẩu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Phụ trợ: Socket.IO, PM2, node-cron, ExcelJS, Multer, Helmet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Kiến trúc tổng quan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enTrucPhanT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868680"/>
            <a:ext cx="4626864" cy="3470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48556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Trình duyệt tải giao diện từ Frontend; gọi thẳng Backend qua REST API và Socket.IO (không qua Frontend)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Backend phân tầng: Controller → Service → Repository (Prisma) → PostgreSQL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Thiết kế cơ sở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23 bảng · 47 khoá ngoại · khoá chính kiểu CUID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Nhóm bảng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Tổ chức: QuanNhan, CoQuanDonVi, DonViTrucThuoc, ChucVu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Đề xuất &amp; hồ sơ: BangDeXuat, DanhHieuHangNam, HoSoNienHan, HoSoCongHien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Tài khoản: TaiKhoan (4 vai trò); Phụ trợ: SystemLog, ThongBao, FileQuyetDinh, SystemSetting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Điểm thiết kế đặc biệt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FileQuyetDinh liên kết 8 bảng khen thưởng qua cột số quyết định (khoá tự nhiên); đổi số QĐ tự lan truyền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Sơ đồ ERD tổng quan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0-tat-ca-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26" y="868680"/>
            <a:ext cx="2177747" cy="4101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79492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23 bảng chia thành sáu nhóm dữ liệu nghiệp vụ; quan hệ chi tiết ở các slide tiếp theo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Tổ chức, Quân nhân, Tài khoản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1-to-ch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42" y="868680"/>
            <a:ext cx="4517316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Một CoQuanDonVi có nhiều DonViTrucThuoc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Mỗi QuanNhan gắn một ChucVu và một đơn vị; có tối đa một TaiKhoan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LichSuChucVu lưu các giai đoạn giữ chức vụ (để tính tháng cống hiến)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Đề xuất khen thưởng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2-de-x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77" y="868680"/>
            <a:ext cx="2921845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BangDeXuat là trung tâm: gắn đơn vị nộp, người đề xuất, người duyệt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Chi tiết từng loại nằm trong cột JSON; chỉ ghi thành bản ghi khi phê duyệt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Khen thưởng &amp; hồ sơ cá nhân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3-khen-thuong-ca-n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03" y="868680"/>
            <a:ext cx="4263993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Một quân nhân có nhiều bản ghi danh hiệu hằng năm, NCKH, HCCSVV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Quan hệ một–một với HCBVTQ, HCQKQT, KNC và ba bảng hồ sơ suy diễn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Duy nhất (quân nhân, năm) ở danh hiệu hằng năm; xoá quân nhân thì xoá theo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Khen thưởng &amp; hồ sơ đơn vị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4-don-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22" y="868680"/>
            <a:ext cx="5545955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Hai bảng đều gắn với một đơn vị được khen (cơ quan hoặc đơn vị trực thuộc)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Duy nhất theo cặp (đơn vị, năm)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5-quyet-d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30" y="868680"/>
            <a:ext cx="3156940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FileQuyetDinh là tâm điểm: một quyết định gắn với nhiều bản ghi khen thưởng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Khoá ngoại trỏ tới cột số quyết định; đổi số thì lan truyền, không xoá khi còn tham chiếu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ERD —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-6-he-t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26" y="868680"/>
            <a:ext cx="3980548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SystemLog gắn tài khoản người thực hiện; ThongBao gắn người nhận và trỏ về nhật ký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SystemSetting lưu cấu hình dạng khoá–giá trị, độc lập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Phân tích chức năng — Use-case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c-tong-q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65" y="868680"/>
            <a:ext cx="4635469" cy="3470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48556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Bốn vai trò: Quản trị hệ thống, Cán bộ Phòng Chính trị, Chỉ huy đơn vị, Người dùng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Hai lớp phân quyền: kiểm tra vai trò ở route + lọc dữ liệu theo đơn vị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Quy trình duyệt đề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783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7572" y="2011680"/>
            <a:ext cx="585216" cy="4572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0320"/>
            <a:ext cx="1691639" cy="9601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5C8A"/>
                </a:solidFill>
                <a:latin typeface="Be Vietnam Pro"/>
              </a:rPr>
              <a:t>Tạo đề xuất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Be Vietnam Pro"/>
              </a:rPr>
              <a:t>Chỉ huy đơn vị chọn quân nhân, lập đợt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0008" y="2574036"/>
            <a:ext cx="228600" cy="292608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06040" y="1828800"/>
            <a:ext cx="1783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4972" y="2011680"/>
            <a:ext cx="585216" cy="4572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560320"/>
            <a:ext cx="1691639" cy="9601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5C8A"/>
                </a:solidFill>
                <a:latin typeface="Be Vietnam Pro"/>
              </a:rPr>
              <a:t>Kiểm tra điều kiện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Be Vietnam Pro"/>
              </a:rPr>
              <a:t>Hệ thống xét tự động, cảnh báo trùng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07407" y="2574036"/>
            <a:ext cx="228600" cy="292608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1783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2371" y="2011680"/>
            <a:ext cx="585216" cy="4572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59" y="2560320"/>
            <a:ext cx="1691639" cy="9601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E5C8A"/>
                </a:solidFill>
                <a:latin typeface="Be Vietnam Pro"/>
              </a:rPr>
              <a:t>Gắn quyết định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Be Vietnam Pro"/>
              </a:rPr>
              <a:t>Nhập số QĐ + đính kèm PDF đã ký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64807" y="2574036"/>
            <a:ext cx="228600" cy="292608"/>
          </a:xfrm>
          <a:prstGeom prst="rightArrow">
            <a:avLst/>
          </a:prstGeom>
          <a:solidFill>
            <a:srgbClr val="B4B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1828800"/>
            <a:ext cx="1783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9771" y="2011680"/>
            <a:ext cx="585216" cy="4572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e Vietnam Pro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59" y="2560320"/>
            <a:ext cx="1691639" cy="960119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0000"/>
                </a:solidFill>
                <a:latin typeface="Be Vietnam Pro"/>
              </a:rPr>
              <a:t>Phê duyệt &amp; ghi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Be Vietnam Pro"/>
              </a:rPr>
              <a:t>Ghi danh hiệu, tính lại hồ sơ, nhật ký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8092440" cy="868680"/>
          </a:xfrm>
          <a:prstGeom prst="roundRect">
            <a:avLst>
              <a:gd name="adj" fmla="val 8000"/>
            </a:avLst>
          </a:prstGeom>
          <a:solidFill>
            <a:srgbClr val="E3F1E9"/>
          </a:solidFill>
          <a:ln w="12700">
            <a:solidFill>
              <a:srgbClr val="2E7D4F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4F"/>
                </a:solidFill>
                <a:latin typeface="Be Vietnam Pro"/>
              </a:rPr>
              <a:t>Toàn bộ bước phê duyệt nằm trong MỘT giao dịch</a:t>
            </a:r>
          </a:p>
          <a:p>
            <a:pPr algn="ctr">
              <a:spcBef>
                <a:spcPts val="50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Be Vietnam Pro"/>
              </a:rPr>
              <a:t>Ghi danh hiệu → đổi trạng thái → tính lại hồ sơ → ghi nhật ký; lỗi bất kỳ thì hoàn tác toàn bộ.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Kiến trúc phần mềm — Strategy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p-de-x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29" y="868680"/>
            <a:ext cx="4568741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Vấn đề: bảy loại đề xuất, logic khác nhau — if/else sẽ tạo file rất dài, khó bảo trì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Giải pháp: một giao diện chung, mỗi loại một tệp, điều phối qua Registry; thêm loại mới chỉ cần một tệp + một dòng đăng ký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Be Vietnam Pro"/>
              </a:rPr>
              <a:t>PHẦN III — Các đóng góp nổi bật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Tự động xét điều kiện và gợi ý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Số hoá quy trình; nhập Excel có giao dịch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Lưu vết, sao lưu và thông báo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Tự động xét điều kiện &amp; gợi ý chủ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VẤN ĐỀ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Xét chuỗi thủ công (cửa sổ 3/7 năm, đếm BKBQP/CSTĐTQ, kiểm NCKH)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tốn thời gian, dễ sai và bỏ sót.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0632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770632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CÁCH LÀM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770632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Mỗi cấp danh hiệu = một dòng cấu hình; một hàm thuần đọc cấu hình + ngữ cảnh chuỗi.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Dùng chung cho tính lại hồ sơ và kiểm tra khi phê duyệt; tự sinh gợi ý theo năm.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43984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3F1E9"/>
          </a:solidFill>
          <a:ln w="12700">
            <a:solidFill>
              <a:srgbClr val="2E7D4F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443984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KẾT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443984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Thời gian xét mỗi quân nhân giảm từ vài chục phút xuống gần như tức thời;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bắt được cả ca lỡ đợt vốn dễ bị bỏ sót.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Số hoá quy trình đề xuất &amp; lưu vết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VẤN ĐỀ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Quy trình giấy nhiều bước kéo dài 5–10 ngày;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sửa giữa chừng không truy được ai, vì sao.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0632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770632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CÁCH LÀM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770632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Đề xuất là thực thể ba trạng thái; bảy loại theo một giao diện chung.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Nhập số QĐ + đính kèm PDF rồi phê duyệt trong một giao dịch, sau đó tính lại hồ sơ và ghi nhật ký.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43984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3F1E9"/>
          </a:solidFill>
          <a:ln w="12700">
            <a:solidFill>
              <a:srgbClr val="2E7D4F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443984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KẾT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443984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Rút một đợt xét xuống còn trong ngày;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truy vết trọn vòng đời đề xuất kèm người, thời điểm, lý 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Nhập Excel hàng loạt có giao dịch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VẤN ĐỀ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Di trú dữ liệu lịch sử lớn (~50.000 danh hiệu, ~15.000 lịch sử chức vụ);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nhập tay mất nhiều tháng.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0632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770632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CÁCH LÀM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770632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Hai bước: Xem trước (đối chiếu Zod + quy tắc, liệt kê dòng lỗi, chưa ghi)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và Xác nhận (ghi trong một giao dịch, lỗi thì hoàn tác toàn bộ); tệp mẫu có danh sách thả xuống.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43984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3F1E9"/>
          </a:solidFill>
          <a:ln w="12700">
            <a:solidFill>
              <a:srgbClr val="2E7D4F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443984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KẾT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443984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Di trú khối lớn trong thời gian ngắn, không bản ghi nào dở dang;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hỗ trợ xuất danh sách ra Excel.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Lưu vết đầy đủ, sao lưu định kỳ &amp; thông báo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F7E3E2"/>
          </a:solidFill>
          <a:ln w="12700">
            <a:solidFill>
              <a:srgbClr val="C00000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VẤN ĐỀ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Tệp dùng chung không lưu vết sửa/xoá;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sao lưu phụ thuộc kỷ luật cá nhân.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0632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5EDF6"/>
          </a:solidFill>
          <a:ln w="12700">
            <a:solidFill>
              <a:srgbClr val="2E5C8A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770632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CÁCH LÀM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770632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Nhật ký ghi mọi thao tác: người, hành động, đối tượng, IP, dữ liệu trước/sau.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Sao lưu định kỳ tự động (node-cron); thông báo thời gian thực qua Socket.IO và lưu để xem lại.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43984"/>
            <a:ext cx="8046720" cy="1417320"/>
          </a:xfrm>
          <a:prstGeom prst="roundRect">
            <a:avLst>
              <a:gd name="adj" fmla="val 8000"/>
            </a:avLst>
          </a:prstGeom>
          <a:solidFill>
            <a:srgbClr val="E3F1E9"/>
          </a:solidFill>
          <a:ln w="12700">
            <a:solidFill>
              <a:srgbClr val="2E7D4F"/>
            </a:solidFill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443984"/>
            <a:ext cx="1554480" cy="14173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>
            <a:outerShdw blurRad="50800" dist="22000" dir="5400000" rotWithShape="0">
              <a:srgbClr val="3A3A3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e Vietnam Pro"/>
              </a:rPr>
              <a:t>KẾT QUẢ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443984"/>
            <a:ext cx="6492240" cy="141732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Mọi thay đổi đều truy vết được;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>
                <a:solidFill>
                  <a:srgbClr val="1F2937"/>
                </a:solidFill>
                <a:latin typeface="Be Vietnam Pro"/>
              </a:rPr>
              <a:t>luôn có bản sao lưu hằng ngày sẵn sàng khôi phục.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Be Vietnam Pro"/>
              </a:rPr>
              <a:t>PHẦN IV — Đánh giá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Kiểm thử và triển khai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Kết luận và hướng phát triển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Kiểm thử và triển khai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Kiểm thử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Hộp đen thủ công qua giao diện (tám nhóm chức năng) + tự động bằng Jest cho quy tắc chuỗi lõi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Tương thích trên năm dòng máy và bốn trình duyệt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Kịch bản trọng yếu: tranh chấp ghi, BKTTCP cửa sổ 7 năm, chống giả mạo qua API, lỡ đợt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Triển khai mạng nội bộ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Máy chủ Windows Server (Node.js 20 LTS, PostgreSQL 15)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prisma migrate dev tạo lược đồ + tài khoản quản trị; pm2 start chạy backend (4000) và frontend (3000)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Be Vietnam Pro"/>
              </a:rPr>
              <a:t>Kết luận và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Đã đạt được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Hoàn thành bảy nhóm khen thưởng, bốn vai trò; tự động hoá xét duyệt; kiểm thử kỹ; triển khai nội bộ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Hạn chế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Chưa hỗ trợ danh hiệu cao hơn BKTTCP; chưa có module thống kê chuyên sâu; chạy một tiến trình; ký số còn ở dạng PDF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Hướng phát triển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Ứng dụng di động; module phân tích – báo cáo; tích hợp ký số (Smart Card/USB token); mở rộng đa tiến trình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  <a:latin typeface="Be Vietnam Pro"/>
              </a:rPr>
              <a:t>Trân trọng cảm ơn!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Em xin cảm ơn Hội đồng đã lắng nghe phần trình bày.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Em rất mong nhận được nhận xét và câu hỏi từ Hội đồng.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C00000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Be Vietnam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e Vietnam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e Vietnam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e Vietnam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e Vietnam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e Vietnam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