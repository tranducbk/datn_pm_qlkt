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42"/>
  </p:notesMasterIdLst>
  <p:handoutMasterIdLst>
    <p:handoutMasterId r:id="rId43"/>
  </p:handoutMasterIdLst>
  <p:sldIdLst>
    <p:sldId id="256" r:id="rId2"/>
    <p:sldId id="287" r:id="rId3"/>
    <p:sldId id="257" r:id="rId4"/>
    <p:sldId id="288" r:id="rId5"/>
    <p:sldId id="258" r:id="rId6"/>
    <p:sldId id="259" r:id="rId7"/>
    <p:sldId id="289" r:id="rId8"/>
    <p:sldId id="260" r:id="rId9"/>
    <p:sldId id="261" r:id="rId10"/>
    <p:sldId id="290" r:id="rId11"/>
    <p:sldId id="293" r:id="rId12"/>
    <p:sldId id="262" r:id="rId13"/>
    <p:sldId id="291" r:id="rId14"/>
    <p:sldId id="263" r:id="rId15"/>
    <p:sldId id="292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94" r:id="rId39"/>
    <p:sldId id="295" r:id="rId40"/>
    <p:sldId id="286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>
        <p:scale>
          <a:sx n="57" d="100"/>
          <a:sy n="57" d="100"/>
        </p:scale>
        <p:origin x="3360" y="1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sv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6.sv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17.png"/><Relationship Id="rId4" Type="http://schemas.openxmlformats.org/officeDocument/2006/relationships/image" Target="../media/image27.svg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13" Type="http://schemas.openxmlformats.org/officeDocument/2006/relationships/image" Target="../media/image55.svg"/><Relationship Id="rId3" Type="http://schemas.openxmlformats.org/officeDocument/2006/relationships/image" Target="../media/image45.svg"/><Relationship Id="rId7" Type="http://schemas.openxmlformats.org/officeDocument/2006/relationships/image" Target="../media/image49.png"/><Relationship Id="rId12" Type="http://schemas.openxmlformats.org/officeDocument/2006/relationships/image" Target="../media/image54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svg"/><Relationship Id="rId11" Type="http://schemas.openxmlformats.org/officeDocument/2006/relationships/image" Target="../media/image53.svg"/><Relationship Id="rId5" Type="http://schemas.openxmlformats.org/officeDocument/2006/relationships/image" Target="../media/image47.svg"/><Relationship Id="rId15" Type="http://schemas.openxmlformats.org/officeDocument/2006/relationships/image" Target="../media/image57.svg"/><Relationship Id="rId10" Type="http://schemas.openxmlformats.org/officeDocument/2006/relationships/image" Target="../media/image52.svg"/><Relationship Id="rId4" Type="http://schemas.openxmlformats.org/officeDocument/2006/relationships/image" Target="../media/image46.svg"/><Relationship Id="rId9" Type="http://schemas.openxmlformats.org/officeDocument/2006/relationships/image" Target="../media/image51.svg"/><Relationship Id="rId14" Type="http://schemas.openxmlformats.org/officeDocument/2006/relationships/image" Target="../media/image56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13" Type="http://schemas.openxmlformats.org/officeDocument/2006/relationships/image" Target="../media/image69.svg"/><Relationship Id="rId3" Type="http://schemas.openxmlformats.org/officeDocument/2006/relationships/image" Target="../media/image59.png"/><Relationship Id="rId7" Type="http://schemas.openxmlformats.org/officeDocument/2006/relationships/image" Target="../media/image63.svg"/><Relationship Id="rId12" Type="http://schemas.openxmlformats.org/officeDocument/2006/relationships/image" Target="../media/image68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2.svg"/><Relationship Id="rId11" Type="http://schemas.openxmlformats.org/officeDocument/2006/relationships/image" Target="../media/image67.svg"/><Relationship Id="rId5" Type="http://schemas.openxmlformats.org/officeDocument/2006/relationships/image" Target="../media/image61.svg"/><Relationship Id="rId10" Type="http://schemas.openxmlformats.org/officeDocument/2006/relationships/image" Target="../media/image66.svg"/><Relationship Id="rId4" Type="http://schemas.openxmlformats.org/officeDocument/2006/relationships/image" Target="../media/image60.png"/><Relationship Id="rId9" Type="http://schemas.openxmlformats.org/officeDocument/2006/relationships/image" Target="../media/image65.sv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828800"/>
            <a:ext cx="8412480" cy="1554480"/>
          </a:xfrm>
        </p:spPr>
        <p:txBody>
          <a:bodyPr/>
          <a:lstStyle/>
          <a:p>
            <a:pPr algn="ctr"/>
            <a:r>
              <a:rPr sz="3600" b="1">
                <a:solidFill>
                  <a:srgbClr val="FFFFFF"/>
                </a:solidFill>
              </a:rPr>
              <a:t>PHẦN MỀM QUẢN LÝ KHEN THƯỞNG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Tại Học viện Khoa học Quân sự</a:t>
            </a:r>
          </a:p>
          <a:p>
            <a:pPr algn="ctr"/>
            <a:r>
              <a:rPr sz="1200" b="0">
                <a:solidFill>
                  <a:srgbClr val="FFE8E8"/>
                </a:solidFill>
              </a:rPr>
              <a:t>Đồ án Tốt nghiệp Đại học · Niên khóa 2025/2026</a:t>
            </a:r>
          </a:p>
          <a:p>
            <a:pPr algn="ctr"/>
            <a:endParaRPr sz="1200" b="0">
              <a:solidFill>
                <a:srgbClr val="FFE8E8"/>
              </a:solidFill>
            </a:endParaRPr>
          </a:p>
          <a:p>
            <a:pPr algn="ctr"/>
            <a:r>
              <a:rPr sz="1300" b="0">
                <a:solidFill>
                  <a:srgbClr val="FFFFFF"/>
                </a:solidFill>
              </a:rPr>
              <a:t>Sinh viên: Trần Anh Đức · MSSV 20220120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Giảng viên hướng dẫn: ThS. Lê Đức Trung</a:t>
            </a:r>
          </a:p>
          <a:p>
            <a:pPr algn="ctr"/>
            <a:r>
              <a:rPr sz="1200" b="0">
                <a:solidFill>
                  <a:srgbClr val="FFE8E8"/>
                </a:solidFill>
              </a:rPr>
              <a:t>Hà Nội, năm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96495-1B17-FF7D-07EC-2CB9B7129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D25F576-2D1E-F908-356D-EA157DF36F33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-6134100" y="-819150"/>
            <a:chExt cx="18288000" cy="10287000"/>
          </a:xfrm>
        </p:grpSpPr>
        <p:sp>
          <p:nvSpPr>
            <p:cNvPr id="6" name="Freeform 2">
              <a:extLst>
                <a:ext uri="{FF2B5EF4-FFF2-40B4-BE49-F238E27FC236}">
                  <a16:creationId xmlns:a16="http://schemas.microsoft.com/office/drawing/2014/main" id="{C2A2AF23-8259-7177-F1F5-38D9D0BB9EC2}"/>
                </a:ext>
              </a:extLst>
            </p:cNvPr>
            <p:cNvSpPr/>
            <p:nvPr/>
          </p:nvSpPr>
          <p:spPr>
            <a:xfrm>
              <a:off x="-6134100" y="-81915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6712F295-5F78-7F4B-3B0D-29473431C84C}"/>
                </a:ext>
              </a:extLst>
            </p:cNvPr>
            <p:cNvSpPr/>
            <p:nvPr/>
          </p:nvSpPr>
          <p:spPr>
            <a:xfrm>
              <a:off x="3500007" y="6573204"/>
              <a:ext cx="850755" cy="1955759"/>
            </a:xfrm>
            <a:custGeom>
              <a:avLst/>
              <a:gdLst/>
              <a:ahLst/>
              <a:cxnLst/>
              <a:rect l="l" t="t" r="r" b="b"/>
              <a:pathLst>
                <a:path w="850755" h="1955759">
                  <a:moveTo>
                    <a:pt x="0" y="0"/>
                  </a:moveTo>
                  <a:lnTo>
                    <a:pt x="850755" y="0"/>
                  </a:lnTo>
                  <a:lnTo>
                    <a:pt x="850755" y="1955759"/>
                  </a:lnTo>
                  <a:lnTo>
                    <a:pt x="0" y="1955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08B78FB6-E285-EAB5-E301-F723E699BFAB}"/>
                </a:ext>
              </a:extLst>
            </p:cNvPr>
            <p:cNvSpPr/>
            <p:nvPr/>
          </p:nvSpPr>
          <p:spPr>
            <a:xfrm>
              <a:off x="7145626" y="6501976"/>
              <a:ext cx="1209966" cy="2160654"/>
            </a:xfrm>
            <a:custGeom>
              <a:avLst/>
              <a:gdLst/>
              <a:ahLst/>
              <a:cxnLst/>
              <a:rect l="l" t="t" r="r" b="b"/>
              <a:pathLst>
                <a:path w="1209966" h="2160654">
                  <a:moveTo>
                    <a:pt x="0" y="0"/>
                  </a:moveTo>
                  <a:lnTo>
                    <a:pt x="1209967" y="0"/>
                  </a:lnTo>
                  <a:lnTo>
                    <a:pt x="1209967" y="2160653"/>
                  </a:lnTo>
                  <a:lnTo>
                    <a:pt x="0" y="2160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B3C7FFFF-110F-7629-D352-681BF2A8B365}"/>
                </a:ext>
              </a:extLst>
            </p:cNvPr>
            <p:cNvSpPr/>
            <p:nvPr/>
          </p:nvSpPr>
          <p:spPr>
            <a:xfrm>
              <a:off x="8981309" y="6632656"/>
              <a:ext cx="1419991" cy="1893321"/>
            </a:xfrm>
            <a:custGeom>
              <a:avLst/>
              <a:gdLst/>
              <a:ahLst/>
              <a:cxnLst/>
              <a:rect l="l" t="t" r="r" b="b"/>
              <a:pathLst>
                <a:path w="1419991" h="1893321">
                  <a:moveTo>
                    <a:pt x="0" y="0"/>
                  </a:moveTo>
                  <a:lnTo>
                    <a:pt x="1419991" y="0"/>
                  </a:lnTo>
                  <a:lnTo>
                    <a:pt x="1419991" y="1893321"/>
                  </a:lnTo>
                  <a:lnTo>
                    <a:pt x="0" y="1893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FA941C68-5AA7-CB89-28E9-2B8271F8FADE}"/>
                </a:ext>
              </a:extLst>
            </p:cNvPr>
            <p:cNvSpPr/>
            <p:nvPr/>
          </p:nvSpPr>
          <p:spPr>
            <a:xfrm>
              <a:off x="5395960" y="6691679"/>
              <a:ext cx="894953" cy="1775275"/>
            </a:xfrm>
            <a:custGeom>
              <a:avLst/>
              <a:gdLst/>
              <a:ahLst/>
              <a:cxnLst/>
              <a:rect l="l" t="t" r="r" b="b"/>
              <a:pathLst>
                <a:path w="894953" h="1775275">
                  <a:moveTo>
                    <a:pt x="0" y="0"/>
                  </a:moveTo>
                  <a:lnTo>
                    <a:pt x="894954" y="0"/>
                  </a:lnTo>
                  <a:lnTo>
                    <a:pt x="894954" y="1775275"/>
                  </a:lnTo>
                  <a:lnTo>
                    <a:pt x="0" y="1775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</p:spTree>
    <p:extLst>
      <p:ext uri="{BB962C8B-B14F-4D97-AF65-F5344CB8AC3E}">
        <p14:creationId xmlns:p14="http://schemas.microsoft.com/office/powerpoint/2010/main" val="1136968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Nội dung trình bày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Phần I — Mở đầu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Mục tiêu của đồ án; hệ thống và chuỗi danh hiệu; phân tích bài toán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Phần II — Công nghệ &amp; Thiết kế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Công nghệ, kiến trúc, cơ sở dữ liệu (ERD), use-case, quy trình duyệt, Strategy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Phần III — Các đóng góp nổi bật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Tự động xét điều kiện; số hoá quy trình &amp; lưu vết; nhập Excel; sao lưu &amp; thông báo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Phần IV — Đánh giá &amp; Tổng kết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Kiểm thử &amp; triển khai; kết luận và hướng phát triển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8BBA-5B29-C689-3122-576052754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7C13-05AD-EC4E-8CAF-52DBA63F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Nội dung trình bày</a:t>
            </a:r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5DD84494-7454-83E7-A802-2F977106135F}"/>
              </a:ext>
            </a:extLst>
          </p:cNvPr>
          <p:cNvSpPr/>
          <p:nvPr/>
        </p:nvSpPr>
        <p:spPr>
          <a:xfrm>
            <a:off x="0" y="914400"/>
            <a:ext cx="9144000" cy="5029200"/>
          </a:xfrm>
          <a:custGeom>
            <a:avLst/>
            <a:gdLst/>
            <a:ahLst/>
            <a:cxnLst/>
            <a:rect l="l" t="t" r="r" b="b"/>
            <a:pathLst>
              <a:path w="16783011" h="9230656">
                <a:moveTo>
                  <a:pt x="0" y="0"/>
                </a:moveTo>
                <a:lnTo>
                  <a:pt x="16783012" y="0"/>
                </a:lnTo>
                <a:lnTo>
                  <a:pt x="16783012" y="9230656"/>
                </a:lnTo>
                <a:lnTo>
                  <a:pt x="0" y="9230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00468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</a:rPr>
              <a:t>PHẦN I — Mở đầu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Mục tiêu của đồ án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Hệ thống và chuỗi danh hiệu khen thưởng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Phân tích bài toán và các thách thức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Mục tiêu của đồ 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Bối cảnh và động lực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Khen thưởng tại đơn vị quân đội hiện chủ yếu dựa trên Excel và hồ sơ giấy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Khó tra cứu lịch sử khen thưởng nhiều năm; dễ bỏ sót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Quy định chuỗi danh hiệu phức tạp (BKBQP, CSTĐTQ, BKTTCP) dễ sai khi tính tay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Mục tiêu cụ thể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Quản lý bảy nhóm khen thưởng với bốn cấp vai trò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Tự động hoá xét điều kiện theo quy định hiện hành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Hỗ trợ quy trình: đề xuất → đính kèm quyết định → phê duyệt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Bảo đảm truy vết, bảo mật; chạy trong mạng nội bộ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Mục tiêu cốt lõi: giảm sai sót thủ công, tiết kiệm thời gian, đúng quy định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5B0A7-C57C-1FFF-5781-0228570A9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A58E1-E785-72A8-986C-C5926CAFA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Mục tiêu của đồ án</a:t>
            </a:r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32B746B1-A6B3-5764-1E82-877AE42F15F8}"/>
              </a:ext>
            </a:extLst>
          </p:cNvPr>
          <p:cNvSpPr/>
          <p:nvPr/>
        </p:nvSpPr>
        <p:spPr>
          <a:xfrm>
            <a:off x="0" y="815562"/>
            <a:ext cx="9144000" cy="5415897"/>
          </a:xfrm>
          <a:custGeom>
            <a:avLst/>
            <a:gdLst/>
            <a:ahLst/>
            <a:cxnLst/>
            <a:rect l="l" t="t" r="r" b="b"/>
            <a:pathLst>
              <a:path w="15810147" h="9364187">
                <a:moveTo>
                  <a:pt x="0" y="0"/>
                </a:moveTo>
                <a:lnTo>
                  <a:pt x="15810146" y="0"/>
                </a:lnTo>
                <a:lnTo>
                  <a:pt x="15810146" y="9364187"/>
                </a:lnTo>
                <a:lnTo>
                  <a:pt x="0" y="9364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31" r="-217" b="-13686"/>
            </a:stretch>
          </a:blipFill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48556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Hệ thống khen thưởng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85039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Nhóm khen thưởng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Phân rã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Tiêu chí xét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Hằng năm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Cá nhân (CSTĐCS, CSTT, BKBQP, CSTĐTQ, BKTTCP); Đơn vị (ĐVQT, ĐVTT, BKBQP, BKTTCP)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Theo năm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Niên hạn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HCCSVV (3 hạng), HCQKQT, KNC VSNXD QĐNDVN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Theo năm phục vụ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Cống hiến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HCBVTQ (3 hạng)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120 tháng (nam) / 80 (nữ)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Thành tích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NCKH (đề tài, sáng kiến)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Theo công trình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Đột xuất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Theo sự kiện / chiến công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Phi định kỳ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493776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7280"/>
                </a:solidFill>
              </a:rPr>
              <a:t>Bốn nhóm đầu gồm bảy loại đề xuất xử lý qua Strategy pattern; khen thưởng đột xuất quản lý riêng, ngoài luồng đề xuất.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Chuỗi danh hiệu hằng năm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Cá nhân — nền tảng là CSTĐCS + NCKH liên tục mỗi năm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BKBQP: chu kỳ 2 năm CSTĐCS liên tục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CSTĐTQ: chu kỳ 3 năm + ít nhất 1 BKBQP trong cửa sổ 3 năm gần nhất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BKTTCP: chu kỳ 7 năm + 3 BKBQP + 2 CSTĐTQ; nhận một lần duy nhất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Đơn vị — nền tảng là ĐVQT liên tục (không CSTĐTQ, không bắt buộc NCKH)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BKBQP đơn vị (2 năm) và BKTTCP đơn vị (7 năm), có thể lặp lại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Lỡ đợt: bỏ lỡ năm đến mốc thì chu kỳ vẫn đếm tiếp, chu kỳ sau vẫn được xét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E6E83-2907-697D-0647-802DF7FB5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E5D5A-340B-054A-0FCE-BAE7371E4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Chuỗi danh hiệu hằng năm</a:t>
            </a:r>
          </a:p>
        </p:txBody>
      </p: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1937E20E-5A62-42AA-14B0-4F9B93F5841B}"/>
              </a:ext>
            </a:extLst>
          </p:cNvPr>
          <p:cNvGrpSpPr/>
          <p:nvPr/>
        </p:nvGrpSpPr>
        <p:grpSpPr>
          <a:xfrm>
            <a:off x="0" y="1737791"/>
            <a:ext cx="9202888" cy="3817591"/>
            <a:chOff x="-401989" y="1737791"/>
            <a:chExt cx="19091978" cy="7919836"/>
          </a:xfrm>
        </p:grpSpPr>
        <p:sp>
          <p:nvSpPr>
            <p:cNvPr id="210" name="Freeform 2">
              <a:extLst>
                <a:ext uri="{FF2B5EF4-FFF2-40B4-BE49-F238E27FC236}">
                  <a16:creationId xmlns:a16="http://schemas.microsoft.com/office/drawing/2014/main" id="{EE9C8D87-D679-40C9-D14C-99C6F394EDD5}"/>
                </a:ext>
              </a:extLst>
            </p:cNvPr>
            <p:cNvSpPr/>
            <p:nvPr/>
          </p:nvSpPr>
          <p:spPr>
            <a:xfrm>
              <a:off x="-30122" y="5504704"/>
              <a:ext cx="18379440" cy="1498248"/>
            </a:xfrm>
            <a:custGeom>
              <a:avLst/>
              <a:gdLst/>
              <a:ahLst/>
              <a:cxnLst/>
              <a:rect l="l" t="t" r="r" b="b"/>
              <a:pathLst>
                <a:path w="18379440" h="1498248">
                  <a:moveTo>
                    <a:pt x="0" y="1460888"/>
                  </a:moveTo>
                  <a:quadBezTo>
                    <a:pt x="9195734" y="-1479451"/>
                    <a:pt x="18379440" y="1498248"/>
                  </a:quadBezTo>
                </a:path>
              </a:pathLst>
            </a:custGeom>
            <a:ln w="381000" cap="rnd">
              <a:gradFill>
                <a:gsLst>
                  <a:gs pos="0">
                    <a:srgbClr val="6AD572">
                      <a:alpha val="100000"/>
                    </a:srgbClr>
                  </a:gs>
                  <a:gs pos="100000">
                    <a:srgbClr val="65A6FE">
                      <a:alpha val="100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VN" sz="1200"/>
            </a:p>
          </p:txBody>
        </p:sp>
        <p:grpSp>
          <p:nvGrpSpPr>
            <p:cNvPr id="211" name="Group 3">
              <a:extLst>
                <a:ext uri="{FF2B5EF4-FFF2-40B4-BE49-F238E27FC236}">
                  <a16:creationId xmlns:a16="http://schemas.microsoft.com/office/drawing/2014/main" id="{6AAC962B-F430-92D8-8EED-B9C4814667F0}"/>
                </a:ext>
              </a:extLst>
            </p:cNvPr>
            <p:cNvGrpSpPr/>
            <p:nvPr/>
          </p:nvGrpSpPr>
          <p:grpSpPr>
            <a:xfrm>
              <a:off x="4781996" y="5059627"/>
              <a:ext cx="1131708" cy="1349995"/>
              <a:chOff x="0" y="0"/>
              <a:chExt cx="1508944" cy="1799993"/>
            </a:xfrm>
          </p:grpSpPr>
          <p:sp>
            <p:nvSpPr>
              <p:cNvPr id="212" name="Freeform 4">
                <a:extLst>
                  <a:ext uri="{FF2B5EF4-FFF2-40B4-BE49-F238E27FC236}">
                    <a16:creationId xmlns:a16="http://schemas.microsoft.com/office/drawing/2014/main" id="{9EAA79DB-CF27-284C-7656-07327D6A2EE7}"/>
                  </a:ext>
                </a:extLst>
              </p:cNvPr>
              <p:cNvSpPr/>
              <p:nvPr/>
            </p:nvSpPr>
            <p:spPr>
              <a:xfrm rot="5400000">
                <a:off x="-116491" y="174558"/>
                <a:ext cx="1741926" cy="1508944"/>
              </a:xfrm>
              <a:custGeom>
                <a:avLst/>
                <a:gdLst/>
                <a:ahLst/>
                <a:cxnLst/>
                <a:rect l="l" t="t" r="r" b="b"/>
                <a:pathLst>
                  <a:path w="1741926" h="1508944">
                    <a:moveTo>
                      <a:pt x="0" y="0"/>
                    </a:moveTo>
                    <a:lnTo>
                      <a:pt x="1741926" y="0"/>
                    </a:lnTo>
                    <a:lnTo>
                      <a:pt x="1741926" y="1508944"/>
                    </a:lnTo>
                    <a:lnTo>
                      <a:pt x="0" y="15089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24000"/>
                </a:blip>
                <a:stretch>
                  <a:fillRect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VN" sz="1200"/>
              </a:p>
            </p:txBody>
          </p:sp>
          <p:grpSp>
            <p:nvGrpSpPr>
              <p:cNvPr id="213" name="Group 5">
                <a:extLst>
                  <a:ext uri="{FF2B5EF4-FFF2-40B4-BE49-F238E27FC236}">
                    <a16:creationId xmlns:a16="http://schemas.microsoft.com/office/drawing/2014/main" id="{4BF59946-8F97-4D0E-D0C4-325499532C59}"/>
                  </a:ext>
                </a:extLst>
              </p:cNvPr>
              <p:cNvGrpSpPr/>
              <p:nvPr/>
            </p:nvGrpSpPr>
            <p:grpSpPr>
              <a:xfrm>
                <a:off x="105336" y="79225"/>
                <a:ext cx="1298272" cy="1510717"/>
                <a:chOff x="0" y="0"/>
                <a:chExt cx="698500" cy="812800"/>
              </a:xfrm>
            </p:grpSpPr>
            <p:sp>
              <p:nvSpPr>
                <p:cNvPr id="217" name="Freeform 6">
                  <a:extLst>
                    <a:ext uri="{FF2B5EF4-FFF2-40B4-BE49-F238E27FC236}">
                      <a16:creationId xmlns:a16="http://schemas.microsoft.com/office/drawing/2014/main" id="{F2ADADD2-F040-DCE3-D01F-F5D24B30F140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E9EBF4"/>
                </a:solidFill>
              </p:spPr>
              <p:txBody>
                <a:bodyPr/>
                <a:lstStyle/>
                <a:p>
                  <a:endParaRPr lang="en-VN" sz="1200"/>
                </a:p>
              </p:txBody>
            </p:sp>
            <p:sp>
              <p:nvSpPr>
                <p:cNvPr id="218" name="TextBox 7">
                  <a:extLst>
                    <a:ext uri="{FF2B5EF4-FFF2-40B4-BE49-F238E27FC236}">
                      <a16:creationId xmlns:a16="http://schemas.microsoft.com/office/drawing/2014/main" id="{9E408829-26AB-4AB6-CF25-C01DF075AEF8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200"/>
                </a:p>
              </p:txBody>
            </p:sp>
          </p:grpSp>
          <p:grpSp>
            <p:nvGrpSpPr>
              <p:cNvPr id="214" name="Group 8">
                <a:extLst>
                  <a:ext uri="{FF2B5EF4-FFF2-40B4-BE49-F238E27FC236}">
                    <a16:creationId xmlns:a16="http://schemas.microsoft.com/office/drawing/2014/main" id="{59E4F2D6-7D02-D213-3B43-D3329AD3CBAD}"/>
                  </a:ext>
                </a:extLst>
              </p:cNvPr>
              <p:cNvGrpSpPr/>
              <p:nvPr/>
            </p:nvGrpSpPr>
            <p:grpSpPr>
              <a:xfrm>
                <a:off x="105336" y="0"/>
                <a:ext cx="1298272" cy="1510717"/>
                <a:chOff x="0" y="0"/>
                <a:chExt cx="698500" cy="812800"/>
              </a:xfrm>
            </p:grpSpPr>
            <p:sp>
              <p:nvSpPr>
                <p:cNvPr id="215" name="Freeform 9">
                  <a:extLst>
                    <a:ext uri="{FF2B5EF4-FFF2-40B4-BE49-F238E27FC236}">
                      <a16:creationId xmlns:a16="http://schemas.microsoft.com/office/drawing/2014/main" id="{D3DD7FE9-7F9B-EA05-9494-473CA439718C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FCFDFE"/>
                </a:solidFill>
              </p:spPr>
              <p:txBody>
                <a:bodyPr/>
                <a:lstStyle/>
                <a:p>
                  <a:endParaRPr lang="en-VN" sz="1200"/>
                </a:p>
              </p:txBody>
            </p:sp>
            <p:sp>
              <p:nvSpPr>
                <p:cNvPr id="216" name="TextBox 10">
                  <a:extLst>
                    <a:ext uri="{FF2B5EF4-FFF2-40B4-BE49-F238E27FC236}">
                      <a16:creationId xmlns:a16="http://schemas.microsoft.com/office/drawing/2014/main" id="{EFFFE159-AE09-CD25-3C34-BFA71114C285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200"/>
                </a:p>
              </p:txBody>
            </p:sp>
          </p:grpSp>
        </p:grpSp>
        <p:grpSp>
          <p:nvGrpSpPr>
            <p:cNvPr id="219" name="Group 11">
              <a:extLst>
                <a:ext uri="{FF2B5EF4-FFF2-40B4-BE49-F238E27FC236}">
                  <a16:creationId xmlns:a16="http://schemas.microsoft.com/office/drawing/2014/main" id="{64C296D8-ACCE-926D-A062-A47C61D9AA1B}"/>
                </a:ext>
              </a:extLst>
            </p:cNvPr>
            <p:cNvGrpSpPr/>
            <p:nvPr/>
          </p:nvGrpSpPr>
          <p:grpSpPr>
            <a:xfrm>
              <a:off x="2648522" y="5431082"/>
              <a:ext cx="1131708" cy="1349995"/>
              <a:chOff x="0" y="0"/>
              <a:chExt cx="1508944" cy="1799993"/>
            </a:xfrm>
          </p:grpSpPr>
          <p:sp>
            <p:nvSpPr>
              <p:cNvPr id="220" name="Freeform 12">
                <a:extLst>
                  <a:ext uri="{FF2B5EF4-FFF2-40B4-BE49-F238E27FC236}">
                    <a16:creationId xmlns:a16="http://schemas.microsoft.com/office/drawing/2014/main" id="{F81DAD9D-EC53-F65A-C5F6-546AF203E5E3}"/>
                  </a:ext>
                </a:extLst>
              </p:cNvPr>
              <p:cNvSpPr/>
              <p:nvPr/>
            </p:nvSpPr>
            <p:spPr>
              <a:xfrm rot="5400000">
                <a:off x="-116491" y="174558"/>
                <a:ext cx="1741926" cy="1508944"/>
              </a:xfrm>
              <a:custGeom>
                <a:avLst/>
                <a:gdLst/>
                <a:ahLst/>
                <a:cxnLst/>
                <a:rect l="l" t="t" r="r" b="b"/>
                <a:pathLst>
                  <a:path w="1741926" h="1508944">
                    <a:moveTo>
                      <a:pt x="0" y="0"/>
                    </a:moveTo>
                    <a:lnTo>
                      <a:pt x="1741926" y="0"/>
                    </a:lnTo>
                    <a:lnTo>
                      <a:pt x="1741926" y="1508944"/>
                    </a:lnTo>
                    <a:lnTo>
                      <a:pt x="0" y="15089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24000"/>
                </a:blip>
                <a:stretch>
                  <a:fillRect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VN" sz="1200"/>
              </a:p>
            </p:txBody>
          </p:sp>
          <p:grpSp>
            <p:nvGrpSpPr>
              <p:cNvPr id="221" name="Group 13">
                <a:extLst>
                  <a:ext uri="{FF2B5EF4-FFF2-40B4-BE49-F238E27FC236}">
                    <a16:creationId xmlns:a16="http://schemas.microsoft.com/office/drawing/2014/main" id="{4040B268-5BB6-DD9D-3869-664B7DB15005}"/>
                  </a:ext>
                </a:extLst>
              </p:cNvPr>
              <p:cNvGrpSpPr/>
              <p:nvPr/>
            </p:nvGrpSpPr>
            <p:grpSpPr>
              <a:xfrm>
                <a:off x="105336" y="79225"/>
                <a:ext cx="1298272" cy="1510717"/>
                <a:chOff x="0" y="0"/>
                <a:chExt cx="698500" cy="812800"/>
              </a:xfrm>
            </p:grpSpPr>
            <p:sp>
              <p:nvSpPr>
                <p:cNvPr id="225" name="Freeform 14">
                  <a:extLst>
                    <a:ext uri="{FF2B5EF4-FFF2-40B4-BE49-F238E27FC236}">
                      <a16:creationId xmlns:a16="http://schemas.microsoft.com/office/drawing/2014/main" id="{0B08562A-9C8F-0616-B43B-C07EFC5FA8C8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E9EBF4"/>
                </a:solidFill>
              </p:spPr>
              <p:txBody>
                <a:bodyPr/>
                <a:lstStyle/>
                <a:p>
                  <a:endParaRPr lang="en-VN" sz="1200"/>
                </a:p>
              </p:txBody>
            </p:sp>
            <p:sp>
              <p:nvSpPr>
                <p:cNvPr id="226" name="TextBox 15">
                  <a:extLst>
                    <a:ext uri="{FF2B5EF4-FFF2-40B4-BE49-F238E27FC236}">
                      <a16:creationId xmlns:a16="http://schemas.microsoft.com/office/drawing/2014/main" id="{CAC9C935-9209-01B9-54E0-4E6EC37DE83C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200"/>
                </a:p>
              </p:txBody>
            </p:sp>
          </p:grpSp>
          <p:grpSp>
            <p:nvGrpSpPr>
              <p:cNvPr id="222" name="Group 16">
                <a:extLst>
                  <a:ext uri="{FF2B5EF4-FFF2-40B4-BE49-F238E27FC236}">
                    <a16:creationId xmlns:a16="http://schemas.microsoft.com/office/drawing/2014/main" id="{C606F194-BDE1-291F-8A0A-2787C7703F1E}"/>
                  </a:ext>
                </a:extLst>
              </p:cNvPr>
              <p:cNvGrpSpPr/>
              <p:nvPr/>
            </p:nvGrpSpPr>
            <p:grpSpPr>
              <a:xfrm>
                <a:off x="105336" y="0"/>
                <a:ext cx="1298272" cy="1510717"/>
                <a:chOff x="0" y="0"/>
                <a:chExt cx="698500" cy="812800"/>
              </a:xfrm>
            </p:grpSpPr>
            <p:sp>
              <p:nvSpPr>
                <p:cNvPr id="223" name="Freeform 17">
                  <a:extLst>
                    <a:ext uri="{FF2B5EF4-FFF2-40B4-BE49-F238E27FC236}">
                      <a16:creationId xmlns:a16="http://schemas.microsoft.com/office/drawing/2014/main" id="{065D1ECD-B7FB-B7AF-E238-9585037F141A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FCFDFE"/>
                </a:solidFill>
              </p:spPr>
              <p:txBody>
                <a:bodyPr/>
                <a:lstStyle/>
                <a:p>
                  <a:endParaRPr lang="en-VN" sz="1200"/>
                </a:p>
              </p:txBody>
            </p:sp>
            <p:sp>
              <p:nvSpPr>
                <p:cNvPr id="224" name="TextBox 18">
                  <a:extLst>
                    <a:ext uri="{FF2B5EF4-FFF2-40B4-BE49-F238E27FC236}">
                      <a16:creationId xmlns:a16="http://schemas.microsoft.com/office/drawing/2014/main" id="{43515367-1857-897C-1774-3226144366D6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200"/>
                </a:p>
              </p:txBody>
            </p:sp>
          </p:grpSp>
        </p:grpSp>
        <p:grpSp>
          <p:nvGrpSpPr>
            <p:cNvPr id="227" name="Group 19">
              <a:extLst>
                <a:ext uri="{FF2B5EF4-FFF2-40B4-BE49-F238E27FC236}">
                  <a16:creationId xmlns:a16="http://schemas.microsoft.com/office/drawing/2014/main" id="{9007A598-C02A-8207-76BA-C7D2BD2BEDED}"/>
                </a:ext>
              </a:extLst>
            </p:cNvPr>
            <p:cNvGrpSpPr/>
            <p:nvPr/>
          </p:nvGrpSpPr>
          <p:grpSpPr>
            <a:xfrm>
              <a:off x="479957" y="6044498"/>
              <a:ext cx="1131708" cy="1349995"/>
              <a:chOff x="0" y="0"/>
              <a:chExt cx="1508944" cy="1799993"/>
            </a:xfrm>
          </p:grpSpPr>
          <p:sp>
            <p:nvSpPr>
              <p:cNvPr id="228" name="Freeform 20">
                <a:extLst>
                  <a:ext uri="{FF2B5EF4-FFF2-40B4-BE49-F238E27FC236}">
                    <a16:creationId xmlns:a16="http://schemas.microsoft.com/office/drawing/2014/main" id="{4A48BFE1-6198-A769-2203-E88EEC46A14F}"/>
                  </a:ext>
                </a:extLst>
              </p:cNvPr>
              <p:cNvSpPr/>
              <p:nvPr/>
            </p:nvSpPr>
            <p:spPr>
              <a:xfrm rot="5400000">
                <a:off x="-116491" y="174558"/>
                <a:ext cx="1741926" cy="1508944"/>
              </a:xfrm>
              <a:custGeom>
                <a:avLst/>
                <a:gdLst/>
                <a:ahLst/>
                <a:cxnLst/>
                <a:rect l="l" t="t" r="r" b="b"/>
                <a:pathLst>
                  <a:path w="1741926" h="1508944">
                    <a:moveTo>
                      <a:pt x="0" y="0"/>
                    </a:moveTo>
                    <a:lnTo>
                      <a:pt x="1741926" y="0"/>
                    </a:lnTo>
                    <a:lnTo>
                      <a:pt x="1741926" y="1508944"/>
                    </a:lnTo>
                    <a:lnTo>
                      <a:pt x="0" y="15089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24000"/>
                </a:blip>
                <a:stretch>
                  <a:fillRect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VN" sz="1200"/>
              </a:p>
            </p:txBody>
          </p:sp>
          <p:grpSp>
            <p:nvGrpSpPr>
              <p:cNvPr id="229" name="Group 21">
                <a:extLst>
                  <a:ext uri="{FF2B5EF4-FFF2-40B4-BE49-F238E27FC236}">
                    <a16:creationId xmlns:a16="http://schemas.microsoft.com/office/drawing/2014/main" id="{38AC8BA2-F39C-9AF3-66BF-B37A53DC7025}"/>
                  </a:ext>
                </a:extLst>
              </p:cNvPr>
              <p:cNvGrpSpPr/>
              <p:nvPr/>
            </p:nvGrpSpPr>
            <p:grpSpPr>
              <a:xfrm>
                <a:off x="105336" y="79225"/>
                <a:ext cx="1298272" cy="1510717"/>
                <a:chOff x="0" y="0"/>
                <a:chExt cx="698500" cy="812800"/>
              </a:xfrm>
            </p:grpSpPr>
            <p:sp>
              <p:nvSpPr>
                <p:cNvPr id="233" name="Freeform 22">
                  <a:extLst>
                    <a:ext uri="{FF2B5EF4-FFF2-40B4-BE49-F238E27FC236}">
                      <a16:creationId xmlns:a16="http://schemas.microsoft.com/office/drawing/2014/main" id="{84451E0C-C6F2-040C-C36F-3DBE50D8DB16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E9EBF4"/>
                </a:solidFill>
              </p:spPr>
              <p:txBody>
                <a:bodyPr/>
                <a:lstStyle/>
                <a:p>
                  <a:endParaRPr lang="en-VN" sz="1200"/>
                </a:p>
              </p:txBody>
            </p:sp>
            <p:sp>
              <p:nvSpPr>
                <p:cNvPr id="234" name="TextBox 23">
                  <a:extLst>
                    <a:ext uri="{FF2B5EF4-FFF2-40B4-BE49-F238E27FC236}">
                      <a16:creationId xmlns:a16="http://schemas.microsoft.com/office/drawing/2014/main" id="{7C018788-FF07-93F3-345B-BA4E04AA17CA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200"/>
                </a:p>
              </p:txBody>
            </p:sp>
          </p:grpSp>
          <p:grpSp>
            <p:nvGrpSpPr>
              <p:cNvPr id="230" name="Group 24">
                <a:extLst>
                  <a:ext uri="{FF2B5EF4-FFF2-40B4-BE49-F238E27FC236}">
                    <a16:creationId xmlns:a16="http://schemas.microsoft.com/office/drawing/2014/main" id="{6B82BDB4-6859-C5BE-A054-63679CF30EC5}"/>
                  </a:ext>
                </a:extLst>
              </p:cNvPr>
              <p:cNvGrpSpPr/>
              <p:nvPr/>
            </p:nvGrpSpPr>
            <p:grpSpPr>
              <a:xfrm>
                <a:off x="105336" y="0"/>
                <a:ext cx="1298272" cy="1510717"/>
                <a:chOff x="0" y="0"/>
                <a:chExt cx="698500" cy="812800"/>
              </a:xfrm>
            </p:grpSpPr>
            <p:sp>
              <p:nvSpPr>
                <p:cNvPr id="231" name="Freeform 25">
                  <a:extLst>
                    <a:ext uri="{FF2B5EF4-FFF2-40B4-BE49-F238E27FC236}">
                      <a16:creationId xmlns:a16="http://schemas.microsoft.com/office/drawing/2014/main" id="{267C448B-ADD1-026E-5354-677BD26A2457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FCFDFE"/>
                </a:solidFill>
              </p:spPr>
              <p:txBody>
                <a:bodyPr/>
                <a:lstStyle/>
                <a:p>
                  <a:endParaRPr lang="en-VN" sz="1200"/>
                </a:p>
              </p:txBody>
            </p:sp>
            <p:sp>
              <p:nvSpPr>
                <p:cNvPr id="232" name="TextBox 26">
                  <a:extLst>
                    <a:ext uri="{FF2B5EF4-FFF2-40B4-BE49-F238E27FC236}">
                      <a16:creationId xmlns:a16="http://schemas.microsoft.com/office/drawing/2014/main" id="{D5678D30-5257-8614-40CC-3EA2FFB1AF91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200"/>
                </a:p>
              </p:txBody>
            </p:sp>
          </p:grpSp>
        </p:grpSp>
        <p:grpSp>
          <p:nvGrpSpPr>
            <p:cNvPr id="235" name="Group 27">
              <a:extLst>
                <a:ext uri="{FF2B5EF4-FFF2-40B4-BE49-F238E27FC236}">
                  <a16:creationId xmlns:a16="http://schemas.microsoft.com/office/drawing/2014/main" id="{277BE6DD-78A5-C8B8-CB52-F0B32ACBAB33}"/>
                </a:ext>
              </a:extLst>
            </p:cNvPr>
            <p:cNvGrpSpPr/>
            <p:nvPr/>
          </p:nvGrpSpPr>
          <p:grpSpPr>
            <a:xfrm>
              <a:off x="9433766" y="4808235"/>
              <a:ext cx="1131708" cy="1349995"/>
              <a:chOff x="0" y="0"/>
              <a:chExt cx="1508944" cy="1799993"/>
            </a:xfrm>
          </p:grpSpPr>
          <p:sp>
            <p:nvSpPr>
              <p:cNvPr id="236" name="Freeform 28">
                <a:extLst>
                  <a:ext uri="{FF2B5EF4-FFF2-40B4-BE49-F238E27FC236}">
                    <a16:creationId xmlns:a16="http://schemas.microsoft.com/office/drawing/2014/main" id="{43D46F5D-411E-C021-AA78-3D1DE70CE40B}"/>
                  </a:ext>
                </a:extLst>
              </p:cNvPr>
              <p:cNvSpPr/>
              <p:nvPr/>
            </p:nvSpPr>
            <p:spPr>
              <a:xfrm rot="5400000">
                <a:off x="-116491" y="174558"/>
                <a:ext cx="1741926" cy="1508944"/>
              </a:xfrm>
              <a:custGeom>
                <a:avLst/>
                <a:gdLst/>
                <a:ahLst/>
                <a:cxnLst/>
                <a:rect l="l" t="t" r="r" b="b"/>
                <a:pathLst>
                  <a:path w="1741926" h="1508944">
                    <a:moveTo>
                      <a:pt x="0" y="0"/>
                    </a:moveTo>
                    <a:lnTo>
                      <a:pt x="1741926" y="0"/>
                    </a:lnTo>
                    <a:lnTo>
                      <a:pt x="1741926" y="1508944"/>
                    </a:lnTo>
                    <a:lnTo>
                      <a:pt x="0" y="15089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24000"/>
                </a:blip>
                <a:stretch>
                  <a:fillRect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VN" sz="1200"/>
              </a:p>
            </p:txBody>
          </p:sp>
          <p:grpSp>
            <p:nvGrpSpPr>
              <p:cNvPr id="237" name="Group 29">
                <a:extLst>
                  <a:ext uri="{FF2B5EF4-FFF2-40B4-BE49-F238E27FC236}">
                    <a16:creationId xmlns:a16="http://schemas.microsoft.com/office/drawing/2014/main" id="{E25C42EB-FFC4-9F00-09CC-40BEA37C7E9D}"/>
                  </a:ext>
                </a:extLst>
              </p:cNvPr>
              <p:cNvGrpSpPr/>
              <p:nvPr/>
            </p:nvGrpSpPr>
            <p:grpSpPr>
              <a:xfrm>
                <a:off x="105336" y="79225"/>
                <a:ext cx="1298272" cy="1510717"/>
                <a:chOff x="0" y="0"/>
                <a:chExt cx="698500" cy="812800"/>
              </a:xfrm>
            </p:grpSpPr>
            <p:sp>
              <p:nvSpPr>
                <p:cNvPr id="241" name="Freeform 30">
                  <a:extLst>
                    <a:ext uri="{FF2B5EF4-FFF2-40B4-BE49-F238E27FC236}">
                      <a16:creationId xmlns:a16="http://schemas.microsoft.com/office/drawing/2014/main" id="{E6E6A828-5F66-5849-954B-F7A445EC77DD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E9EBF4"/>
                </a:solidFill>
              </p:spPr>
              <p:txBody>
                <a:bodyPr/>
                <a:lstStyle/>
                <a:p>
                  <a:endParaRPr lang="en-VN" sz="1200"/>
                </a:p>
              </p:txBody>
            </p:sp>
            <p:sp>
              <p:nvSpPr>
                <p:cNvPr id="242" name="TextBox 31">
                  <a:extLst>
                    <a:ext uri="{FF2B5EF4-FFF2-40B4-BE49-F238E27FC236}">
                      <a16:creationId xmlns:a16="http://schemas.microsoft.com/office/drawing/2014/main" id="{8A010E9B-1F77-EDA1-E1BB-918AD51342BA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200"/>
                </a:p>
              </p:txBody>
            </p:sp>
          </p:grpSp>
          <p:grpSp>
            <p:nvGrpSpPr>
              <p:cNvPr id="238" name="Group 32">
                <a:extLst>
                  <a:ext uri="{FF2B5EF4-FFF2-40B4-BE49-F238E27FC236}">
                    <a16:creationId xmlns:a16="http://schemas.microsoft.com/office/drawing/2014/main" id="{45AC4136-69EB-6461-36F1-A861FDAEDCE7}"/>
                  </a:ext>
                </a:extLst>
              </p:cNvPr>
              <p:cNvGrpSpPr/>
              <p:nvPr/>
            </p:nvGrpSpPr>
            <p:grpSpPr>
              <a:xfrm>
                <a:off x="105336" y="0"/>
                <a:ext cx="1298272" cy="1510717"/>
                <a:chOff x="0" y="0"/>
                <a:chExt cx="698500" cy="812800"/>
              </a:xfrm>
            </p:grpSpPr>
            <p:sp>
              <p:nvSpPr>
                <p:cNvPr id="239" name="Freeform 33">
                  <a:extLst>
                    <a:ext uri="{FF2B5EF4-FFF2-40B4-BE49-F238E27FC236}">
                      <a16:creationId xmlns:a16="http://schemas.microsoft.com/office/drawing/2014/main" id="{7A6DB2C4-E3AA-5DD7-8730-4DC12CFBB131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FCFDFE"/>
                </a:solidFill>
              </p:spPr>
              <p:txBody>
                <a:bodyPr/>
                <a:lstStyle/>
                <a:p>
                  <a:endParaRPr lang="en-VN" sz="1200"/>
                </a:p>
              </p:txBody>
            </p:sp>
            <p:sp>
              <p:nvSpPr>
                <p:cNvPr id="240" name="TextBox 34">
                  <a:extLst>
                    <a:ext uri="{FF2B5EF4-FFF2-40B4-BE49-F238E27FC236}">
                      <a16:creationId xmlns:a16="http://schemas.microsoft.com/office/drawing/2014/main" id="{535077F8-745E-5E4F-45AA-B2CDBABA7AE5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200"/>
                </a:p>
              </p:txBody>
            </p:sp>
          </p:grpSp>
        </p:grpSp>
        <p:grpSp>
          <p:nvGrpSpPr>
            <p:cNvPr id="243" name="Group 35">
              <a:extLst>
                <a:ext uri="{FF2B5EF4-FFF2-40B4-BE49-F238E27FC236}">
                  <a16:creationId xmlns:a16="http://schemas.microsoft.com/office/drawing/2014/main" id="{8CE34C7F-6AFC-25D5-A754-0FF65A455552}"/>
                </a:ext>
              </a:extLst>
            </p:cNvPr>
            <p:cNvGrpSpPr/>
            <p:nvPr/>
          </p:nvGrpSpPr>
          <p:grpSpPr>
            <a:xfrm>
              <a:off x="7099832" y="4886916"/>
              <a:ext cx="1131708" cy="1349995"/>
              <a:chOff x="0" y="0"/>
              <a:chExt cx="1508944" cy="1799993"/>
            </a:xfrm>
          </p:grpSpPr>
          <p:sp>
            <p:nvSpPr>
              <p:cNvPr id="244" name="Freeform 36">
                <a:extLst>
                  <a:ext uri="{FF2B5EF4-FFF2-40B4-BE49-F238E27FC236}">
                    <a16:creationId xmlns:a16="http://schemas.microsoft.com/office/drawing/2014/main" id="{C57216A0-1081-5303-2E38-99C2208027C5}"/>
                  </a:ext>
                </a:extLst>
              </p:cNvPr>
              <p:cNvSpPr/>
              <p:nvPr/>
            </p:nvSpPr>
            <p:spPr>
              <a:xfrm rot="5400000">
                <a:off x="-116491" y="174558"/>
                <a:ext cx="1741926" cy="1508944"/>
              </a:xfrm>
              <a:custGeom>
                <a:avLst/>
                <a:gdLst/>
                <a:ahLst/>
                <a:cxnLst/>
                <a:rect l="l" t="t" r="r" b="b"/>
                <a:pathLst>
                  <a:path w="1741926" h="1508944">
                    <a:moveTo>
                      <a:pt x="0" y="0"/>
                    </a:moveTo>
                    <a:lnTo>
                      <a:pt x="1741926" y="0"/>
                    </a:lnTo>
                    <a:lnTo>
                      <a:pt x="1741926" y="1508944"/>
                    </a:lnTo>
                    <a:lnTo>
                      <a:pt x="0" y="15089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24000"/>
                </a:blip>
                <a:stretch>
                  <a:fillRect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VN" sz="1200"/>
              </a:p>
            </p:txBody>
          </p:sp>
          <p:grpSp>
            <p:nvGrpSpPr>
              <p:cNvPr id="245" name="Group 37">
                <a:extLst>
                  <a:ext uri="{FF2B5EF4-FFF2-40B4-BE49-F238E27FC236}">
                    <a16:creationId xmlns:a16="http://schemas.microsoft.com/office/drawing/2014/main" id="{9E127C77-5EFA-DB5B-53FB-D453A592806C}"/>
                  </a:ext>
                </a:extLst>
              </p:cNvPr>
              <p:cNvGrpSpPr/>
              <p:nvPr/>
            </p:nvGrpSpPr>
            <p:grpSpPr>
              <a:xfrm>
                <a:off x="105336" y="79225"/>
                <a:ext cx="1298272" cy="1510717"/>
                <a:chOff x="0" y="0"/>
                <a:chExt cx="698500" cy="812800"/>
              </a:xfrm>
            </p:grpSpPr>
            <p:sp>
              <p:nvSpPr>
                <p:cNvPr id="249" name="Freeform 38">
                  <a:extLst>
                    <a:ext uri="{FF2B5EF4-FFF2-40B4-BE49-F238E27FC236}">
                      <a16:creationId xmlns:a16="http://schemas.microsoft.com/office/drawing/2014/main" id="{61FA5BD6-8037-F6C4-0574-49508563059D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E9EBF4"/>
                </a:solidFill>
              </p:spPr>
              <p:txBody>
                <a:bodyPr/>
                <a:lstStyle/>
                <a:p>
                  <a:endParaRPr lang="en-VN" sz="1200"/>
                </a:p>
              </p:txBody>
            </p:sp>
            <p:sp>
              <p:nvSpPr>
                <p:cNvPr id="250" name="TextBox 39">
                  <a:extLst>
                    <a:ext uri="{FF2B5EF4-FFF2-40B4-BE49-F238E27FC236}">
                      <a16:creationId xmlns:a16="http://schemas.microsoft.com/office/drawing/2014/main" id="{FD88B452-66BF-F3A4-2D99-96E66D23B255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200"/>
                </a:p>
              </p:txBody>
            </p:sp>
          </p:grpSp>
          <p:grpSp>
            <p:nvGrpSpPr>
              <p:cNvPr id="246" name="Group 40">
                <a:extLst>
                  <a:ext uri="{FF2B5EF4-FFF2-40B4-BE49-F238E27FC236}">
                    <a16:creationId xmlns:a16="http://schemas.microsoft.com/office/drawing/2014/main" id="{AB74BA62-BA21-E6F7-3DC0-EFB84E9FBDCD}"/>
                  </a:ext>
                </a:extLst>
              </p:cNvPr>
              <p:cNvGrpSpPr/>
              <p:nvPr/>
            </p:nvGrpSpPr>
            <p:grpSpPr>
              <a:xfrm>
                <a:off x="105336" y="0"/>
                <a:ext cx="1298272" cy="1510717"/>
                <a:chOff x="0" y="0"/>
                <a:chExt cx="698500" cy="812800"/>
              </a:xfrm>
            </p:grpSpPr>
            <p:sp>
              <p:nvSpPr>
                <p:cNvPr id="247" name="Freeform 41">
                  <a:extLst>
                    <a:ext uri="{FF2B5EF4-FFF2-40B4-BE49-F238E27FC236}">
                      <a16:creationId xmlns:a16="http://schemas.microsoft.com/office/drawing/2014/main" id="{955BACF5-B437-A7C7-081A-CD68CB307444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FCFDFE"/>
                </a:solidFill>
              </p:spPr>
              <p:txBody>
                <a:bodyPr/>
                <a:lstStyle/>
                <a:p>
                  <a:endParaRPr lang="en-VN" sz="1200"/>
                </a:p>
              </p:txBody>
            </p:sp>
            <p:sp>
              <p:nvSpPr>
                <p:cNvPr id="248" name="TextBox 42">
                  <a:extLst>
                    <a:ext uri="{FF2B5EF4-FFF2-40B4-BE49-F238E27FC236}">
                      <a16:creationId xmlns:a16="http://schemas.microsoft.com/office/drawing/2014/main" id="{AEEAFD98-8503-4F77-4808-7DA9EFB71D3F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200"/>
                </a:p>
              </p:txBody>
            </p:sp>
          </p:grpSp>
        </p:grpSp>
        <p:grpSp>
          <p:nvGrpSpPr>
            <p:cNvPr id="251" name="Group 43">
              <a:extLst>
                <a:ext uri="{FF2B5EF4-FFF2-40B4-BE49-F238E27FC236}">
                  <a16:creationId xmlns:a16="http://schemas.microsoft.com/office/drawing/2014/main" id="{D84789CF-829F-976D-9BF0-5F62991EB15A}"/>
                </a:ext>
              </a:extLst>
            </p:cNvPr>
            <p:cNvGrpSpPr/>
            <p:nvPr/>
          </p:nvGrpSpPr>
          <p:grpSpPr>
            <a:xfrm>
              <a:off x="11904620" y="5073056"/>
              <a:ext cx="1131708" cy="1349995"/>
              <a:chOff x="0" y="0"/>
              <a:chExt cx="1508944" cy="1799993"/>
            </a:xfrm>
          </p:grpSpPr>
          <p:sp>
            <p:nvSpPr>
              <p:cNvPr id="252" name="Freeform 44">
                <a:extLst>
                  <a:ext uri="{FF2B5EF4-FFF2-40B4-BE49-F238E27FC236}">
                    <a16:creationId xmlns:a16="http://schemas.microsoft.com/office/drawing/2014/main" id="{4258C1B3-86DF-AB49-72EF-D96A65EEBDE0}"/>
                  </a:ext>
                </a:extLst>
              </p:cNvPr>
              <p:cNvSpPr/>
              <p:nvPr/>
            </p:nvSpPr>
            <p:spPr>
              <a:xfrm rot="5400000">
                <a:off x="-116491" y="174558"/>
                <a:ext cx="1741926" cy="1508944"/>
              </a:xfrm>
              <a:custGeom>
                <a:avLst/>
                <a:gdLst/>
                <a:ahLst/>
                <a:cxnLst/>
                <a:rect l="l" t="t" r="r" b="b"/>
                <a:pathLst>
                  <a:path w="1741926" h="1508944">
                    <a:moveTo>
                      <a:pt x="0" y="0"/>
                    </a:moveTo>
                    <a:lnTo>
                      <a:pt x="1741926" y="0"/>
                    </a:lnTo>
                    <a:lnTo>
                      <a:pt x="1741926" y="1508944"/>
                    </a:lnTo>
                    <a:lnTo>
                      <a:pt x="0" y="15089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24000"/>
                </a:blip>
                <a:stretch>
                  <a:fillRect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VN" sz="1200"/>
              </a:p>
            </p:txBody>
          </p:sp>
          <p:grpSp>
            <p:nvGrpSpPr>
              <p:cNvPr id="253" name="Group 45">
                <a:extLst>
                  <a:ext uri="{FF2B5EF4-FFF2-40B4-BE49-F238E27FC236}">
                    <a16:creationId xmlns:a16="http://schemas.microsoft.com/office/drawing/2014/main" id="{6E432D2B-EBF2-251A-D8AA-F5BF7F241D17}"/>
                  </a:ext>
                </a:extLst>
              </p:cNvPr>
              <p:cNvGrpSpPr/>
              <p:nvPr/>
            </p:nvGrpSpPr>
            <p:grpSpPr>
              <a:xfrm>
                <a:off x="105336" y="79225"/>
                <a:ext cx="1298272" cy="1510717"/>
                <a:chOff x="0" y="0"/>
                <a:chExt cx="698500" cy="812800"/>
              </a:xfrm>
            </p:grpSpPr>
            <p:sp>
              <p:nvSpPr>
                <p:cNvPr id="257" name="Freeform 46">
                  <a:extLst>
                    <a:ext uri="{FF2B5EF4-FFF2-40B4-BE49-F238E27FC236}">
                      <a16:creationId xmlns:a16="http://schemas.microsoft.com/office/drawing/2014/main" id="{F2AAA33A-B2CA-84F5-53B3-98E5FCB7A20C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E9EBF4"/>
                </a:solidFill>
              </p:spPr>
              <p:txBody>
                <a:bodyPr/>
                <a:lstStyle/>
                <a:p>
                  <a:endParaRPr lang="en-VN" sz="1200"/>
                </a:p>
              </p:txBody>
            </p:sp>
            <p:sp>
              <p:nvSpPr>
                <p:cNvPr id="258" name="TextBox 47">
                  <a:extLst>
                    <a:ext uri="{FF2B5EF4-FFF2-40B4-BE49-F238E27FC236}">
                      <a16:creationId xmlns:a16="http://schemas.microsoft.com/office/drawing/2014/main" id="{C878C1DC-AF84-C68A-5507-E7D015AA01BD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200"/>
                </a:p>
              </p:txBody>
            </p:sp>
          </p:grpSp>
          <p:grpSp>
            <p:nvGrpSpPr>
              <p:cNvPr id="254" name="Group 48">
                <a:extLst>
                  <a:ext uri="{FF2B5EF4-FFF2-40B4-BE49-F238E27FC236}">
                    <a16:creationId xmlns:a16="http://schemas.microsoft.com/office/drawing/2014/main" id="{D196FA12-887D-4CD0-2A87-C8391E383044}"/>
                  </a:ext>
                </a:extLst>
              </p:cNvPr>
              <p:cNvGrpSpPr/>
              <p:nvPr/>
            </p:nvGrpSpPr>
            <p:grpSpPr>
              <a:xfrm>
                <a:off x="105336" y="0"/>
                <a:ext cx="1298272" cy="1510717"/>
                <a:chOff x="0" y="0"/>
                <a:chExt cx="698500" cy="812800"/>
              </a:xfrm>
            </p:grpSpPr>
            <p:sp>
              <p:nvSpPr>
                <p:cNvPr id="255" name="Freeform 49">
                  <a:extLst>
                    <a:ext uri="{FF2B5EF4-FFF2-40B4-BE49-F238E27FC236}">
                      <a16:creationId xmlns:a16="http://schemas.microsoft.com/office/drawing/2014/main" id="{607A7D6C-3683-AA95-912E-E5440EA8933B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FCFDFE"/>
                </a:solidFill>
              </p:spPr>
              <p:txBody>
                <a:bodyPr/>
                <a:lstStyle/>
                <a:p>
                  <a:endParaRPr lang="en-VN" sz="1200"/>
                </a:p>
              </p:txBody>
            </p:sp>
            <p:sp>
              <p:nvSpPr>
                <p:cNvPr id="256" name="TextBox 50">
                  <a:extLst>
                    <a:ext uri="{FF2B5EF4-FFF2-40B4-BE49-F238E27FC236}">
                      <a16:creationId xmlns:a16="http://schemas.microsoft.com/office/drawing/2014/main" id="{ED6A6141-792B-F7E6-9EC7-2892E06D772D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200"/>
                </a:p>
              </p:txBody>
            </p:sp>
          </p:grpSp>
        </p:grpSp>
        <p:grpSp>
          <p:nvGrpSpPr>
            <p:cNvPr id="259" name="Group 51">
              <a:extLst>
                <a:ext uri="{FF2B5EF4-FFF2-40B4-BE49-F238E27FC236}">
                  <a16:creationId xmlns:a16="http://schemas.microsoft.com/office/drawing/2014/main" id="{3315D8E1-48C9-4C92-EDD7-DF6DC6E892C9}"/>
                </a:ext>
              </a:extLst>
            </p:cNvPr>
            <p:cNvGrpSpPr/>
            <p:nvPr/>
          </p:nvGrpSpPr>
          <p:grpSpPr>
            <a:xfrm>
              <a:off x="14375474" y="5456398"/>
              <a:ext cx="1131708" cy="1349995"/>
              <a:chOff x="0" y="0"/>
              <a:chExt cx="1508944" cy="1799993"/>
            </a:xfrm>
          </p:grpSpPr>
          <p:sp>
            <p:nvSpPr>
              <p:cNvPr id="260" name="Freeform 52">
                <a:extLst>
                  <a:ext uri="{FF2B5EF4-FFF2-40B4-BE49-F238E27FC236}">
                    <a16:creationId xmlns:a16="http://schemas.microsoft.com/office/drawing/2014/main" id="{A71191FF-F1CC-7625-88F2-04507C5AB98C}"/>
                  </a:ext>
                </a:extLst>
              </p:cNvPr>
              <p:cNvSpPr/>
              <p:nvPr/>
            </p:nvSpPr>
            <p:spPr>
              <a:xfrm rot="5400000">
                <a:off x="-116491" y="174558"/>
                <a:ext cx="1741926" cy="1508944"/>
              </a:xfrm>
              <a:custGeom>
                <a:avLst/>
                <a:gdLst/>
                <a:ahLst/>
                <a:cxnLst/>
                <a:rect l="l" t="t" r="r" b="b"/>
                <a:pathLst>
                  <a:path w="1741926" h="1508944">
                    <a:moveTo>
                      <a:pt x="0" y="0"/>
                    </a:moveTo>
                    <a:lnTo>
                      <a:pt x="1741926" y="0"/>
                    </a:lnTo>
                    <a:lnTo>
                      <a:pt x="1741926" y="1508944"/>
                    </a:lnTo>
                    <a:lnTo>
                      <a:pt x="0" y="15089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24000"/>
                </a:blip>
                <a:stretch>
                  <a:fillRect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VN" sz="1200"/>
              </a:p>
            </p:txBody>
          </p:sp>
          <p:grpSp>
            <p:nvGrpSpPr>
              <p:cNvPr id="261" name="Group 53">
                <a:extLst>
                  <a:ext uri="{FF2B5EF4-FFF2-40B4-BE49-F238E27FC236}">
                    <a16:creationId xmlns:a16="http://schemas.microsoft.com/office/drawing/2014/main" id="{A8F2E155-757D-BCDD-2D52-F602AA01DF22}"/>
                  </a:ext>
                </a:extLst>
              </p:cNvPr>
              <p:cNvGrpSpPr/>
              <p:nvPr/>
            </p:nvGrpSpPr>
            <p:grpSpPr>
              <a:xfrm>
                <a:off x="105336" y="79225"/>
                <a:ext cx="1298272" cy="1510717"/>
                <a:chOff x="0" y="0"/>
                <a:chExt cx="698500" cy="812800"/>
              </a:xfrm>
            </p:grpSpPr>
            <p:sp>
              <p:nvSpPr>
                <p:cNvPr id="265" name="Freeform 54">
                  <a:extLst>
                    <a:ext uri="{FF2B5EF4-FFF2-40B4-BE49-F238E27FC236}">
                      <a16:creationId xmlns:a16="http://schemas.microsoft.com/office/drawing/2014/main" id="{C047E329-0CB1-C191-9A32-C632F9E55C91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E9EBF4"/>
                </a:solidFill>
              </p:spPr>
              <p:txBody>
                <a:bodyPr/>
                <a:lstStyle/>
                <a:p>
                  <a:endParaRPr lang="en-VN" sz="1200"/>
                </a:p>
              </p:txBody>
            </p:sp>
            <p:sp>
              <p:nvSpPr>
                <p:cNvPr id="266" name="TextBox 55">
                  <a:extLst>
                    <a:ext uri="{FF2B5EF4-FFF2-40B4-BE49-F238E27FC236}">
                      <a16:creationId xmlns:a16="http://schemas.microsoft.com/office/drawing/2014/main" id="{F8370D7B-9D57-8978-46F3-F1549FFCE63E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200"/>
                </a:p>
              </p:txBody>
            </p:sp>
          </p:grpSp>
          <p:grpSp>
            <p:nvGrpSpPr>
              <p:cNvPr id="262" name="Group 56">
                <a:extLst>
                  <a:ext uri="{FF2B5EF4-FFF2-40B4-BE49-F238E27FC236}">
                    <a16:creationId xmlns:a16="http://schemas.microsoft.com/office/drawing/2014/main" id="{595B8982-9F20-7AD0-AFAC-2E6978E8C635}"/>
                  </a:ext>
                </a:extLst>
              </p:cNvPr>
              <p:cNvGrpSpPr/>
              <p:nvPr/>
            </p:nvGrpSpPr>
            <p:grpSpPr>
              <a:xfrm>
                <a:off x="105336" y="0"/>
                <a:ext cx="1298272" cy="1510717"/>
                <a:chOff x="0" y="0"/>
                <a:chExt cx="698500" cy="812800"/>
              </a:xfrm>
            </p:grpSpPr>
            <p:sp>
              <p:nvSpPr>
                <p:cNvPr id="263" name="Freeform 57">
                  <a:extLst>
                    <a:ext uri="{FF2B5EF4-FFF2-40B4-BE49-F238E27FC236}">
                      <a16:creationId xmlns:a16="http://schemas.microsoft.com/office/drawing/2014/main" id="{4D3AB24E-EAEF-FB9C-0BBE-12954B88B977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FCFDFE"/>
                </a:solidFill>
              </p:spPr>
              <p:txBody>
                <a:bodyPr/>
                <a:lstStyle/>
                <a:p>
                  <a:endParaRPr lang="en-VN" sz="1200"/>
                </a:p>
              </p:txBody>
            </p:sp>
            <p:sp>
              <p:nvSpPr>
                <p:cNvPr id="264" name="TextBox 58">
                  <a:extLst>
                    <a:ext uri="{FF2B5EF4-FFF2-40B4-BE49-F238E27FC236}">
                      <a16:creationId xmlns:a16="http://schemas.microsoft.com/office/drawing/2014/main" id="{7A81A6A5-5EC1-8542-77A2-57CC8BE79FAE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200"/>
                </a:p>
              </p:txBody>
            </p:sp>
          </p:grpSp>
        </p:grpSp>
        <p:grpSp>
          <p:nvGrpSpPr>
            <p:cNvPr id="267" name="Group 59">
              <a:extLst>
                <a:ext uri="{FF2B5EF4-FFF2-40B4-BE49-F238E27FC236}">
                  <a16:creationId xmlns:a16="http://schemas.microsoft.com/office/drawing/2014/main" id="{7F543041-9A74-78D0-1252-2AD699A1A97B}"/>
                </a:ext>
              </a:extLst>
            </p:cNvPr>
            <p:cNvGrpSpPr/>
            <p:nvPr/>
          </p:nvGrpSpPr>
          <p:grpSpPr>
            <a:xfrm>
              <a:off x="16676336" y="5956723"/>
              <a:ext cx="1131708" cy="1349995"/>
              <a:chOff x="0" y="0"/>
              <a:chExt cx="1508944" cy="1799993"/>
            </a:xfrm>
          </p:grpSpPr>
          <p:sp>
            <p:nvSpPr>
              <p:cNvPr id="268" name="Freeform 60">
                <a:extLst>
                  <a:ext uri="{FF2B5EF4-FFF2-40B4-BE49-F238E27FC236}">
                    <a16:creationId xmlns:a16="http://schemas.microsoft.com/office/drawing/2014/main" id="{13073361-97EF-11A0-4BA2-39E362E7F1EE}"/>
                  </a:ext>
                </a:extLst>
              </p:cNvPr>
              <p:cNvSpPr/>
              <p:nvPr/>
            </p:nvSpPr>
            <p:spPr>
              <a:xfrm rot="5400000">
                <a:off x="-116491" y="174558"/>
                <a:ext cx="1741926" cy="1508944"/>
              </a:xfrm>
              <a:custGeom>
                <a:avLst/>
                <a:gdLst/>
                <a:ahLst/>
                <a:cxnLst/>
                <a:rect l="l" t="t" r="r" b="b"/>
                <a:pathLst>
                  <a:path w="1741926" h="1508944">
                    <a:moveTo>
                      <a:pt x="0" y="0"/>
                    </a:moveTo>
                    <a:lnTo>
                      <a:pt x="1741926" y="0"/>
                    </a:lnTo>
                    <a:lnTo>
                      <a:pt x="1741926" y="1508944"/>
                    </a:lnTo>
                    <a:lnTo>
                      <a:pt x="0" y="15089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24000"/>
                </a:blip>
                <a:stretch>
                  <a:fillRect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VN" sz="1200"/>
              </a:p>
            </p:txBody>
          </p:sp>
          <p:grpSp>
            <p:nvGrpSpPr>
              <p:cNvPr id="269" name="Group 61">
                <a:extLst>
                  <a:ext uri="{FF2B5EF4-FFF2-40B4-BE49-F238E27FC236}">
                    <a16:creationId xmlns:a16="http://schemas.microsoft.com/office/drawing/2014/main" id="{3321CD4F-EEF1-4303-BC33-752C6D478D4C}"/>
                  </a:ext>
                </a:extLst>
              </p:cNvPr>
              <p:cNvGrpSpPr/>
              <p:nvPr/>
            </p:nvGrpSpPr>
            <p:grpSpPr>
              <a:xfrm>
                <a:off x="105336" y="79225"/>
                <a:ext cx="1298272" cy="1510717"/>
                <a:chOff x="0" y="0"/>
                <a:chExt cx="698500" cy="812800"/>
              </a:xfrm>
            </p:grpSpPr>
            <p:sp>
              <p:nvSpPr>
                <p:cNvPr id="273" name="Freeform 62">
                  <a:extLst>
                    <a:ext uri="{FF2B5EF4-FFF2-40B4-BE49-F238E27FC236}">
                      <a16:creationId xmlns:a16="http://schemas.microsoft.com/office/drawing/2014/main" id="{371D4DC2-9F43-D0AE-75C1-446AB665A1D5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E9EBF4"/>
                </a:solidFill>
              </p:spPr>
              <p:txBody>
                <a:bodyPr/>
                <a:lstStyle/>
                <a:p>
                  <a:endParaRPr lang="en-VN" sz="1200"/>
                </a:p>
              </p:txBody>
            </p:sp>
            <p:sp>
              <p:nvSpPr>
                <p:cNvPr id="274" name="TextBox 63">
                  <a:extLst>
                    <a:ext uri="{FF2B5EF4-FFF2-40B4-BE49-F238E27FC236}">
                      <a16:creationId xmlns:a16="http://schemas.microsoft.com/office/drawing/2014/main" id="{215E83CD-2F04-D47F-4483-139E04316550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200"/>
                </a:p>
              </p:txBody>
            </p:sp>
          </p:grpSp>
          <p:grpSp>
            <p:nvGrpSpPr>
              <p:cNvPr id="270" name="Group 64">
                <a:extLst>
                  <a:ext uri="{FF2B5EF4-FFF2-40B4-BE49-F238E27FC236}">
                    <a16:creationId xmlns:a16="http://schemas.microsoft.com/office/drawing/2014/main" id="{D6F98FBB-76D2-B098-6BEE-03BA34BDB610}"/>
                  </a:ext>
                </a:extLst>
              </p:cNvPr>
              <p:cNvGrpSpPr/>
              <p:nvPr/>
            </p:nvGrpSpPr>
            <p:grpSpPr>
              <a:xfrm>
                <a:off x="105336" y="0"/>
                <a:ext cx="1298272" cy="1510717"/>
                <a:chOff x="0" y="0"/>
                <a:chExt cx="698500" cy="812800"/>
              </a:xfrm>
            </p:grpSpPr>
            <p:sp>
              <p:nvSpPr>
                <p:cNvPr id="271" name="Freeform 65">
                  <a:extLst>
                    <a:ext uri="{FF2B5EF4-FFF2-40B4-BE49-F238E27FC236}">
                      <a16:creationId xmlns:a16="http://schemas.microsoft.com/office/drawing/2014/main" id="{EC96D874-8425-F2ED-55ED-566FC57A7F0D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FCFDFE"/>
                </a:solidFill>
              </p:spPr>
              <p:txBody>
                <a:bodyPr/>
                <a:lstStyle/>
                <a:p>
                  <a:endParaRPr lang="en-VN" sz="1200"/>
                </a:p>
              </p:txBody>
            </p:sp>
            <p:sp>
              <p:nvSpPr>
                <p:cNvPr id="272" name="TextBox 66">
                  <a:extLst>
                    <a:ext uri="{FF2B5EF4-FFF2-40B4-BE49-F238E27FC236}">
                      <a16:creationId xmlns:a16="http://schemas.microsoft.com/office/drawing/2014/main" id="{5EF8EDF8-9F24-F927-4979-9B32EA5B40A0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200"/>
                </a:p>
              </p:txBody>
            </p:sp>
          </p:grpSp>
        </p:grpSp>
        <p:sp>
          <p:nvSpPr>
            <p:cNvPr id="275" name="Freeform 67">
              <a:extLst>
                <a:ext uri="{FF2B5EF4-FFF2-40B4-BE49-F238E27FC236}">
                  <a16:creationId xmlns:a16="http://schemas.microsoft.com/office/drawing/2014/main" id="{CC7501E4-8294-D53B-CB48-673EBAF860D3}"/>
                </a:ext>
              </a:extLst>
            </p:cNvPr>
            <p:cNvSpPr/>
            <p:nvPr/>
          </p:nvSpPr>
          <p:spPr>
            <a:xfrm>
              <a:off x="722570" y="6381323"/>
              <a:ext cx="600653" cy="500795"/>
            </a:xfrm>
            <a:custGeom>
              <a:avLst/>
              <a:gdLst/>
              <a:ahLst/>
              <a:cxnLst/>
              <a:rect l="l" t="t" r="r" b="b"/>
              <a:pathLst>
                <a:path w="600653" h="500795">
                  <a:moveTo>
                    <a:pt x="0" y="0"/>
                  </a:moveTo>
                  <a:lnTo>
                    <a:pt x="600653" y="0"/>
                  </a:lnTo>
                  <a:lnTo>
                    <a:pt x="600653" y="500795"/>
                  </a:lnTo>
                  <a:lnTo>
                    <a:pt x="0" y="500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276" name="Freeform 68">
              <a:extLst>
                <a:ext uri="{FF2B5EF4-FFF2-40B4-BE49-F238E27FC236}">
                  <a16:creationId xmlns:a16="http://schemas.microsoft.com/office/drawing/2014/main" id="{614003FC-33C8-1A1E-BF1A-EBA1A8D7D1DA}"/>
                </a:ext>
              </a:extLst>
            </p:cNvPr>
            <p:cNvSpPr/>
            <p:nvPr/>
          </p:nvSpPr>
          <p:spPr>
            <a:xfrm>
              <a:off x="2914049" y="5794100"/>
              <a:ext cx="600653" cy="500795"/>
            </a:xfrm>
            <a:custGeom>
              <a:avLst/>
              <a:gdLst/>
              <a:ahLst/>
              <a:cxnLst/>
              <a:rect l="l" t="t" r="r" b="b"/>
              <a:pathLst>
                <a:path w="600653" h="500795">
                  <a:moveTo>
                    <a:pt x="0" y="0"/>
                  </a:moveTo>
                  <a:lnTo>
                    <a:pt x="600654" y="0"/>
                  </a:lnTo>
                  <a:lnTo>
                    <a:pt x="600654" y="500795"/>
                  </a:lnTo>
                  <a:lnTo>
                    <a:pt x="0" y="500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277" name="Freeform 69">
              <a:extLst>
                <a:ext uri="{FF2B5EF4-FFF2-40B4-BE49-F238E27FC236}">
                  <a16:creationId xmlns:a16="http://schemas.microsoft.com/office/drawing/2014/main" id="{3C76E6A9-AF57-3452-0925-F04952C3DFFC}"/>
                </a:ext>
              </a:extLst>
            </p:cNvPr>
            <p:cNvSpPr/>
            <p:nvPr/>
          </p:nvSpPr>
          <p:spPr>
            <a:xfrm>
              <a:off x="5047524" y="5396577"/>
              <a:ext cx="600653" cy="500795"/>
            </a:xfrm>
            <a:custGeom>
              <a:avLst/>
              <a:gdLst/>
              <a:ahLst/>
              <a:cxnLst/>
              <a:rect l="l" t="t" r="r" b="b"/>
              <a:pathLst>
                <a:path w="600653" h="500795">
                  <a:moveTo>
                    <a:pt x="0" y="0"/>
                  </a:moveTo>
                  <a:lnTo>
                    <a:pt x="600653" y="0"/>
                  </a:lnTo>
                  <a:lnTo>
                    <a:pt x="600653" y="500795"/>
                  </a:lnTo>
                  <a:lnTo>
                    <a:pt x="0" y="500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278" name="Freeform 70">
              <a:extLst>
                <a:ext uri="{FF2B5EF4-FFF2-40B4-BE49-F238E27FC236}">
                  <a16:creationId xmlns:a16="http://schemas.microsoft.com/office/drawing/2014/main" id="{31A964B2-F8CC-040C-E8A2-AB1579F7C836}"/>
                </a:ext>
              </a:extLst>
            </p:cNvPr>
            <p:cNvSpPr/>
            <p:nvPr/>
          </p:nvSpPr>
          <p:spPr>
            <a:xfrm>
              <a:off x="14909459" y="3883947"/>
              <a:ext cx="1022997" cy="659833"/>
            </a:xfrm>
            <a:custGeom>
              <a:avLst/>
              <a:gdLst/>
              <a:ahLst/>
              <a:cxnLst/>
              <a:rect l="l" t="t" r="r" b="b"/>
              <a:pathLst>
                <a:path w="1022997" h="659833">
                  <a:moveTo>
                    <a:pt x="0" y="0"/>
                  </a:moveTo>
                  <a:lnTo>
                    <a:pt x="1022996" y="0"/>
                  </a:lnTo>
                  <a:lnTo>
                    <a:pt x="1022996" y="659833"/>
                  </a:lnTo>
                  <a:lnTo>
                    <a:pt x="0" y="659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279" name="Freeform 71">
              <a:extLst>
                <a:ext uri="{FF2B5EF4-FFF2-40B4-BE49-F238E27FC236}">
                  <a16:creationId xmlns:a16="http://schemas.microsoft.com/office/drawing/2014/main" id="{DB741CAD-4F76-69E6-6632-C8EB014B80B2}"/>
                </a:ext>
              </a:extLst>
            </p:cNvPr>
            <p:cNvSpPr/>
            <p:nvPr/>
          </p:nvSpPr>
          <p:spPr>
            <a:xfrm>
              <a:off x="13889171" y="3890765"/>
              <a:ext cx="966645" cy="708067"/>
            </a:xfrm>
            <a:custGeom>
              <a:avLst/>
              <a:gdLst/>
              <a:ahLst/>
              <a:cxnLst/>
              <a:rect l="l" t="t" r="r" b="b"/>
              <a:pathLst>
                <a:path w="966645" h="708067">
                  <a:moveTo>
                    <a:pt x="0" y="0"/>
                  </a:moveTo>
                  <a:lnTo>
                    <a:pt x="966644" y="0"/>
                  </a:lnTo>
                  <a:lnTo>
                    <a:pt x="966644" y="708068"/>
                  </a:lnTo>
                  <a:lnTo>
                    <a:pt x="0" y="708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280" name="Freeform 72">
              <a:extLst>
                <a:ext uri="{FF2B5EF4-FFF2-40B4-BE49-F238E27FC236}">
                  <a16:creationId xmlns:a16="http://schemas.microsoft.com/office/drawing/2014/main" id="{53BBFF4D-A218-5D0E-69BC-35342CCF869B}"/>
                </a:ext>
              </a:extLst>
            </p:cNvPr>
            <p:cNvSpPr/>
            <p:nvPr/>
          </p:nvSpPr>
          <p:spPr>
            <a:xfrm>
              <a:off x="16482438" y="4512775"/>
              <a:ext cx="1393702" cy="951201"/>
            </a:xfrm>
            <a:custGeom>
              <a:avLst/>
              <a:gdLst/>
              <a:ahLst/>
              <a:cxnLst/>
              <a:rect l="l" t="t" r="r" b="b"/>
              <a:pathLst>
                <a:path w="1393702" h="951201">
                  <a:moveTo>
                    <a:pt x="0" y="0"/>
                  </a:moveTo>
                  <a:lnTo>
                    <a:pt x="1393702" y="0"/>
                  </a:lnTo>
                  <a:lnTo>
                    <a:pt x="1393702" y="951201"/>
                  </a:lnTo>
                  <a:lnTo>
                    <a:pt x="0" y="951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281" name="TextBox 73">
              <a:extLst>
                <a:ext uri="{FF2B5EF4-FFF2-40B4-BE49-F238E27FC236}">
                  <a16:creationId xmlns:a16="http://schemas.microsoft.com/office/drawing/2014/main" id="{7F851D19-51E3-67D5-4B93-F8514B6EBD5A}"/>
                </a:ext>
              </a:extLst>
            </p:cNvPr>
            <p:cNvSpPr txBox="1"/>
            <p:nvPr/>
          </p:nvSpPr>
          <p:spPr>
            <a:xfrm>
              <a:off x="-401989" y="8009318"/>
              <a:ext cx="2895599" cy="1149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ĐVQT</a:t>
              </a:r>
            </a:p>
            <a:p>
              <a:pPr algn="ctr"/>
              <a:endParaRPr lang="en-US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282" name="TextBox 74">
              <a:extLst>
                <a:ext uri="{FF2B5EF4-FFF2-40B4-BE49-F238E27FC236}">
                  <a16:creationId xmlns:a16="http://schemas.microsoft.com/office/drawing/2014/main" id="{66F953E0-2318-1F3F-4D8D-1B230D48D025}"/>
                </a:ext>
              </a:extLst>
            </p:cNvPr>
            <p:cNvSpPr txBox="1"/>
            <p:nvPr/>
          </p:nvSpPr>
          <p:spPr>
            <a:xfrm>
              <a:off x="1766575" y="7399398"/>
              <a:ext cx="2895599" cy="1149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/>
              <a:r>
                <a:rPr lang="en-US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ĐVQT</a:t>
              </a:r>
            </a:p>
            <a:p>
              <a:pPr algn="ctr"/>
              <a:endParaRPr lang="en-US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283" name="TextBox 75">
              <a:extLst>
                <a:ext uri="{FF2B5EF4-FFF2-40B4-BE49-F238E27FC236}">
                  <a16:creationId xmlns:a16="http://schemas.microsoft.com/office/drawing/2014/main" id="{CD526D02-C2CC-98BE-90A3-D3A07217A56F}"/>
                </a:ext>
              </a:extLst>
            </p:cNvPr>
            <p:cNvSpPr txBox="1"/>
            <p:nvPr/>
          </p:nvSpPr>
          <p:spPr>
            <a:xfrm>
              <a:off x="-401989" y="7594716"/>
              <a:ext cx="2895599" cy="446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 b="1">
                  <a:solidFill>
                    <a:srgbClr val="041F6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2011</a:t>
              </a:r>
            </a:p>
          </p:txBody>
        </p:sp>
        <p:sp>
          <p:nvSpPr>
            <p:cNvPr id="284" name="TextBox 76">
              <a:extLst>
                <a:ext uri="{FF2B5EF4-FFF2-40B4-BE49-F238E27FC236}">
                  <a16:creationId xmlns:a16="http://schemas.microsoft.com/office/drawing/2014/main" id="{1FDAA2B2-228F-74FA-0466-A1AAD4118602}"/>
                </a:ext>
              </a:extLst>
            </p:cNvPr>
            <p:cNvSpPr txBox="1"/>
            <p:nvPr/>
          </p:nvSpPr>
          <p:spPr>
            <a:xfrm>
              <a:off x="1766575" y="6984799"/>
              <a:ext cx="2895599" cy="446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 b="1">
                  <a:solidFill>
                    <a:srgbClr val="041F6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2012</a:t>
              </a:r>
            </a:p>
          </p:txBody>
        </p:sp>
        <p:sp>
          <p:nvSpPr>
            <p:cNvPr id="285" name="TextBox 77">
              <a:extLst>
                <a:ext uri="{FF2B5EF4-FFF2-40B4-BE49-F238E27FC236}">
                  <a16:creationId xmlns:a16="http://schemas.microsoft.com/office/drawing/2014/main" id="{F9C5BCAA-9EA0-A4A4-EBC6-F9C719E7EC68}"/>
                </a:ext>
              </a:extLst>
            </p:cNvPr>
            <p:cNvSpPr txBox="1"/>
            <p:nvPr/>
          </p:nvSpPr>
          <p:spPr>
            <a:xfrm>
              <a:off x="3900050" y="6956174"/>
              <a:ext cx="2895599" cy="1149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ĐVQT</a:t>
              </a:r>
            </a:p>
            <a:p>
              <a:pPr algn="ctr"/>
              <a:endParaRPr lang="en-US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286" name="TextBox 78">
              <a:extLst>
                <a:ext uri="{FF2B5EF4-FFF2-40B4-BE49-F238E27FC236}">
                  <a16:creationId xmlns:a16="http://schemas.microsoft.com/office/drawing/2014/main" id="{CB1FA3C0-3692-ECD6-270D-6E38FD3F5A49}"/>
                </a:ext>
              </a:extLst>
            </p:cNvPr>
            <p:cNvSpPr txBox="1"/>
            <p:nvPr/>
          </p:nvSpPr>
          <p:spPr>
            <a:xfrm>
              <a:off x="3900050" y="6541572"/>
              <a:ext cx="2895599" cy="446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 b="1">
                  <a:solidFill>
                    <a:srgbClr val="041F6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2013</a:t>
              </a:r>
            </a:p>
          </p:txBody>
        </p:sp>
        <p:sp>
          <p:nvSpPr>
            <p:cNvPr id="287" name="TextBox 79">
              <a:extLst>
                <a:ext uri="{FF2B5EF4-FFF2-40B4-BE49-F238E27FC236}">
                  <a16:creationId xmlns:a16="http://schemas.microsoft.com/office/drawing/2014/main" id="{2F9FE503-68F9-64F2-5101-D41333A2C3AD}"/>
                </a:ext>
              </a:extLst>
            </p:cNvPr>
            <p:cNvSpPr txBox="1"/>
            <p:nvPr/>
          </p:nvSpPr>
          <p:spPr>
            <a:xfrm>
              <a:off x="3869536" y="4512775"/>
              <a:ext cx="2895599" cy="574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>
                  <a:solidFill>
                    <a:srgbClr val="041F60"/>
                  </a:solidFill>
                  <a:latin typeface="Gotham"/>
                  <a:ea typeface="Gotham"/>
                  <a:cs typeface="Gotham"/>
                  <a:sym typeface="Gotham"/>
                </a:rPr>
                <a:t>BKBQP</a:t>
              </a:r>
            </a:p>
          </p:txBody>
        </p:sp>
        <p:sp>
          <p:nvSpPr>
            <p:cNvPr id="288" name="TextBox 80">
              <a:extLst>
                <a:ext uri="{FF2B5EF4-FFF2-40B4-BE49-F238E27FC236}">
                  <a16:creationId xmlns:a16="http://schemas.microsoft.com/office/drawing/2014/main" id="{3CD45B2C-4C6E-DF0F-4286-4F9C02E54E25}"/>
                </a:ext>
              </a:extLst>
            </p:cNvPr>
            <p:cNvSpPr txBox="1"/>
            <p:nvPr/>
          </p:nvSpPr>
          <p:spPr>
            <a:xfrm>
              <a:off x="6217886" y="6855232"/>
              <a:ext cx="2895599" cy="1149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ĐVQT</a:t>
              </a:r>
            </a:p>
            <a:p>
              <a:pPr algn="ctr"/>
              <a:endParaRPr lang="en-US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289" name="TextBox 81">
              <a:extLst>
                <a:ext uri="{FF2B5EF4-FFF2-40B4-BE49-F238E27FC236}">
                  <a16:creationId xmlns:a16="http://schemas.microsoft.com/office/drawing/2014/main" id="{4A9D50D9-1F07-7D01-7172-6AB2E8DBB21C}"/>
                </a:ext>
              </a:extLst>
            </p:cNvPr>
            <p:cNvSpPr txBox="1"/>
            <p:nvPr/>
          </p:nvSpPr>
          <p:spPr>
            <a:xfrm>
              <a:off x="6217886" y="6440632"/>
              <a:ext cx="2895599" cy="446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 b="1">
                  <a:solidFill>
                    <a:srgbClr val="041F6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2014</a:t>
              </a:r>
            </a:p>
          </p:txBody>
        </p:sp>
        <p:sp>
          <p:nvSpPr>
            <p:cNvPr id="290" name="TextBox 82">
              <a:extLst>
                <a:ext uri="{FF2B5EF4-FFF2-40B4-BE49-F238E27FC236}">
                  <a16:creationId xmlns:a16="http://schemas.microsoft.com/office/drawing/2014/main" id="{E0C3BFA5-7060-153E-C432-393C588E25BA}"/>
                </a:ext>
              </a:extLst>
            </p:cNvPr>
            <p:cNvSpPr txBox="1"/>
            <p:nvPr/>
          </p:nvSpPr>
          <p:spPr>
            <a:xfrm>
              <a:off x="6187371" y="4411833"/>
              <a:ext cx="2895599" cy="574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>
                  <a:solidFill>
                    <a:srgbClr val="041F60"/>
                  </a:solidFill>
                  <a:latin typeface="Gotham"/>
                  <a:ea typeface="Gotham"/>
                  <a:cs typeface="Gotham"/>
                  <a:sym typeface="Gotham"/>
                </a:rPr>
                <a:t>CSTĐTQ</a:t>
              </a:r>
            </a:p>
          </p:txBody>
        </p:sp>
        <p:sp>
          <p:nvSpPr>
            <p:cNvPr id="291" name="TextBox 83">
              <a:extLst>
                <a:ext uri="{FF2B5EF4-FFF2-40B4-BE49-F238E27FC236}">
                  <a16:creationId xmlns:a16="http://schemas.microsoft.com/office/drawing/2014/main" id="{9EF09E59-EBF1-D6D0-D0F5-CABBB53733A1}"/>
                </a:ext>
              </a:extLst>
            </p:cNvPr>
            <p:cNvSpPr txBox="1"/>
            <p:nvPr/>
          </p:nvSpPr>
          <p:spPr>
            <a:xfrm>
              <a:off x="8551820" y="6773054"/>
              <a:ext cx="2895599" cy="1149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/>
              <a:r>
                <a:rPr lang="en-US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ĐVQT</a:t>
              </a:r>
            </a:p>
            <a:p>
              <a:pPr algn="ctr"/>
              <a:endParaRPr lang="en-US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292" name="TextBox 84">
              <a:extLst>
                <a:ext uri="{FF2B5EF4-FFF2-40B4-BE49-F238E27FC236}">
                  <a16:creationId xmlns:a16="http://schemas.microsoft.com/office/drawing/2014/main" id="{66A81A93-51E0-6FD7-D914-DC5A83A69337}"/>
                </a:ext>
              </a:extLst>
            </p:cNvPr>
            <p:cNvSpPr txBox="1"/>
            <p:nvPr/>
          </p:nvSpPr>
          <p:spPr>
            <a:xfrm>
              <a:off x="8551820" y="6358455"/>
              <a:ext cx="2895599" cy="446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 b="1">
                  <a:solidFill>
                    <a:srgbClr val="041F6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2015</a:t>
              </a:r>
            </a:p>
          </p:txBody>
        </p:sp>
        <p:sp>
          <p:nvSpPr>
            <p:cNvPr id="293" name="TextBox 85">
              <a:extLst>
                <a:ext uri="{FF2B5EF4-FFF2-40B4-BE49-F238E27FC236}">
                  <a16:creationId xmlns:a16="http://schemas.microsoft.com/office/drawing/2014/main" id="{47486E60-2AFC-F601-DD68-FB291F05AA69}"/>
                </a:ext>
              </a:extLst>
            </p:cNvPr>
            <p:cNvSpPr txBox="1"/>
            <p:nvPr/>
          </p:nvSpPr>
          <p:spPr>
            <a:xfrm>
              <a:off x="8521305" y="4329658"/>
              <a:ext cx="2895599" cy="574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>
                  <a:solidFill>
                    <a:srgbClr val="041F60"/>
                  </a:solidFill>
                  <a:latin typeface="Gotham"/>
                  <a:ea typeface="Gotham"/>
                  <a:cs typeface="Gotham"/>
                  <a:sym typeface="Gotham"/>
                </a:rPr>
                <a:t>BKBQP</a:t>
              </a:r>
            </a:p>
          </p:txBody>
        </p:sp>
        <p:sp>
          <p:nvSpPr>
            <p:cNvPr id="294" name="TextBox 86">
              <a:extLst>
                <a:ext uri="{FF2B5EF4-FFF2-40B4-BE49-F238E27FC236}">
                  <a16:creationId xmlns:a16="http://schemas.microsoft.com/office/drawing/2014/main" id="{309A831F-F2A3-4FD6-E1EE-69B757FF8AAA}"/>
                </a:ext>
              </a:extLst>
            </p:cNvPr>
            <p:cNvSpPr txBox="1"/>
            <p:nvPr/>
          </p:nvSpPr>
          <p:spPr>
            <a:xfrm>
              <a:off x="17145945" y="9210675"/>
              <a:ext cx="379110" cy="446952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10</a:t>
              </a:r>
            </a:p>
          </p:txBody>
        </p:sp>
        <p:sp>
          <p:nvSpPr>
            <p:cNvPr id="295" name="TextBox 87">
              <a:extLst>
                <a:ext uri="{FF2B5EF4-FFF2-40B4-BE49-F238E27FC236}">
                  <a16:creationId xmlns:a16="http://schemas.microsoft.com/office/drawing/2014/main" id="{556689AB-FDC2-D09B-79C2-55F2DAE4B252}"/>
                </a:ext>
              </a:extLst>
            </p:cNvPr>
            <p:cNvSpPr txBox="1"/>
            <p:nvPr/>
          </p:nvSpPr>
          <p:spPr>
            <a:xfrm>
              <a:off x="11022673" y="7037874"/>
              <a:ext cx="2895599" cy="1149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/>
              <a:r>
                <a:rPr lang="en-US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ĐVQT</a:t>
              </a:r>
            </a:p>
            <a:p>
              <a:pPr algn="ctr"/>
              <a:endParaRPr lang="en-US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296" name="TextBox 88">
              <a:extLst>
                <a:ext uri="{FF2B5EF4-FFF2-40B4-BE49-F238E27FC236}">
                  <a16:creationId xmlns:a16="http://schemas.microsoft.com/office/drawing/2014/main" id="{EC662A8A-724E-C61A-E87D-7CC0F859156B}"/>
                </a:ext>
              </a:extLst>
            </p:cNvPr>
            <p:cNvSpPr txBox="1"/>
            <p:nvPr/>
          </p:nvSpPr>
          <p:spPr>
            <a:xfrm>
              <a:off x="11022673" y="6623275"/>
              <a:ext cx="2895599" cy="446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 b="1">
                  <a:solidFill>
                    <a:srgbClr val="041F6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2016</a:t>
              </a:r>
            </a:p>
          </p:txBody>
        </p:sp>
        <p:sp>
          <p:nvSpPr>
            <p:cNvPr id="297" name="TextBox 89">
              <a:extLst>
                <a:ext uri="{FF2B5EF4-FFF2-40B4-BE49-F238E27FC236}">
                  <a16:creationId xmlns:a16="http://schemas.microsoft.com/office/drawing/2014/main" id="{BD82A68B-E34A-100E-CF4A-6972223DA6F6}"/>
                </a:ext>
              </a:extLst>
            </p:cNvPr>
            <p:cNvSpPr txBox="1"/>
            <p:nvPr/>
          </p:nvSpPr>
          <p:spPr>
            <a:xfrm>
              <a:off x="13493526" y="7421218"/>
              <a:ext cx="2895599" cy="1149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/>
              <a:r>
                <a:rPr lang="en-US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ĐVQT</a:t>
              </a:r>
            </a:p>
            <a:p>
              <a:pPr algn="ctr"/>
              <a:endParaRPr lang="en-US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298" name="TextBox 90">
              <a:extLst>
                <a:ext uri="{FF2B5EF4-FFF2-40B4-BE49-F238E27FC236}">
                  <a16:creationId xmlns:a16="http://schemas.microsoft.com/office/drawing/2014/main" id="{9FCE3774-8F0A-C19C-1EEB-219C66ED8E85}"/>
                </a:ext>
              </a:extLst>
            </p:cNvPr>
            <p:cNvSpPr txBox="1"/>
            <p:nvPr/>
          </p:nvSpPr>
          <p:spPr>
            <a:xfrm>
              <a:off x="13493526" y="7006617"/>
              <a:ext cx="2895599" cy="446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 b="1">
                  <a:solidFill>
                    <a:srgbClr val="041F6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2017</a:t>
              </a:r>
            </a:p>
          </p:txBody>
        </p:sp>
        <p:sp>
          <p:nvSpPr>
            <p:cNvPr id="299" name="TextBox 91">
              <a:extLst>
                <a:ext uri="{FF2B5EF4-FFF2-40B4-BE49-F238E27FC236}">
                  <a16:creationId xmlns:a16="http://schemas.microsoft.com/office/drawing/2014/main" id="{D886AC4C-CABC-1EB3-D1B7-B071C9F0B64B}"/>
                </a:ext>
              </a:extLst>
            </p:cNvPr>
            <p:cNvSpPr txBox="1"/>
            <p:nvPr/>
          </p:nvSpPr>
          <p:spPr>
            <a:xfrm>
              <a:off x="13463014" y="4594478"/>
              <a:ext cx="2895599" cy="1149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>
                  <a:solidFill>
                    <a:srgbClr val="041F60"/>
                  </a:solidFill>
                  <a:latin typeface="Gotham"/>
                  <a:ea typeface="Gotham"/>
                  <a:cs typeface="Gotham"/>
                  <a:sym typeface="Gotham"/>
                </a:rPr>
                <a:t>CSTĐTQ</a:t>
              </a:r>
            </a:p>
            <a:p>
              <a:pPr algn="ctr"/>
              <a:r>
                <a:rPr lang="en-US">
                  <a:solidFill>
                    <a:srgbClr val="041F60"/>
                  </a:solidFill>
                  <a:latin typeface="Gotham"/>
                  <a:ea typeface="Gotham"/>
                  <a:cs typeface="Gotham"/>
                  <a:sym typeface="Gotham"/>
                </a:rPr>
                <a:t>BKBQP</a:t>
              </a:r>
            </a:p>
          </p:txBody>
        </p:sp>
        <p:sp>
          <p:nvSpPr>
            <p:cNvPr id="300" name="TextBox 92">
              <a:extLst>
                <a:ext uri="{FF2B5EF4-FFF2-40B4-BE49-F238E27FC236}">
                  <a16:creationId xmlns:a16="http://schemas.microsoft.com/office/drawing/2014/main" id="{3BBCDE12-A137-330D-63E4-58CEFA52AEBE}"/>
                </a:ext>
              </a:extLst>
            </p:cNvPr>
            <p:cNvSpPr txBox="1"/>
            <p:nvPr/>
          </p:nvSpPr>
          <p:spPr>
            <a:xfrm>
              <a:off x="15794390" y="7921543"/>
              <a:ext cx="2895599" cy="1149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/>
              <a:r>
                <a:rPr lang="en-US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ĐVQT</a:t>
              </a:r>
            </a:p>
            <a:p>
              <a:pPr algn="ctr"/>
              <a:endParaRPr lang="en-US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301" name="TextBox 93">
              <a:extLst>
                <a:ext uri="{FF2B5EF4-FFF2-40B4-BE49-F238E27FC236}">
                  <a16:creationId xmlns:a16="http://schemas.microsoft.com/office/drawing/2014/main" id="{FAED4F1E-C146-B5B1-7B15-169454CC4E4E}"/>
                </a:ext>
              </a:extLst>
            </p:cNvPr>
            <p:cNvSpPr txBox="1"/>
            <p:nvPr/>
          </p:nvSpPr>
          <p:spPr>
            <a:xfrm>
              <a:off x="15794390" y="7506943"/>
              <a:ext cx="2895599" cy="446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400" b="1">
                  <a:solidFill>
                    <a:srgbClr val="041F6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2018</a:t>
              </a:r>
            </a:p>
          </p:txBody>
        </p:sp>
        <p:sp>
          <p:nvSpPr>
            <p:cNvPr id="302" name="TextBox 94">
              <a:extLst>
                <a:ext uri="{FF2B5EF4-FFF2-40B4-BE49-F238E27FC236}">
                  <a16:creationId xmlns:a16="http://schemas.microsoft.com/office/drawing/2014/main" id="{9D8B82C1-3A70-65B3-793D-F061F3888024}"/>
                </a:ext>
              </a:extLst>
            </p:cNvPr>
            <p:cNvSpPr txBox="1"/>
            <p:nvPr/>
          </p:nvSpPr>
          <p:spPr>
            <a:xfrm>
              <a:off x="15763875" y="5478144"/>
              <a:ext cx="2895599" cy="574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>
                  <a:solidFill>
                    <a:srgbClr val="041F60"/>
                  </a:solidFill>
                  <a:latin typeface="Gotham"/>
                  <a:ea typeface="Gotham"/>
                  <a:cs typeface="Gotham"/>
                  <a:sym typeface="Gotham"/>
                </a:rPr>
                <a:t>BKTTCP</a:t>
              </a:r>
            </a:p>
          </p:txBody>
        </p:sp>
        <p:sp>
          <p:nvSpPr>
            <p:cNvPr id="303" name="TextBox 95">
              <a:extLst>
                <a:ext uri="{FF2B5EF4-FFF2-40B4-BE49-F238E27FC236}">
                  <a16:creationId xmlns:a16="http://schemas.microsoft.com/office/drawing/2014/main" id="{910819A3-19E6-199F-48F9-ECF11AF87201}"/>
                </a:ext>
              </a:extLst>
            </p:cNvPr>
            <p:cNvSpPr txBox="1"/>
            <p:nvPr/>
          </p:nvSpPr>
          <p:spPr>
            <a:xfrm>
              <a:off x="3142376" y="1737791"/>
              <a:ext cx="12003248" cy="17239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>
                  <a:solidFill>
                    <a:srgbClr val="66719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Sau đó các danh hiệu lặp lại và có thể nhận nhiều lần</a:t>
              </a:r>
            </a:p>
            <a:p>
              <a:pPr algn="ctr">
                <a:spcBef>
                  <a:spcPct val="0"/>
                </a:spcBef>
              </a:pPr>
              <a:r>
                <a:rPr lang="en-US">
                  <a:solidFill>
                    <a:srgbClr val="66719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Ngoại trừ danh hiệu BKTTCP do hệ thống chưa hỗ trợ khen thưởng cao hơn</a:t>
              </a:r>
            </a:p>
          </p:txBody>
        </p:sp>
        <p:sp>
          <p:nvSpPr>
            <p:cNvPr id="304" name="Freeform 97">
              <a:extLst>
                <a:ext uri="{FF2B5EF4-FFF2-40B4-BE49-F238E27FC236}">
                  <a16:creationId xmlns:a16="http://schemas.microsoft.com/office/drawing/2014/main" id="{1925BC12-645A-F072-FD48-94FAA3945808}"/>
                </a:ext>
              </a:extLst>
            </p:cNvPr>
            <p:cNvSpPr/>
            <p:nvPr/>
          </p:nvSpPr>
          <p:spPr>
            <a:xfrm>
              <a:off x="9313511" y="3522141"/>
              <a:ext cx="1251963" cy="807516"/>
            </a:xfrm>
            <a:custGeom>
              <a:avLst/>
              <a:gdLst/>
              <a:ahLst/>
              <a:cxnLst/>
              <a:rect l="l" t="t" r="r" b="b"/>
              <a:pathLst>
                <a:path w="1251963" h="807516">
                  <a:moveTo>
                    <a:pt x="0" y="0"/>
                  </a:moveTo>
                  <a:lnTo>
                    <a:pt x="1251963" y="0"/>
                  </a:lnTo>
                  <a:lnTo>
                    <a:pt x="1251963" y="807516"/>
                  </a:lnTo>
                  <a:lnTo>
                    <a:pt x="0" y="807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305" name="Freeform 98">
              <a:extLst>
                <a:ext uri="{FF2B5EF4-FFF2-40B4-BE49-F238E27FC236}">
                  <a16:creationId xmlns:a16="http://schemas.microsoft.com/office/drawing/2014/main" id="{3BA44F71-801D-6B72-ABA7-A82A274F3646}"/>
                </a:ext>
              </a:extLst>
            </p:cNvPr>
            <p:cNvSpPr/>
            <p:nvPr/>
          </p:nvSpPr>
          <p:spPr>
            <a:xfrm>
              <a:off x="7365359" y="5232835"/>
              <a:ext cx="600653" cy="500795"/>
            </a:xfrm>
            <a:custGeom>
              <a:avLst/>
              <a:gdLst/>
              <a:ahLst/>
              <a:cxnLst/>
              <a:rect l="l" t="t" r="r" b="b"/>
              <a:pathLst>
                <a:path w="600653" h="500795">
                  <a:moveTo>
                    <a:pt x="0" y="0"/>
                  </a:moveTo>
                  <a:lnTo>
                    <a:pt x="600653" y="0"/>
                  </a:lnTo>
                  <a:lnTo>
                    <a:pt x="600653" y="500795"/>
                  </a:lnTo>
                  <a:lnTo>
                    <a:pt x="0" y="500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306" name="Freeform 99">
              <a:extLst>
                <a:ext uri="{FF2B5EF4-FFF2-40B4-BE49-F238E27FC236}">
                  <a16:creationId xmlns:a16="http://schemas.microsoft.com/office/drawing/2014/main" id="{DFE369CC-F410-9CF0-8514-5AB917707FFC}"/>
                </a:ext>
              </a:extLst>
            </p:cNvPr>
            <p:cNvSpPr/>
            <p:nvPr/>
          </p:nvSpPr>
          <p:spPr>
            <a:xfrm>
              <a:off x="9699293" y="5167102"/>
              <a:ext cx="600653" cy="500795"/>
            </a:xfrm>
            <a:custGeom>
              <a:avLst/>
              <a:gdLst/>
              <a:ahLst/>
              <a:cxnLst/>
              <a:rect l="l" t="t" r="r" b="b"/>
              <a:pathLst>
                <a:path w="600653" h="500795">
                  <a:moveTo>
                    <a:pt x="0" y="0"/>
                  </a:moveTo>
                  <a:lnTo>
                    <a:pt x="600653" y="0"/>
                  </a:lnTo>
                  <a:lnTo>
                    <a:pt x="600653" y="500795"/>
                  </a:lnTo>
                  <a:lnTo>
                    <a:pt x="0" y="500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307" name="Freeform 100">
              <a:extLst>
                <a:ext uri="{FF2B5EF4-FFF2-40B4-BE49-F238E27FC236}">
                  <a16:creationId xmlns:a16="http://schemas.microsoft.com/office/drawing/2014/main" id="{F3A5F36C-709D-7AB5-9C5F-E8511F29580B}"/>
                </a:ext>
              </a:extLst>
            </p:cNvPr>
            <p:cNvSpPr/>
            <p:nvPr/>
          </p:nvSpPr>
          <p:spPr>
            <a:xfrm>
              <a:off x="12170147" y="5438462"/>
              <a:ext cx="600653" cy="500795"/>
            </a:xfrm>
            <a:custGeom>
              <a:avLst/>
              <a:gdLst/>
              <a:ahLst/>
              <a:cxnLst/>
              <a:rect l="l" t="t" r="r" b="b"/>
              <a:pathLst>
                <a:path w="600653" h="500795">
                  <a:moveTo>
                    <a:pt x="0" y="0"/>
                  </a:moveTo>
                  <a:lnTo>
                    <a:pt x="600653" y="0"/>
                  </a:lnTo>
                  <a:lnTo>
                    <a:pt x="600653" y="500794"/>
                  </a:lnTo>
                  <a:lnTo>
                    <a:pt x="0" y="500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308" name="Freeform 101">
              <a:extLst>
                <a:ext uri="{FF2B5EF4-FFF2-40B4-BE49-F238E27FC236}">
                  <a16:creationId xmlns:a16="http://schemas.microsoft.com/office/drawing/2014/main" id="{F0438F01-571E-74D6-BE1F-8497419D7543}"/>
                </a:ext>
              </a:extLst>
            </p:cNvPr>
            <p:cNvSpPr/>
            <p:nvPr/>
          </p:nvSpPr>
          <p:spPr>
            <a:xfrm>
              <a:off x="14641001" y="5800373"/>
              <a:ext cx="600653" cy="500795"/>
            </a:xfrm>
            <a:custGeom>
              <a:avLst/>
              <a:gdLst/>
              <a:ahLst/>
              <a:cxnLst/>
              <a:rect l="l" t="t" r="r" b="b"/>
              <a:pathLst>
                <a:path w="600653" h="500795">
                  <a:moveTo>
                    <a:pt x="0" y="0"/>
                  </a:moveTo>
                  <a:lnTo>
                    <a:pt x="600653" y="0"/>
                  </a:lnTo>
                  <a:lnTo>
                    <a:pt x="600653" y="500794"/>
                  </a:lnTo>
                  <a:lnTo>
                    <a:pt x="0" y="500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309" name="Freeform 102">
              <a:extLst>
                <a:ext uri="{FF2B5EF4-FFF2-40B4-BE49-F238E27FC236}">
                  <a16:creationId xmlns:a16="http://schemas.microsoft.com/office/drawing/2014/main" id="{29429A95-896B-1DBD-75DD-D74AAC6A8315}"/>
                </a:ext>
              </a:extLst>
            </p:cNvPr>
            <p:cNvSpPr/>
            <p:nvPr/>
          </p:nvSpPr>
          <p:spPr>
            <a:xfrm>
              <a:off x="16941863" y="6342105"/>
              <a:ext cx="600653" cy="500795"/>
            </a:xfrm>
            <a:custGeom>
              <a:avLst/>
              <a:gdLst/>
              <a:ahLst/>
              <a:cxnLst/>
              <a:rect l="l" t="t" r="r" b="b"/>
              <a:pathLst>
                <a:path w="600653" h="500795">
                  <a:moveTo>
                    <a:pt x="0" y="0"/>
                  </a:moveTo>
                  <a:lnTo>
                    <a:pt x="600653" y="0"/>
                  </a:lnTo>
                  <a:lnTo>
                    <a:pt x="600653" y="500795"/>
                  </a:lnTo>
                  <a:lnTo>
                    <a:pt x="0" y="500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310" name="Freeform 103">
              <a:extLst>
                <a:ext uri="{FF2B5EF4-FFF2-40B4-BE49-F238E27FC236}">
                  <a16:creationId xmlns:a16="http://schemas.microsoft.com/office/drawing/2014/main" id="{705C3679-E475-3CA7-BF63-7C8181D6E8B2}"/>
                </a:ext>
              </a:extLst>
            </p:cNvPr>
            <p:cNvSpPr/>
            <p:nvPr/>
          </p:nvSpPr>
          <p:spPr>
            <a:xfrm>
              <a:off x="7099832" y="3630296"/>
              <a:ext cx="1066946" cy="781538"/>
            </a:xfrm>
            <a:custGeom>
              <a:avLst/>
              <a:gdLst/>
              <a:ahLst/>
              <a:cxnLst/>
              <a:rect l="l" t="t" r="r" b="b"/>
              <a:pathLst>
                <a:path w="1066946" h="781538">
                  <a:moveTo>
                    <a:pt x="0" y="0"/>
                  </a:moveTo>
                  <a:lnTo>
                    <a:pt x="1066946" y="0"/>
                  </a:lnTo>
                  <a:lnTo>
                    <a:pt x="1066946" y="781538"/>
                  </a:lnTo>
                  <a:lnTo>
                    <a:pt x="0" y="781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311" name="Freeform 104">
              <a:extLst>
                <a:ext uri="{FF2B5EF4-FFF2-40B4-BE49-F238E27FC236}">
                  <a16:creationId xmlns:a16="http://schemas.microsoft.com/office/drawing/2014/main" id="{1A9A15BE-7FF4-F5A1-CFE6-49E7455F8E7C}"/>
                </a:ext>
              </a:extLst>
            </p:cNvPr>
            <p:cNvSpPr/>
            <p:nvPr/>
          </p:nvSpPr>
          <p:spPr>
            <a:xfrm>
              <a:off x="4691354" y="3705259"/>
              <a:ext cx="1251963" cy="807516"/>
            </a:xfrm>
            <a:custGeom>
              <a:avLst/>
              <a:gdLst/>
              <a:ahLst/>
              <a:cxnLst/>
              <a:rect l="l" t="t" r="r" b="b"/>
              <a:pathLst>
                <a:path w="1251963" h="807516">
                  <a:moveTo>
                    <a:pt x="0" y="0"/>
                  </a:moveTo>
                  <a:lnTo>
                    <a:pt x="1251963" y="0"/>
                  </a:lnTo>
                  <a:lnTo>
                    <a:pt x="1251963" y="807516"/>
                  </a:lnTo>
                  <a:lnTo>
                    <a:pt x="0" y="807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200"/>
            </a:p>
          </p:txBody>
        </p:sp>
      </p:grpSp>
    </p:spTree>
    <p:extLst>
      <p:ext uri="{BB962C8B-B14F-4D97-AF65-F5344CB8AC3E}">
        <p14:creationId xmlns:p14="http://schemas.microsoft.com/office/powerpoint/2010/main" val="3227059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84EAF-7C1C-B859-35F8-EE3E68434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EDA8D-9462-0535-49E5-EDCA0AF22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Chuỗi danh hiệu hằng năm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702651A-E2A6-D05B-EB2D-98B9DD270B6B}"/>
              </a:ext>
            </a:extLst>
          </p:cNvPr>
          <p:cNvGrpSpPr/>
          <p:nvPr/>
        </p:nvGrpSpPr>
        <p:grpSpPr>
          <a:xfrm>
            <a:off x="-1" y="2252546"/>
            <a:ext cx="9168663" cy="3829135"/>
            <a:chOff x="-401989" y="1749945"/>
            <a:chExt cx="19091978" cy="797343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9165DA9-1CFC-21B7-063C-11275F8D73EF}"/>
                </a:ext>
              </a:extLst>
            </p:cNvPr>
            <p:cNvSpPr txBox="1"/>
            <p:nvPr/>
          </p:nvSpPr>
          <p:spPr>
            <a:xfrm>
              <a:off x="4366467" y="1749945"/>
              <a:ext cx="10134600" cy="1281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000">
                  <a:solidFill>
                    <a:srgbClr val="66719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Sau đó các danh hiệu lặp lại và có thể nhận nhiều lần</a:t>
              </a:r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BD83DA1-100D-952F-D692-DF637CE0DF68}"/>
                </a:ext>
              </a:extLst>
            </p:cNvPr>
            <p:cNvSpPr/>
            <p:nvPr/>
          </p:nvSpPr>
          <p:spPr>
            <a:xfrm>
              <a:off x="-30122" y="5366498"/>
              <a:ext cx="18379440" cy="1498248"/>
            </a:xfrm>
            <a:custGeom>
              <a:avLst/>
              <a:gdLst/>
              <a:ahLst/>
              <a:cxnLst/>
              <a:rect l="l" t="t" r="r" b="b"/>
              <a:pathLst>
                <a:path w="18379440" h="1498248">
                  <a:moveTo>
                    <a:pt x="0" y="1460888"/>
                  </a:moveTo>
                  <a:quadBezTo>
                    <a:pt x="9195734" y="-1479451"/>
                    <a:pt x="18379440" y="1498248"/>
                  </a:quadBezTo>
                </a:path>
              </a:pathLst>
            </a:custGeom>
            <a:ln w="381000" cap="rnd">
              <a:gradFill>
                <a:gsLst>
                  <a:gs pos="0">
                    <a:srgbClr val="6AD572">
                      <a:alpha val="100000"/>
                    </a:srgbClr>
                  </a:gs>
                  <a:gs pos="100000">
                    <a:srgbClr val="65A6FE">
                      <a:alpha val="100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VN" sz="1400"/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24ED633-BFBD-A523-F4D3-52FA4C992A11}"/>
                </a:ext>
              </a:extLst>
            </p:cNvPr>
            <p:cNvGrpSpPr/>
            <p:nvPr/>
          </p:nvGrpSpPr>
          <p:grpSpPr>
            <a:xfrm>
              <a:off x="4781996" y="4921421"/>
              <a:ext cx="1131708" cy="1349995"/>
              <a:chOff x="0" y="0"/>
              <a:chExt cx="1508944" cy="1799993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AABFBE45-6A2D-F5A0-0B13-5A72264DBFC2}"/>
                  </a:ext>
                </a:extLst>
              </p:cNvPr>
              <p:cNvSpPr/>
              <p:nvPr/>
            </p:nvSpPr>
            <p:spPr>
              <a:xfrm rot="5400000">
                <a:off x="-116491" y="174558"/>
                <a:ext cx="1741926" cy="1508944"/>
              </a:xfrm>
              <a:custGeom>
                <a:avLst/>
                <a:gdLst/>
                <a:ahLst/>
                <a:cxnLst/>
                <a:rect l="l" t="t" r="r" b="b"/>
                <a:pathLst>
                  <a:path w="1741926" h="1508944">
                    <a:moveTo>
                      <a:pt x="0" y="0"/>
                    </a:moveTo>
                    <a:lnTo>
                      <a:pt x="1741926" y="0"/>
                    </a:lnTo>
                    <a:lnTo>
                      <a:pt x="1741926" y="1508944"/>
                    </a:lnTo>
                    <a:lnTo>
                      <a:pt x="0" y="15089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24000"/>
                </a:blip>
                <a:stretch>
                  <a:fillRect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VN" sz="1400"/>
              </a:p>
            </p:txBody>
          </p:sp>
          <p:grpSp>
            <p:nvGrpSpPr>
              <p:cNvPr id="7" name="Group 7">
                <a:extLst>
                  <a:ext uri="{FF2B5EF4-FFF2-40B4-BE49-F238E27FC236}">
                    <a16:creationId xmlns:a16="http://schemas.microsoft.com/office/drawing/2014/main" id="{F29689F9-43C7-93CB-D160-F17F2BF0F790}"/>
                  </a:ext>
                </a:extLst>
              </p:cNvPr>
              <p:cNvGrpSpPr/>
              <p:nvPr/>
            </p:nvGrpSpPr>
            <p:grpSpPr>
              <a:xfrm>
                <a:off x="105336" y="79225"/>
                <a:ext cx="1298272" cy="1510717"/>
                <a:chOff x="0" y="0"/>
                <a:chExt cx="698500" cy="812800"/>
              </a:xfrm>
            </p:grpSpPr>
            <p:sp>
              <p:nvSpPr>
                <p:cNvPr id="11" name="Freeform 8">
                  <a:extLst>
                    <a:ext uri="{FF2B5EF4-FFF2-40B4-BE49-F238E27FC236}">
                      <a16:creationId xmlns:a16="http://schemas.microsoft.com/office/drawing/2014/main" id="{7B34FB58-183D-20AE-8AF6-6F5DB60EC6AA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E9EBF4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12" name="TextBox 9">
                  <a:extLst>
                    <a:ext uri="{FF2B5EF4-FFF2-40B4-BE49-F238E27FC236}">
                      <a16:creationId xmlns:a16="http://schemas.microsoft.com/office/drawing/2014/main" id="{6CFA90E4-8FA4-5634-484D-D6D56A6A2DB1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  <p:grpSp>
            <p:nvGrpSpPr>
              <p:cNvPr id="8" name="Group 10">
                <a:extLst>
                  <a:ext uri="{FF2B5EF4-FFF2-40B4-BE49-F238E27FC236}">
                    <a16:creationId xmlns:a16="http://schemas.microsoft.com/office/drawing/2014/main" id="{F8B723F4-20B7-E523-8061-BD089995A310}"/>
                  </a:ext>
                </a:extLst>
              </p:cNvPr>
              <p:cNvGrpSpPr/>
              <p:nvPr/>
            </p:nvGrpSpPr>
            <p:grpSpPr>
              <a:xfrm>
                <a:off x="105336" y="0"/>
                <a:ext cx="1298272" cy="1510717"/>
                <a:chOff x="0" y="0"/>
                <a:chExt cx="698500" cy="812800"/>
              </a:xfrm>
            </p:grpSpPr>
            <p:sp>
              <p:nvSpPr>
                <p:cNvPr id="9" name="Freeform 11">
                  <a:extLst>
                    <a:ext uri="{FF2B5EF4-FFF2-40B4-BE49-F238E27FC236}">
                      <a16:creationId xmlns:a16="http://schemas.microsoft.com/office/drawing/2014/main" id="{3C66CADE-EC19-2714-02D8-206A31E3491D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FCFDFE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10" name="TextBox 12">
                  <a:extLst>
                    <a:ext uri="{FF2B5EF4-FFF2-40B4-BE49-F238E27FC236}">
                      <a16:creationId xmlns:a16="http://schemas.microsoft.com/office/drawing/2014/main" id="{1E261FD9-11BC-074A-D8DD-BF595D5EB195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F41F6230-9378-05A2-1172-13777A912DDB}"/>
                </a:ext>
              </a:extLst>
            </p:cNvPr>
            <p:cNvGrpSpPr/>
            <p:nvPr/>
          </p:nvGrpSpPr>
          <p:grpSpPr>
            <a:xfrm>
              <a:off x="2648522" y="5292876"/>
              <a:ext cx="1131708" cy="1349995"/>
              <a:chOff x="0" y="0"/>
              <a:chExt cx="1508944" cy="1799993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00FF2928-7E41-A819-A54B-84A9E98FE2E6}"/>
                  </a:ext>
                </a:extLst>
              </p:cNvPr>
              <p:cNvSpPr/>
              <p:nvPr/>
            </p:nvSpPr>
            <p:spPr>
              <a:xfrm rot="5400000">
                <a:off x="-116491" y="174558"/>
                <a:ext cx="1741926" cy="1508944"/>
              </a:xfrm>
              <a:custGeom>
                <a:avLst/>
                <a:gdLst/>
                <a:ahLst/>
                <a:cxnLst/>
                <a:rect l="l" t="t" r="r" b="b"/>
                <a:pathLst>
                  <a:path w="1741926" h="1508944">
                    <a:moveTo>
                      <a:pt x="0" y="0"/>
                    </a:moveTo>
                    <a:lnTo>
                      <a:pt x="1741926" y="0"/>
                    </a:lnTo>
                    <a:lnTo>
                      <a:pt x="1741926" y="1508944"/>
                    </a:lnTo>
                    <a:lnTo>
                      <a:pt x="0" y="15089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24000"/>
                </a:blip>
                <a:stretch>
                  <a:fillRect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VN" sz="1400"/>
              </a:p>
            </p:txBody>
          </p:sp>
          <p:grpSp>
            <p:nvGrpSpPr>
              <p:cNvPr id="15" name="Group 15">
                <a:extLst>
                  <a:ext uri="{FF2B5EF4-FFF2-40B4-BE49-F238E27FC236}">
                    <a16:creationId xmlns:a16="http://schemas.microsoft.com/office/drawing/2014/main" id="{163A368C-36A7-2769-DC1F-8F4A50B3311E}"/>
                  </a:ext>
                </a:extLst>
              </p:cNvPr>
              <p:cNvGrpSpPr/>
              <p:nvPr/>
            </p:nvGrpSpPr>
            <p:grpSpPr>
              <a:xfrm>
                <a:off x="105336" y="79225"/>
                <a:ext cx="1298272" cy="1510717"/>
                <a:chOff x="0" y="0"/>
                <a:chExt cx="698500" cy="812800"/>
              </a:xfrm>
            </p:grpSpPr>
            <p:sp>
              <p:nvSpPr>
                <p:cNvPr id="19" name="Freeform 16">
                  <a:extLst>
                    <a:ext uri="{FF2B5EF4-FFF2-40B4-BE49-F238E27FC236}">
                      <a16:creationId xmlns:a16="http://schemas.microsoft.com/office/drawing/2014/main" id="{F0B2BA9A-63F3-C3F2-58A4-931F63CF8D31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E9EBF4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20" name="TextBox 17">
                  <a:extLst>
                    <a:ext uri="{FF2B5EF4-FFF2-40B4-BE49-F238E27FC236}">
                      <a16:creationId xmlns:a16="http://schemas.microsoft.com/office/drawing/2014/main" id="{46777474-F7D4-84B0-DFCE-DE26E466290A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  <p:grpSp>
            <p:nvGrpSpPr>
              <p:cNvPr id="16" name="Group 18">
                <a:extLst>
                  <a:ext uri="{FF2B5EF4-FFF2-40B4-BE49-F238E27FC236}">
                    <a16:creationId xmlns:a16="http://schemas.microsoft.com/office/drawing/2014/main" id="{86ECBF80-F00E-B45C-5A69-2C0E92D558E5}"/>
                  </a:ext>
                </a:extLst>
              </p:cNvPr>
              <p:cNvGrpSpPr/>
              <p:nvPr/>
            </p:nvGrpSpPr>
            <p:grpSpPr>
              <a:xfrm>
                <a:off x="105336" y="0"/>
                <a:ext cx="1298272" cy="1510717"/>
                <a:chOff x="0" y="0"/>
                <a:chExt cx="698500" cy="812800"/>
              </a:xfrm>
            </p:grpSpPr>
            <p:sp>
              <p:nvSpPr>
                <p:cNvPr id="17" name="Freeform 19">
                  <a:extLst>
                    <a:ext uri="{FF2B5EF4-FFF2-40B4-BE49-F238E27FC236}">
                      <a16:creationId xmlns:a16="http://schemas.microsoft.com/office/drawing/2014/main" id="{D518202B-263E-5702-7B51-18FBD0DC45C7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FCFDFE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18" name="TextBox 20">
                  <a:extLst>
                    <a:ext uri="{FF2B5EF4-FFF2-40B4-BE49-F238E27FC236}">
                      <a16:creationId xmlns:a16="http://schemas.microsoft.com/office/drawing/2014/main" id="{8ED4B0E5-8851-8247-76B9-8A3AE2C7B619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</p:grpSp>
        <p:grpSp>
          <p:nvGrpSpPr>
            <p:cNvPr id="21" name="Group 21">
              <a:extLst>
                <a:ext uri="{FF2B5EF4-FFF2-40B4-BE49-F238E27FC236}">
                  <a16:creationId xmlns:a16="http://schemas.microsoft.com/office/drawing/2014/main" id="{094AD0C1-E1B0-828D-36D3-37339FD2C98F}"/>
                </a:ext>
              </a:extLst>
            </p:cNvPr>
            <p:cNvGrpSpPr/>
            <p:nvPr/>
          </p:nvGrpSpPr>
          <p:grpSpPr>
            <a:xfrm>
              <a:off x="479957" y="5906292"/>
              <a:ext cx="1131708" cy="1349995"/>
              <a:chOff x="0" y="0"/>
              <a:chExt cx="1508944" cy="1799993"/>
            </a:xfrm>
          </p:grpSpPr>
          <p:sp>
            <p:nvSpPr>
              <p:cNvPr id="22" name="Freeform 22">
                <a:extLst>
                  <a:ext uri="{FF2B5EF4-FFF2-40B4-BE49-F238E27FC236}">
                    <a16:creationId xmlns:a16="http://schemas.microsoft.com/office/drawing/2014/main" id="{51B69978-E114-B5BB-DFE8-1E0260C8BA89}"/>
                  </a:ext>
                </a:extLst>
              </p:cNvPr>
              <p:cNvSpPr/>
              <p:nvPr/>
            </p:nvSpPr>
            <p:spPr>
              <a:xfrm rot="5400000">
                <a:off x="-116491" y="174558"/>
                <a:ext cx="1741926" cy="1508944"/>
              </a:xfrm>
              <a:custGeom>
                <a:avLst/>
                <a:gdLst/>
                <a:ahLst/>
                <a:cxnLst/>
                <a:rect l="l" t="t" r="r" b="b"/>
                <a:pathLst>
                  <a:path w="1741926" h="1508944">
                    <a:moveTo>
                      <a:pt x="0" y="0"/>
                    </a:moveTo>
                    <a:lnTo>
                      <a:pt x="1741926" y="0"/>
                    </a:lnTo>
                    <a:lnTo>
                      <a:pt x="1741926" y="1508944"/>
                    </a:lnTo>
                    <a:lnTo>
                      <a:pt x="0" y="15089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24000"/>
                </a:blip>
                <a:stretch>
                  <a:fillRect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VN" sz="1400"/>
              </a:p>
            </p:txBody>
          </p:sp>
          <p:grpSp>
            <p:nvGrpSpPr>
              <p:cNvPr id="23" name="Group 23">
                <a:extLst>
                  <a:ext uri="{FF2B5EF4-FFF2-40B4-BE49-F238E27FC236}">
                    <a16:creationId xmlns:a16="http://schemas.microsoft.com/office/drawing/2014/main" id="{994619FC-4FD7-EE76-6A53-3D60F61AA895}"/>
                  </a:ext>
                </a:extLst>
              </p:cNvPr>
              <p:cNvGrpSpPr/>
              <p:nvPr/>
            </p:nvGrpSpPr>
            <p:grpSpPr>
              <a:xfrm>
                <a:off x="105336" y="79225"/>
                <a:ext cx="1298272" cy="1510717"/>
                <a:chOff x="0" y="0"/>
                <a:chExt cx="698500" cy="812800"/>
              </a:xfrm>
            </p:grpSpPr>
            <p:sp>
              <p:nvSpPr>
                <p:cNvPr id="27" name="Freeform 24">
                  <a:extLst>
                    <a:ext uri="{FF2B5EF4-FFF2-40B4-BE49-F238E27FC236}">
                      <a16:creationId xmlns:a16="http://schemas.microsoft.com/office/drawing/2014/main" id="{1F23FBAE-3A99-8CE0-6677-A780CE2E6792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E9EBF4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28" name="TextBox 25">
                  <a:extLst>
                    <a:ext uri="{FF2B5EF4-FFF2-40B4-BE49-F238E27FC236}">
                      <a16:creationId xmlns:a16="http://schemas.microsoft.com/office/drawing/2014/main" id="{999D21B2-6B0A-A0C0-9EC9-F905E18FE00E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  <p:grpSp>
            <p:nvGrpSpPr>
              <p:cNvPr id="24" name="Group 26">
                <a:extLst>
                  <a:ext uri="{FF2B5EF4-FFF2-40B4-BE49-F238E27FC236}">
                    <a16:creationId xmlns:a16="http://schemas.microsoft.com/office/drawing/2014/main" id="{BD5AFCD7-7D71-9EFD-5C18-754BB47B59A3}"/>
                  </a:ext>
                </a:extLst>
              </p:cNvPr>
              <p:cNvGrpSpPr/>
              <p:nvPr/>
            </p:nvGrpSpPr>
            <p:grpSpPr>
              <a:xfrm>
                <a:off x="105336" y="0"/>
                <a:ext cx="1298272" cy="1510717"/>
                <a:chOff x="0" y="0"/>
                <a:chExt cx="698500" cy="812800"/>
              </a:xfrm>
            </p:grpSpPr>
            <p:sp>
              <p:nvSpPr>
                <p:cNvPr id="25" name="Freeform 27">
                  <a:extLst>
                    <a:ext uri="{FF2B5EF4-FFF2-40B4-BE49-F238E27FC236}">
                      <a16:creationId xmlns:a16="http://schemas.microsoft.com/office/drawing/2014/main" id="{4A77C050-9890-B3BA-94EA-ACBBC75AF6F6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FCFDFE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26" name="TextBox 28">
                  <a:extLst>
                    <a:ext uri="{FF2B5EF4-FFF2-40B4-BE49-F238E27FC236}">
                      <a16:creationId xmlns:a16="http://schemas.microsoft.com/office/drawing/2014/main" id="{027403DF-90EF-EE62-4B51-E2F943F0ACE2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</p:grpSp>
        <p:grpSp>
          <p:nvGrpSpPr>
            <p:cNvPr id="29" name="Group 29">
              <a:extLst>
                <a:ext uri="{FF2B5EF4-FFF2-40B4-BE49-F238E27FC236}">
                  <a16:creationId xmlns:a16="http://schemas.microsoft.com/office/drawing/2014/main" id="{21F246B4-FFA3-364E-DD97-4E127752D672}"/>
                </a:ext>
              </a:extLst>
            </p:cNvPr>
            <p:cNvGrpSpPr/>
            <p:nvPr/>
          </p:nvGrpSpPr>
          <p:grpSpPr>
            <a:xfrm>
              <a:off x="9433766" y="4670029"/>
              <a:ext cx="1131708" cy="1349995"/>
              <a:chOff x="0" y="0"/>
              <a:chExt cx="1508944" cy="1799993"/>
            </a:xfrm>
          </p:grpSpPr>
          <p:sp>
            <p:nvSpPr>
              <p:cNvPr id="30" name="Freeform 30">
                <a:extLst>
                  <a:ext uri="{FF2B5EF4-FFF2-40B4-BE49-F238E27FC236}">
                    <a16:creationId xmlns:a16="http://schemas.microsoft.com/office/drawing/2014/main" id="{FF1E2BB0-9A9A-220A-8333-6E3DF8F6624F}"/>
                  </a:ext>
                </a:extLst>
              </p:cNvPr>
              <p:cNvSpPr/>
              <p:nvPr/>
            </p:nvSpPr>
            <p:spPr>
              <a:xfrm rot="5400000">
                <a:off x="-116491" y="174558"/>
                <a:ext cx="1741926" cy="1508944"/>
              </a:xfrm>
              <a:custGeom>
                <a:avLst/>
                <a:gdLst/>
                <a:ahLst/>
                <a:cxnLst/>
                <a:rect l="l" t="t" r="r" b="b"/>
                <a:pathLst>
                  <a:path w="1741926" h="1508944">
                    <a:moveTo>
                      <a:pt x="0" y="0"/>
                    </a:moveTo>
                    <a:lnTo>
                      <a:pt x="1741926" y="0"/>
                    </a:lnTo>
                    <a:lnTo>
                      <a:pt x="1741926" y="1508944"/>
                    </a:lnTo>
                    <a:lnTo>
                      <a:pt x="0" y="15089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24000"/>
                </a:blip>
                <a:stretch>
                  <a:fillRect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VN" sz="1400"/>
              </a:p>
            </p:txBody>
          </p:sp>
          <p:grpSp>
            <p:nvGrpSpPr>
              <p:cNvPr id="31" name="Group 31">
                <a:extLst>
                  <a:ext uri="{FF2B5EF4-FFF2-40B4-BE49-F238E27FC236}">
                    <a16:creationId xmlns:a16="http://schemas.microsoft.com/office/drawing/2014/main" id="{097B735C-8B5F-FE58-DD0B-4EBA78EB3EA5}"/>
                  </a:ext>
                </a:extLst>
              </p:cNvPr>
              <p:cNvGrpSpPr/>
              <p:nvPr/>
            </p:nvGrpSpPr>
            <p:grpSpPr>
              <a:xfrm>
                <a:off x="105336" y="79225"/>
                <a:ext cx="1298272" cy="1510717"/>
                <a:chOff x="0" y="0"/>
                <a:chExt cx="698500" cy="812800"/>
              </a:xfrm>
            </p:grpSpPr>
            <p:sp>
              <p:nvSpPr>
                <p:cNvPr id="35" name="Freeform 32">
                  <a:extLst>
                    <a:ext uri="{FF2B5EF4-FFF2-40B4-BE49-F238E27FC236}">
                      <a16:creationId xmlns:a16="http://schemas.microsoft.com/office/drawing/2014/main" id="{36B7C16B-D890-311B-83AE-1B6E6FE11A9B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E9EBF4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36" name="TextBox 33">
                  <a:extLst>
                    <a:ext uri="{FF2B5EF4-FFF2-40B4-BE49-F238E27FC236}">
                      <a16:creationId xmlns:a16="http://schemas.microsoft.com/office/drawing/2014/main" id="{6BD796D4-1B1B-0BD1-7FAF-C654EC9DDE59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  <p:grpSp>
            <p:nvGrpSpPr>
              <p:cNvPr id="32" name="Group 34">
                <a:extLst>
                  <a:ext uri="{FF2B5EF4-FFF2-40B4-BE49-F238E27FC236}">
                    <a16:creationId xmlns:a16="http://schemas.microsoft.com/office/drawing/2014/main" id="{D0C2F492-DEC2-B765-1069-3F1A8FA599B2}"/>
                  </a:ext>
                </a:extLst>
              </p:cNvPr>
              <p:cNvGrpSpPr/>
              <p:nvPr/>
            </p:nvGrpSpPr>
            <p:grpSpPr>
              <a:xfrm>
                <a:off x="105336" y="0"/>
                <a:ext cx="1298272" cy="1510717"/>
                <a:chOff x="0" y="0"/>
                <a:chExt cx="698500" cy="812800"/>
              </a:xfrm>
            </p:grpSpPr>
            <p:sp>
              <p:nvSpPr>
                <p:cNvPr id="33" name="Freeform 35">
                  <a:extLst>
                    <a:ext uri="{FF2B5EF4-FFF2-40B4-BE49-F238E27FC236}">
                      <a16:creationId xmlns:a16="http://schemas.microsoft.com/office/drawing/2014/main" id="{D3303BA6-892F-32CB-7EED-471AD5F19396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FCFDFE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34" name="TextBox 36">
                  <a:extLst>
                    <a:ext uri="{FF2B5EF4-FFF2-40B4-BE49-F238E27FC236}">
                      <a16:creationId xmlns:a16="http://schemas.microsoft.com/office/drawing/2014/main" id="{D3C5DC07-0888-DA98-11B5-52FEA1CAFDC7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</p:grpSp>
        <p:grpSp>
          <p:nvGrpSpPr>
            <p:cNvPr id="37" name="Group 37">
              <a:extLst>
                <a:ext uri="{FF2B5EF4-FFF2-40B4-BE49-F238E27FC236}">
                  <a16:creationId xmlns:a16="http://schemas.microsoft.com/office/drawing/2014/main" id="{C9FB7681-0EB0-2E2D-E44A-694F92039364}"/>
                </a:ext>
              </a:extLst>
            </p:cNvPr>
            <p:cNvGrpSpPr/>
            <p:nvPr/>
          </p:nvGrpSpPr>
          <p:grpSpPr>
            <a:xfrm>
              <a:off x="7099832" y="4748710"/>
              <a:ext cx="1131708" cy="1349995"/>
              <a:chOff x="0" y="0"/>
              <a:chExt cx="1508944" cy="1799993"/>
            </a:xfrm>
          </p:grpSpPr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B0422AB7-4E63-9B19-D3EA-C2EE55F10225}"/>
                  </a:ext>
                </a:extLst>
              </p:cNvPr>
              <p:cNvSpPr/>
              <p:nvPr/>
            </p:nvSpPr>
            <p:spPr>
              <a:xfrm rot="5400000">
                <a:off x="-116491" y="174558"/>
                <a:ext cx="1741926" cy="1508944"/>
              </a:xfrm>
              <a:custGeom>
                <a:avLst/>
                <a:gdLst/>
                <a:ahLst/>
                <a:cxnLst/>
                <a:rect l="l" t="t" r="r" b="b"/>
                <a:pathLst>
                  <a:path w="1741926" h="1508944">
                    <a:moveTo>
                      <a:pt x="0" y="0"/>
                    </a:moveTo>
                    <a:lnTo>
                      <a:pt x="1741926" y="0"/>
                    </a:lnTo>
                    <a:lnTo>
                      <a:pt x="1741926" y="1508944"/>
                    </a:lnTo>
                    <a:lnTo>
                      <a:pt x="0" y="15089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24000"/>
                </a:blip>
                <a:stretch>
                  <a:fillRect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VN" sz="1400"/>
              </a:p>
            </p:txBody>
          </p:sp>
          <p:grpSp>
            <p:nvGrpSpPr>
              <p:cNvPr id="39" name="Group 39">
                <a:extLst>
                  <a:ext uri="{FF2B5EF4-FFF2-40B4-BE49-F238E27FC236}">
                    <a16:creationId xmlns:a16="http://schemas.microsoft.com/office/drawing/2014/main" id="{E8417AC4-9021-5B30-45D9-5BAF38D3463F}"/>
                  </a:ext>
                </a:extLst>
              </p:cNvPr>
              <p:cNvGrpSpPr/>
              <p:nvPr/>
            </p:nvGrpSpPr>
            <p:grpSpPr>
              <a:xfrm>
                <a:off x="105336" y="79225"/>
                <a:ext cx="1298272" cy="1510717"/>
                <a:chOff x="0" y="0"/>
                <a:chExt cx="698500" cy="812800"/>
              </a:xfrm>
            </p:grpSpPr>
            <p:sp>
              <p:nvSpPr>
                <p:cNvPr id="43" name="Freeform 40">
                  <a:extLst>
                    <a:ext uri="{FF2B5EF4-FFF2-40B4-BE49-F238E27FC236}">
                      <a16:creationId xmlns:a16="http://schemas.microsoft.com/office/drawing/2014/main" id="{07F759B6-742B-6305-1D3F-2468135B5836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E9EBF4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44" name="TextBox 41">
                  <a:extLst>
                    <a:ext uri="{FF2B5EF4-FFF2-40B4-BE49-F238E27FC236}">
                      <a16:creationId xmlns:a16="http://schemas.microsoft.com/office/drawing/2014/main" id="{B175F933-218D-AF60-F61D-54A1DDCEE72D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  <p:grpSp>
            <p:nvGrpSpPr>
              <p:cNvPr id="40" name="Group 42">
                <a:extLst>
                  <a:ext uri="{FF2B5EF4-FFF2-40B4-BE49-F238E27FC236}">
                    <a16:creationId xmlns:a16="http://schemas.microsoft.com/office/drawing/2014/main" id="{35B75E9D-9F68-B8B8-5393-B2733FB09F3C}"/>
                  </a:ext>
                </a:extLst>
              </p:cNvPr>
              <p:cNvGrpSpPr/>
              <p:nvPr/>
            </p:nvGrpSpPr>
            <p:grpSpPr>
              <a:xfrm>
                <a:off x="105336" y="0"/>
                <a:ext cx="1298272" cy="1510717"/>
                <a:chOff x="0" y="0"/>
                <a:chExt cx="698500" cy="812800"/>
              </a:xfrm>
            </p:grpSpPr>
            <p:sp>
              <p:nvSpPr>
                <p:cNvPr id="41" name="Freeform 43">
                  <a:extLst>
                    <a:ext uri="{FF2B5EF4-FFF2-40B4-BE49-F238E27FC236}">
                      <a16:creationId xmlns:a16="http://schemas.microsoft.com/office/drawing/2014/main" id="{7D2D0F30-7CE7-CBF5-DF10-26D0137A74CC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FCFDFE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42" name="TextBox 44">
                  <a:extLst>
                    <a:ext uri="{FF2B5EF4-FFF2-40B4-BE49-F238E27FC236}">
                      <a16:creationId xmlns:a16="http://schemas.microsoft.com/office/drawing/2014/main" id="{4665EB5B-3BE1-9E50-C1D4-46222B652518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</p:grpSp>
        <p:sp>
          <p:nvSpPr>
            <p:cNvPr id="45" name="TextBox 45">
              <a:extLst>
                <a:ext uri="{FF2B5EF4-FFF2-40B4-BE49-F238E27FC236}">
                  <a16:creationId xmlns:a16="http://schemas.microsoft.com/office/drawing/2014/main" id="{E9C197B8-94C8-A13A-62A0-338726163B1B}"/>
                </a:ext>
              </a:extLst>
            </p:cNvPr>
            <p:cNvSpPr txBox="1"/>
            <p:nvPr/>
          </p:nvSpPr>
          <p:spPr>
            <a:xfrm>
              <a:off x="-401989" y="7871111"/>
              <a:ext cx="2895601" cy="1281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ĐVQT</a:t>
              </a:r>
            </a:p>
            <a:p>
              <a:pPr algn="ctr"/>
              <a:endPara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6756E7BD-801C-9710-DCEC-CE47DC4B29DB}"/>
                </a:ext>
              </a:extLst>
            </p:cNvPr>
            <p:cNvSpPr txBox="1"/>
            <p:nvPr/>
          </p:nvSpPr>
          <p:spPr>
            <a:xfrm>
              <a:off x="1766576" y="7261193"/>
              <a:ext cx="2895601" cy="1281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/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ĐVQT</a:t>
              </a:r>
            </a:p>
            <a:p>
              <a:pPr algn="ctr"/>
              <a:endPara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AD668C97-7FD6-D8FB-E3F4-0974E233FA82}"/>
                </a:ext>
              </a:extLst>
            </p:cNvPr>
            <p:cNvSpPr txBox="1"/>
            <p:nvPr/>
          </p:nvSpPr>
          <p:spPr>
            <a:xfrm>
              <a:off x="-401989" y="7456511"/>
              <a:ext cx="2895601" cy="512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600" b="1">
                  <a:solidFill>
                    <a:srgbClr val="041F6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2011</a:t>
              </a:r>
            </a:p>
          </p:txBody>
        </p:sp>
        <p:sp>
          <p:nvSpPr>
            <p:cNvPr id="48" name="TextBox 48">
              <a:extLst>
                <a:ext uri="{FF2B5EF4-FFF2-40B4-BE49-F238E27FC236}">
                  <a16:creationId xmlns:a16="http://schemas.microsoft.com/office/drawing/2014/main" id="{7A2D8EE3-43A5-844D-1D74-888C16F8E95B}"/>
                </a:ext>
              </a:extLst>
            </p:cNvPr>
            <p:cNvSpPr txBox="1"/>
            <p:nvPr/>
          </p:nvSpPr>
          <p:spPr>
            <a:xfrm>
              <a:off x="1766576" y="6846593"/>
              <a:ext cx="2895601" cy="512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600" b="1">
                  <a:solidFill>
                    <a:srgbClr val="041F6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2012</a:t>
              </a:r>
            </a:p>
          </p:txBody>
        </p:sp>
        <p:sp>
          <p:nvSpPr>
            <p:cNvPr id="49" name="TextBox 49">
              <a:extLst>
                <a:ext uri="{FF2B5EF4-FFF2-40B4-BE49-F238E27FC236}">
                  <a16:creationId xmlns:a16="http://schemas.microsoft.com/office/drawing/2014/main" id="{F34EA5C6-CBA3-0478-477C-D147314D0603}"/>
                </a:ext>
              </a:extLst>
            </p:cNvPr>
            <p:cNvSpPr txBox="1"/>
            <p:nvPr/>
          </p:nvSpPr>
          <p:spPr>
            <a:xfrm>
              <a:off x="3900050" y="6817967"/>
              <a:ext cx="2895601" cy="1281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ĐVQT</a:t>
              </a:r>
            </a:p>
            <a:p>
              <a:pPr algn="ctr"/>
              <a:endPara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043FE47E-6F28-098B-BC90-3AEB9AEC9EBC}"/>
                </a:ext>
              </a:extLst>
            </p:cNvPr>
            <p:cNvSpPr txBox="1"/>
            <p:nvPr/>
          </p:nvSpPr>
          <p:spPr>
            <a:xfrm>
              <a:off x="3900050" y="6403367"/>
              <a:ext cx="2895601" cy="512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600" b="1">
                  <a:solidFill>
                    <a:srgbClr val="041F6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2013</a:t>
              </a:r>
            </a:p>
          </p:txBody>
        </p:sp>
        <p:sp>
          <p:nvSpPr>
            <p:cNvPr id="51" name="TextBox 51">
              <a:extLst>
                <a:ext uri="{FF2B5EF4-FFF2-40B4-BE49-F238E27FC236}">
                  <a16:creationId xmlns:a16="http://schemas.microsoft.com/office/drawing/2014/main" id="{B08EB71F-1EBF-BC91-2E9F-3E9A067C5270}"/>
                </a:ext>
              </a:extLst>
            </p:cNvPr>
            <p:cNvSpPr txBox="1"/>
            <p:nvPr/>
          </p:nvSpPr>
          <p:spPr>
            <a:xfrm>
              <a:off x="3900050" y="4436101"/>
              <a:ext cx="2895601" cy="6408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2000">
                  <a:solidFill>
                    <a:srgbClr val="041F60"/>
                  </a:solidFill>
                  <a:latin typeface="Gotham"/>
                  <a:ea typeface="Gotham"/>
                  <a:cs typeface="Gotham"/>
                  <a:sym typeface="Gotham"/>
                </a:rPr>
                <a:t>BKBQP</a:t>
              </a:r>
            </a:p>
          </p:txBody>
        </p:sp>
        <p:sp>
          <p:nvSpPr>
            <p:cNvPr id="52" name="TextBox 52">
              <a:extLst>
                <a:ext uri="{FF2B5EF4-FFF2-40B4-BE49-F238E27FC236}">
                  <a16:creationId xmlns:a16="http://schemas.microsoft.com/office/drawing/2014/main" id="{837353D2-15C1-7620-D287-75B40D46E5EA}"/>
                </a:ext>
              </a:extLst>
            </p:cNvPr>
            <p:cNvSpPr txBox="1"/>
            <p:nvPr/>
          </p:nvSpPr>
          <p:spPr>
            <a:xfrm>
              <a:off x="6217886" y="6717025"/>
              <a:ext cx="2895601" cy="1281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ĐVQT</a:t>
              </a:r>
            </a:p>
            <a:p>
              <a:pPr algn="ctr"/>
              <a:endPara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B8C57B05-F87B-6CF0-2BB4-7C2BD711FA3B}"/>
                </a:ext>
              </a:extLst>
            </p:cNvPr>
            <p:cNvSpPr txBox="1"/>
            <p:nvPr/>
          </p:nvSpPr>
          <p:spPr>
            <a:xfrm>
              <a:off x="6217886" y="6302425"/>
              <a:ext cx="2895601" cy="512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600" b="1">
                  <a:solidFill>
                    <a:srgbClr val="041F6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2014</a:t>
              </a:r>
            </a:p>
          </p:txBody>
        </p:sp>
        <p:sp>
          <p:nvSpPr>
            <p:cNvPr id="54" name="TextBox 54">
              <a:extLst>
                <a:ext uri="{FF2B5EF4-FFF2-40B4-BE49-F238E27FC236}">
                  <a16:creationId xmlns:a16="http://schemas.microsoft.com/office/drawing/2014/main" id="{5B73D7EA-7E74-DC4C-A8FB-6D9ECCC0C098}"/>
                </a:ext>
              </a:extLst>
            </p:cNvPr>
            <p:cNvSpPr txBox="1"/>
            <p:nvPr/>
          </p:nvSpPr>
          <p:spPr>
            <a:xfrm>
              <a:off x="8551820" y="6634849"/>
              <a:ext cx="2895601" cy="1281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/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ĐVQT</a:t>
              </a:r>
            </a:p>
            <a:p>
              <a:pPr algn="ctr"/>
              <a:endPara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55" name="TextBox 55">
              <a:extLst>
                <a:ext uri="{FF2B5EF4-FFF2-40B4-BE49-F238E27FC236}">
                  <a16:creationId xmlns:a16="http://schemas.microsoft.com/office/drawing/2014/main" id="{9C2FEF2D-D25F-A60B-F1A3-A618DE78CA78}"/>
                </a:ext>
              </a:extLst>
            </p:cNvPr>
            <p:cNvSpPr txBox="1"/>
            <p:nvPr/>
          </p:nvSpPr>
          <p:spPr>
            <a:xfrm>
              <a:off x="8551820" y="6220249"/>
              <a:ext cx="2895601" cy="512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600" b="1">
                  <a:solidFill>
                    <a:srgbClr val="041F6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2015</a:t>
              </a:r>
            </a:p>
          </p:txBody>
        </p:sp>
        <p:sp>
          <p:nvSpPr>
            <p:cNvPr id="56" name="TextBox 56">
              <a:extLst>
                <a:ext uri="{FF2B5EF4-FFF2-40B4-BE49-F238E27FC236}">
                  <a16:creationId xmlns:a16="http://schemas.microsoft.com/office/drawing/2014/main" id="{FC9BE5A5-B743-EB66-125D-60BA444829D8}"/>
                </a:ext>
              </a:extLst>
            </p:cNvPr>
            <p:cNvSpPr txBox="1"/>
            <p:nvPr/>
          </p:nvSpPr>
          <p:spPr>
            <a:xfrm>
              <a:off x="8551820" y="4252983"/>
              <a:ext cx="2895601" cy="6408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2000">
                  <a:solidFill>
                    <a:srgbClr val="041F60"/>
                  </a:solidFill>
                  <a:latin typeface="Gotham"/>
                  <a:ea typeface="Gotham"/>
                  <a:cs typeface="Gotham"/>
                  <a:sym typeface="Gotham"/>
                </a:rPr>
                <a:t>BKBQP</a:t>
              </a:r>
            </a:p>
          </p:txBody>
        </p:sp>
        <p:sp>
          <p:nvSpPr>
            <p:cNvPr id="57" name="TextBox 57">
              <a:extLst>
                <a:ext uri="{FF2B5EF4-FFF2-40B4-BE49-F238E27FC236}">
                  <a16:creationId xmlns:a16="http://schemas.microsoft.com/office/drawing/2014/main" id="{00860FC0-972B-A614-0183-6EAF9B34C629}"/>
                </a:ext>
              </a:extLst>
            </p:cNvPr>
            <p:cNvSpPr txBox="1"/>
            <p:nvPr/>
          </p:nvSpPr>
          <p:spPr>
            <a:xfrm>
              <a:off x="17118534" y="9210674"/>
              <a:ext cx="433932" cy="512708"/>
            </a:xfrm>
            <a:prstGeom prst="rect">
              <a:avLst/>
            </a:prstGeom>
          </p:spPr>
          <p:txBody>
            <a:bodyPr wrap="none"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11</a:t>
              </a:r>
            </a:p>
          </p:txBody>
        </p:sp>
        <p:grpSp>
          <p:nvGrpSpPr>
            <p:cNvPr id="58" name="Group 58">
              <a:extLst>
                <a:ext uri="{FF2B5EF4-FFF2-40B4-BE49-F238E27FC236}">
                  <a16:creationId xmlns:a16="http://schemas.microsoft.com/office/drawing/2014/main" id="{7927F3D5-0649-F0E5-1298-3D03232A75D4}"/>
                </a:ext>
              </a:extLst>
            </p:cNvPr>
            <p:cNvGrpSpPr/>
            <p:nvPr/>
          </p:nvGrpSpPr>
          <p:grpSpPr>
            <a:xfrm>
              <a:off x="11904620" y="4934850"/>
              <a:ext cx="1131708" cy="1349995"/>
              <a:chOff x="0" y="0"/>
              <a:chExt cx="1508944" cy="1799993"/>
            </a:xfrm>
          </p:grpSpPr>
          <p:sp>
            <p:nvSpPr>
              <p:cNvPr id="59" name="Freeform 59">
                <a:extLst>
                  <a:ext uri="{FF2B5EF4-FFF2-40B4-BE49-F238E27FC236}">
                    <a16:creationId xmlns:a16="http://schemas.microsoft.com/office/drawing/2014/main" id="{A6971C80-7B71-0828-5F91-92295DA8A818}"/>
                  </a:ext>
                </a:extLst>
              </p:cNvPr>
              <p:cNvSpPr/>
              <p:nvPr/>
            </p:nvSpPr>
            <p:spPr>
              <a:xfrm rot="5400000">
                <a:off x="-116491" y="174558"/>
                <a:ext cx="1741926" cy="1508944"/>
              </a:xfrm>
              <a:custGeom>
                <a:avLst/>
                <a:gdLst/>
                <a:ahLst/>
                <a:cxnLst/>
                <a:rect l="l" t="t" r="r" b="b"/>
                <a:pathLst>
                  <a:path w="1741926" h="1508944">
                    <a:moveTo>
                      <a:pt x="0" y="0"/>
                    </a:moveTo>
                    <a:lnTo>
                      <a:pt x="1741926" y="0"/>
                    </a:lnTo>
                    <a:lnTo>
                      <a:pt x="1741926" y="1508944"/>
                    </a:lnTo>
                    <a:lnTo>
                      <a:pt x="0" y="15089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24000"/>
                </a:blip>
                <a:stretch>
                  <a:fillRect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VN" sz="1400"/>
              </a:p>
            </p:txBody>
          </p:sp>
          <p:grpSp>
            <p:nvGrpSpPr>
              <p:cNvPr id="60" name="Group 60">
                <a:extLst>
                  <a:ext uri="{FF2B5EF4-FFF2-40B4-BE49-F238E27FC236}">
                    <a16:creationId xmlns:a16="http://schemas.microsoft.com/office/drawing/2014/main" id="{0194FBC6-2A11-FA78-BE30-886D45EC252C}"/>
                  </a:ext>
                </a:extLst>
              </p:cNvPr>
              <p:cNvGrpSpPr/>
              <p:nvPr/>
            </p:nvGrpSpPr>
            <p:grpSpPr>
              <a:xfrm>
                <a:off x="105336" y="79225"/>
                <a:ext cx="1298272" cy="1510717"/>
                <a:chOff x="0" y="0"/>
                <a:chExt cx="698500" cy="812800"/>
              </a:xfrm>
            </p:grpSpPr>
            <p:sp>
              <p:nvSpPr>
                <p:cNvPr id="64" name="Freeform 61">
                  <a:extLst>
                    <a:ext uri="{FF2B5EF4-FFF2-40B4-BE49-F238E27FC236}">
                      <a16:creationId xmlns:a16="http://schemas.microsoft.com/office/drawing/2014/main" id="{DA80297E-03FC-BAF3-7D56-5E643E4045F8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E9EBF4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65" name="TextBox 62">
                  <a:extLst>
                    <a:ext uri="{FF2B5EF4-FFF2-40B4-BE49-F238E27FC236}">
                      <a16:creationId xmlns:a16="http://schemas.microsoft.com/office/drawing/2014/main" id="{95817DC2-779A-6551-F2EE-2F785F341DAA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  <p:grpSp>
            <p:nvGrpSpPr>
              <p:cNvPr id="61" name="Group 63">
                <a:extLst>
                  <a:ext uri="{FF2B5EF4-FFF2-40B4-BE49-F238E27FC236}">
                    <a16:creationId xmlns:a16="http://schemas.microsoft.com/office/drawing/2014/main" id="{96320AC8-7F5C-A85F-AA4A-9B559E618A2C}"/>
                  </a:ext>
                </a:extLst>
              </p:cNvPr>
              <p:cNvGrpSpPr/>
              <p:nvPr/>
            </p:nvGrpSpPr>
            <p:grpSpPr>
              <a:xfrm>
                <a:off x="105336" y="0"/>
                <a:ext cx="1298272" cy="1510717"/>
                <a:chOff x="0" y="0"/>
                <a:chExt cx="698500" cy="812800"/>
              </a:xfrm>
            </p:grpSpPr>
            <p:sp>
              <p:nvSpPr>
                <p:cNvPr id="62" name="Freeform 64">
                  <a:extLst>
                    <a:ext uri="{FF2B5EF4-FFF2-40B4-BE49-F238E27FC236}">
                      <a16:creationId xmlns:a16="http://schemas.microsoft.com/office/drawing/2014/main" id="{EAD3895B-B34F-576A-5749-6A2D281DF305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FCFDFE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63" name="TextBox 65">
                  <a:extLst>
                    <a:ext uri="{FF2B5EF4-FFF2-40B4-BE49-F238E27FC236}">
                      <a16:creationId xmlns:a16="http://schemas.microsoft.com/office/drawing/2014/main" id="{4F44D67B-9EB6-0360-5C03-B161F5755ACD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</p:grpSp>
        <p:sp>
          <p:nvSpPr>
            <p:cNvPr id="66" name="TextBox 66">
              <a:extLst>
                <a:ext uri="{FF2B5EF4-FFF2-40B4-BE49-F238E27FC236}">
                  <a16:creationId xmlns:a16="http://schemas.microsoft.com/office/drawing/2014/main" id="{48831AFB-C4CE-2C16-6D16-BF5C65C52648}"/>
                </a:ext>
              </a:extLst>
            </p:cNvPr>
            <p:cNvSpPr txBox="1"/>
            <p:nvPr/>
          </p:nvSpPr>
          <p:spPr>
            <a:xfrm>
              <a:off x="11022674" y="6899669"/>
              <a:ext cx="2895601" cy="1281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/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ĐVQT</a:t>
              </a:r>
            </a:p>
            <a:p>
              <a:pPr algn="ctr"/>
              <a:endPara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67" name="TextBox 67">
              <a:extLst>
                <a:ext uri="{FF2B5EF4-FFF2-40B4-BE49-F238E27FC236}">
                  <a16:creationId xmlns:a16="http://schemas.microsoft.com/office/drawing/2014/main" id="{5128D7A0-03EB-5D8D-D2AA-F52C9303C12F}"/>
                </a:ext>
              </a:extLst>
            </p:cNvPr>
            <p:cNvSpPr txBox="1"/>
            <p:nvPr/>
          </p:nvSpPr>
          <p:spPr>
            <a:xfrm>
              <a:off x="11022674" y="6485069"/>
              <a:ext cx="2895601" cy="512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600" b="1">
                  <a:solidFill>
                    <a:srgbClr val="041F6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2016</a:t>
              </a:r>
            </a:p>
          </p:txBody>
        </p:sp>
        <p:grpSp>
          <p:nvGrpSpPr>
            <p:cNvPr id="68" name="Group 68">
              <a:extLst>
                <a:ext uri="{FF2B5EF4-FFF2-40B4-BE49-F238E27FC236}">
                  <a16:creationId xmlns:a16="http://schemas.microsoft.com/office/drawing/2014/main" id="{C59FB478-3161-DD78-6B72-4C9DF680A09D}"/>
                </a:ext>
              </a:extLst>
            </p:cNvPr>
            <p:cNvGrpSpPr/>
            <p:nvPr/>
          </p:nvGrpSpPr>
          <p:grpSpPr>
            <a:xfrm>
              <a:off x="14375474" y="5318192"/>
              <a:ext cx="1131708" cy="1349995"/>
              <a:chOff x="0" y="0"/>
              <a:chExt cx="1508944" cy="1799993"/>
            </a:xfrm>
          </p:grpSpPr>
          <p:sp>
            <p:nvSpPr>
              <p:cNvPr id="69" name="Freeform 69">
                <a:extLst>
                  <a:ext uri="{FF2B5EF4-FFF2-40B4-BE49-F238E27FC236}">
                    <a16:creationId xmlns:a16="http://schemas.microsoft.com/office/drawing/2014/main" id="{C1605CB5-B99E-E076-1ED6-4E47EB2A0B9C}"/>
                  </a:ext>
                </a:extLst>
              </p:cNvPr>
              <p:cNvSpPr/>
              <p:nvPr/>
            </p:nvSpPr>
            <p:spPr>
              <a:xfrm rot="5400000">
                <a:off x="-116491" y="174558"/>
                <a:ext cx="1741926" cy="1508944"/>
              </a:xfrm>
              <a:custGeom>
                <a:avLst/>
                <a:gdLst/>
                <a:ahLst/>
                <a:cxnLst/>
                <a:rect l="l" t="t" r="r" b="b"/>
                <a:pathLst>
                  <a:path w="1741926" h="1508944">
                    <a:moveTo>
                      <a:pt x="0" y="0"/>
                    </a:moveTo>
                    <a:lnTo>
                      <a:pt x="1741926" y="0"/>
                    </a:lnTo>
                    <a:lnTo>
                      <a:pt x="1741926" y="1508944"/>
                    </a:lnTo>
                    <a:lnTo>
                      <a:pt x="0" y="15089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24000"/>
                </a:blip>
                <a:stretch>
                  <a:fillRect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VN" sz="1400"/>
              </a:p>
            </p:txBody>
          </p:sp>
          <p:grpSp>
            <p:nvGrpSpPr>
              <p:cNvPr id="70" name="Group 70">
                <a:extLst>
                  <a:ext uri="{FF2B5EF4-FFF2-40B4-BE49-F238E27FC236}">
                    <a16:creationId xmlns:a16="http://schemas.microsoft.com/office/drawing/2014/main" id="{7798388F-EA45-A694-8E47-DB590992C396}"/>
                  </a:ext>
                </a:extLst>
              </p:cNvPr>
              <p:cNvGrpSpPr/>
              <p:nvPr/>
            </p:nvGrpSpPr>
            <p:grpSpPr>
              <a:xfrm>
                <a:off x="105336" y="79225"/>
                <a:ext cx="1298272" cy="1510717"/>
                <a:chOff x="0" y="0"/>
                <a:chExt cx="698500" cy="812800"/>
              </a:xfrm>
            </p:grpSpPr>
            <p:sp>
              <p:nvSpPr>
                <p:cNvPr id="74" name="Freeform 71">
                  <a:extLst>
                    <a:ext uri="{FF2B5EF4-FFF2-40B4-BE49-F238E27FC236}">
                      <a16:creationId xmlns:a16="http://schemas.microsoft.com/office/drawing/2014/main" id="{6289C4A4-9B72-E21F-A49D-3FA0F9F36B9A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E9EBF4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75" name="TextBox 72">
                  <a:extLst>
                    <a:ext uri="{FF2B5EF4-FFF2-40B4-BE49-F238E27FC236}">
                      <a16:creationId xmlns:a16="http://schemas.microsoft.com/office/drawing/2014/main" id="{69279F18-0EFF-A1CC-E18A-F4AE4B68D975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  <p:grpSp>
            <p:nvGrpSpPr>
              <p:cNvPr id="71" name="Group 73">
                <a:extLst>
                  <a:ext uri="{FF2B5EF4-FFF2-40B4-BE49-F238E27FC236}">
                    <a16:creationId xmlns:a16="http://schemas.microsoft.com/office/drawing/2014/main" id="{78F8CB43-7B99-95D3-3C63-7477261AB15F}"/>
                  </a:ext>
                </a:extLst>
              </p:cNvPr>
              <p:cNvGrpSpPr/>
              <p:nvPr/>
            </p:nvGrpSpPr>
            <p:grpSpPr>
              <a:xfrm>
                <a:off x="105336" y="0"/>
                <a:ext cx="1298272" cy="1510717"/>
                <a:chOff x="0" y="0"/>
                <a:chExt cx="698500" cy="812800"/>
              </a:xfrm>
            </p:grpSpPr>
            <p:sp>
              <p:nvSpPr>
                <p:cNvPr id="72" name="Freeform 74">
                  <a:extLst>
                    <a:ext uri="{FF2B5EF4-FFF2-40B4-BE49-F238E27FC236}">
                      <a16:creationId xmlns:a16="http://schemas.microsoft.com/office/drawing/2014/main" id="{0AAB9CEC-E233-BBF6-9EBF-7659DF71C1CF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FCFDFE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73" name="TextBox 75">
                  <a:extLst>
                    <a:ext uri="{FF2B5EF4-FFF2-40B4-BE49-F238E27FC236}">
                      <a16:creationId xmlns:a16="http://schemas.microsoft.com/office/drawing/2014/main" id="{920A63F5-9C1D-A4CD-C13E-BB9ED68BD8B5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</p:grpSp>
        <p:sp>
          <p:nvSpPr>
            <p:cNvPr id="76" name="TextBox 76">
              <a:extLst>
                <a:ext uri="{FF2B5EF4-FFF2-40B4-BE49-F238E27FC236}">
                  <a16:creationId xmlns:a16="http://schemas.microsoft.com/office/drawing/2014/main" id="{F618FED3-60EA-A906-E5CD-2E58E5B4A729}"/>
                </a:ext>
              </a:extLst>
            </p:cNvPr>
            <p:cNvSpPr txBox="1"/>
            <p:nvPr/>
          </p:nvSpPr>
          <p:spPr>
            <a:xfrm>
              <a:off x="13493528" y="7283013"/>
              <a:ext cx="2895601" cy="1281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/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ĐVQT</a:t>
              </a:r>
            </a:p>
            <a:p>
              <a:pPr algn="ctr"/>
              <a:endPara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77" name="TextBox 77">
              <a:extLst>
                <a:ext uri="{FF2B5EF4-FFF2-40B4-BE49-F238E27FC236}">
                  <a16:creationId xmlns:a16="http://schemas.microsoft.com/office/drawing/2014/main" id="{FD43BAEB-8C0F-FA86-4FB8-A71F09B6DBCE}"/>
                </a:ext>
              </a:extLst>
            </p:cNvPr>
            <p:cNvSpPr txBox="1"/>
            <p:nvPr/>
          </p:nvSpPr>
          <p:spPr>
            <a:xfrm>
              <a:off x="13493528" y="6868413"/>
              <a:ext cx="2895601" cy="512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600" b="1">
                  <a:solidFill>
                    <a:srgbClr val="041F6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2017</a:t>
              </a:r>
            </a:p>
          </p:txBody>
        </p:sp>
        <p:sp>
          <p:nvSpPr>
            <p:cNvPr id="78" name="TextBox 78">
              <a:extLst>
                <a:ext uri="{FF2B5EF4-FFF2-40B4-BE49-F238E27FC236}">
                  <a16:creationId xmlns:a16="http://schemas.microsoft.com/office/drawing/2014/main" id="{FDE85F84-94EC-5D48-13CE-612F67525953}"/>
                </a:ext>
              </a:extLst>
            </p:cNvPr>
            <p:cNvSpPr txBox="1"/>
            <p:nvPr/>
          </p:nvSpPr>
          <p:spPr>
            <a:xfrm>
              <a:off x="13493528" y="4722649"/>
              <a:ext cx="2895601" cy="6408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2000">
                  <a:solidFill>
                    <a:srgbClr val="041F60"/>
                  </a:solidFill>
                  <a:latin typeface="Gotham"/>
                  <a:ea typeface="Gotham"/>
                  <a:cs typeface="Gotham"/>
                  <a:sym typeface="Gotham"/>
                </a:rPr>
                <a:t>BKBQP</a:t>
              </a:r>
            </a:p>
          </p:txBody>
        </p:sp>
        <p:grpSp>
          <p:nvGrpSpPr>
            <p:cNvPr id="79" name="Group 79">
              <a:extLst>
                <a:ext uri="{FF2B5EF4-FFF2-40B4-BE49-F238E27FC236}">
                  <a16:creationId xmlns:a16="http://schemas.microsoft.com/office/drawing/2014/main" id="{0770A9D0-08AD-7956-46E5-6CCE41B791B7}"/>
                </a:ext>
              </a:extLst>
            </p:cNvPr>
            <p:cNvGrpSpPr/>
            <p:nvPr/>
          </p:nvGrpSpPr>
          <p:grpSpPr>
            <a:xfrm>
              <a:off x="16676336" y="5818517"/>
              <a:ext cx="1131708" cy="1349995"/>
              <a:chOff x="0" y="0"/>
              <a:chExt cx="1508944" cy="1799993"/>
            </a:xfrm>
          </p:grpSpPr>
          <p:sp>
            <p:nvSpPr>
              <p:cNvPr id="80" name="Freeform 80">
                <a:extLst>
                  <a:ext uri="{FF2B5EF4-FFF2-40B4-BE49-F238E27FC236}">
                    <a16:creationId xmlns:a16="http://schemas.microsoft.com/office/drawing/2014/main" id="{5F9AC780-7334-5D1C-6805-EC8CFCB91056}"/>
                  </a:ext>
                </a:extLst>
              </p:cNvPr>
              <p:cNvSpPr/>
              <p:nvPr/>
            </p:nvSpPr>
            <p:spPr>
              <a:xfrm rot="5400000">
                <a:off x="-116491" y="174558"/>
                <a:ext cx="1741926" cy="1508944"/>
              </a:xfrm>
              <a:custGeom>
                <a:avLst/>
                <a:gdLst/>
                <a:ahLst/>
                <a:cxnLst/>
                <a:rect l="l" t="t" r="r" b="b"/>
                <a:pathLst>
                  <a:path w="1741926" h="1508944">
                    <a:moveTo>
                      <a:pt x="0" y="0"/>
                    </a:moveTo>
                    <a:lnTo>
                      <a:pt x="1741926" y="0"/>
                    </a:lnTo>
                    <a:lnTo>
                      <a:pt x="1741926" y="1508944"/>
                    </a:lnTo>
                    <a:lnTo>
                      <a:pt x="0" y="15089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24000"/>
                </a:blip>
                <a:stretch>
                  <a:fillRect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VN" sz="1400"/>
              </a:p>
            </p:txBody>
          </p:sp>
          <p:grpSp>
            <p:nvGrpSpPr>
              <p:cNvPr id="81" name="Group 81">
                <a:extLst>
                  <a:ext uri="{FF2B5EF4-FFF2-40B4-BE49-F238E27FC236}">
                    <a16:creationId xmlns:a16="http://schemas.microsoft.com/office/drawing/2014/main" id="{139CA0F6-2EA4-3003-98B9-38162B2A279D}"/>
                  </a:ext>
                </a:extLst>
              </p:cNvPr>
              <p:cNvGrpSpPr/>
              <p:nvPr/>
            </p:nvGrpSpPr>
            <p:grpSpPr>
              <a:xfrm>
                <a:off x="105336" y="79225"/>
                <a:ext cx="1298272" cy="1510717"/>
                <a:chOff x="0" y="0"/>
                <a:chExt cx="698500" cy="812800"/>
              </a:xfrm>
            </p:grpSpPr>
            <p:sp>
              <p:nvSpPr>
                <p:cNvPr id="85" name="Freeform 82">
                  <a:extLst>
                    <a:ext uri="{FF2B5EF4-FFF2-40B4-BE49-F238E27FC236}">
                      <a16:creationId xmlns:a16="http://schemas.microsoft.com/office/drawing/2014/main" id="{27B74A2F-5F64-0E39-A2F1-AC7A5C0BAF73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E9EBF4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86" name="TextBox 83">
                  <a:extLst>
                    <a:ext uri="{FF2B5EF4-FFF2-40B4-BE49-F238E27FC236}">
                      <a16:creationId xmlns:a16="http://schemas.microsoft.com/office/drawing/2014/main" id="{492D4E9A-FB2E-B01F-FFD8-3B5E9A6705BB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  <p:grpSp>
            <p:nvGrpSpPr>
              <p:cNvPr id="82" name="Group 84">
                <a:extLst>
                  <a:ext uri="{FF2B5EF4-FFF2-40B4-BE49-F238E27FC236}">
                    <a16:creationId xmlns:a16="http://schemas.microsoft.com/office/drawing/2014/main" id="{881548CC-DD2C-A542-2356-E87DC8947813}"/>
                  </a:ext>
                </a:extLst>
              </p:cNvPr>
              <p:cNvGrpSpPr/>
              <p:nvPr/>
            </p:nvGrpSpPr>
            <p:grpSpPr>
              <a:xfrm>
                <a:off x="105336" y="0"/>
                <a:ext cx="1298272" cy="1510717"/>
                <a:chOff x="0" y="0"/>
                <a:chExt cx="698500" cy="812800"/>
              </a:xfrm>
            </p:grpSpPr>
            <p:sp>
              <p:nvSpPr>
                <p:cNvPr id="83" name="Freeform 85">
                  <a:extLst>
                    <a:ext uri="{FF2B5EF4-FFF2-40B4-BE49-F238E27FC236}">
                      <a16:creationId xmlns:a16="http://schemas.microsoft.com/office/drawing/2014/main" id="{B91B1B7C-EE72-9930-8380-C5F555918A90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FCFDFE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84" name="TextBox 86">
                  <a:extLst>
                    <a:ext uri="{FF2B5EF4-FFF2-40B4-BE49-F238E27FC236}">
                      <a16:creationId xmlns:a16="http://schemas.microsoft.com/office/drawing/2014/main" id="{0C505463-613C-610C-AB7C-9707CF0F1D0F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</p:grpSp>
        <p:sp>
          <p:nvSpPr>
            <p:cNvPr id="87" name="TextBox 87">
              <a:extLst>
                <a:ext uri="{FF2B5EF4-FFF2-40B4-BE49-F238E27FC236}">
                  <a16:creationId xmlns:a16="http://schemas.microsoft.com/office/drawing/2014/main" id="{748D671E-4F2A-2471-4AFE-9E5C56DCE9EF}"/>
                </a:ext>
              </a:extLst>
            </p:cNvPr>
            <p:cNvSpPr txBox="1"/>
            <p:nvPr/>
          </p:nvSpPr>
          <p:spPr>
            <a:xfrm>
              <a:off x="15794388" y="7783338"/>
              <a:ext cx="2895601" cy="1281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/>
              <a:r>
                <a:rPr lang="en-US" sz="20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ĐVQT</a:t>
              </a:r>
            </a:p>
            <a:p>
              <a:pPr algn="ctr"/>
              <a:endPara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88" name="TextBox 88">
              <a:extLst>
                <a:ext uri="{FF2B5EF4-FFF2-40B4-BE49-F238E27FC236}">
                  <a16:creationId xmlns:a16="http://schemas.microsoft.com/office/drawing/2014/main" id="{92C2E34E-2DE0-20FC-8EC2-ACD785EDF786}"/>
                </a:ext>
              </a:extLst>
            </p:cNvPr>
            <p:cNvSpPr txBox="1"/>
            <p:nvPr/>
          </p:nvSpPr>
          <p:spPr>
            <a:xfrm>
              <a:off x="15794388" y="7368738"/>
              <a:ext cx="2895601" cy="512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600" b="1">
                  <a:solidFill>
                    <a:srgbClr val="041F6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2018</a:t>
              </a:r>
            </a:p>
          </p:txBody>
        </p:sp>
        <p:sp>
          <p:nvSpPr>
            <p:cNvPr id="89" name="TextBox 89">
              <a:extLst>
                <a:ext uri="{FF2B5EF4-FFF2-40B4-BE49-F238E27FC236}">
                  <a16:creationId xmlns:a16="http://schemas.microsoft.com/office/drawing/2014/main" id="{91925317-59B9-F8EA-B6C2-4846B20AB1F7}"/>
                </a:ext>
              </a:extLst>
            </p:cNvPr>
            <p:cNvSpPr txBox="1"/>
            <p:nvPr/>
          </p:nvSpPr>
          <p:spPr>
            <a:xfrm>
              <a:off x="15794388" y="5401471"/>
              <a:ext cx="2895601" cy="6408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2000">
                  <a:solidFill>
                    <a:srgbClr val="041F60"/>
                  </a:solidFill>
                  <a:latin typeface="Gotham"/>
                  <a:ea typeface="Gotham"/>
                  <a:cs typeface="Gotham"/>
                  <a:sym typeface="Gotham"/>
                </a:rPr>
                <a:t>BKTTCP</a:t>
              </a:r>
            </a:p>
          </p:txBody>
        </p:sp>
        <p:grpSp>
          <p:nvGrpSpPr>
            <p:cNvPr id="90" name="Group 90">
              <a:extLst>
                <a:ext uri="{FF2B5EF4-FFF2-40B4-BE49-F238E27FC236}">
                  <a16:creationId xmlns:a16="http://schemas.microsoft.com/office/drawing/2014/main" id="{5A1A29CF-39D9-ACD3-233C-B6E04F11590D}"/>
                </a:ext>
              </a:extLst>
            </p:cNvPr>
            <p:cNvGrpSpPr/>
            <p:nvPr/>
          </p:nvGrpSpPr>
          <p:grpSpPr>
            <a:xfrm>
              <a:off x="11904620" y="4934850"/>
              <a:ext cx="1131708" cy="1349995"/>
              <a:chOff x="0" y="0"/>
              <a:chExt cx="1508944" cy="1799993"/>
            </a:xfrm>
          </p:grpSpPr>
          <p:sp>
            <p:nvSpPr>
              <p:cNvPr id="91" name="Freeform 91">
                <a:extLst>
                  <a:ext uri="{FF2B5EF4-FFF2-40B4-BE49-F238E27FC236}">
                    <a16:creationId xmlns:a16="http://schemas.microsoft.com/office/drawing/2014/main" id="{0BAD3FDC-7635-811E-96E8-6EC652C74872}"/>
                  </a:ext>
                </a:extLst>
              </p:cNvPr>
              <p:cNvSpPr/>
              <p:nvPr/>
            </p:nvSpPr>
            <p:spPr>
              <a:xfrm rot="5400000">
                <a:off x="-116491" y="174558"/>
                <a:ext cx="1741926" cy="1508944"/>
              </a:xfrm>
              <a:custGeom>
                <a:avLst/>
                <a:gdLst/>
                <a:ahLst/>
                <a:cxnLst/>
                <a:rect l="l" t="t" r="r" b="b"/>
                <a:pathLst>
                  <a:path w="1741926" h="1508944">
                    <a:moveTo>
                      <a:pt x="0" y="0"/>
                    </a:moveTo>
                    <a:lnTo>
                      <a:pt x="1741926" y="0"/>
                    </a:lnTo>
                    <a:lnTo>
                      <a:pt x="1741926" y="1508944"/>
                    </a:lnTo>
                    <a:lnTo>
                      <a:pt x="0" y="15089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24000"/>
                </a:blip>
                <a:stretch>
                  <a:fillRect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VN" sz="1400"/>
              </a:p>
            </p:txBody>
          </p:sp>
          <p:grpSp>
            <p:nvGrpSpPr>
              <p:cNvPr id="92" name="Group 92">
                <a:extLst>
                  <a:ext uri="{FF2B5EF4-FFF2-40B4-BE49-F238E27FC236}">
                    <a16:creationId xmlns:a16="http://schemas.microsoft.com/office/drawing/2014/main" id="{5AD581C7-3428-78C0-6D09-182E16F3016A}"/>
                  </a:ext>
                </a:extLst>
              </p:cNvPr>
              <p:cNvGrpSpPr/>
              <p:nvPr/>
            </p:nvGrpSpPr>
            <p:grpSpPr>
              <a:xfrm>
                <a:off x="105336" y="79225"/>
                <a:ext cx="1298272" cy="1510717"/>
                <a:chOff x="0" y="0"/>
                <a:chExt cx="698500" cy="812800"/>
              </a:xfrm>
            </p:grpSpPr>
            <p:sp>
              <p:nvSpPr>
                <p:cNvPr id="96" name="Freeform 93">
                  <a:extLst>
                    <a:ext uri="{FF2B5EF4-FFF2-40B4-BE49-F238E27FC236}">
                      <a16:creationId xmlns:a16="http://schemas.microsoft.com/office/drawing/2014/main" id="{95BA1282-0DC6-4E11-35BF-23CFF0106AFF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E9EBF4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97" name="TextBox 94">
                  <a:extLst>
                    <a:ext uri="{FF2B5EF4-FFF2-40B4-BE49-F238E27FC236}">
                      <a16:creationId xmlns:a16="http://schemas.microsoft.com/office/drawing/2014/main" id="{0FE5D8A2-2A22-7AF2-1306-3D64BBD7965D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  <p:grpSp>
            <p:nvGrpSpPr>
              <p:cNvPr id="93" name="Group 95">
                <a:extLst>
                  <a:ext uri="{FF2B5EF4-FFF2-40B4-BE49-F238E27FC236}">
                    <a16:creationId xmlns:a16="http://schemas.microsoft.com/office/drawing/2014/main" id="{DFA57BAC-3271-3B49-BD2D-5E1D86B7B560}"/>
                  </a:ext>
                </a:extLst>
              </p:cNvPr>
              <p:cNvGrpSpPr/>
              <p:nvPr/>
            </p:nvGrpSpPr>
            <p:grpSpPr>
              <a:xfrm>
                <a:off x="105336" y="0"/>
                <a:ext cx="1298272" cy="1510717"/>
                <a:chOff x="0" y="0"/>
                <a:chExt cx="698500" cy="812800"/>
              </a:xfrm>
            </p:grpSpPr>
            <p:sp>
              <p:nvSpPr>
                <p:cNvPr id="94" name="Freeform 96">
                  <a:extLst>
                    <a:ext uri="{FF2B5EF4-FFF2-40B4-BE49-F238E27FC236}">
                      <a16:creationId xmlns:a16="http://schemas.microsoft.com/office/drawing/2014/main" id="{23C88747-5A15-D99E-8E52-298CBA9537C6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FCFDFE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95" name="TextBox 97">
                  <a:extLst>
                    <a:ext uri="{FF2B5EF4-FFF2-40B4-BE49-F238E27FC236}">
                      <a16:creationId xmlns:a16="http://schemas.microsoft.com/office/drawing/2014/main" id="{0E1DCB26-70C7-EAFF-8D84-E070424D06C5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</p:grpSp>
        <p:grpSp>
          <p:nvGrpSpPr>
            <p:cNvPr id="98" name="Group 98">
              <a:extLst>
                <a:ext uri="{FF2B5EF4-FFF2-40B4-BE49-F238E27FC236}">
                  <a16:creationId xmlns:a16="http://schemas.microsoft.com/office/drawing/2014/main" id="{7C4A9780-2341-9C04-349C-132F60A20A45}"/>
                </a:ext>
              </a:extLst>
            </p:cNvPr>
            <p:cNvGrpSpPr/>
            <p:nvPr/>
          </p:nvGrpSpPr>
          <p:grpSpPr>
            <a:xfrm>
              <a:off x="16676336" y="5818517"/>
              <a:ext cx="1131708" cy="1349995"/>
              <a:chOff x="0" y="0"/>
              <a:chExt cx="1508944" cy="1799993"/>
            </a:xfrm>
          </p:grpSpPr>
          <p:sp>
            <p:nvSpPr>
              <p:cNvPr id="99" name="Freeform 99">
                <a:extLst>
                  <a:ext uri="{FF2B5EF4-FFF2-40B4-BE49-F238E27FC236}">
                    <a16:creationId xmlns:a16="http://schemas.microsoft.com/office/drawing/2014/main" id="{FBC970E9-97AE-C384-4E0E-6E32F7563B48}"/>
                  </a:ext>
                </a:extLst>
              </p:cNvPr>
              <p:cNvSpPr/>
              <p:nvPr/>
            </p:nvSpPr>
            <p:spPr>
              <a:xfrm rot="5400000">
                <a:off x="-116491" y="174558"/>
                <a:ext cx="1741926" cy="1508944"/>
              </a:xfrm>
              <a:custGeom>
                <a:avLst/>
                <a:gdLst/>
                <a:ahLst/>
                <a:cxnLst/>
                <a:rect l="l" t="t" r="r" b="b"/>
                <a:pathLst>
                  <a:path w="1741926" h="1508944">
                    <a:moveTo>
                      <a:pt x="0" y="0"/>
                    </a:moveTo>
                    <a:lnTo>
                      <a:pt x="1741926" y="0"/>
                    </a:lnTo>
                    <a:lnTo>
                      <a:pt x="1741926" y="1508944"/>
                    </a:lnTo>
                    <a:lnTo>
                      <a:pt x="0" y="15089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alphaModFix amt="24000"/>
                </a:blip>
                <a:stretch>
                  <a:fillRect/>
                </a:stretch>
              </a:blip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VN" sz="1400"/>
              </a:p>
            </p:txBody>
          </p:sp>
          <p:grpSp>
            <p:nvGrpSpPr>
              <p:cNvPr id="100" name="Group 100">
                <a:extLst>
                  <a:ext uri="{FF2B5EF4-FFF2-40B4-BE49-F238E27FC236}">
                    <a16:creationId xmlns:a16="http://schemas.microsoft.com/office/drawing/2014/main" id="{06AA661A-8DDD-8F1E-C9C9-99AB665473DE}"/>
                  </a:ext>
                </a:extLst>
              </p:cNvPr>
              <p:cNvGrpSpPr/>
              <p:nvPr/>
            </p:nvGrpSpPr>
            <p:grpSpPr>
              <a:xfrm>
                <a:off x="105336" y="79225"/>
                <a:ext cx="1298272" cy="1510717"/>
                <a:chOff x="0" y="0"/>
                <a:chExt cx="698500" cy="812800"/>
              </a:xfrm>
            </p:grpSpPr>
            <p:sp>
              <p:nvSpPr>
                <p:cNvPr id="104" name="Freeform 101">
                  <a:extLst>
                    <a:ext uri="{FF2B5EF4-FFF2-40B4-BE49-F238E27FC236}">
                      <a16:creationId xmlns:a16="http://schemas.microsoft.com/office/drawing/2014/main" id="{6D41301F-695C-8249-FA06-C5EBE191E325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E9EBF4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105" name="TextBox 102">
                  <a:extLst>
                    <a:ext uri="{FF2B5EF4-FFF2-40B4-BE49-F238E27FC236}">
                      <a16:creationId xmlns:a16="http://schemas.microsoft.com/office/drawing/2014/main" id="{B9AFB6C6-89F0-F40B-50A2-4B38686700EE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  <p:grpSp>
            <p:nvGrpSpPr>
              <p:cNvPr id="101" name="Group 103">
                <a:extLst>
                  <a:ext uri="{FF2B5EF4-FFF2-40B4-BE49-F238E27FC236}">
                    <a16:creationId xmlns:a16="http://schemas.microsoft.com/office/drawing/2014/main" id="{26250CFB-7459-D947-E5F5-0D040331A232}"/>
                  </a:ext>
                </a:extLst>
              </p:cNvPr>
              <p:cNvGrpSpPr/>
              <p:nvPr/>
            </p:nvGrpSpPr>
            <p:grpSpPr>
              <a:xfrm>
                <a:off x="105336" y="0"/>
                <a:ext cx="1298272" cy="1510717"/>
                <a:chOff x="0" y="0"/>
                <a:chExt cx="698500" cy="812800"/>
              </a:xfrm>
            </p:grpSpPr>
            <p:sp>
              <p:nvSpPr>
                <p:cNvPr id="102" name="Freeform 104">
                  <a:extLst>
                    <a:ext uri="{FF2B5EF4-FFF2-40B4-BE49-F238E27FC236}">
                      <a16:creationId xmlns:a16="http://schemas.microsoft.com/office/drawing/2014/main" id="{F11CE5DA-9084-CCF8-E6EC-C57338D1FB80}"/>
                    </a:ext>
                  </a:extLst>
                </p:cNvPr>
                <p:cNvSpPr/>
                <p:nvPr/>
              </p:nvSpPr>
              <p:spPr>
                <a:xfrm>
                  <a:off x="0" y="14823"/>
                  <a:ext cx="698500" cy="783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0" h="783155">
                      <a:moveTo>
                        <a:pt x="396747" y="12812"/>
                      </a:moveTo>
                      <a:lnTo>
                        <a:pt x="651003" y="160742"/>
                      </a:lnTo>
                      <a:cubicBezTo>
                        <a:pt x="680409" y="177852"/>
                        <a:pt x="698500" y="209307"/>
                        <a:pt x="698500" y="243328"/>
                      </a:cubicBezTo>
                      <a:lnTo>
                        <a:pt x="698500" y="539826"/>
                      </a:lnTo>
                      <a:cubicBezTo>
                        <a:pt x="698500" y="573847"/>
                        <a:pt x="680409" y="605302"/>
                        <a:pt x="651003" y="622412"/>
                      </a:cubicBezTo>
                      <a:lnTo>
                        <a:pt x="396747" y="770342"/>
                      </a:lnTo>
                      <a:cubicBezTo>
                        <a:pt x="367386" y="787425"/>
                        <a:pt x="331114" y="787425"/>
                        <a:pt x="301753" y="770342"/>
                      </a:cubicBezTo>
                      <a:lnTo>
                        <a:pt x="47497" y="622412"/>
                      </a:lnTo>
                      <a:cubicBezTo>
                        <a:pt x="18091" y="605302"/>
                        <a:pt x="0" y="573847"/>
                        <a:pt x="0" y="539826"/>
                      </a:cubicBezTo>
                      <a:lnTo>
                        <a:pt x="0" y="243328"/>
                      </a:lnTo>
                      <a:cubicBezTo>
                        <a:pt x="0" y="209307"/>
                        <a:pt x="18091" y="177852"/>
                        <a:pt x="47497" y="160742"/>
                      </a:cubicBezTo>
                      <a:lnTo>
                        <a:pt x="301753" y="12812"/>
                      </a:lnTo>
                      <a:cubicBezTo>
                        <a:pt x="331114" y="-4271"/>
                        <a:pt x="367386" y="-4271"/>
                        <a:pt x="396747" y="12812"/>
                      </a:cubicBezTo>
                      <a:close/>
                    </a:path>
                  </a:pathLst>
                </a:custGeom>
                <a:solidFill>
                  <a:srgbClr val="FCFDFE"/>
                </a:solidFill>
              </p:spPr>
              <p:txBody>
                <a:bodyPr/>
                <a:lstStyle/>
                <a:p>
                  <a:endParaRPr lang="en-VN" sz="1400"/>
                </a:p>
              </p:txBody>
            </p:sp>
            <p:sp>
              <p:nvSpPr>
                <p:cNvPr id="103" name="TextBox 105">
                  <a:extLst>
                    <a:ext uri="{FF2B5EF4-FFF2-40B4-BE49-F238E27FC236}">
                      <a16:creationId xmlns:a16="http://schemas.microsoft.com/office/drawing/2014/main" id="{B3E7D232-577B-B0C0-730F-4B5EF7D42B98}"/>
                    </a:ext>
                  </a:extLst>
                </p:cNvPr>
                <p:cNvSpPr txBox="1"/>
                <p:nvPr/>
              </p:nvSpPr>
              <p:spPr>
                <a:xfrm>
                  <a:off x="0" y="92075"/>
                  <a:ext cx="698500" cy="581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/>
                  <a:endParaRPr sz="1400"/>
                </a:p>
              </p:txBody>
            </p:sp>
          </p:grpSp>
        </p:grpSp>
        <p:sp>
          <p:nvSpPr>
            <p:cNvPr id="106" name="Freeform 106">
              <a:extLst>
                <a:ext uri="{FF2B5EF4-FFF2-40B4-BE49-F238E27FC236}">
                  <a16:creationId xmlns:a16="http://schemas.microsoft.com/office/drawing/2014/main" id="{F27B1C58-857B-67D8-3D37-7CEF960FDDFB}"/>
                </a:ext>
              </a:extLst>
            </p:cNvPr>
            <p:cNvSpPr/>
            <p:nvPr/>
          </p:nvSpPr>
          <p:spPr>
            <a:xfrm>
              <a:off x="722570" y="6243117"/>
              <a:ext cx="600653" cy="500795"/>
            </a:xfrm>
            <a:custGeom>
              <a:avLst/>
              <a:gdLst/>
              <a:ahLst/>
              <a:cxnLst/>
              <a:rect l="l" t="t" r="r" b="b"/>
              <a:pathLst>
                <a:path w="600653" h="500795">
                  <a:moveTo>
                    <a:pt x="0" y="0"/>
                  </a:moveTo>
                  <a:lnTo>
                    <a:pt x="600653" y="0"/>
                  </a:lnTo>
                  <a:lnTo>
                    <a:pt x="600653" y="500795"/>
                  </a:lnTo>
                  <a:lnTo>
                    <a:pt x="0" y="500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107" name="Freeform 107">
              <a:extLst>
                <a:ext uri="{FF2B5EF4-FFF2-40B4-BE49-F238E27FC236}">
                  <a16:creationId xmlns:a16="http://schemas.microsoft.com/office/drawing/2014/main" id="{B9FC5A03-314A-FF26-7EE9-5827A0C8B267}"/>
                </a:ext>
              </a:extLst>
            </p:cNvPr>
            <p:cNvSpPr/>
            <p:nvPr/>
          </p:nvSpPr>
          <p:spPr>
            <a:xfrm>
              <a:off x="2914049" y="5655894"/>
              <a:ext cx="600653" cy="500795"/>
            </a:xfrm>
            <a:custGeom>
              <a:avLst/>
              <a:gdLst/>
              <a:ahLst/>
              <a:cxnLst/>
              <a:rect l="l" t="t" r="r" b="b"/>
              <a:pathLst>
                <a:path w="600653" h="500795">
                  <a:moveTo>
                    <a:pt x="0" y="0"/>
                  </a:moveTo>
                  <a:lnTo>
                    <a:pt x="600654" y="0"/>
                  </a:lnTo>
                  <a:lnTo>
                    <a:pt x="600654" y="500795"/>
                  </a:lnTo>
                  <a:lnTo>
                    <a:pt x="0" y="500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108" name="Freeform 108">
              <a:extLst>
                <a:ext uri="{FF2B5EF4-FFF2-40B4-BE49-F238E27FC236}">
                  <a16:creationId xmlns:a16="http://schemas.microsoft.com/office/drawing/2014/main" id="{0F368925-BB83-DE52-EA42-30505FF78B9B}"/>
                </a:ext>
              </a:extLst>
            </p:cNvPr>
            <p:cNvSpPr/>
            <p:nvPr/>
          </p:nvSpPr>
          <p:spPr>
            <a:xfrm>
              <a:off x="5047524" y="5258371"/>
              <a:ext cx="600653" cy="500795"/>
            </a:xfrm>
            <a:custGeom>
              <a:avLst/>
              <a:gdLst/>
              <a:ahLst/>
              <a:cxnLst/>
              <a:rect l="l" t="t" r="r" b="b"/>
              <a:pathLst>
                <a:path w="600653" h="500795">
                  <a:moveTo>
                    <a:pt x="0" y="0"/>
                  </a:moveTo>
                  <a:lnTo>
                    <a:pt x="600653" y="0"/>
                  </a:lnTo>
                  <a:lnTo>
                    <a:pt x="600653" y="500795"/>
                  </a:lnTo>
                  <a:lnTo>
                    <a:pt x="0" y="500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109" name="Freeform 109">
              <a:extLst>
                <a:ext uri="{FF2B5EF4-FFF2-40B4-BE49-F238E27FC236}">
                  <a16:creationId xmlns:a16="http://schemas.microsoft.com/office/drawing/2014/main" id="{0A089038-9A6A-1725-2B9C-6991EE7B0A71}"/>
                </a:ext>
              </a:extLst>
            </p:cNvPr>
            <p:cNvSpPr/>
            <p:nvPr/>
          </p:nvSpPr>
          <p:spPr>
            <a:xfrm>
              <a:off x="14293575" y="3823352"/>
              <a:ext cx="1276686" cy="823463"/>
            </a:xfrm>
            <a:custGeom>
              <a:avLst/>
              <a:gdLst/>
              <a:ahLst/>
              <a:cxnLst/>
              <a:rect l="l" t="t" r="r" b="b"/>
              <a:pathLst>
                <a:path w="1276686" h="823463">
                  <a:moveTo>
                    <a:pt x="0" y="0"/>
                  </a:moveTo>
                  <a:lnTo>
                    <a:pt x="1276686" y="0"/>
                  </a:lnTo>
                  <a:lnTo>
                    <a:pt x="1276686" y="823463"/>
                  </a:lnTo>
                  <a:lnTo>
                    <a:pt x="0" y="823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110" name="Freeform 110">
              <a:extLst>
                <a:ext uri="{FF2B5EF4-FFF2-40B4-BE49-F238E27FC236}">
                  <a16:creationId xmlns:a16="http://schemas.microsoft.com/office/drawing/2014/main" id="{3C4A58C7-F610-099A-A8A8-EEF9908ABEED}"/>
                </a:ext>
              </a:extLst>
            </p:cNvPr>
            <p:cNvSpPr/>
            <p:nvPr/>
          </p:nvSpPr>
          <p:spPr>
            <a:xfrm>
              <a:off x="16482438" y="4374569"/>
              <a:ext cx="1393702" cy="951201"/>
            </a:xfrm>
            <a:custGeom>
              <a:avLst/>
              <a:gdLst/>
              <a:ahLst/>
              <a:cxnLst/>
              <a:rect l="l" t="t" r="r" b="b"/>
              <a:pathLst>
                <a:path w="1393702" h="951201">
                  <a:moveTo>
                    <a:pt x="0" y="0"/>
                  </a:moveTo>
                  <a:lnTo>
                    <a:pt x="1393702" y="0"/>
                  </a:lnTo>
                  <a:lnTo>
                    <a:pt x="1393702" y="951201"/>
                  </a:lnTo>
                  <a:lnTo>
                    <a:pt x="0" y="951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111" name="Freeform 111">
              <a:extLst>
                <a:ext uri="{FF2B5EF4-FFF2-40B4-BE49-F238E27FC236}">
                  <a16:creationId xmlns:a16="http://schemas.microsoft.com/office/drawing/2014/main" id="{5660072E-7945-BEB9-ACE3-81CB09197359}"/>
                </a:ext>
              </a:extLst>
            </p:cNvPr>
            <p:cNvSpPr/>
            <p:nvPr/>
          </p:nvSpPr>
          <p:spPr>
            <a:xfrm>
              <a:off x="7365359" y="5094629"/>
              <a:ext cx="600653" cy="500795"/>
            </a:xfrm>
            <a:custGeom>
              <a:avLst/>
              <a:gdLst/>
              <a:ahLst/>
              <a:cxnLst/>
              <a:rect l="l" t="t" r="r" b="b"/>
              <a:pathLst>
                <a:path w="600653" h="500795">
                  <a:moveTo>
                    <a:pt x="0" y="0"/>
                  </a:moveTo>
                  <a:lnTo>
                    <a:pt x="600653" y="0"/>
                  </a:lnTo>
                  <a:lnTo>
                    <a:pt x="600653" y="500795"/>
                  </a:lnTo>
                  <a:lnTo>
                    <a:pt x="0" y="500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112" name="Freeform 112">
              <a:extLst>
                <a:ext uri="{FF2B5EF4-FFF2-40B4-BE49-F238E27FC236}">
                  <a16:creationId xmlns:a16="http://schemas.microsoft.com/office/drawing/2014/main" id="{518A7AD1-B58B-B385-2539-A654B8D6D383}"/>
                </a:ext>
              </a:extLst>
            </p:cNvPr>
            <p:cNvSpPr/>
            <p:nvPr/>
          </p:nvSpPr>
          <p:spPr>
            <a:xfrm>
              <a:off x="9699293" y="5028896"/>
              <a:ext cx="600653" cy="500795"/>
            </a:xfrm>
            <a:custGeom>
              <a:avLst/>
              <a:gdLst/>
              <a:ahLst/>
              <a:cxnLst/>
              <a:rect l="l" t="t" r="r" b="b"/>
              <a:pathLst>
                <a:path w="600653" h="500795">
                  <a:moveTo>
                    <a:pt x="0" y="0"/>
                  </a:moveTo>
                  <a:lnTo>
                    <a:pt x="600653" y="0"/>
                  </a:lnTo>
                  <a:lnTo>
                    <a:pt x="600653" y="500795"/>
                  </a:lnTo>
                  <a:lnTo>
                    <a:pt x="0" y="500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113" name="Freeform 113">
              <a:extLst>
                <a:ext uri="{FF2B5EF4-FFF2-40B4-BE49-F238E27FC236}">
                  <a16:creationId xmlns:a16="http://schemas.microsoft.com/office/drawing/2014/main" id="{E66589A3-F1C9-9D26-B0F3-CA8EC364AF7C}"/>
                </a:ext>
              </a:extLst>
            </p:cNvPr>
            <p:cNvSpPr/>
            <p:nvPr/>
          </p:nvSpPr>
          <p:spPr>
            <a:xfrm>
              <a:off x="14641001" y="5662167"/>
              <a:ext cx="600653" cy="500795"/>
            </a:xfrm>
            <a:custGeom>
              <a:avLst/>
              <a:gdLst/>
              <a:ahLst/>
              <a:cxnLst/>
              <a:rect l="l" t="t" r="r" b="b"/>
              <a:pathLst>
                <a:path w="600653" h="500795">
                  <a:moveTo>
                    <a:pt x="0" y="0"/>
                  </a:moveTo>
                  <a:lnTo>
                    <a:pt x="600653" y="0"/>
                  </a:lnTo>
                  <a:lnTo>
                    <a:pt x="600653" y="500794"/>
                  </a:lnTo>
                  <a:lnTo>
                    <a:pt x="0" y="500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114" name="Freeform 114">
              <a:extLst>
                <a:ext uri="{FF2B5EF4-FFF2-40B4-BE49-F238E27FC236}">
                  <a16:creationId xmlns:a16="http://schemas.microsoft.com/office/drawing/2014/main" id="{A12D40F7-010C-267B-FC8C-CFB2F3FEFBE4}"/>
                </a:ext>
              </a:extLst>
            </p:cNvPr>
            <p:cNvSpPr/>
            <p:nvPr/>
          </p:nvSpPr>
          <p:spPr>
            <a:xfrm>
              <a:off x="12170147" y="5300256"/>
              <a:ext cx="600653" cy="500795"/>
            </a:xfrm>
            <a:custGeom>
              <a:avLst/>
              <a:gdLst/>
              <a:ahLst/>
              <a:cxnLst/>
              <a:rect l="l" t="t" r="r" b="b"/>
              <a:pathLst>
                <a:path w="600653" h="500795">
                  <a:moveTo>
                    <a:pt x="0" y="0"/>
                  </a:moveTo>
                  <a:lnTo>
                    <a:pt x="600653" y="0"/>
                  </a:lnTo>
                  <a:lnTo>
                    <a:pt x="600653" y="500794"/>
                  </a:lnTo>
                  <a:lnTo>
                    <a:pt x="0" y="500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115" name="Freeform 115">
              <a:extLst>
                <a:ext uri="{FF2B5EF4-FFF2-40B4-BE49-F238E27FC236}">
                  <a16:creationId xmlns:a16="http://schemas.microsoft.com/office/drawing/2014/main" id="{D701CD9A-1546-40F4-6B12-448181B26CE2}"/>
                </a:ext>
              </a:extLst>
            </p:cNvPr>
            <p:cNvSpPr/>
            <p:nvPr/>
          </p:nvSpPr>
          <p:spPr>
            <a:xfrm>
              <a:off x="16941863" y="6203899"/>
              <a:ext cx="600653" cy="500795"/>
            </a:xfrm>
            <a:custGeom>
              <a:avLst/>
              <a:gdLst/>
              <a:ahLst/>
              <a:cxnLst/>
              <a:rect l="l" t="t" r="r" b="b"/>
              <a:pathLst>
                <a:path w="600653" h="500795">
                  <a:moveTo>
                    <a:pt x="0" y="0"/>
                  </a:moveTo>
                  <a:lnTo>
                    <a:pt x="600653" y="0"/>
                  </a:lnTo>
                  <a:lnTo>
                    <a:pt x="600653" y="500795"/>
                  </a:lnTo>
                  <a:lnTo>
                    <a:pt x="0" y="500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116" name="Freeform 116">
              <a:extLst>
                <a:ext uri="{FF2B5EF4-FFF2-40B4-BE49-F238E27FC236}">
                  <a16:creationId xmlns:a16="http://schemas.microsoft.com/office/drawing/2014/main" id="{DDA34525-A387-165E-C8F1-8B36B2AA36B7}"/>
                </a:ext>
              </a:extLst>
            </p:cNvPr>
            <p:cNvSpPr/>
            <p:nvPr/>
          </p:nvSpPr>
          <p:spPr>
            <a:xfrm>
              <a:off x="9313511" y="3429521"/>
              <a:ext cx="1276686" cy="823463"/>
            </a:xfrm>
            <a:custGeom>
              <a:avLst/>
              <a:gdLst/>
              <a:ahLst/>
              <a:cxnLst/>
              <a:rect l="l" t="t" r="r" b="b"/>
              <a:pathLst>
                <a:path w="1276686" h="823463">
                  <a:moveTo>
                    <a:pt x="0" y="0"/>
                  </a:moveTo>
                  <a:lnTo>
                    <a:pt x="1276686" y="0"/>
                  </a:lnTo>
                  <a:lnTo>
                    <a:pt x="1276686" y="823462"/>
                  </a:lnTo>
                  <a:lnTo>
                    <a:pt x="0" y="823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117" name="Freeform 117">
              <a:extLst>
                <a:ext uri="{FF2B5EF4-FFF2-40B4-BE49-F238E27FC236}">
                  <a16:creationId xmlns:a16="http://schemas.microsoft.com/office/drawing/2014/main" id="{943AE69C-16E4-0066-9348-A556A4EDF884}"/>
                </a:ext>
              </a:extLst>
            </p:cNvPr>
            <p:cNvSpPr/>
            <p:nvPr/>
          </p:nvSpPr>
          <p:spPr>
            <a:xfrm>
              <a:off x="4662176" y="3551106"/>
              <a:ext cx="1276686" cy="823463"/>
            </a:xfrm>
            <a:custGeom>
              <a:avLst/>
              <a:gdLst/>
              <a:ahLst/>
              <a:cxnLst/>
              <a:rect l="l" t="t" r="r" b="b"/>
              <a:pathLst>
                <a:path w="1276686" h="823463">
                  <a:moveTo>
                    <a:pt x="0" y="0"/>
                  </a:moveTo>
                  <a:lnTo>
                    <a:pt x="1276686" y="0"/>
                  </a:lnTo>
                  <a:lnTo>
                    <a:pt x="1276686" y="823463"/>
                  </a:lnTo>
                  <a:lnTo>
                    <a:pt x="0" y="823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</p:grpSp>
    </p:spTree>
    <p:extLst>
      <p:ext uri="{BB962C8B-B14F-4D97-AF65-F5344CB8AC3E}">
        <p14:creationId xmlns:p14="http://schemas.microsoft.com/office/powerpoint/2010/main" val="801983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Các danh hiệu dài hạn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Niên hạn — theo số năm phục vụ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HCCSVV: hạng Ba/Nhì/Nhất theo mốc 10 / 15 / 20 năm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HCQKQT (25 năm) và KNC VSNXD QĐNDVN (nam 25 / nữ 20 năm): một lần duy nhất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Cống hiến — Huân chương Bảo vệ Tổ quốc (HCBVTQ)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Tích luỹ 120 tháng (nam) hoặc 80 tháng (nữ) giữ chức vụ theo từng nhóm hệ số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Nhóm hệ số 0.7 → hạng Ba; 0.8 → hạng Nhì; 0.9–1.0 → hạng Nhất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C476B-6264-0AC2-6010-EB1769CB8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3523-5591-44A8-1B0A-84295BA0C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>
                <a:solidFill>
                  <a:srgbClr val="FFFFFF"/>
                </a:solidFill>
              </a:rPr>
              <a:t>Các danh hiệu dài hạn</a:t>
            </a:r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7D88C6C5-3292-1233-5571-FC0C89495DCA}"/>
              </a:ext>
            </a:extLst>
          </p:cNvPr>
          <p:cNvSpPr/>
          <p:nvPr/>
        </p:nvSpPr>
        <p:spPr>
          <a:xfrm>
            <a:off x="2328950" y="3765005"/>
            <a:ext cx="3115868" cy="1203383"/>
          </a:xfrm>
          <a:custGeom>
            <a:avLst/>
            <a:gdLst/>
            <a:ahLst/>
            <a:cxnLst/>
            <a:rect l="l" t="t" r="r" b="b"/>
            <a:pathLst>
              <a:path w="6455264" h="2412299">
                <a:moveTo>
                  <a:pt x="0" y="2293346"/>
                </a:moveTo>
                <a:quadBezTo>
                  <a:pt x="3867577" y="2947976"/>
                  <a:pt x="6455265" y="0"/>
                </a:quadBezTo>
              </a:path>
            </a:pathLst>
          </a:custGeom>
          <a:ln w="200025" cap="flat">
            <a:solidFill>
              <a:srgbClr val="65A6F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VN" sz="140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23AD3962-9F14-F161-C6E9-414001C1DD1C}"/>
              </a:ext>
            </a:extLst>
          </p:cNvPr>
          <p:cNvSpPr/>
          <p:nvPr/>
        </p:nvSpPr>
        <p:spPr>
          <a:xfrm>
            <a:off x="8249026" y="1684117"/>
            <a:ext cx="1709941" cy="975598"/>
          </a:xfrm>
          <a:custGeom>
            <a:avLst/>
            <a:gdLst/>
            <a:ahLst/>
            <a:cxnLst/>
            <a:rect l="l" t="t" r="r" b="b"/>
            <a:pathLst>
              <a:path w="3542550" h="1955682">
                <a:moveTo>
                  <a:pt x="0" y="1905307"/>
                </a:moveTo>
                <a:quadBezTo>
                  <a:pt x="2640320" y="2269557"/>
                  <a:pt x="3542550" y="0"/>
                </a:quadBezTo>
              </a:path>
            </a:pathLst>
          </a:custGeom>
          <a:ln w="200025" cap="flat">
            <a:gradFill>
              <a:gsLst>
                <a:gs pos="0">
                  <a:srgbClr val="6AD572">
                    <a:alpha val="100000"/>
                  </a:srgbClr>
                </a:gs>
                <a:gs pos="50000">
                  <a:srgbClr val="6AD572">
                    <a:alpha val="0"/>
                  </a:srgbClr>
                </a:gs>
                <a:gs pos="100000">
                  <a:srgbClr val="6AD572">
                    <a:alpha val="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VN" sz="1400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AC18BE71-17DC-1A84-0F50-1227D152DD83}"/>
              </a:ext>
            </a:extLst>
          </p:cNvPr>
          <p:cNvSpPr/>
          <p:nvPr/>
        </p:nvSpPr>
        <p:spPr>
          <a:xfrm>
            <a:off x="-1169809" y="4794032"/>
            <a:ext cx="3503504" cy="768724"/>
          </a:xfrm>
          <a:custGeom>
            <a:avLst/>
            <a:gdLst/>
            <a:ahLst/>
            <a:cxnLst/>
            <a:rect l="l" t="t" r="r" b="b"/>
            <a:pathLst>
              <a:path w="7258344" h="1540983">
                <a:moveTo>
                  <a:pt x="7258344" y="230679"/>
                </a:moveTo>
                <a:quadBezTo>
                  <a:pt x="2830989" y="-596214"/>
                  <a:pt x="0" y="1540983"/>
                </a:quadBezTo>
              </a:path>
            </a:pathLst>
          </a:custGeom>
          <a:ln w="200025" cap="flat">
            <a:gradFill>
              <a:gsLst>
                <a:gs pos="0">
                  <a:srgbClr val="65A6FE">
                    <a:alpha val="100000"/>
                  </a:srgbClr>
                </a:gs>
                <a:gs pos="50000">
                  <a:srgbClr val="65A6FE">
                    <a:alpha val="0"/>
                  </a:srgbClr>
                </a:gs>
                <a:gs pos="100000">
                  <a:srgbClr val="65A6FE">
                    <a:alpha val="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VN" sz="140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3FFB40CB-A88E-E1CA-CE0C-6A03C6E150CC}"/>
              </a:ext>
            </a:extLst>
          </p:cNvPr>
          <p:cNvSpPr/>
          <p:nvPr/>
        </p:nvSpPr>
        <p:spPr>
          <a:xfrm>
            <a:off x="5412856" y="2578326"/>
            <a:ext cx="2840913" cy="1228880"/>
          </a:xfrm>
          <a:custGeom>
            <a:avLst/>
            <a:gdLst/>
            <a:ahLst/>
            <a:cxnLst/>
            <a:rect l="l" t="t" r="r" b="b"/>
            <a:pathLst>
              <a:path w="5885628" h="2463410">
                <a:moveTo>
                  <a:pt x="5885629" y="111506"/>
                </a:moveTo>
                <a:quadBezTo>
                  <a:pt x="2218912" y="-524105"/>
                  <a:pt x="0" y="2463409"/>
                </a:quadBezTo>
              </a:path>
            </a:pathLst>
          </a:custGeom>
          <a:ln w="200025" cap="flat">
            <a:gradFill>
              <a:gsLst>
                <a:gs pos="0">
                  <a:srgbClr val="6AD572">
                    <a:alpha val="100000"/>
                  </a:srgbClr>
                </a:gs>
                <a:gs pos="50000">
                  <a:srgbClr val="6AD572">
                    <a:alpha val="100000"/>
                  </a:srgbClr>
                </a:gs>
                <a:gs pos="100000">
                  <a:srgbClr val="65A6FE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VN" sz="1400"/>
          </a:p>
        </p:txBody>
      </p:sp>
      <p:grpSp>
        <p:nvGrpSpPr>
          <p:cNvPr id="10" name="Group 6">
            <a:extLst>
              <a:ext uri="{FF2B5EF4-FFF2-40B4-BE49-F238E27FC236}">
                <a16:creationId xmlns:a16="http://schemas.microsoft.com/office/drawing/2014/main" id="{AD05A6F9-C6DA-C2AD-5E7D-2429800F45B1}"/>
              </a:ext>
            </a:extLst>
          </p:cNvPr>
          <p:cNvGrpSpPr/>
          <p:nvPr/>
        </p:nvGrpSpPr>
        <p:grpSpPr>
          <a:xfrm>
            <a:off x="3328682" y="4539562"/>
            <a:ext cx="514127" cy="545348"/>
            <a:chOff x="0" y="0"/>
            <a:chExt cx="1420183" cy="1457603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5CB182A6-CB40-D381-D6B2-EB2A705E0CB7}"/>
                </a:ext>
              </a:extLst>
            </p:cNvPr>
            <p:cNvSpPr/>
            <p:nvPr/>
          </p:nvSpPr>
          <p:spPr>
            <a:xfrm>
              <a:off x="0" y="101571"/>
              <a:ext cx="1420183" cy="1356032"/>
            </a:xfrm>
            <a:custGeom>
              <a:avLst/>
              <a:gdLst/>
              <a:ahLst/>
              <a:cxnLst/>
              <a:rect l="l" t="t" r="r" b="b"/>
              <a:pathLst>
                <a:path w="1420183" h="1356032">
                  <a:moveTo>
                    <a:pt x="0" y="0"/>
                  </a:moveTo>
                  <a:lnTo>
                    <a:pt x="1420183" y="0"/>
                  </a:lnTo>
                  <a:lnTo>
                    <a:pt x="1420183" y="1356032"/>
                  </a:lnTo>
                  <a:lnTo>
                    <a:pt x="0" y="13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325" t="-2060" r="-2325" b="-2060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68238386-C4CB-B19D-5031-BA3BD4D96478}"/>
                </a:ext>
              </a:extLst>
            </p:cNvPr>
            <p:cNvSpPr/>
            <p:nvPr/>
          </p:nvSpPr>
          <p:spPr>
            <a:xfrm>
              <a:off x="70746" y="81645"/>
              <a:ext cx="1278690" cy="1214756"/>
            </a:xfrm>
            <a:custGeom>
              <a:avLst/>
              <a:gdLst/>
              <a:ahLst/>
              <a:cxnLst/>
              <a:rect l="l" t="t" r="r" b="b"/>
              <a:pathLst>
                <a:path w="1278690" h="1214756">
                  <a:moveTo>
                    <a:pt x="0" y="0"/>
                  </a:moveTo>
                  <a:lnTo>
                    <a:pt x="1278691" y="0"/>
                  </a:lnTo>
                  <a:lnTo>
                    <a:pt x="1278691" y="1214756"/>
                  </a:lnTo>
                  <a:lnTo>
                    <a:pt x="0" y="1214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F5E28477-CD6C-5457-36B7-03364882CCBC}"/>
                </a:ext>
              </a:extLst>
            </p:cNvPr>
            <p:cNvSpPr/>
            <p:nvPr/>
          </p:nvSpPr>
          <p:spPr>
            <a:xfrm>
              <a:off x="70746" y="0"/>
              <a:ext cx="1278690" cy="1214756"/>
            </a:xfrm>
            <a:custGeom>
              <a:avLst/>
              <a:gdLst/>
              <a:ahLst/>
              <a:cxnLst/>
              <a:rect l="l" t="t" r="r" b="b"/>
              <a:pathLst>
                <a:path w="1278690" h="1214756">
                  <a:moveTo>
                    <a:pt x="0" y="0"/>
                  </a:moveTo>
                  <a:lnTo>
                    <a:pt x="1278691" y="0"/>
                  </a:lnTo>
                  <a:lnTo>
                    <a:pt x="1278691" y="1214756"/>
                  </a:lnTo>
                  <a:lnTo>
                    <a:pt x="0" y="1214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</p:grpSp>
      <p:grpSp>
        <p:nvGrpSpPr>
          <p:cNvPr id="14" name="Group 10">
            <a:extLst>
              <a:ext uri="{FF2B5EF4-FFF2-40B4-BE49-F238E27FC236}">
                <a16:creationId xmlns:a16="http://schemas.microsoft.com/office/drawing/2014/main" id="{CC631F90-EA13-1459-65A3-AD8DCDBAF3F8}"/>
              </a:ext>
            </a:extLst>
          </p:cNvPr>
          <p:cNvGrpSpPr/>
          <p:nvPr/>
        </p:nvGrpSpPr>
        <p:grpSpPr>
          <a:xfrm>
            <a:off x="5484633" y="3058682"/>
            <a:ext cx="514127" cy="545348"/>
            <a:chOff x="0" y="0"/>
            <a:chExt cx="1420183" cy="1457603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66AEA8B5-6033-4126-33DD-D13EB46E3C94}"/>
                </a:ext>
              </a:extLst>
            </p:cNvPr>
            <p:cNvSpPr/>
            <p:nvPr/>
          </p:nvSpPr>
          <p:spPr>
            <a:xfrm>
              <a:off x="0" y="101571"/>
              <a:ext cx="1420183" cy="1356032"/>
            </a:xfrm>
            <a:custGeom>
              <a:avLst/>
              <a:gdLst/>
              <a:ahLst/>
              <a:cxnLst/>
              <a:rect l="l" t="t" r="r" b="b"/>
              <a:pathLst>
                <a:path w="1420183" h="1356032">
                  <a:moveTo>
                    <a:pt x="0" y="0"/>
                  </a:moveTo>
                  <a:lnTo>
                    <a:pt x="1420183" y="0"/>
                  </a:lnTo>
                  <a:lnTo>
                    <a:pt x="1420183" y="1356032"/>
                  </a:lnTo>
                  <a:lnTo>
                    <a:pt x="0" y="13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325" t="-2060" r="-2325" b="-2060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8D5821BC-0910-67D1-6FFD-C3DFDCF95FC2}"/>
                </a:ext>
              </a:extLst>
            </p:cNvPr>
            <p:cNvSpPr/>
            <p:nvPr/>
          </p:nvSpPr>
          <p:spPr>
            <a:xfrm>
              <a:off x="70746" y="81645"/>
              <a:ext cx="1278690" cy="1214756"/>
            </a:xfrm>
            <a:custGeom>
              <a:avLst/>
              <a:gdLst/>
              <a:ahLst/>
              <a:cxnLst/>
              <a:rect l="l" t="t" r="r" b="b"/>
              <a:pathLst>
                <a:path w="1278690" h="1214756">
                  <a:moveTo>
                    <a:pt x="0" y="0"/>
                  </a:moveTo>
                  <a:lnTo>
                    <a:pt x="1278691" y="0"/>
                  </a:lnTo>
                  <a:lnTo>
                    <a:pt x="1278691" y="1214756"/>
                  </a:lnTo>
                  <a:lnTo>
                    <a:pt x="0" y="1214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3A712B96-AC04-4737-DB5D-07306282DF47}"/>
                </a:ext>
              </a:extLst>
            </p:cNvPr>
            <p:cNvSpPr/>
            <p:nvPr/>
          </p:nvSpPr>
          <p:spPr>
            <a:xfrm>
              <a:off x="70746" y="0"/>
              <a:ext cx="1278690" cy="1214756"/>
            </a:xfrm>
            <a:custGeom>
              <a:avLst/>
              <a:gdLst/>
              <a:ahLst/>
              <a:cxnLst/>
              <a:rect l="l" t="t" r="r" b="b"/>
              <a:pathLst>
                <a:path w="1278690" h="1214756">
                  <a:moveTo>
                    <a:pt x="0" y="0"/>
                  </a:moveTo>
                  <a:lnTo>
                    <a:pt x="1278691" y="0"/>
                  </a:lnTo>
                  <a:lnTo>
                    <a:pt x="1278691" y="1214756"/>
                  </a:lnTo>
                  <a:lnTo>
                    <a:pt x="0" y="1214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</p:grpSp>
      <p:grpSp>
        <p:nvGrpSpPr>
          <p:cNvPr id="18" name="Group 14">
            <a:extLst>
              <a:ext uri="{FF2B5EF4-FFF2-40B4-BE49-F238E27FC236}">
                <a16:creationId xmlns:a16="http://schemas.microsoft.com/office/drawing/2014/main" id="{1AD8E843-88F1-DDB4-A680-7D759F8B078A}"/>
              </a:ext>
            </a:extLst>
          </p:cNvPr>
          <p:cNvGrpSpPr/>
          <p:nvPr/>
        </p:nvGrpSpPr>
        <p:grpSpPr>
          <a:xfrm>
            <a:off x="1655160" y="4568071"/>
            <a:ext cx="514127" cy="545348"/>
            <a:chOff x="0" y="0"/>
            <a:chExt cx="1420183" cy="1457603"/>
          </a:xfrm>
        </p:grpSpPr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95D507E9-AA2C-B0D1-8BB2-9930DE7DA0E7}"/>
                </a:ext>
              </a:extLst>
            </p:cNvPr>
            <p:cNvSpPr/>
            <p:nvPr/>
          </p:nvSpPr>
          <p:spPr>
            <a:xfrm>
              <a:off x="0" y="101571"/>
              <a:ext cx="1420183" cy="1356032"/>
            </a:xfrm>
            <a:custGeom>
              <a:avLst/>
              <a:gdLst/>
              <a:ahLst/>
              <a:cxnLst/>
              <a:rect l="l" t="t" r="r" b="b"/>
              <a:pathLst>
                <a:path w="1420183" h="1356032">
                  <a:moveTo>
                    <a:pt x="0" y="0"/>
                  </a:moveTo>
                  <a:lnTo>
                    <a:pt x="1420183" y="0"/>
                  </a:lnTo>
                  <a:lnTo>
                    <a:pt x="1420183" y="1356032"/>
                  </a:lnTo>
                  <a:lnTo>
                    <a:pt x="0" y="13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325" t="-2060" r="-2325" b="-2060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9AE31467-67F5-E912-E3B2-8DE2F26A9BCB}"/>
                </a:ext>
              </a:extLst>
            </p:cNvPr>
            <p:cNvSpPr/>
            <p:nvPr/>
          </p:nvSpPr>
          <p:spPr>
            <a:xfrm>
              <a:off x="70746" y="81645"/>
              <a:ext cx="1278690" cy="1214756"/>
            </a:xfrm>
            <a:custGeom>
              <a:avLst/>
              <a:gdLst/>
              <a:ahLst/>
              <a:cxnLst/>
              <a:rect l="l" t="t" r="r" b="b"/>
              <a:pathLst>
                <a:path w="1278690" h="1214756">
                  <a:moveTo>
                    <a:pt x="0" y="0"/>
                  </a:moveTo>
                  <a:lnTo>
                    <a:pt x="1278691" y="0"/>
                  </a:lnTo>
                  <a:lnTo>
                    <a:pt x="1278691" y="1214756"/>
                  </a:lnTo>
                  <a:lnTo>
                    <a:pt x="0" y="1214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40BB41F3-49C4-F268-1D3F-9CEE93727FEC}"/>
                </a:ext>
              </a:extLst>
            </p:cNvPr>
            <p:cNvSpPr/>
            <p:nvPr/>
          </p:nvSpPr>
          <p:spPr>
            <a:xfrm>
              <a:off x="70746" y="0"/>
              <a:ext cx="1278690" cy="1214756"/>
            </a:xfrm>
            <a:custGeom>
              <a:avLst/>
              <a:gdLst/>
              <a:ahLst/>
              <a:cxnLst/>
              <a:rect l="l" t="t" r="r" b="b"/>
              <a:pathLst>
                <a:path w="1278690" h="1214756">
                  <a:moveTo>
                    <a:pt x="0" y="0"/>
                  </a:moveTo>
                  <a:lnTo>
                    <a:pt x="1278691" y="0"/>
                  </a:lnTo>
                  <a:lnTo>
                    <a:pt x="1278691" y="1214756"/>
                  </a:lnTo>
                  <a:lnTo>
                    <a:pt x="0" y="1214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</p:grpSp>
      <p:sp>
        <p:nvSpPr>
          <p:cNvPr id="22" name="Freeform 18">
            <a:extLst>
              <a:ext uri="{FF2B5EF4-FFF2-40B4-BE49-F238E27FC236}">
                <a16:creationId xmlns:a16="http://schemas.microsoft.com/office/drawing/2014/main" id="{E3A14622-8D9D-1F1D-BC5B-B2EE8A5A3C01}"/>
              </a:ext>
            </a:extLst>
          </p:cNvPr>
          <p:cNvSpPr/>
          <p:nvPr/>
        </p:nvSpPr>
        <p:spPr>
          <a:xfrm>
            <a:off x="4288305" y="2576213"/>
            <a:ext cx="470682" cy="964940"/>
          </a:xfrm>
          <a:custGeom>
            <a:avLst/>
            <a:gdLst/>
            <a:ahLst/>
            <a:cxnLst/>
            <a:rect l="l" t="t" r="r" b="b"/>
            <a:pathLst>
              <a:path w="975129" h="1934316">
                <a:moveTo>
                  <a:pt x="0" y="0"/>
                </a:moveTo>
                <a:lnTo>
                  <a:pt x="975129" y="0"/>
                </a:lnTo>
                <a:lnTo>
                  <a:pt x="975129" y="1934315"/>
                </a:lnTo>
                <a:lnTo>
                  <a:pt x="0" y="19343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VN" sz="1400"/>
          </a:p>
        </p:txBody>
      </p:sp>
      <p:sp>
        <p:nvSpPr>
          <p:cNvPr id="23" name="Freeform 19">
            <a:extLst>
              <a:ext uri="{FF2B5EF4-FFF2-40B4-BE49-F238E27FC236}">
                <a16:creationId xmlns:a16="http://schemas.microsoft.com/office/drawing/2014/main" id="{67184738-6EFE-374C-08F2-2DF7D4116839}"/>
              </a:ext>
            </a:extLst>
          </p:cNvPr>
          <p:cNvSpPr/>
          <p:nvPr/>
        </p:nvSpPr>
        <p:spPr>
          <a:xfrm>
            <a:off x="3372127" y="5562756"/>
            <a:ext cx="470682" cy="964940"/>
          </a:xfrm>
          <a:custGeom>
            <a:avLst/>
            <a:gdLst/>
            <a:ahLst/>
            <a:cxnLst/>
            <a:rect l="l" t="t" r="r" b="b"/>
            <a:pathLst>
              <a:path w="975129" h="1934316">
                <a:moveTo>
                  <a:pt x="0" y="0"/>
                </a:moveTo>
                <a:lnTo>
                  <a:pt x="975129" y="0"/>
                </a:lnTo>
                <a:lnTo>
                  <a:pt x="975129" y="1934316"/>
                </a:lnTo>
                <a:lnTo>
                  <a:pt x="0" y="19343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VN" sz="1400"/>
          </a:p>
        </p:txBody>
      </p:sp>
      <p:sp>
        <p:nvSpPr>
          <p:cNvPr id="24" name="Freeform 20">
            <a:extLst>
              <a:ext uri="{FF2B5EF4-FFF2-40B4-BE49-F238E27FC236}">
                <a16:creationId xmlns:a16="http://schemas.microsoft.com/office/drawing/2014/main" id="{4E893F6C-D71E-2033-515C-10DBC56CF492}"/>
              </a:ext>
            </a:extLst>
          </p:cNvPr>
          <p:cNvSpPr/>
          <p:nvPr/>
        </p:nvSpPr>
        <p:spPr>
          <a:xfrm>
            <a:off x="1592835" y="3323128"/>
            <a:ext cx="477716" cy="979361"/>
          </a:xfrm>
          <a:custGeom>
            <a:avLst/>
            <a:gdLst/>
            <a:ahLst/>
            <a:cxnLst/>
            <a:rect l="l" t="t" r="r" b="b"/>
            <a:pathLst>
              <a:path w="989703" h="1963225">
                <a:moveTo>
                  <a:pt x="0" y="0"/>
                </a:moveTo>
                <a:lnTo>
                  <a:pt x="989703" y="0"/>
                </a:lnTo>
                <a:lnTo>
                  <a:pt x="989703" y="1963225"/>
                </a:lnTo>
                <a:lnTo>
                  <a:pt x="0" y="19632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VN" sz="1400"/>
          </a:p>
        </p:txBody>
      </p:sp>
      <p:grpSp>
        <p:nvGrpSpPr>
          <p:cNvPr id="25" name="Group 21">
            <a:extLst>
              <a:ext uri="{FF2B5EF4-FFF2-40B4-BE49-F238E27FC236}">
                <a16:creationId xmlns:a16="http://schemas.microsoft.com/office/drawing/2014/main" id="{18E32129-C772-7D27-40FB-5C9E849BBB64}"/>
              </a:ext>
            </a:extLst>
          </p:cNvPr>
          <p:cNvGrpSpPr/>
          <p:nvPr/>
        </p:nvGrpSpPr>
        <p:grpSpPr>
          <a:xfrm>
            <a:off x="7934313" y="2381471"/>
            <a:ext cx="514127" cy="545348"/>
            <a:chOff x="0" y="0"/>
            <a:chExt cx="1420183" cy="1457603"/>
          </a:xfrm>
        </p:grpSpPr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743A6ACB-1655-A593-71FE-ACF6C6D7A301}"/>
                </a:ext>
              </a:extLst>
            </p:cNvPr>
            <p:cNvSpPr/>
            <p:nvPr/>
          </p:nvSpPr>
          <p:spPr>
            <a:xfrm>
              <a:off x="0" y="101571"/>
              <a:ext cx="1420183" cy="1356032"/>
            </a:xfrm>
            <a:custGeom>
              <a:avLst/>
              <a:gdLst/>
              <a:ahLst/>
              <a:cxnLst/>
              <a:rect l="l" t="t" r="r" b="b"/>
              <a:pathLst>
                <a:path w="1420183" h="1356032">
                  <a:moveTo>
                    <a:pt x="0" y="0"/>
                  </a:moveTo>
                  <a:lnTo>
                    <a:pt x="1420183" y="0"/>
                  </a:lnTo>
                  <a:lnTo>
                    <a:pt x="1420183" y="1356032"/>
                  </a:lnTo>
                  <a:lnTo>
                    <a:pt x="0" y="1356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</a:blip>
              <a:stretch>
                <a:fillRect l="-2325" t="-2060" r="-2325" b="-2060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C760EB16-3264-D9C1-773F-1B3EA0F575CC}"/>
                </a:ext>
              </a:extLst>
            </p:cNvPr>
            <p:cNvSpPr/>
            <p:nvPr/>
          </p:nvSpPr>
          <p:spPr>
            <a:xfrm>
              <a:off x="70746" y="81645"/>
              <a:ext cx="1278690" cy="1214756"/>
            </a:xfrm>
            <a:custGeom>
              <a:avLst/>
              <a:gdLst/>
              <a:ahLst/>
              <a:cxnLst/>
              <a:rect l="l" t="t" r="r" b="b"/>
              <a:pathLst>
                <a:path w="1278690" h="1214756">
                  <a:moveTo>
                    <a:pt x="0" y="0"/>
                  </a:moveTo>
                  <a:lnTo>
                    <a:pt x="1278691" y="0"/>
                  </a:lnTo>
                  <a:lnTo>
                    <a:pt x="1278691" y="1214756"/>
                  </a:lnTo>
                  <a:lnTo>
                    <a:pt x="0" y="1214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7F9EC360-4067-3B65-184C-F2254A94A4BC}"/>
                </a:ext>
              </a:extLst>
            </p:cNvPr>
            <p:cNvSpPr/>
            <p:nvPr/>
          </p:nvSpPr>
          <p:spPr>
            <a:xfrm>
              <a:off x="70746" y="0"/>
              <a:ext cx="1278690" cy="1214756"/>
            </a:xfrm>
            <a:custGeom>
              <a:avLst/>
              <a:gdLst/>
              <a:ahLst/>
              <a:cxnLst/>
              <a:rect l="l" t="t" r="r" b="b"/>
              <a:pathLst>
                <a:path w="1278690" h="1214756">
                  <a:moveTo>
                    <a:pt x="0" y="0"/>
                  </a:moveTo>
                  <a:lnTo>
                    <a:pt x="1278691" y="0"/>
                  </a:lnTo>
                  <a:lnTo>
                    <a:pt x="1278691" y="1214756"/>
                  </a:lnTo>
                  <a:lnTo>
                    <a:pt x="0" y="1214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 sz="1400"/>
            </a:p>
          </p:txBody>
        </p:sp>
      </p:grpSp>
      <p:sp>
        <p:nvSpPr>
          <p:cNvPr id="29" name="Freeform 25">
            <a:extLst>
              <a:ext uri="{FF2B5EF4-FFF2-40B4-BE49-F238E27FC236}">
                <a16:creationId xmlns:a16="http://schemas.microsoft.com/office/drawing/2014/main" id="{273D7748-DFAE-8FAB-0FB8-EAA5FB07C215}"/>
              </a:ext>
            </a:extLst>
          </p:cNvPr>
          <p:cNvSpPr/>
          <p:nvPr/>
        </p:nvSpPr>
        <p:spPr>
          <a:xfrm>
            <a:off x="6435859" y="1407198"/>
            <a:ext cx="777914" cy="1034850"/>
          </a:xfrm>
          <a:custGeom>
            <a:avLst/>
            <a:gdLst/>
            <a:ahLst/>
            <a:cxnLst/>
            <a:rect l="l" t="t" r="r" b="b"/>
            <a:pathLst>
              <a:path w="1611634" h="2074458">
                <a:moveTo>
                  <a:pt x="0" y="0"/>
                </a:moveTo>
                <a:lnTo>
                  <a:pt x="1611634" y="0"/>
                </a:lnTo>
                <a:lnTo>
                  <a:pt x="1611634" y="2074458"/>
                </a:lnTo>
                <a:lnTo>
                  <a:pt x="0" y="20744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614"/>
            </a:stretch>
          </a:blipFill>
        </p:spPr>
        <p:txBody>
          <a:bodyPr/>
          <a:lstStyle/>
          <a:p>
            <a:endParaRPr lang="en-VN" sz="1400"/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23491747-ADBE-EB43-4DE2-DC524B3DE53B}"/>
              </a:ext>
            </a:extLst>
          </p:cNvPr>
          <p:cNvSpPr txBox="1"/>
          <p:nvPr/>
        </p:nvSpPr>
        <p:spPr>
          <a:xfrm>
            <a:off x="1256924" y="4352470"/>
            <a:ext cx="1949377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>
                <a:solidFill>
                  <a:srgbClr val="041F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HCCSVV Hạng ba</a:t>
            </a:r>
          </a:p>
        </p:txBody>
      </p:sp>
      <p:sp>
        <p:nvSpPr>
          <p:cNvPr id="31" name="TextBox 27">
            <a:extLst>
              <a:ext uri="{FF2B5EF4-FFF2-40B4-BE49-F238E27FC236}">
                <a16:creationId xmlns:a16="http://schemas.microsoft.com/office/drawing/2014/main" id="{5EA17EB5-53EE-F4B4-0A69-19B26564EF7F}"/>
              </a:ext>
            </a:extLst>
          </p:cNvPr>
          <p:cNvSpPr txBox="1"/>
          <p:nvPr/>
        </p:nvSpPr>
        <p:spPr>
          <a:xfrm>
            <a:off x="2905704" y="5143551"/>
            <a:ext cx="1949377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>
                <a:solidFill>
                  <a:srgbClr val="041F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HCCSVV Hạng nhì</a:t>
            </a:r>
          </a:p>
        </p:txBody>
      </p:sp>
      <p:sp>
        <p:nvSpPr>
          <p:cNvPr id="32" name="TextBox 28">
            <a:extLst>
              <a:ext uri="{FF2B5EF4-FFF2-40B4-BE49-F238E27FC236}">
                <a16:creationId xmlns:a16="http://schemas.microsoft.com/office/drawing/2014/main" id="{9C76C5D9-8B8C-8BE5-769A-560EB21B5431}"/>
              </a:ext>
            </a:extLst>
          </p:cNvPr>
          <p:cNvSpPr txBox="1"/>
          <p:nvPr/>
        </p:nvSpPr>
        <p:spPr>
          <a:xfrm>
            <a:off x="4823353" y="2737763"/>
            <a:ext cx="1949377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>
                <a:solidFill>
                  <a:srgbClr val="041F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HCCSVV Hạng nhất</a:t>
            </a:r>
          </a:p>
        </p:txBody>
      </p:sp>
      <p:sp>
        <p:nvSpPr>
          <p:cNvPr id="33" name="TextBox 29">
            <a:extLst>
              <a:ext uri="{FF2B5EF4-FFF2-40B4-BE49-F238E27FC236}">
                <a16:creationId xmlns:a16="http://schemas.microsoft.com/office/drawing/2014/main" id="{6B983EB2-1BE2-FFFC-10EF-0CEDBF48F4A8}"/>
              </a:ext>
            </a:extLst>
          </p:cNvPr>
          <p:cNvSpPr txBox="1"/>
          <p:nvPr/>
        </p:nvSpPr>
        <p:spPr>
          <a:xfrm>
            <a:off x="8977594" y="5755435"/>
            <a:ext cx="104196" cy="24622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id="34" name="TextBox 30">
            <a:extLst>
              <a:ext uri="{FF2B5EF4-FFF2-40B4-BE49-F238E27FC236}">
                <a16:creationId xmlns:a16="http://schemas.microsoft.com/office/drawing/2014/main" id="{AD816F39-35FE-13BA-2BD8-EB08103BDAE6}"/>
              </a:ext>
            </a:extLst>
          </p:cNvPr>
          <p:cNvSpPr txBox="1"/>
          <p:nvPr/>
        </p:nvSpPr>
        <p:spPr>
          <a:xfrm>
            <a:off x="1592835" y="4632217"/>
            <a:ext cx="638778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10</a:t>
            </a:r>
          </a:p>
          <a:p>
            <a:pPr algn="ctr"/>
            <a:r>
              <a:rPr lang="en-US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năm</a:t>
            </a:r>
          </a:p>
        </p:txBody>
      </p:sp>
      <p:sp>
        <p:nvSpPr>
          <p:cNvPr id="35" name="TextBox 31">
            <a:extLst>
              <a:ext uri="{FF2B5EF4-FFF2-40B4-BE49-F238E27FC236}">
                <a16:creationId xmlns:a16="http://schemas.microsoft.com/office/drawing/2014/main" id="{A4E76C8A-A46A-5BAD-0492-46C132ED740F}"/>
              </a:ext>
            </a:extLst>
          </p:cNvPr>
          <p:cNvSpPr txBox="1"/>
          <p:nvPr/>
        </p:nvSpPr>
        <p:spPr>
          <a:xfrm>
            <a:off x="3266357" y="4632217"/>
            <a:ext cx="638778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15</a:t>
            </a:r>
          </a:p>
          <a:p>
            <a:pPr algn="ctr"/>
            <a:r>
              <a:rPr lang="en-US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năm</a:t>
            </a:r>
          </a:p>
        </p:txBody>
      </p:sp>
      <p:sp>
        <p:nvSpPr>
          <p:cNvPr id="36" name="TextBox 32">
            <a:extLst>
              <a:ext uri="{FF2B5EF4-FFF2-40B4-BE49-F238E27FC236}">
                <a16:creationId xmlns:a16="http://schemas.microsoft.com/office/drawing/2014/main" id="{8B7F9E09-D106-8701-5465-33CAD131730E}"/>
              </a:ext>
            </a:extLst>
          </p:cNvPr>
          <p:cNvSpPr txBox="1"/>
          <p:nvPr/>
        </p:nvSpPr>
        <p:spPr>
          <a:xfrm>
            <a:off x="5422308" y="3136537"/>
            <a:ext cx="638778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20</a:t>
            </a:r>
          </a:p>
          <a:p>
            <a:pPr algn="ctr"/>
            <a:r>
              <a:rPr lang="en-US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năm</a:t>
            </a:r>
          </a:p>
        </p:txBody>
      </p:sp>
      <p:sp>
        <p:nvSpPr>
          <p:cNvPr id="37" name="TextBox 33">
            <a:extLst>
              <a:ext uri="{FF2B5EF4-FFF2-40B4-BE49-F238E27FC236}">
                <a16:creationId xmlns:a16="http://schemas.microsoft.com/office/drawing/2014/main" id="{176AD7FC-AFB4-DAB0-A192-D19B7383EACB}"/>
              </a:ext>
            </a:extLst>
          </p:cNvPr>
          <p:cNvSpPr txBox="1"/>
          <p:nvPr/>
        </p:nvSpPr>
        <p:spPr>
          <a:xfrm>
            <a:off x="7245535" y="1007008"/>
            <a:ext cx="1949377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b="1">
                <a:solidFill>
                  <a:srgbClr val="041F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Kỷ niệm chương</a:t>
            </a:r>
          </a:p>
          <a:p>
            <a:pPr algn="l"/>
            <a:r>
              <a:rPr lang="en-US" b="1">
                <a:solidFill>
                  <a:srgbClr val="041F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“Vì sự nghiệp xây dựng Quân đội nhân dân Việt Nam”</a:t>
            </a:r>
          </a:p>
          <a:p>
            <a:pPr algn="l"/>
            <a:endParaRPr lang="en-US" b="1">
              <a:solidFill>
                <a:srgbClr val="041F6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8" name="TextBox 34">
            <a:extLst>
              <a:ext uri="{FF2B5EF4-FFF2-40B4-BE49-F238E27FC236}">
                <a16:creationId xmlns:a16="http://schemas.microsoft.com/office/drawing/2014/main" id="{F493EE6C-6CE3-B1C4-559D-4F3D587C41F3}"/>
              </a:ext>
            </a:extLst>
          </p:cNvPr>
          <p:cNvSpPr txBox="1"/>
          <p:nvPr/>
        </p:nvSpPr>
        <p:spPr>
          <a:xfrm>
            <a:off x="7871988" y="2466714"/>
            <a:ext cx="638778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25</a:t>
            </a:r>
          </a:p>
          <a:p>
            <a:pPr algn="ctr"/>
            <a:r>
              <a:rPr lang="en-US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năm</a:t>
            </a:r>
          </a:p>
        </p:txBody>
      </p:sp>
      <p:sp>
        <p:nvSpPr>
          <p:cNvPr id="39" name="Freeform 35">
            <a:extLst>
              <a:ext uri="{FF2B5EF4-FFF2-40B4-BE49-F238E27FC236}">
                <a16:creationId xmlns:a16="http://schemas.microsoft.com/office/drawing/2014/main" id="{5B6484D0-0BA0-4E7F-922E-507C64D1D261}"/>
              </a:ext>
            </a:extLst>
          </p:cNvPr>
          <p:cNvSpPr/>
          <p:nvPr/>
        </p:nvSpPr>
        <p:spPr>
          <a:xfrm>
            <a:off x="5019706" y="3675304"/>
            <a:ext cx="556957" cy="944489"/>
          </a:xfrm>
          <a:custGeom>
            <a:avLst/>
            <a:gdLst/>
            <a:ahLst/>
            <a:cxnLst/>
            <a:rect l="l" t="t" r="r" b="b"/>
            <a:pathLst>
              <a:path w="1153870" h="1893321">
                <a:moveTo>
                  <a:pt x="0" y="0"/>
                </a:moveTo>
                <a:lnTo>
                  <a:pt x="1153870" y="0"/>
                </a:lnTo>
                <a:lnTo>
                  <a:pt x="1153870" y="1893321"/>
                </a:lnTo>
                <a:lnTo>
                  <a:pt x="0" y="18933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2266" r="-13642" b="-11484"/>
            </a:stretch>
          </a:blipFill>
        </p:spPr>
        <p:txBody>
          <a:bodyPr/>
          <a:lstStyle/>
          <a:p>
            <a:endParaRPr lang="en-VN" sz="1400"/>
          </a:p>
        </p:txBody>
      </p:sp>
      <p:sp>
        <p:nvSpPr>
          <p:cNvPr id="40" name="Freeform 36">
            <a:extLst>
              <a:ext uri="{FF2B5EF4-FFF2-40B4-BE49-F238E27FC236}">
                <a16:creationId xmlns:a16="http://schemas.microsoft.com/office/drawing/2014/main" id="{313A812B-6E65-437F-4678-0303273AFF59}"/>
              </a:ext>
            </a:extLst>
          </p:cNvPr>
          <p:cNvSpPr/>
          <p:nvPr/>
        </p:nvSpPr>
        <p:spPr>
          <a:xfrm>
            <a:off x="7076171" y="2850883"/>
            <a:ext cx="556957" cy="944489"/>
          </a:xfrm>
          <a:custGeom>
            <a:avLst/>
            <a:gdLst/>
            <a:ahLst/>
            <a:cxnLst/>
            <a:rect l="l" t="t" r="r" b="b"/>
            <a:pathLst>
              <a:path w="1153870" h="1893321">
                <a:moveTo>
                  <a:pt x="0" y="0"/>
                </a:moveTo>
                <a:lnTo>
                  <a:pt x="1153870" y="0"/>
                </a:lnTo>
                <a:lnTo>
                  <a:pt x="1153870" y="1893321"/>
                </a:lnTo>
                <a:lnTo>
                  <a:pt x="0" y="18933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2266" r="-13642" b="-11484"/>
            </a:stretch>
          </a:blipFill>
        </p:spPr>
        <p:txBody>
          <a:bodyPr/>
          <a:lstStyle/>
          <a:p>
            <a:endParaRPr lang="en-VN" sz="1400"/>
          </a:p>
        </p:txBody>
      </p:sp>
      <p:sp>
        <p:nvSpPr>
          <p:cNvPr id="41" name="TextBox 37">
            <a:extLst>
              <a:ext uri="{FF2B5EF4-FFF2-40B4-BE49-F238E27FC236}">
                <a16:creationId xmlns:a16="http://schemas.microsoft.com/office/drawing/2014/main" id="{9FCFA4F4-111C-4AD2-A4C5-6C926F94B032}"/>
              </a:ext>
            </a:extLst>
          </p:cNvPr>
          <p:cNvSpPr txBox="1"/>
          <p:nvPr/>
        </p:nvSpPr>
        <p:spPr>
          <a:xfrm>
            <a:off x="5576663" y="3805438"/>
            <a:ext cx="1522042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>
                <a:solidFill>
                  <a:srgbClr val="041F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Huy chương </a:t>
            </a:r>
          </a:p>
          <a:p>
            <a:pPr algn="l"/>
            <a:r>
              <a:rPr lang="en-US" b="1">
                <a:solidFill>
                  <a:srgbClr val="041F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Quân kỳ quyết thắng</a:t>
            </a:r>
          </a:p>
          <a:p>
            <a:pPr algn="l"/>
            <a:r>
              <a:rPr lang="en-US" b="1">
                <a:solidFill>
                  <a:srgbClr val="041F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(Đối với nữ)</a:t>
            </a:r>
          </a:p>
        </p:txBody>
      </p:sp>
      <p:sp>
        <p:nvSpPr>
          <p:cNvPr id="42" name="TextBox 38">
            <a:extLst>
              <a:ext uri="{FF2B5EF4-FFF2-40B4-BE49-F238E27FC236}">
                <a16:creationId xmlns:a16="http://schemas.microsoft.com/office/drawing/2014/main" id="{29F194F5-8911-0EE4-8463-5DF8DC7749AD}"/>
              </a:ext>
            </a:extLst>
          </p:cNvPr>
          <p:cNvSpPr txBox="1"/>
          <p:nvPr/>
        </p:nvSpPr>
        <p:spPr>
          <a:xfrm>
            <a:off x="7699200" y="3223341"/>
            <a:ext cx="1534793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>
                <a:solidFill>
                  <a:srgbClr val="041F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Huy chương </a:t>
            </a:r>
          </a:p>
          <a:p>
            <a:pPr algn="l"/>
            <a:r>
              <a:rPr lang="en-US" b="1">
                <a:solidFill>
                  <a:srgbClr val="041F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Quân kỳ quyết thắng</a:t>
            </a:r>
          </a:p>
          <a:p>
            <a:pPr algn="l"/>
            <a:r>
              <a:rPr lang="en-US" b="1">
                <a:solidFill>
                  <a:srgbClr val="041F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(Đối với nam)</a:t>
            </a:r>
          </a:p>
        </p:txBody>
      </p:sp>
      <p:sp>
        <p:nvSpPr>
          <p:cNvPr id="43" name="TextBox 39">
            <a:extLst>
              <a:ext uri="{FF2B5EF4-FFF2-40B4-BE49-F238E27FC236}">
                <a16:creationId xmlns:a16="http://schemas.microsoft.com/office/drawing/2014/main" id="{57CE7768-3053-C7DE-E001-7AF2B3001AD6}"/>
              </a:ext>
            </a:extLst>
          </p:cNvPr>
          <p:cNvSpPr txBox="1"/>
          <p:nvPr/>
        </p:nvSpPr>
        <p:spPr>
          <a:xfrm>
            <a:off x="0" y="820729"/>
            <a:ext cx="746179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Kỷ niệm chương “Vì sự nghiệp xây dựng Quân đội nhân dân Việt Nam”</a:t>
            </a:r>
            <a:br>
              <a:rPr lang="en-US" sz="20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</a:br>
            <a:r>
              <a:rPr lang="en-US" sz="20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Huy chương chiến sĩ vẻ vang các hạng</a:t>
            </a:r>
          </a:p>
          <a:p>
            <a:pPr algn="l"/>
            <a:r>
              <a:rPr lang="en-US" sz="20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Huy chương Quân kỳ quyết thắng</a:t>
            </a:r>
          </a:p>
        </p:txBody>
      </p:sp>
    </p:spTree>
    <p:extLst>
      <p:ext uri="{BB962C8B-B14F-4D97-AF65-F5344CB8AC3E}">
        <p14:creationId xmlns:p14="http://schemas.microsoft.com/office/powerpoint/2010/main" val="516076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Các danh hiệu dài hạn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EE65F73-4649-F96C-154E-B1B98103D9E7}"/>
              </a:ext>
            </a:extLst>
          </p:cNvPr>
          <p:cNvGrpSpPr/>
          <p:nvPr/>
        </p:nvGrpSpPr>
        <p:grpSpPr>
          <a:xfrm>
            <a:off x="-37410" y="1479089"/>
            <a:ext cx="9218819" cy="3730910"/>
            <a:chOff x="-287593" y="1295439"/>
            <a:chExt cx="16558105" cy="6701161"/>
          </a:xfrm>
        </p:grpSpPr>
        <p:sp>
          <p:nvSpPr>
            <p:cNvPr id="7" name="Freeform 2">
              <a:extLst>
                <a:ext uri="{FF2B5EF4-FFF2-40B4-BE49-F238E27FC236}">
                  <a16:creationId xmlns:a16="http://schemas.microsoft.com/office/drawing/2014/main" id="{BE741BEB-81B5-15EB-2B1D-CECAB5A5E16E}"/>
                </a:ext>
              </a:extLst>
            </p:cNvPr>
            <p:cNvSpPr/>
            <p:nvPr/>
          </p:nvSpPr>
          <p:spPr>
            <a:xfrm>
              <a:off x="2833720" y="2975212"/>
              <a:ext cx="7395732" cy="5017796"/>
            </a:xfrm>
            <a:custGeom>
              <a:avLst/>
              <a:gdLst/>
              <a:ahLst/>
              <a:cxnLst/>
              <a:rect l="l" t="t" r="r" b="b"/>
              <a:pathLst>
                <a:path w="7395732" h="5017796">
                  <a:moveTo>
                    <a:pt x="0" y="0"/>
                  </a:moveTo>
                  <a:lnTo>
                    <a:pt x="7395732" y="0"/>
                  </a:lnTo>
                  <a:lnTo>
                    <a:pt x="7395732" y="5017795"/>
                  </a:lnTo>
                  <a:lnTo>
                    <a:pt x="0" y="5017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r="-1529" b="-39169"/>
              </a:stretch>
            </a:blipFill>
          </p:spPr>
          <p:txBody>
            <a:bodyPr/>
            <a:lstStyle/>
            <a:p>
              <a:endParaRPr lang="en-VN" sz="1200"/>
            </a:p>
          </p:txBody>
        </p:sp>
        <p:grpSp>
          <p:nvGrpSpPr>
            <p:cNvPr id="8" name="Group 3">
              <a:extLst>
                <a:ext uri="{FF2B5EF4-FFF2-40B4-BE49-F238E27FC236}">
                  <a16:creationId xmlns:a16="http://schemas.microsoft.com/office/drawing/2014/main" id="{515EEC42-A3F5-DE91-B316-4D5AC7EE7C27}"/>
                </a:ext>
              </a:extLst>
            </p:cNvPr>
            <p:cNvGrpSpPr/>
            <p:nvPr/>
          </p:nvGrpSpPr>
          <p:grpSpPr>
            <a:xfrm rot="-5400000">
              <a:off x="4519188" y="2940413"/>
              <a:ext cx="1472779" cy="2093188"/>
              <a:chOff x="0" y="0"/>
              <a:chExt cx="247481" cy="351732"/>
            </a:xfrm>
          </p:grpSpPr>
          <p:sp>
            <p:nvSpPr>
              <p:cNvPr id="9" name="Freeform 4">
                <a:extLst>
                  <a:ext uri="{FF2B5EF4-FFF2-40B4-BE49-F238E27FC236}">
                    <a16:creationId xmlns:a16="http://schemas.microsoft.com/office/drawing/2014/main" id="{FE5E6570-2639-18E4-51A0-DFFE736E5260}"/>
                  </a:ext>
                </a:extLst>
              </p:cNvPr>
              <p:cNvSpPr/>
              <p:nvPr/>
            </p:nvSpPr>
            <p:spPr>
              <a:xfrm>
                <a:off x="0" y="0"/>
                <a:ext cx="247481" cy="351732"/>
              </a:xfrm>
              <a:custGeom>
                <a:avLst/>
                <a:gdLst/>
                <a:ahLst/>
                <a:cxnLst/>
                <a:rect l="l" t="t" r="r" b="b"/>
                <a:pathLst>
                  <a:path w="247481" h="351732">
                    <a:moveTo>
                      <a:pt x="123740" y="0"/>
                    </a:moveTo>
                    <a:lnTo>
                      <a:pt x="247481" y="351732"/>
                    </a:lnTo>
                    <a:lnTo>
                      <a:pt x="0" y="351732"/>
                    </a:lnTo>
                    <a:lnTo>
                      <a:pt x="12374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ADBE8">
                      <a:alpha val="50000"/>
                    </a:srgbClr>
                  </a:gs>
                  <a:gs pos="100000">
                    <a:srgbClr val="CADBE9">
                      <a:alpha val="5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VN" sz="1200"/>
              </a:p>
            </p:txBody>
          </p:sp>
          <p:sp>
            <p:nvSpPr>
              <p:cNvPr id="10" name="TextBox 5">
                <a:extLst>
                  <a:ext uri="{FF2B5EF4-FFF2-40B4-BE49-F238E27FC236}">
                    <a16:creationId xmlns:a16="http://schemas.microsoft.com/office/drawing/2014/main" id="{C6898F49-26F9-596C-27A7-EF9795793D2A}"/>
                  </a:ext>
                </a:extLst>
              </p:cNvPr>
              <p:cNvSpPr txBox="1"/>
              <p:nvPr/>
            </p:nvSpPr>
            <p:spPr>
              <a:xfrm>
                <a:off x="38669" y="115679"/>
                <a:ext cx="170143" cy="2109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11" name="Group 6">
              <a:extLst>
                <a:ext uri="{FF2B5EF4-FFF2-40B4-BE49-F238E27FC236}">
                  <a16:creationId xmlns:a16="http://schemas.microsoft.com/office/drawing/2014/main" id="{7064A6B9-6E83-C586-6DB3-EC2C6D50E9BF}"/>
                </a:ext>
              </a:extLst>
            </p:cNvPr>
            <p:cNvGrpSpPr/>
            <p:nvPr/>
          </p:nvGrpSpPr>
          <p:grpSpPr>
            <a:xfrm rot="-5400000">
              <a:off x="3622564" y="4571368"/>
              <a:ext cx="1472779" cy="2093188"/>
              <a:chOff x="0" y="0"/>
              <a:chExt cx="247481" cy="351732"/>
            </a:xfrm>
          </p:grpSpPr>
          <p:sp>
            <p:nvSpPr>
              <p:cNvPr id="12" name="Freeform 7">
                <a:extLst>
                  <a:ext uri="{FF2B5EF4-FFF2-40B4-BE49-F238E27FC236}">
                    <a16:creationId xmlns:a16="http://schemas.microsoft.com/office/drawing/2014/main" id="{214E05E1-2348-5C0A-F5CA-AC681A950DB3}"/>
                  </a:ext>
                </a:extLst>
              </p:cNvPr>
              <p:cNvSpPr/>
              <p:nvPr/>
            </p:nvSpPr>
            <p:spPr>
              <a:xfrm>
                <a:off x="0" y="0"/>
                <a:ext cx="247481" cy="351732"/>
              </a:xfrm>
              <a:custGeom>
                <a:avLst/>
                <a:gdLst/>
                <a:ahLst/>
                <a:cxnLst/>
                <a:rect l="l" t="t" r="r" b="b"/>
                <a:pathLst>
                  <a:path w="247481" h="351732">
                    <a:moveTo>
                      <a:pt x="123740" y="0"/>
                    </a:moveTo>
                    <a:lnTo>
                      <a:pt x="247481" y="351732"/>
                    </a:lnTo>
                    <a:lnTo>
                      <a:pt x="0" y="351732"/>
                    </a:lnTo>
                    <a:lnTo>
                      <a:pt x="123740" y="0"/>
                    </a:lnTo>
                    <a:close/>
                  </a:path>
                </a:pathLst>
              </a:custGeom>
              <a:solidFill>
                <a:srgbClr val="6AD572">
                  <a:alpha val="49804"/>
                </a:srgbClr>
              </a:solidFill>
            </p:spPr>
            <p:txBody>
              <a:bodyPr/>
              <a:lstStyle/>
              <a:p>
                <a:endParaRPr lang="en-VN" sz="1200"/>
              </a:p>
            </p:txBody>
          </p:sp>
          <p:sp>
            <p:nvSpPr>
              <p:cNvPr id="13" name="TextBox 8">
                <a:extLst>
                  <a:ext uri="{FF2B5EF4-FFF2-40B4-BE49-F238E27FC236}">
                    <a16:creationId xmlns:a16="http://schemas.microsoft.com/office/drawing/2014/main" id="{AA0A04DE-F3A8-3E33-F61B-357B66392A83}"/>
                  </a:ext>
                </a:extLst>
              </p:cNvPr>
              <p:cNvSpPr txBox="1"/>
              <p:nvPr/>
            </p:nvSpPr>
            <p:spPr>
              <a:xfrm>
                <a:off x="38669" y="115679"/>
                <a:ext cx="170143" cy="2109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/>
                <a:endParaRPr sz="1200"/>
              </a:p>
            </p:txBody>
          </p:sp>
        </p:grpSp>
        <p:grpSp>
          <p:nvGrpSpPr>
            <p:cNvPr id="14" name="Group 9">
              <a:extLst>
                <a:ext uri="{FF2B5EF4-FFF2-40B4-BE49-F238E27FC236}">
                  <a16:creationId xmlns:a16="http://schemas.microsoft.com/office/drawing/2014/main" id="{CEAD403F-5280-FE1A-26A4-1B48F384A72B}"/>
                </a:ext>
              </a:extLst>
            </p:cNvPr>
            <p:cNvGrpSpPr/>
            <p:nvPr/>
          </p:nvGrpSpPr>
          <p:grpSpPr>
            <a:xfrm rot="-5400000">
              <a:off x="2734938" y="6213617"/>
              <a:ext cx="1472779" cy="2093188"/>
              <a:chOff x="0" y="0"/>
              <a:chExt cx="247481" cy="351732"/>
            </a:xfrm>
          </p:grpSpPr>
          <p:sp>
            <p:nvSpPr>
              <p:cNvPr id="15" name="Freeform 10">
                <a:extLst>
                  <a:ext uri="{FF2B5EF4-FFF2-40B4-BE49-F238E27FC236}">
                    <a16:creationId xmlns:a16="http://schemas.microsoft.com/office/drawing/2014/main" id="{579009A6-7D71-BBEA-26A6-824E193EB5DB}"/>
                  </a:ext>
                </a:extLst>
              </p:cNvPr>
              <p:cNvSpPr/>
              <p:nvPr/>
            </p:nvSpPr>
            <p:spPr>
              <a:xfrm>
                <a:off x="0" y="0"/>
                <a:ext cx="247481" cy="351732"/>
              </a:xfrm>
              <a:custGeom>
                <a:avLst/>
                <a:gdLst/>
                <a:ahLst/>
                <a:cxnLst/>
                <a:rect l="l" t="t" r="r" b="b"/>
                <a:pathLst>
                  <a:path w="247481" h="351732">
                    <a:moveTo>
                      <a:pt x="123740" y="0"/>
                    </a:moveTo>
                    <a:lnTo>
                      <a:pt x="247481" y="351732"/>
                    </a:lnTo>
                    <a:lnTo>
                      <a:pt x="0" y="351732"/>
                    </a:lnTo>
                    <a:lnTo>
                      <a:pt x="123740" y="0"/>
                    </a:lnTo>
                    <a:close/>
                  </a:path>
                </a:pathLst>
              </a:custGeom>
              <a:solidFill>
                <a:srgbClr val="65A6FE">
                  <a:alpha val="49804"/>
                </a:srgbClr>
              </a:solidFill>
            </p:spPr>
            <p:txBody>
              <a:bodyPr/>
              <a:lstStyle/>
              <a:p>
                <a:endParaRPr lang="en-VN" sz="1200"/>
              </a:p>
            </p:txBody>
          </p:sp>
          <p:sp>
            <p:nvSpPr>
              <p:cNvPr id="16" name="TextBox 11">
                <a:extLst>
                  <a:ext uri="{FF2B5EF4-FFF2-40B4-BE49-F238E27FC236}">
                    <a16:creationId xmlns:a16="http://schemas.microsoft.com/office/drawing/2014/main" id="{C3DA4494-F57B-17C2-0A19-94FE6555457D}"/>
                  </a:ext>
                </a:extLst>
              </p:cNvPr>
              <p:cNvSpPr txBox="1"/>
              <p:nvPr/>
            </p:nvSpPr>
            <p:spPr>
              <a:xfrm>
                <a:off x="38669" y="115679"/>
                <a:ext cx="170143" cy="2109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/>
                <a:endParaRPr sz="1200"/>
              </a:p>
            </p:txBody>
          </p:sp>
        </p:grp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2414305B-BAD8-2E83-DB4E-049E6595EB35}"/>
                </a:ext>
              </a:extLst>
            </p:cNvPr>
            <p:cNvSpPr/>
            <p:nvPr/>
          </p:nvSpPr>
          <p:spPr>
            <a:xfrm>
              <a:off x="6220629" y="4808392"/>
              <a:ext cx="735024" cy="1619140"/>
            </a:xfrm>
            <a:custGeom>
              <a:avLst/>
              <a:gdLst/>
              <a:ahLst/>
              <a:cxnLst/>
              <a:rect l="l" t="t" r="r" b="b"/>
              <a:pathLst>
                <a:path w="735024" h="1619140">
                  <a:moveTo>
                    <a:pt x="0" y="0"/>
                  </a:moveTo>
                  <a:lnTo>
                    <a:pt x="735023" y="0"/>
                  </a:lnTo>
                  <a:lnTo>
                    <a:pt x="735023" y="1619139"/>
                  </a:lnTo>
                  <a:lnTo>
                    <a:pt x="0" y="1619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A83A9BC3-2F1B-9894-43B5-232E0E1A56FC}"/>
                </a:ext>
              </a:extLst>
            </p:cNvPr>
            <p:cNvSpPr/>
            <p:nvPr/>
          </p:nvSpPr>
          <p:spPr>
            <a:xfrm>
              <a:off x="6265384" y="6509070"/>
              <a:ext cx="645513" cy="1483937"/>
            </a:xfrm>
            <a:custGeom>
              <a:avLst/>
              <a:gdLst/>
              <a:ahLst/>
              <a:cxnLst/>
              <a:rect l="l" t="t" r="r" b="b"/>
              <a:pathLst>
                <a:path w="645513" h="1483937">
                  <a:moveTo>
                    <a:pt x="0" y="0"/>
                  </a:moveTo>
                  <a:lnTo>
                    <a:pt x="645513" y="0"/>
                  </a:lnTo>
                  <a:lnTo>
                    <a:pt x="645513" y="1483937"/>
                  </a:lnTo>
                  <a:lnTo>
                    <a:pt x="0" y="1483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CD0E0774-089F-9F6D-600D-23A93AF9AE11}"/>
                </a:ext>
              </a:extLst>
            </p:cNvPr>
            <p:cNvSpPr/>
            <p:nvPr/>
          </p:nvSpPr>
          <p:spPr>
            <a:xfrm>
              <a:off x="6302171" y="3244093"/>
              <a:ext cx="641272" cy="1472779"/>
            </a:xfrm>
            <a:custGeom>
              <a:avLst/>
              <a:gdLst/>
              <a:ahLst/>
              <a:cxnLst/>
              <a:rect l="l" t="t" r="r" b="b"/>
              <a:pathLst>
                <a:path w="641272" h="1472779">
                  <a:moveTo>
                    <a:pt x="0" y="0"/>
                  </a:moveTo>
                  <a:lnTo>
                    <a:pt x="641273" y="0"/>
                  </a:lnTo>
                  <a:lnTo>
                    <a:pt x="641273" y="1472779"/>
                  </a:lnTo>
                  <a:lnTo>
                    <a:pt x="0" y="14727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20" name="TextBox 15">
              <a:extLst>
                <a:ext uri="{FF2B5EF4-FFF2-40B4-BE49-F238E27FC236}">
                  <a16:creationId xmlns:a16="http://schemas.microsoft.com/office/drawing/2014/main" id="{DC6B5D0D-828A-4CE6-A838-7C3BBBC2E173}"/>
                </a:ext>
              </a:extLst>
            </p:cNvPr>
            <p:cNvSpPr txBox="1"/>
            <p:nvPr/>
          </p:nvSpPr>
          <p:spPr>
            <a:xfrm>
              <a:off x="7787470" y="3255480"/>
              <a:ext cx="6552224" cy="13267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Huân chương bảo vệ Tổ quốc Hạng nhất</a:t>
              </a:r>
            </a:p>
          </p:txBody>
        </p:sp>
        <p:sp>
          <p:nvSpPr>
            <p:cNvPr id="21" name="TextBox 16">
              <a:extLst>
                <a:ext uri="{FF2B5EF4-FFF2-40B4-BE49-F238E27FC236}">
                  <a16:creationId xmlns:a16="http://schemas.microsoft.com/office/drawing/2014/main" id="{DD696326-9F1B-3DF5-9A69-C5DBF22BF0A4}"/>
                </a:ext>
              </a:extLst>
            </p:cNvPr>
            <p:cNvSpPr txBox="1"/>
            <p:nvPr/>
          </p:nvSpPr>
          <p:spPr>
            <a:xfrm>
              <a:off x="8879507" y="4814837"/>
              <a:ext cx="6552224" cy="13267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Huân chương bảo vệ Tổ quốc Hạng nhì</a:t>
              </a:r>
            </a:p>
          </p:txBody>
        </p: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F9497769-3194-0FBD-387B-4D57D7929484}"/>
                </a:ext>
              </a:extLst>
            </p:cNvPr>
            <p:cNvSpPr txBox="1"/>
            <p:nvPr/>
          </p:nvSpPr>
          <p:spPr>
            <a:xfrm>
              <a:off x="9718288" y="6535209"/>
              <a:ext cx="6552224" cy="13267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4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Huân chương bảo vệ Tổ quốc Hạng ba</a:t>
              </a:r>
            </a:p>
          </p:txBody>
        </p:sp>
        <p:sp>
          <p:nvSpPr>
            <p:cNvPr id="23" name="TextBox 18">
              <a:extLst>
                <a:ext uri="{FF2B5EF4-FFF2-40B4-BE49-F238E27FC236}">
                  <a16:creationId xmlns:a16="http://schemas.microsoft.com/office/drawing/2014/main" id="{A010D13E-78CA-039A-BA32-4C92C17F0B24}"/>
                </a:ext>
              </a:extLst>
            </p:cNvPr>
            <p:cNvSpPr txBox="1"/>
            <p:nvPr/>
          </p:nvSpPr>
          <p:spPr>
            <a:xfrm>
              <a:off x="-287593" y="6981345"/>
              <a:ext cx="2840751" cy="773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00">
                  <a:solidFill>
                    <a:srgbClr val="041F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Hệ số 0,7</a:t>
              </a:r>
            </a:p>
          </p:txBody>
        </p:sp>
        <p:sp>
          <p:nvSpPr>
            <p:cNvPr id="24" name="TextBox 20">
              <a:extLst>
                <a:ext uri="{FF2B5EF4-FFF2-40B4-BE49-F238E27FC236}">
                  <a16:creationId xmlns:a16="http://schemas.microsoft.com/office/drawing/2014/main" id="{74081208-67BB-714A-A65F-C9DC5CD8414A}"/>
                </a:ext>
              </a:extLst>
            </p:cNvPr>
            <p:cNvSpPr txBox="1"/>
            <p:nvPr/>
          </p:nvSpPr>
          <p:spPr>
            <a:xfrm>
              <a:off x="806282" y="5339097"/>
              <a:ext cx="2506078" cy="773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00">
                  <a:solidFill>
                    <a:srgbClr val="041F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Hệ số 0,8</a:t>
              </a:r>
            </a:p>
          </p:txBody>
        </p:sp>
        <p:sp>
          <p:nvSpPr>
            <p:cNvPr id="25" name="TextBox 21">
              <a:extLst>
                <a:ext uri="{FF2B5EF4-FFF2-40B4-BE49-F238E27FC236}">
                  <a16:creationId xmlns:a16="http://schemas.microsoft.com/office/drawing/2014/main" id="{8812C283-D81F-B476-AD0E-E6CB9CEC1712}"/>
                </a:ext>
              </a:extLst>
            </p:cNvPr>
            <p:cNvSpPr txBox="1"/>
            <p:nvPr/>
          </p:nvSpPr>
          <p:spPr>
            <a:xfrm>
              <a:off x="852219" y="3701618"/>
              <a:ext cx="3401875" cy="15478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00">
                  <a:solidFill>
                    <a:srgbClr val="041F6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Hệ số 0,9-1,0</a:t>
              </a:r>
            </a:p>
          </p:txBody>
        </p:sp>
        <p:sp>
          <p:nvSpPr>
            <p:cNvPr id="26" name="TextBox 22">
              <a:extLst>
                <a:ext uri="{FF2B5EF4-FFF2-40B4-BE49-F238E27FC236}">
                  <a16:creationId xmlns:a16="http://schemas.microsoft.com/office/drawing/2014/main" id="{737C1FBB-5DB7-7CD6-EDE4-C5FF353660FB}"/>
                </a:ext>
              </a:extLst>
            </p:cNvPr>
            <p:cNvSpPr txBox="1"/>
            <p:nvPr/>
          </p:nvSpPr>
          <p:spPr>
            <a:xfrm>
              <a:off x="2116463" y="1295439"/>
              <a:ext cx="12003247" cy="9950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>
                  <a:solidFill>
                    <a:srgbClr val="667198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Tích luỹ 120 tháng (nam) hoặc 80 tháng (nữ, bằng 2/3) giữ chức vụ trong từng nhóm hệ số chức vụ, không phụ thuộc số năm phục vụ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AF7FF-E176-3D30-6AF6-42D73084F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C90BF-5D71-07B0-6286-622286AF7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Phân tích bài toán — bốn thách thức cốt lõi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629ED-1EF2-73CB-E93A-2D5E3633911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1. Logic chuỗi danh hiệu nhiều năm (trọng tâm)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Cửa sổ trượt 3/7 năm, nhận một lần duy nhất, lỡ đợt — phải xét trên toàn dòng thời gian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2. Tính nhất quán đa bảng (trọng tâm)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Mỗi lần duyệt cập nhật nhiều bảng — cần giao dịch và chống tranh chấp ghi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3. Phân quyền theo cây tổ chức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Bốn vai trò trên cây đơn vị — hai lớp kiểm tra vai trò và lọc theo đơn vị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4. Vận hành trong mạng nội bộ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Không Internet — tự lưu phông chữ, tự sao lưu, tự khởi động lại bằng PM2</a:t>
            </a:r>
          </a:p>
        </p:txBody>
      </p:sp>
    </p:spTree>
    <p:extLst>
      <p:ext uri="{BB962C8B-B14F-4D97-AF65-F5344CB8AC3E}">
        <p14:creationId xmlns:p14="http://schemas.microsoft.com/office/powerpoint/2010/main" val="2690781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</a:rPr>
              <a:t>PHẦN II — Công nghệ &amp; Thiết kế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Công nghệ và kiến trúc hệ thống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Thiết kế cơ sở dữ liệu (ERD)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Use-case, quy trình duyệt và Strategy pattern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Công nghệ sử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Giao diện (Frontend)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Next.js (App Router) + TypeScript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Ant Design (biểu mẫu, bảng) + Tailwind CSS (bố cục)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Zod kiểm tra dữ liệu; Socket.IO client nhận thông báo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Máy chủ &amp; Cơ sở dữ liệu (Backend)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Express + TypeScript (REST API); Prisma ORM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PostgreSQL (giao dịch ACID đa bảng)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JWT hai token (access + refresh); bcrypt băm mật khẩu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Phụ trợ: Socket.IO, PM2, node-cron, ExcelJS, Multer, Helmet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Kiến trúc tổng quan hệ thống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ienTrucPhanT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868680"/>
            <a:ext cx="4626864" cy="34701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48556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Trình duyệt tải giao diện từ Frontend; gọi thẳng Backend qua REST API và Socket.IO (không qua Frontend)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Backend phân tầng: Controller → Service → Repository (Prisma) → PostgreSQL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Thiết kế cơ sở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23 bảng · 47 khoá ngoại · khoá chính kiểu CUID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Nhóm bảng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Tổ chức: QuanNhan, CoQuanDonVi, DonViTrucThuoc, ChucVu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Đề xuất &amp; hồ sơ: BangDeXuat, DanhHieuHangNam, HoSoNienHan, HoSoCongHien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Tài khoản: TaiKhoan (4 vai trò); Phụ trợ: SystemLog, ThongBao, FileQuyetDinh, SystemSetting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Điểm thiết kế đặc biệt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FileQuyetDinh liên kết 8 bảng khen thưởng qua cột số quyết định (khoá tự nhiên); đổi số QĐ tự lan truyền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Sơ đồ ERD tổng quan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rd-0-tat-ca-b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126" y="868680"/>
            <a:ext cx="2177747" cy="41010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79492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23 bảng chia thành sáu nhóm dữ liệu nghiệp vụ; quan hệ chi tiết ở các slide tiếp theo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ERD — Tổ chức, Quân nhân, Tài khoản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rd-1-to-ch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342" y="868680"/>
            <a:ext cx="4517316" cy="3259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38244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Một CoQuanDonVi có nhiều DonViTrucThuoc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Mỗi QuanNhan gắn một ChucVu và một đơn vị; có tối đa một TaiKhoan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LichSuChucVu lưu các giai đoạn giữ chức vụ (để tính tháng cống hiến)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ERD — Đề xuất khen thưởng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rd-2-de-xu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077" y="868680"/>
            <a:ext cx="2921845" cy="3259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38244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BangDeXuat là trung tâm: gắn đơn vị nộp, người đề xuất, người duyệt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Chi tiết từng loại nằm trong cột JSON; chỉ ghi thành bản ghi khi phê duyệt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ERD — Khen thưởng &amp; hồ sơ cá nhân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rd-3-khen-thuong-ca-nh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003" y="868680"/>
            <a:ext cx="4263993" cy="3259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38244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Một quân nhân có nhiều bản ghi danh hiệu hằng năm, NCKH, HCCSVV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Quan hệ một–một với HCBVTQ, HCQKQT, KNC và ba bảng hồ sơ suy diễn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Duy nhất (quân nhân, năm) ở danh hiệu hằng năm; xoá quân nhân thì xoá theo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ERD — Khen thưởng &amp; hồ sơ đơn vị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rd-4-don-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022" y="868680"/>
            <a:ext cx="5545955" cy="3259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38244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Hai bảng đều gắn với một đơn vị được khen (cơ quan hoặc đơn vị trực thuộc)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Duy nhất theo cặp (đơn vị, năm)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ERD — Quyết định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rd-5-quyet-di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530" y="868680"/>
            <a:ext cx="3156940" cy="3259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38244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FileQuyetDinh là tâm điểm: một quyết định gắn với nhiều bản ghi khen thưởng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Khoá ngoại trỏ tới cột số quyết định; đổi số thì lan truyền, không xoá khi còn tham chiếu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ERD — Hệ thống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rd-6-he-th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726" y="868680"/>
            <a:ext cx="3980548" cy="3259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38244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SystemLog gắn tài khoản người thực hiện; ThongBao gắn người nhận và trỏ về nhật ký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SystemSetting lưu cấu hình dạng khoá–giá trị, độc lập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Phân tích chức năng — Use-case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uc-tong-qu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65" y="868680"/>
            <a:ext cx="4635469" cy="34701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48556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Bốn vai trò: Quản trị hệ thống, Cán bộ Phòng Chính trị, Chỉ huy đơn vị, Người dùng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Hai lớp phân quyền: kiểm tra vai trò ở route + lọc dữ liệu theo đơn vị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Quy trình duyệt đề xuất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ctivity-quy-tri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28" y="868680"/>
            <a:ext cx="4486944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33088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Chỉ huy đơn vị tạo đề xuất → hệ thống kiểm tra điều kiện, cảnh báo trùng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Cán bộ nhập số quyết định, đính kèm PDF đã ký rồi phê duyệt; ghi danh hiệu, đổi trạng thái, tính lại hồ sơ, ghi nhật ký — trong một giao dịch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Kiến trúc phần mềm — Strategy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8595360" cy="5532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p-de-xu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629" y="868680"/>
            <a:ext cx="4568741" cy="3259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38244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Vấn đề: bảy loại đề xuất, logic khác nhau — if/else sẽ tạo file rất dài, khó bảo trì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F2937"/>
                </a:solidFill>
              </a:rPr>
              <a:t>• Giải pháp: một giao diện chung, mỗi loại một tệp, điều phối qua Registry; thêm loại mới chỉ cần một tệp + một dòng đăng ký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</a:rPr>
              <a:t>PHẦN III — Các đóng góp nổi bật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Tự động xét điều kiện và gợi ý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Số hoá quy trình; nhập Excel có giao dịch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Lưu vết, sao lưu và thông báo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Tự động xét điều kiện &amp; gợi ý chủ động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Vấn đề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Xét chuỗi thủ công (cửa sổ trượt 3/7 năm, đếm BKBQP/CSTĐTQ, kiểm NCKH) tốn thời gian, dễ sai và bỏ sót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Cách làm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Mỗi cấp danh hiệu mô tả bằng một dòng cấu hình; một hàm thuần đọc cấu hình + ngữ cảnh chuỗi, kết luận đủ/chưa kèm lý do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Cùng bộ quy tắc cho cả tính lại hồ sơ lẫn kiểm tra khi phê duyệt; tự sinh gợi ý theo năm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Kết quả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Thời gian xét mỗi quân nhân giảm từ vài chục phút xuống gần như tức thời; bắt được ca lỡ đợt và dễ bị bỏ sót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Số hoá quy trình đề xuất &amp; lưu vết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Vấn đề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Quy trình giấy nhiều bước kéo dài 5–10 ngày; sửa giữa chừng không truy được ai, vì sao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Cách làm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Đề xuất là thực thể ba trạng thái; bảy loại theo một giao diện chung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Trước khi duyệt, cán bộ nhập số QĐ và đính kèm PDF; phê duyệt trong một giao dịch rồi mới tính lại hồ sơ, ghi nhật ký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Kết quả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Rút một đợt xét xuống còn trong ngày; truy vết trọn vòng đời đề xuất kèm người, thời điểm, lý do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Nhập Excel hàng loạt có giao dịch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Vấn đề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Di trú dữ liệu lịch sử lớn (~50.000 danh hiệu, ~15.000 lịch sử chức vụ); nhập tay mất nhiều tháng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Cách làm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Hai bước: Xem trước (đối chiếu Zod + quy tắc, liệt kê dòng lỗi, chưa ghi) và Xác nhận (ghi trong một giao dịch, lỗi thì hoàn tác toàn bộ)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Tệp mẫu có danh sách thả xuống; tự chuẩn hoá viết tắt danh hiệu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Kết quả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Di trú khối lớn trong thời gian ngắn, không bản ghi nào dở dang; hỗ trợ xuất danh sách ra Excel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Lưu vết đầy đủ, sao lưu định kỳ &amp; thông báo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Vấn đề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Tệp dùng chung không lưu vết sửa/xoá; sao lưu phụ thuộc kỷ luật cá nhân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Cách làm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Nhật ký ghi mọi thao tác: người, hành động, đối tượng, IP, dữ liệu trước/sau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Sao lưu định kỳ tự động (node-cron); thông báo thời gian thực qua Socket.IO và lưu để xem lại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Kết quả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Mọi thay đổi đều truy vết được; luôn có bản sao lưu hằng ngày sẵn sàng khôi phục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</a:rPr>
              <a:t>PHẦN IV — Đánh giá &amp; Tổng kết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Kiểm thử và triển khai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</a:rPr>
              <a:t>Kết luận và hướng phát triển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Kiểm thử và triển khai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Kiểm thử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Hộp đen thủ công qua giao diện (tám nhóm chức năng) + tự động bằng Jest cho quy tắc chuỗi lõi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Tương thích trên năm dòng máy và bốn trình duyệt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Kịch bản trọng yếu: tranh chấp ghi, BKTTCP cửa sổ 7 năm, chống giả mạo qua API, lỡ đợt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Triển khai mạng nội bộ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Máy chủ Windows Server (Node.js 20 LTS, PostgreSQL 15)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prisma migrate dev tạo lược đồ + tài khoản quản trị; pm2 start chạy backend (4000) và frontend (3000)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Kết luận và hướng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wrap="square"/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Đã đạt được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Hoàn thành bảy nhóm khen thưởng, bốn vai trò; tự động hoá xét duyệt; kiểm thử kỹ; triển khai nội bộ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Hạn chế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Chưa hỗ trợ danh hiệu cao hơn BKTTCP; chưa có module thống kê chuyên sâu; chạy một tiến trình; ký số còn ở dạng PDF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</a:rPr>
              <a:t>Hướng phát triển</a:t>
            </a:r>
          </a:p>
          <a:p>
            <a:pPr lvl="1">
              <a:spcAft>
                <a:spcPts val="100"/>
              </a:spcAft>
            </a:pPr>
            <a:r>
              <a:rPr sz="1500" b="0">
                <a:solidFill>
                  <a:srgbClr val="1F2937"/>
                </a:solidFill>
              </a:rPr>
              <a:t>Ứng dụng di động; module phân tích – báo cáo; tích hợp ký số (Smart Card/USB token); mở rộng đa tiến trình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EEAD-5A0B-47F1-9BA1-E831C9067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2">
            <a:extLst>
              <a:ext uri="{FF2B5EF4-FFF2-40B4-BE49-F238E27FC236}">
                <a16:creationId xmlns:a16="http://schemas.microsoft.com/office/drawing/2014/main" id="{391A0F67-78BE-253A-D513-EA1BEDF4CAC5}"/>
              </a:ext>
            </a:extLst>
          </p:cNvPr>
          <p:cNvSpPr txBox="1"/>
          <p:nvPr/>
        </p:nvSpPr>
        <p:spPr>
          <a:xfrm>
            <a:off x="2231976" y="1722575"/>
            <a:ext cx="4876498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400">
                <a:solidFill>
                  <a:srgbClr val="667198"/>
                </a:solidFill>
                <a:latin typeface="Canva Sans"/>
                <a:ea typeface="Canva Sans"/>
                <a:cs typeface="Canva Sans"/>
                <a:sym typeface="Canva Sans"/>
              </a:rPr>
              <a:t>Sequential approach to transform strategic vision into operational reality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AE6CA4B-57BD-8C32-A602-B3D98BEF0CEB}"/>
              </a:ext>
            </a:extLst>
          </p:cNvPr>
          <p:cNvSpPr txBox="1"/>
          <p:nvPr/>
        </p:nvSpPr>
        <p:spPr>
          <a:xfrm>
            <a:off x="1516735" y="1285410"/>
            <a:ext cx="630698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4000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Implementation Roadmap Structure</a:t>
            </a: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CA6CF89C-6810-EC47-3BF4-D0C14809F9B5}"/>
              </a:ext>
            </a:extLst>
          </p:cNvPr>
          <p:cNvSpPr/>
          <p:nvPr/>
        </p:nvSpPr>
        <p:spPr>
          <a:xfrm>
            <a:off x="205616" y="3728967"/>
            <a:ext cx="8938384" cy="9730"/>
          </a:xfrm>
          <a:prstGeom prst="line">
            <a:avLst/>
          </a:prstGeom>
          <a:ln w="66675" cap="rnd">
            <a:gradFill>
              <a:gsLst>
                <a:gs pos="0">
                  <a:srgbClr val="6AD572">
                    <a:alpha val="100000"/>
                  </a:srgbClr>
                </a:gs>
                <a:gs pos="100000">
                  <a:srgbClr val="65A6FE">
                    <a:alpha val="100000"/>
                  </a:srgbClr>
                </a:gs>
              </a:gsLst>
              <a:lin ang="0"/>
            </a:gra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VN" sz="1400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75AE1443-1276-576F-C552-4E5303B553A9}"/>
              </a:ext>
            </a:extLst>
          </p:cNvPr>
          <p:cNvSpPr txBox="1"/>
          <p:nvPr/>
        </p:nvSpPr>
        <p:spPr>
          <a:xfrm>
            <a:off x="820092" y="4060657"/>
            <a:ext cx="1393285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Establish team structure, governance processes, and success measurement frameworks.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62231D45-E94B-111B-5B3D-9483268C2708}"/>
              </a:ext>
            </a:extLst>
          </p:cNvPr>
          <p:cNvSpPr/>
          <p:nvPr/>
        </p:nvSpPr>
        <p:spPr>
          <a:xfrm>
            <a:off x="765360" y="2507987"/>
            <a:ext cx="1502750" cy="1216019"/>
          </a:xfrm>
          <a:custGeom>
            <a:avLst/>
            <a:gdLst/>
            <a:ahLst/>
            <a:cxnLst/>
            <a:rect l="l" t="t" r="r" b="b"/>
            <a:pathLst>
              <a:path w="3123096" h="2334514">
                <a:moveTo>
                  <a:pt x="0" y="0"/>
                </a:moveTo>
                <a:lnTo>
                  <a:pt x="3123096" y="0"/>
                </a:lnTo>
                <a:lnTo>
                  <a:pt x="3123096" y="2334514"/>
                </a:lnTo>
                <a:lnTo>
                  <a:pt x="0" y="2334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VN" sz="14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D6F3053E-B03F-C014-7A08-CA45E07D4D93}"/>
              </a:ext>
            </a:extLst>
          </p:cNvPr>
          <p:cNvSpPr/>
          <p:nvPr/>
        </p:nvSpPr>
        <p:spPr>
          <a:xfrm>
            <a:off x="917379" y="2570042"/>
            <a:ext cx="1198712" cy="969992"/>
          </a:xfrm>
          <a:custGeom>
            <a:avLst/>
            <a:gdLst/>
            <a:ahLst/>
            <a:cxnLst/>
            <a:rect l="l" t="t" r="r" b="b"/>
            <a:pathLst>
              <a:path w="2491227" h="1862192">
                <a:moveTo>
                  <a:pt x="0" y="0"/>
                </a:moveTo>
                <a:lnTo>
                  <a:pt x="2491226" y="0"/>
                </a:lnTo>
                <a:lnTo>
                  <a:pt x="2491226" y="1862192"/>
                </a:lnTo>
                <a:lnTo>
                  <a:pt x="0" y="1862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400"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9DE3A3F5-0DC9-C9C9-A8B1-43F1D7B966AE}"/>
              </a:ext>
            </a:extLst>
          </p:cNvPr>
          <p:cNvSpPr/>
          <p:nvPr/>
        </p:nvSpPr>
        <p:spPr>
          <a:xfrm>
            <a:off x="917379" y="2545234"/>
            <a:ext cx="1198712" cy="969992"/>
          </a:xfrm>
          <a:custGeom>
            <a:avLst/>
            <a:gdLst/>
            <a:ahLst/>
            <a:cxnLst/>
            <a:rect l="l" t="t" r="r" b="b"/>
            <a:pathLst>
              <a:path w="2491227" h="1862192">
                <a:moveTo>
                  <a:pt x="0" y="0"/>
                </a:moveTo>
                <a:lnTo>
                  <a:pt x="2491226" y="0"/>
                </a:lnTo>
                <a:lnTo>
                  <a:pt x="2491226" y="1862192"/>
                </a:lnTo>
                <a:lnTo>
                  <a:pt x="0" y="1862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400"/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C28EE706-9210-782F-30CF-3FE4137B943E}"/>
              </a:ext>
            </a:extLst>
          </p:cNvPr>
          <p:cNvSpPr txBox="1"/>
          <p:nvPr/>
        </p:nvSpPr>
        <p:spPr>
          <a:xfrm>
            <a:off x="965084" y="3070144"/>
            <a:ext cx="1103302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400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Foundation Building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0C219172-EE88-CF98-8171-16EA50C30E8B}"/>
              </a:ext>
            </a:extLst>
          </p:cNvPr>
          <p:cNvSpPr txBox="1"/>
          <p:nvPr/>
        </p:nvSpPr>
        <p:spPr>
          <a:xfrm>
            <a:off x="5024746" y="4060657"/>
            <a:ext cx="1393285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Execute primary initiatives that drive significant progress toward goals.</a:t>
            </a:r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4BF7FF64-3C5B-883F-D92D-968BA4A0798D}"/>
              </a:ext>
            </a:extLst>
          </p:cNvPr>
          <p:cNvSpPr/>
          <p:nvPr/>
        </p:nvSpPr>
        <p:spPr>
          <a:xfrm>
            <a:off x="4970013" y="2507987"/>
            <a:ext cx="1502750" cy="1216019"/>
          </a:xfrm>
          <a:custGeom>
            <a:avLst/>
            <a:gdLst/>
            <a:ahLst/>
            <a:cxnLst/>
            <a:rect l="l" t="t" r="r" b="b"/>
            <a:pathLst>
              <a:path w="3123096" h="2334514">
                <a:moveTo>
                  <a:pt x="0" y="0"/>
                </a:moveTo>
                <a:lnTo>
                  <a:pt x="3123096" y="0"/>
                </a:lnTo>
                <a:lnTo>
                  <a:pt x="3123096" y="2334514"/>
                </a:lnTo>
                <a:lnTo>
                  <a:pt x="0" y="2334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VN" sz="1400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89DE7198-5B9A-3382-4A0F-164217357F33}"/>
              </a:ext>
            </a:extLst>
          </p:cNvPr>
          <p:cNvSpPr/>
          <p:nvPr/>
        </p:nvSpPr>
        <p:spPr>
          <a:xfrm>
            <a:off x="5122033" y="2570042"/>
            <a:ext cx="1198712" cy="969992"/>
          </a:xfrm>
          <a:custGeom>
            <a:avLst/>
            <a:gdLst/>
            <a:ahLst/>
            <a:cxnLst/>
            <a:rect l="l" t="t" r="r" b="b"/>
            <a:pathLst>
              <a:path w="2491227" h="1862192">
                <a:moveTo>
                  <a:pt x="0" y="0"/>
                </a:moveTo>
                <a:lnTo>
                  <a:pt x="2491226" y="0"/>
                </a:lnTo>
                <a:lnTo>
                  <a:pt x="2491226" y="1862192"/>
                </a:lnTo>
                <a:lnTo>
                  <a:pt x="0" y="1862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400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55717E21-2023-EF1F-9429-B7542E41777C}"/>
              </a:ext>
            </a:extLst>
          </p:cNvPr>
          <p:cNvSpPr/>
          <p:nvPr/>
        </p:nvSpPr>
        <p:spPr>
          <a:xfrm>
            <a:off x="5122033" y="2545234"/>
            <a:ext cx="1198712" cy="969992"/>
          </a:xfrm>
          <a:custGeom>
            <a:avLst/>
            <a:gdLst/>
            <a:ahLst/>
            <a:cxnLst/>
            <a:rect l="l" t="t" r="r" b="b"/>
            <a:pathLst>
              <a:path w="2491227" h="1862192">
                <a:moveTo>
                  <a:pt x="0" y="0"/>
                </a:moveTo>
                <a:lnTo>
                  <a:pt x="2491226" y="0"/>
                </a:lnTo>
                <a:lnTo>
                  <a:pt x="2491226" y="1862192"/>
                </a:lnTo>
                <a:lnTo>
                  <a:pt x="0" y="1862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400"/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7EF6F8C8-2188-8F8C-8042-E2CC45589E3D}"/>
              </a:ext>
            </a:extLst>
          </p:cNvPr>
          <p:cNvSpPr txBox="1"/>
          <p:nvPr/>
        </p:nvSpPr>
        <p:spPr>
          <a:xfrm>
            <a:off x="5169737" y="3077567"/>
            <a:ext cx="1103302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400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Core</a:t>
            </a:r>
          </a:p>
          <a:p>
            <a:pPr algn="ctr"/>
            <a:r>
              <a:rPr lang="en-US" sz="1400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Development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56B1AE4E-D05F-53A0-C2A0-45D929AFCC67}"/>
              </a:ext>
            </a:extLst>
          </p:cNvPr>
          <p:cNvSpPr txBox="1"/>
          <p:nvPr/>
        </p:nvSpPr>
        <p:spPr>
          <a:xfrm>
            <a:off x="2922419" y="2871442"/>
            <a:ext cx="1393285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Deliver early results that build momentum and demonstrate value.</a:t>
            </a:r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BF6C151F-200D-CD14-A136-D8B164C767C3}"/>
              </a:ext>
            </a:extLst>
          </p:cNvPr>
          <p:cNvSpPr/>
          <p:nvPr/>
        </p:nvSpPr>
        <p:spPr>
          <a:xfrm rot="10800000">
            <a:off x="2867687" y="3871632"/>
            <a:ext cx="1502750" cy="1216019"/>
          </a:xfrm>
          <a:custGeom>
            <a:avLst/>
            <a:gdLst/>
            <a:ahLst/>
            <a:cxnLst/>
            <a:rect l="l" t="t" r="r" b="b"/>
            <a:pathLst>
              <a:path w="3123096" h="2334514">
                <a:moveTo>
                  <a:pt x="0" y="0"/>
                </a:moveTo>
                <a:lnTo>
                  <a:pt x="3123096" y="0"/>
                </a:lnTo>
                <a:lnTo>
                  <a:pt x="3123096" y="2334514"/>
                </a:lnTo>
                <a:lnTo>
                  <a:pt x="0" y="23345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VN" sz="140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D12CFC3F-DF50-BB47-2A7C-DB964AF90DDB}"/>
              </a:ext>
            </a:extLst>
          </p:cNvPr>
          <p:cNvSpPr/>
          <p:nvPr/>
        </p:nvSpPr>
        <p:spPr>
          <a:xfrm rot="10800000">
            <a:off x="3019706" y="3949092"/>
            <a:ext cx="1198712" cy="969992"/>
          </a:xfrm>
          <a:custGeom>
            <a:avLst/>
            <a:gdLst/>
            <a:ahLst/>
            <a:cxnLst/>
            <a:rect l="l" t="t" r="r" b="b"/>
            <a:pathLst>
              <a:path w="2491227" h="1862192">
                <a:moveTo>
                  <a:pt x="0" y="0"/>
                </a:moveTo>
                <a:lnTo>
                  <a:pt x="2491226" y="0"/>
                </a:lnTo>
                <a:lnTo>
                  <a:pt x="2491226" y="1862192"/>
                </a:lnTo>
                <a:lnTo>
                  <a:pt x="0" y="1862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400"/>
          </a:p>
        </p:txBody>
      </p:sp>
      <p:sp>
        <p:nvSpPr>
          <p:cNvPr id="24" name="Freeform 18">
            <a:extLst>
              <a:ext uri="{FF2B5EF4-FFF2-40B4-BE49-F238E27FC236}">
                <a16:creationId xmlns:a16="http://schemas.microsoft.com/office/drawing/2014/main" id="{A437BC9F-B6F4-900A-954F-1EACCBC39006}"/>
              </a:ext>
            </a:extLst>
          </p:cNvPr>
          <p:cNvSpPr/>
          <p:nvPr/>
        </p:nvSpPr>
        <p:spPr>
          <a:xfrm rot="10800000">
            <a:off x="3019706" y="3919323"/>
            <a:ext cx="1198712" cy="969992"/>
          </a:xfrm>
          <a:custGeom>
            <a:avLst/>
            <a:gdLst/>
            <a:ahLst/>
            <a:cxnLst/>
            <a:rect l="l" t="t" r="r" b="b"/>
            <a:pathLst>
              <a:path w="2491227" h="1862192">
                <a:moveTo>
                  <a:pt x="0" y="0"/>
                </a:moveTo>
                <a:lnTo>
                  <a:pt x="2491226" y="0"/>
                </a:lnTo>
                <a:lnTo>
                  <a:pt x="2491226" y="1862192"/>
                </a:lnTo>
                <a:lnTo>
                  <a:pt x="0" y="1862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400"/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4A4CDF46-E7E8-3AA5-9CF6-F7CC0F71EF54}"/>
              </a:ext>
            </a:extLst>
          </p:cNvPr>
          <p:cNvSpPr txBox="1"/>
          <p:nvPr/>
        </p:nvSpPr>
        <p:spPr>
          <a:xfrm>
            <a:off x="3067410" y="4153120"/>
            <a:ext cx="1103302" cy="21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400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Quick Wins</a:t>
            </a: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7EE8EF4A-B141-7A40-1398-84AB882861BD}"/>
              </a:ext>
            </a:extLst>
          </p:cNvPr>
          <p:cNvSpPr txBox="1"/>
          <p:nvPr/>
        </p:nvSpPr>
        <p:spPr>
          <a:xfrm>
            <a:off x="7127072" y="2871442"/>
            <a:ext cx="1393285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Refine processes, scale successful elements, and prepare for growth.</a:t>
            </a:r>
          </a:p>
        </p:txBody>
      </p:sp>
      <p:sp>
        <p:nvSpPr>
          <p:cNvPr id="27" name="Freeform 21">
            <a:extLst>
              <a:ext uri="{FF2B5EF4-FFF2-40B4-BE49-F238E27FC236}">
                <a16:creationId xmlns:a16="http://schemas.microsoft.com/office/drawing/2014/main" id="{D1240163-5CC0-AE4B-3C41-CD4F599F775C}"/>
              </a:ext>
            </a:extLst>
          </p:cNvPr>
          <p:cNvSpPr/>
          <p:nvPr/>
        </p:nvSpPr>
        <p:spPr>
          <a:xfrm rot="10800000">
            <a:off x="7072340" y="3871632"/>
            <a:ext cx="1502750" cy="1216019"/>
          </a:xfrm>
          <a:custGeom>
            <a:avLst/>
            <a:gdLst/>
            <a:ahLst/>
            <a:cxnLst/>
            <a:rect l="l" t="t" r="r" b="b"/>
            <a:pathLst>
              <a:path w="3123096" h="2334514">
                <a:moveTo>
                  <a:pt x="0" y="0"/>
                </a:moveTo>
                <a:lnTo>
                  <a:pt x="3123096" y="0"/>
                </a:lnTo>
                <a:lnTo>
                  <a:pt x="3123096" y="2334514"/>
                </a:lnTo>
                <a:lnTo>
                  <a:pt x="0" y="23345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VN" sz="1400"/>
          </a:p>
        </p:txBody>
      </p:sp>
      <p:sp>
        <p:nvSpPr>
          <p:cNvPr id="28" name="Freeform 22">
            <a:extLst>
              <a:ext uri="{FF2B5EF4-FFF2-40B4-BE49-F238E27FC236}">
                <a16:creationId xmlns:a16="http://schemas.microsoft.com/office/drawing/2014/main" id="{5038C385-279E-A6F4-CBC2-138119E347FA}"/>
              </a:ext>
            </a:extLst>
          </p:cNvPr>
          <p:cNvSpPr/>
          <p:nvPr/>
        </p:nvSpPr>
        <p:spPr>
          <a:xfrm rot="10800000">
            <a:off x="7224359" y="3949092"/>
            <a:ext cx="1198712" cy="969992"/>
          </a:xfrm>
          <a:custGeom>
            <a:avLst/>
            <a:gdLst/>
            <a:ahLst/>
            <a:cxnLst/>
            <a:rect l="l" t="t" r="r" b="b"/>
            <a:pathLst>
              <a:path w="2491227" h="1862192">
                <a:moveTo>
                  <a:pt x="0" y="0"/>
                </a:moveTo>
                <a:lnTo>
                  <a:pt x="2491226" y="0"/>
                </a:lnTo>
                <a:lnTo>
                  <a:pt x="2491226" y="1862192"/>
                </a:lnTo>
                <a:lnTo>
                  <a:pt x="0" y="1862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400"/>
          </a:p>
        </p:txBody>
      </p:sp>
      <p:sp>
        <p:nvSpPr>
          <p:cNvPr id="29" name="Freeform 23">
            <a:extLst>
              <a:ext uri="{FF2B5EF4-FFF2-40B4-BE49-F238E27FC236}">
                <a16:creationId xmlns:a16="http://schemas.microsoft.com/office/drawing/2014/main" id="{C92BE7FD-6C51-43F1-BA88-7F67785720EE}"/>
              </a:ext>
            </a:extLst>
          </p:cNvPr>
          <p:cNvSpPr/>
          <p:nvPr/>
        </p:nvSpPr>
        <p:spPr>
          <a:xfrm rot="10800000">
            <a:off x="7224359" y="3919323"/>
            <a:ext cx="1198712" cy="969992"/>
          </a:xfrm>
          <a:custGeom>
            <a:avLst/>
            <a:gdLst/>
            <a:ahLst/>
            <a:cxnLst/>
            <a:rect l="l" t="t" r="r" b="b"/>
            <a:pathLst>
              <a:path w="2491227" h="1862192">
                <a:moveTo>
                  <a:pt x="0" y="0"/>
                </a:moveTo>
                <a:lnTo>
                  <a:pt x="2491226" y="0"/>
                </a:lnTo>
                <a:lnTo>
                  <a:pt x="2491226" y="1862192"/>
                </a:lnTo>
                <a:lnTo>
                  <a:pt x="0" y="18621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400"/>
          </a:p>
        </p:txBody>
      </p:sp>
      <p:sp>
        <p:nvSpPr>
          <p:cNvPr id="30" name="TextBox 24">
            <a:extLst>
              <a:ext uri="{FF2B5EF4-FFF2-40B4-BE49-F238E27FC236}">
                <a16:creationId xmlns:a16="http://schemas.microsoft.com/office/drawing/2014/main" id="{889DE261-62CF-93A8-6897-72C4D7E5898B}"/>
              </a:ext>
            </a:extLst>
          </p:cNvPr>
          <p:cNvSpPr txBox="1"/>
          <p:nvPr/>
        </p:nvSpPr>
        <p:spPr>
          <a:xfrm>
            <a:off x="7272064" y="4091082"/>
            <a:ext cx="1103302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400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Optimization</a:t>
            </a:r>
          </a:p>
          <a:p>
            <a:pPr algn="ctr"/>
            <a:r>
              <a:rPr lang="en-US" sz="1400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Phase</a:t>
            </a:r>
          </a:p>
        </p:txBody>
      </p:sp>
      <p:grpSp>
        <p:nvGrpSpPr>
          <p:cNvPr id="31" name="Group 25">
            <a:extLst>
              <a:ext uri="{FF2B5EF4-FFF2-40B4-BE49-F238E27FC236}">
                <a16:creationId xmlns:a16="http://schemas.microsoft.com/office/drawing/2014/main" id="{3DF9F6A5-DC77-1D6F-9631-1CE96DE4BD53}"/>
              </a:ext>
            </a:extLst>
          </p:cNvPr>
          <p:cNvGrpSpPr/>
          <p:nvPr/>
        </p:nvGrpSpPr>
        <p:grpSpPr>
          <a:xfrm>
            <a:off x="1449072" y="3652041"/>
            <a:ext cx="135325" cy="170466"/>
            <a:chOff x="0" y="0"/>
            <a:chExt cx="698500" cy="812800"/>
          </a:xfrm>
        </p:grpSpPr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EA718C49-2F50-A28D-4863-AF0A12593579}"/>
                </a:ext>
              </a:extLst>
            </p:cNvPr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AD572"/>
            </a:solid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33" name="TextBox 27">
              <a:extLst>
                <a:ext uri="{FF2B5EF4-FFF2-40B4-BE49-F238E27FC236}">
                  <a16:creationId xmlns:a16="http://schemas.microsoft.com/office/drawing/2014/main" id="{11F08C7B-AD8C-9E92-615A-1A0FF57E8C4B}"/>
                </a:ext>
              </a:extLst>
            </p:cNvPr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40854" tIns="40854" rIns="40854" bIns="40854"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34" name="Group 28">
            <a:extLst>
              <a:ext uri="{FF2B5EF4-FFF2-40B4-BE49-F238E27FC236}">
                <a16:creationId xmlns:a16="http://schemas.microsoft.com/office/drawing/2014/main" id="{BA703620-7973-BD6F-067E-0248EB4F29F9}"/>
              </a:ext>
            </a:extLst>
          </p:cNvPr>
          <p:cNvGrpSpPr/>
          <p:nvPr/>
        </p:nvGrpSpPr>
        <p:grpSpPr>
          <a:xfrm>
            <a:off x="3552348" y="3653237"/>
            <a:ext cx="133427" cy="168075"/>
            <a:chOff x="0" y="0"/>
            <a:chExt cx="698500" cy="812800"/>
          </a:xfrm>
        </p:grpSpPr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4D1CAD5E-E2E4-6516-7CAC-15E17D6F8165}"/>
                </a:ext>
              </a:extLst>
            </p:cNvPr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56AB90"/>
            </a:solid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36" name="TextBox 30">
              <a:extLst>
                <a:ext uri="{FF2B5EF4-FFF2-40B4-BE49-F238E27FC236}">
                  <a16:creationId xmlns:a16="http://schemas.microsoft.com/office/drawing/2014/main" id="{38438E30-D5A9-43BA-839E-85C156D33303}"/>
                </a:ext>
              </a:extLst>
            </p:cNvPr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40854" tIns="40854" rIns="40854" bIns="40854"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37" name="Group 31">
            <a:extLst>
              <a:ext uri="{FF2B5EF4-FFF2-40B4-BE49-F238E27FC236}">
                <a16:creationId xmlns:a16="http://schemas.microsoft.com/office/drawing/2014/main" id="{EF9CA107-C87A-F80F-A9FB-082FC026CB81}"/>
              </a:ext>
            </a:extLst>
          </p:cNvPr>
          <p:cNvGrpSpPr/>
          <p:nvPr/>
        </p:nvGrpSpPr>
        <p:grpSpPr>
          <a:xfrm>
            <a:off x="5654675" y="3653237"/>
            <a:ext cx="133427" cy="168075"/>
            <a:chOff x="0" y="0"/>
            <a:chExt cx="698500" cy="812800"/>
          </a:xfrm>
        </p:grpSpPr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C9ED09A4-92F7-BA85-E8BA-CBA1FDA11395}"/>
                </a:ext>
              </a:extLst>
            </p:cNvPr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5B3C4"/>
            </a:solid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39" name="TextBox 33">
              <a:extLst>
                <a:ext uri="{FF2B5EF4-FFF2-40B4-BE49-F238E27FC236}">
                  <a16:creationId xmlns:a16="http://schemas.microsoft.com/office/drawing/2014/main" id="{F9C5971C-C91F-2A3C-8B12-D09C554A02DE}"/>
                </a:ext>
              </a:extLst>
            </p:cNvPr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40854" tIns="40854" rIns="40854" bIns="40854" rtlCol="0" anchor="ctr"/>
            <a:lstStyle/>
            <a:p>
              <a:pPr algn="ctr"/>
              <a:endParaRPr sz="1400"/>
            </a:p>
          </p:txBody>
        </p:sp>
      </p:grpSp>
      <p:grpSp>
        <p:nvGrpSpPr>
          <p:cNvPr id="40" name="Group 34">
            <a:extLst>
              <a:ext uri="{FF2B5EF4-FFF2-40B4-BE49-F238E27FC236}">
                <a16:creationId xmlns:a16="http://schemas.microsoft.com/office/drawing/2014/main" id="{D9023104-C14E-4559-30F2-18F9F1878A96}"/>
              </a:ext>
            </a:extLst>
          </p:cNvPr>
          <p:cNvGrpSpPr/>
          <p:nvPr/>
        </p:nvGrpSpPr>
        <p:grpSpPr>
          <a:xfrm>
            <a:off x="7757001" y="3653237"/>
            <a:ext cx="133427" cy="168075"/>
            <a:chOff x="0" y="0"/>
            <a:chExt cx="698500" cy="812800"/>
          </a:xfrm>
        </p:grpSpPr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2B1AEAC4-D69E-6461-81AE-593A38CC1D00}"/>
                </a:ext>
              </a:extLst>
            </p:cNvPr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5A6FE"/>
            </a:solidFill>
          </p:spPr>
          <p:txBody>
            <a:bodyPr/>
            <a:lstStyle/>
            <a:p>
              <a:endParaRPr lang="en-VN" sz="1400"/>
            </a:p>
          </p:txBody>
        </p:sp>
        <p:sp>
          <p:nvSpPr>
            <p:cNvPr id="42" name="TextBox 36">
              <a:extLst>
                <a:ext uri="{FF2B5EF4-FFF2-40B4-BE49-F238E27FC236}">
                  <a16:creationId xmlns:a16="http://schemas.microsoft.com/office/drawing/2014/main" id="{39634B76-1761-646F-939D-33A60732BE0B}"/>
                </a:ext>
              </a:extLst>
            </p:cNvPr>
            <p:cNvSpPr txBox="1"/>
            <p:nvPr/>
          </p:nvSpPr>
          <p:spPr>
            <a:xfrm>
              <a:off x="0" y="92075"/>
              <a:ext cx="698500" cy="581025"/>
            </a:xfrm>
            <a:prstGeom prst="rect">
              <a:avLst/>
            </a:prstGeom>
          </p:spPr>
          <p:txBody>
            <a:bodyPr lIns="40854" tIns="40854" rIns="40854" bIns="40854" rtlCol="0" anchor="ctr"/>
            <a:lstStyle/>
            <a:p>
              <a:pPr algn="ctr"/>
              <a:endParaRPr sz="1400"/>
            </a:p>
          </p:txBody>
        </p:sp>
      </p:grpSp>
      <p:sp>
        <p:nvSpPr>
          <p:cNvPr id="43" name="Freeform 37">
            <a:extLst>
              <a:ext uri="{FF2B5EF4-FFF2-40B4-BE49-F238E27FC236}">
                <a16:creationId xmlns:a16="http://schemas.microsoft.com/office/drawing/2014/main" id="{38AB44C8-7423-496D-844B-1CF767FBD284}"/>
              </a:ext>
            </a:extLst>
          </p:cNvPr>
          <p:cNvSpPr/>
          <p:nvPr/>
        </p:nvSpPr>
        <p:spPr>
          <a:xfrm>
            <a:off x="1420046" y="2671711"/>
            <a:ext cx="193378" cy="228473"/>
          </a:xfrm>
          <a:custGeom>
            <a:avLst/>
            <a:gdLst/>
            <a:ahLst/>
            <a:cxnLst/>
            <a:rect l="l" t="t" r="r" b="b"/>
            <a:pathLst>
              <a:path w="401888" h="438623">
                <a:moveTo>
                  <a:pt x="0" y="0"/>
                </a:moveTo>
                <a:lnTo>
                  <a:pt x="401888" y="0"/>
                </a:lnTo>
                <a:lnTo>
                  <a:pt x="401888" y="438623"/>
                </a:lnTo>
                <a:lnTo>
                  <a:pt x="0" y="438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400"/>
          </a:p>
        </p:txBody>
      </p:sp>
      <p:sp>
        <p:nvSpPr>
          <p:cNvPr id="44" name="Freeform 38">
            <a:extLst>
              <a:ext uri="{FF2B5EF4-FFF2-40B4-BE49-F238E27FC236}">
                <a16:creationId xmlns:a16="http://schemas.microsoft.com/office/drawing/2014/main" id="{43AA5FAC-3CF1-00BF-AEDD-B136115E1252}"/>
              </a:ext>
            </a:extLst>
          </p:cNvPr>
          <p:cNvSpPr/>
          <p:nvPr/>
        </p:nvSpPr>
        <p:spPr>
          <a:xfrm>
            <a:off x="3522477" y="4539073"/>
            <a:ext cx="193169" cy="228227"/>
          </a:xfrm>
          <a:custGeom>
            <a:avLst/>
            <a:gdLst/>
            <a:ahLst/>
            <a:cxnLst/>
            <a:rect l="l" t="t" r="r" b="b"/>
            <a:pathLst>
              <a:path w="401455" h="438150">
                <a:moveTo>
                  <a:pt x="0" y="0"/>
                </a:moveTo>
                <a:lnTo>
                  <a:pt x="401454" y="0"/>
                </a:lnTo>
                <a:lnTo>
                  <a:pt x="401454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400"/>
          </a:p>
        </p:txBody>
      </p:sp>
      <p:sp>
        <p:nvSpPr>
          <p:cNvPr id="45" name="Freeform 39">
            <a:extLst>
              <a:ext uri="{FF2B5EF4-FFF2-40B4-BE49-F238E27FC236}">
                <a16:creationId xmlns:a16="http://schemas.microsoft.com/office/drawing/2014/main" id="{0C9641A2-F82A-0F82-1BF2-6FCA041D44B7}"/>
              </a:ext>
            </a:extLst>
          </p:cNvPr>
          <p:cNvSpPr/>
          <p:nvPr/>
        </p:nvSpPr>
        <p:spPr>
          <a:xfrm>
            <a:off x="7718302" y="4539073"/>
            <a:ext cx="210826" cy="228227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0"/>
                </a:moveTo>
                <a:lnTo>
                  <a:pt x="438150" y="0"/>
                </a:lnTo>
                <a:lnTo>
                  <a:pt x="4381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400"/>
          </a:p>
        </p:txBody>
      </p:sp>
      <p:sp>
        <p:nvSpPr>
          <p:cNvPr id="46" name="Freeform 40">
            <a:extLst>
              <a:ext uri="{FF2B5EF4-FFF2-40B4-BE49-F238E27FC236}">
                <a16:creationId xmlns:a16="http://schemas.microsoft.com/office/drawing/2014/main" id="{32083713-6046-7168-6268-5F6D61856221}"/>
              </a:ext>
            </a:extLst>
          </p:cNvPr>
          <p:cNvSpPr/>
          <p:nvPr/>
        </p:nvSpPr>
        <p:spPr>
          <a:xfrm>
            <a:off x="5615861" y="2671711"/>
            <a:ext cx="211054" cy="228473"/>
          </a:xfrm>
          <a:custGeom>
            <a:avLst/>
            <a:gdLst/>
            <a:ahLst/>
            <a:cxnLst/>
            <a:rect l="l" t="t" r="r" b="b"/>
            <a:pathLst>
              <a:path w="438623" h="438623">
                <a:moveTo>
                  <a:pt x="0" y="0"/>
                </a:moveTo>
                <a:lnTo>
                  <a:pt x="438623" y="0"/>
                </a:lnTo>
                <a:lnTo>
                  <a:pt x="438623" y="438623"/>
                </a:lnTo>
                <a:lnTo>
                  <a:pt x="0" y="438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400"/>
          </a:p>
        </p:txBody>
      </p:sp>
      <p:sp>
        <p:nvSpPr>
          <p:cNvPr id="47" name="TextBox 41">
            <a:extLst>
              <a:ext uri="{FF2B5EF4-FFF2-40B4-BE49-F238E27FC236}">
                <a16:creationId xmlns:a16="http://schemas.microsoft.com/office/drawing/2014/main" id="{D6313B52-48C8-1912-2BEB-B60794F3B1B3}"/>
              </a:ext>
            </a:extLst>
          </p:cNvPr>
          <p:cNvSpPr txBox="1"/>
          <p:nvPr/>
        </p:nvSpPr>
        <p:spPr>
          <a:xfrm>
            <a:off x="8507561" y="5468398"/>
            <a:ext cx="208390" cy="24622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7829606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2EB5F-0BB8-62B3-D1E7-E393C4E14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2D8B78B-35F2-C767-E069-14B79D07CB78}"/>
              </a:ext>
            </a:extLst>
          </p:cNvPr>
          <p:cNvSpPr/>
          <p:nvPr/>
        </p:nvSpPr>
        <p:spPr>
          <a:xfrm>
            <a:off x="7049275" y="1303857"/>
            <a:ext cx="2094725" cy="5554142"/>
          </a:xfrm>
          <a:custGeom>
            <a:avLst/>
            <a:gdLst/>
            <a:ahLst/>
            <a:cxnLst/>
            <a:rect l="l" t="t" r="r" b="b"/>
            <a:pathLst>
              <a:path w="4060556" h="10151390">
                <a:moveTo>
                  <a:pt x="0" y="0"/>
                </a:moveTo>
                <a:lnTo>
                  <a:pt x="4060556" y="0"/>
                </a:lnTo>
                <a:lnTo>
                  <a:pt x="4060556" y="10151390"/>
                </a:lnTo>
                <a:lnTo>
                  <a:pt x="0" y="10151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VN" sz="120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1455C39-1B48-DD1B-C198-25A03B779BA7}"/>
              </a:ext>
            </a:extLst>
          </p:cNvPr>
          <p:cNvGrpSpPr/>
          <p:nvPr/>
        </p:nvGrpSpPr>
        <p:grpSpPr>
          <a:xfrm rot="5400000">
            <a:off x="-145456" y="1037554"/>
            <a:ext cx="5857755" cy="5566844"/>
            <a:chOff x="0" y="0"/>
            <a:chExt cx="2448171" cy="246757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0D9A5C6-6751-321F-ACF0-9A01C6DC78A8}"/>
                </a:ext>
              </a:extLst>
            </p:cNvPr>
            <p:cNvSpPr/>
            <p:nvPr/>
          </p:nvSpPr>
          <p:spPr>
            <a:xfrm>
              <a:off x="0" y="0"/>
              <a:ext cx="2448171" cy="2467570"/>
            </a:xfrm>
            <a:custGeom>
              <a:avLst/>
              <a:gdLst/>
              <a:ahLst/>
              <a:cxnLst/>
              <a:rect l="l" t="t" r="r" b="b"/>
              <a:pathLst>
                <a:path w="2448171" h="2467570">
                  <a:moveTo>
                    <a:pt x="1224086" y="0"/>
                  </a:moveTo>
                  <a:lnTo>
                    <a:pt x="2448171" y="2467570"/>
                  </a:lnTo>
                  <a:lnTo>
                    <a:pt x="0" y="2467570"/>
                  </a:lnTo>
                  <a:lnTo>
                    <a:pt x="1224086" y="0"/>
                  </a:lnTo>
                  <a:close/>
                </a:path>
              </a:pathLst>
            </a:custGeom>
            <a:gradFill rotWithShape="1">
              <a:gsLst>
                <a:gs pos="0">
                  <a:srgbClr val="6AD572">
                    <a:alpha val="0"/>
                  </a:srgbClr>
                </a:gs>
                <a:gs pos="50000">
                  <a:srgbClr val="6AD572">
                    <a:alpha val="0"/>
                  </a:srgbClr>
                </a:gs>
                <a:gs pos="100000">
                  <a:srgbClr val="6AD572">
                    <a:alpha val="305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CEADA17-2350-EF64-CE9D-D2B8F22D9692}"/>
                </a:ext>
              </a:extLst>
            </p:cNvPr>
            <p:cNvSpPr txBox="1"/>
            <p:nvPr/>
          </p:nvSpPr>
          <p:spPr>
            <a:xfrm>
              <a:off x="382527" y="1098033"/>
              <a:ext cx="1683118" cy="1193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endParaRPr sz="1200"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AB7E8B20-5256-BD95-6521-1D1AFA7BC536}"/>
              </a:ext>
            </a:extLst>
          </p:cNvPr>
          <p:cNvSpPr/>
          <p:nvPr/>
        </p:nvSpPr>
        <p:spPr>
          <a:xfrm>
            <a:off x="3236339" y="1303857"/>
            <a:ext cx="2618406" cy="5554142"/>
          </a:xfrm>
          <a:custGeom>
            <a:avLst/>
            <a:gdLst/>
            <a:ahLst/>
            <a:cxnLst/>
            <a:rect l="l" t="t" r="r" b="b"/>
            <a:pathLst>
              <a:path w="5075695" h="10151390">
                <a:moveTo>
                  <a:pt x="0" y="0"/>
                </a:moveTo>
                <a:lnTo>
                  <a:pt x="5075696" y="0"/>
                </a:lnTo>
                <a:lnTo>
                  <a:pt x="5075696" y="10151390"/>
                </a:lnTo>
                <a:lnTo>
                  <a:pt x="0" y="101513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VN" sz="120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E277A19-4D39-1F5B-00A9-DBA8AD24ED1B}"/>
              </a:ext>
            </a:extLst>
          </p:cNvPr>
          <p:cNvSpPr/>
          <p:nvPr/>
        </p:nvSpPr>
        <p:spPr>
          <a:xfrm>
            <a:off x="5074237" y="1303857"/>
            <a:ext cx="2618406" cy="5554142"/>
          </a:xfrm>
          <a:custGeom>
            <a:avLst/>
            <a:gdLst/>
            <a:ahLst/>
            <a:cxnLst/>
            <a:rect l="l" t="t" r="r" b="b"/>
            <a:pathLst>
              <a:path w="5075695" h="10151390">
                <a:moveTo>
                  <a:pt x="0" y="0"/>
                </a:moveTo>
                <a:lnTo>
                  <a:pt x="5075695" y="0"/>
                </a:lnTo>
                <a:lnTo>
                  <a:pt x="5075695" y="10151390"/>
                </a:lnTo>
                <a:lnTo>
                  <a:pt x="0" y="101513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VN" sz="1200"/>
          </a:p>
        </p:txBody>
      </p:sp>
      <p:sp>
        <p:nvSpPr>
          <p:cNvPr id="49" name="Freeform 8">
            <a:extLst>
              <a:ext uri="{FF2B5EF4-FFF2-40B4-BE49-F238E27FC236}">
                <a16:creationId xmlns:a16="http://schemas.microsoft.com/office/drawing/2014/main" id="{2B19DE1D-23EB-3C4E-C0AD-C24B6E77B65A}"/>
              </a:ext>
            </a:extLst>
          </p:cNvPr>
          <p:cNvSpPr/>
          <p:nvPr/>
        </p:nvSpPr>
        <p:spPr>
          <a:xfrm>
            <a:off x="7288425" y="1726354"/>
            <a:ext cx="1625304" cy="4309477"/>
          </a:xfrm>
          <a:custGeom>
            <a:avLst/>
            <a:gdLst/>
            <a:ahLst/>
            <a:cxnLst/>
            <a:rect l="l" t="t" r="r" b="b"/>
            <a:pathLst>
              <a:path w="3150599" h="7876497">
                <a:moveTo>
                  <a:pt x="0" y="0"/>
                </a:moveTo>
                <a:lnTo>
                  <a:pt x="3150599" y="0"/>
                </a:lnTo>
                <a:lnTo>
                  <a:pt x="3150599" y="7876497"/>
                </a:lnTo>
                <a:lnTo>
                  <a:pt x="0" y="78764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200"/>
          </a:p>
        </p:txBody>
      </p:sp>
      <p:sp>
        <p:nvSpPr>
          <p:cNvPr id="50" name="Freeform 9">
            <a:extLst>
              <a:ext uri="{FF2B5EF4-FFF2-40B4-BE49-F238E27FC236}">
                <a16:creationId xmlns:a16="http://schemas.microsoft.com/office/drawing/2014/main" id="{5C23E992-CE57-A3EC-FCDF-179F9B969C33}"/>
              </a:ext>
            </a:extLst>
          </p:cNvPr>
          <p:cNvSpPr/>
          <p:nvPr/>
        </p:nvSpPr>
        <p:spPr>
          <a:xfrm>
            <a:off x="3537307" y="1726354"/>
            <a:ext cx="2031630" cy="4309477"/>
          </a:xfrm>
          <a:custGeom>
            <a:avLst/>
            <a:gdLst/>
            <a:ahLst/>
            <a:cxnLst/>
            <a:rect l="l" t="t" r="r" b="b"/>
            <a:pathLst>
              <a:path w="3938248" h="7876497">
                <a:moveTo>
                  <a:pt x="0" y="0"/>
                </a:moveTo>
                <a:lnTo>
                  <a:pt x="3938248" y="0"/>
                </a:lnTo>
                <a:lnTo>
                  <a:pt x="3938248" y="7876497"/>
                </a:lnTo>
                <a:lnTo>
                  <a:pt x="0" y="78764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200"/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F4CCA79A-6BD1-E8EB-C943-DD99D1700DD6}"/>
              </a:ext>
            </a:extLst>
          </p:cNvPr>
          <p:cNvSpPr/>
          <p:nvPr/>
        </p:nvSpPr>
        <p:spPr>
          <a:xfrm>
            <a:off x="5380823" y="1726354"/>
            <a:ext cx="2031630" cy="4309477"/>
          </a:xfrm>
          <a:custGeom>
            <a:avLst/>
            <a:gdLst/>
            <a:ahLst/>
            <a:cxnLst/>
            <a:rect l="l" t="t" r="r" b="b"/>
            <a:pathLst>
              <a:path w="3938248" h="7876497">
                <a:moveTo>
                  <a:pt x="0" y="0"/>
                </a:moveTo>
                <a:lnTo>
                  <a:pt x="3938248" y="0"/>
                </a:lnTo>
                <a:lnTo>
                  <a:pt x="3938248" y="7876497"/>
                </a:lnTo>
                <a:lnTo>
                  <a:pt x="0" y="78764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200"/>
          </a:p>
        </p:txBody>
      </p:sp>
      <p:sp>
        <p:nvSpPr>
          <p:cNvPr id="52" name="Freeform 11">
            <a:extLst>
              <a:ext uri="{FF2B5EF4-FFF2-40B4-BE49-F238E27FC236}">
                <a16:creationId xmlns:a16="http://schemas.microsoft.com/office/drawing/2014/main" id="{EB1784FA-5D02-3C71-5923-56BC5CB7BEE9}"/>
              </a:ext>
            </a:extLst>
          </p:cNvPr>
          <p:cNvSpPr/>
          <p:nvPr/>
        </p:nvSpPr>
        <p:spPr>
          <a:xfrm>
            <a:off x="7288425" y="1660479"/>
            <a:ext cx="1625304" cy="4309477"/>
          </a:xfrm>
          <a:custGeom>
            <a:avLst/>
            <a:gdLst/>
            <a:ahLst/>
            <a:cxnLst/>
            <a:rect l="l" t="t" r="r" b="b"/>
            <a:pathLst>
              <a:path w="3150599" h="7876497">
                <a:moveTo>
                  <a:pt x="0" y="0"/>
                </a:moveTo>
                <a:lnTo>
                  <a:pt x="3150599" y="0"/>
                </a:lnTo>
                <a:lnTo>
                  <a:pt x="3150599" y="7876497"/>
                </a:lnTo>
                <a:lnTo>
                  <a:pt x="0" y="78764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200"/>
          </a:p>
        </p:txBody>
      </p:sp>
      <p:sp>
        <p:nvSpPr>
          <p:cNvPr id="53" name="Freeform 12">
            <a:extLst>
              <a:ext uri="{FF2B5EF4-FFF2-40B4-BE49-F238E27FC236}">
                <a16:creationId xmlns:a16="http://schemas.microsoft.com/office/drawing/2014/main" id="{33ED0510-3CD6-0281-1690-E9EECEEE0016}"/>
              </a:ext>
            </a:extLst>
          </p:cNvPr>
          <p:cNvSpPr/>
          <p:nvPr/>
        </p:nvSpPr>
        <p:spPr>
          <a:xfrm>
            <a:off x="3537307" y="1660479"/>
            <a:ext cx="2031630" cy="4309477"/>
          </a:xfrm>
          <a:custGeom>
            <a:avLst/>
            <a:gdLst/>
            <a:ahLst/>
            <a:cxnLst/>
            <a:rect l="l" t="t" r="r" b="b"/>
            <a:pathLst>
              <a:path w="3938248" h="7876497">
                <a:moveTo>
                  <a:pt x="0" y="0"/>
                </a:moveTo>
                <a:lnTo>
                  <a:pt x="3938248" y="0"/>
                </a:lnTo>
                <a:lnTo>
                  <a:pt x="3938248" y="7876497"/>
                </a:lnTo>
                <a:lnTo>
                  <a:pt x="0" y="78764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200"/>
          </a:p>
        </p:txBody>
      </p:sp>
      <p:sp>
        <p:nvSpPr>
          <p:cNvPr id="54" name="Freeform 13">
            <a:extLst>
              <a:ext uri="{FF2B5EF4-FFF2-40B4-BE49-F238E27FC236}">
                <a16:creationId xmlns:a16="http://schemas.microsoft.com/office/drawing/2014/main" id="{CE9EEA12-4BDE-CDD3-4234-EA0F2F52383E}"/>
              </a:ext>
            </a:extLst>
          </p:cNvPr>
          <p:cNvSpPr/>
          <p:nvPr/>
        </p:nvSpPr>
        <p:spPr>
          <a:xfrm>
            <a:off x="5380823" y="1660479"/>
            <a:ext cx="2031630" cy="4309477"/>
          </a:xfrm>
          <a:custGeom>
            <a:avLst/>
            <a:gdLst/>
            <a:ahLst/>
            <a:cxnLst/>
            <a:rect l="l" t="t" r="r" b="b"/>
            <a:pathLst>
              <a:path w="3938248" h="7876497">
                <a:moveTo>
                  <a:pt x="0" y="0"/>
                </a:moveTo>
                <a:lnTo>
                  <a:pt x="3938248" y="0"/>
                </a:lnTo>
                <a:lnTo>
                  <a:pt x="3938248" y="7876497"/>
                </a:lnTo>
                <a:lnTo>
                  <a:pt x="0" y="78764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200"/>
          </a:p>
        </p:txBody>
      </p:sp>
      <p:sp>
        <p:nvSpPr>
          <p:cNvPr id="55" name="Freeform 14">
            <a:extLst>
              <a:ext uri="{FF2B5EF4-FFF2-40B4-BE49-F238E27FC236}">
                <a16:creationId xmlns:a16="http://schemas.microsoft.com/office/drawing/2014/main" id="{44CC76F4-6A52-8C2A-E097-062CB4828F90}"/>
              </a:ext>
            </a:extLst>
          </p:cNvPr>
          <p:cNvSpPr/>
          <p:nvPr/>
        </p:nvSpPr>
        <p:spPr>
          <a:xfrm>
            <a:off x="4018767" y="2058494"/>
            <a:ext cx="677385" cy="718431"/>
          </a:xfrm>
          <a:custGeom>
            <a:avLst/>
            <a:gdLst/>
            <a:ahLst/>
            <a:cxnLst/>
            <a:rect l="l" t="t" r="r" b="b"/>
            <a:pathLst>
              <a:path w="1313088" h="1313088">
                <a:moveTo>
                  <a:pt x="0" y="0"/>
                </a:moveTo>
                <a:lnTo>
                  <a:pt x="1313088" y="0"/>
                </a:lnTo>
                <a:lnTo>
                  <a:pt x="1313088" y="1313087"/>
                </a:lnTo>
                <a:lnTo>
                  <a:pt x="0" y="1313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200"/>
          </a:p>
        </p:txBody>
      </p:sp>
      <p:sp>
        <p:nvSpPr>
          <p:cNvPr id="56" name="Freeform 15">
            <a:extLst>
              <a:ext uri="{FF2B5EF4-FFF2-40B4-BE49-F238E27FC236}">
                <a16:creationId xmlns:a16="http://schemas.microsoft.com/office/drawing/2014/main" id="{3C8AC354-FF15-8E07-1A03-B3861D07A410}"/>
              </a:ext>
            </a:extLst>
          </p:cNvPr>
          <p:cNvSpPr/>
          <p:nvPr/>
        </p:nvSpPr>
        <p:spPr>
          <a:xfrm>
            <a:off x="7811522" y="2058494"/>
            <a:ext cx="677385" cy="718431"/>
          </a:xfrm>
          <a:custGeom>
            <a:avLst/>
            <a:gdLst/>
            <a:ahLst/>
            <a:cxnLst/>
            <a:rect l="l" t="t" r="r" b="b"/>
            <a:pathLst>
              <a:path w="1313088" h="1313088">
                <a:moveTo>
                  <a:pt x="0" y="0"/>
                </a:moveTo>
                <a:lnTo>
                  <a:pt x="1313087" y="0"/>
                </a:lnTo>
                <a:lnTo>
                  <a:pt x="1313087" y="1313087"/>
                </a:lnTo>
                <a:lnTo>
                  <a:pt x="0" y="1313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200"/>
          </a:p>
        </p:txBody>
      </p:sp>
      <p:sp>
        <p:nvSpPr>
          <p:cNvPr id="57" name="Freeform 16">
            <a:extLst>
              <a:ext uri="{FF2B5EF4-FFF2-40B4-BE49-F238E27FC236}">
                <a16:creationId xmlns:a16="http://schemas.microsoft.com/office/drawing/2014/main" id="{5EA121C9-E8D0-EDF5-EC7C-32962FB8103E}"/>
              </a:ext>
            </a:extLst>
          </p:cNvPr>
          <p:cNvSpPr/>
          <p:nvPr/>
        </p:nvSpPr>
        <p:spPr>
          <a:xfrm>
            <a:off x="5903882" y="2058494"/>
            <a:ext cx="677385" cy="718431"/>
          </a:xfrm>
          <a:custGeom>
            <a:avLst/>
            <a:gdLst/>
            <a:ahLst/>
            <a:cxnLst/>
            <a:rect l="l" t="t" r="r" b="b"/>
            <a:pathLst>
              <a:path w="1313088" h="1313088">
                <a:moveTo>
                  <a:pt x="0" y="0"/>
                </a:moveTo>
                <a:lnTo>
                  <a:pt x="1313087" y="0"/>
                </a:lnTo>
                <a:lnTo>
                  <a:pt x="1313087" y="1313087"/>
                </a:lnTo>
                <a:lnTo>
                  <a:pt x="0" y="1313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 sz="1200"/>
          </a:p>
        </p:txBody>
      </p:sp>
      <p:grpSp>
        <p:nvGrpSpPr>
          <p:cNvPr id="58" name="Group 17">
            <a:extLst>
              <a:ext uri="{FF2B5EF4-FFF2-40B4-BE49-F238E27FC236}">
                <a16:creationId xmlns:a16="http://schemas.microsoft.com/office/drawing/2014/main" id="{47003550-1B58-765F-6E05-B9891BE79854}"/>
              </a:ext>
            </a:extLst>
          </p:cNvPr>
          <p:cNvGrpSpPr/>
          <p:nvPr/>
        </p:nvGrpSpPr>
        <p:grpSpPr>
          <a:xfrm>
            <a:off x="3933856" y="2405739"/>
            <a:ext cx="847208" cy="698510"/>
            <a:chOff x="0" y="0"/>
            <a:chExt cx="264494" cy="205612"/>
          </a:xfrm>
        </p:grpSpPr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0D19FAD6-FBED-82C2-F1D1-13A1E2949D98}"/>
                </a:ext>
              </a:extLst>
            </p:cNvPr>
            <p:cNvSpPr/>
            <p:nvPr/>
          </p:nvSpPr>
          <p:spPr>
            <a:xfrm>
              <a:off x="0" y="0"/>
              <a:ext cx="264494" cy="205612"/>
            </a:xfrm>
            <a:custGeom>
              <a:avLst/>
              <a:gdLst/>
              <a:ahLst/>
              <a:cxnLst/>
              <a:rect l="l" t="t" r="r" b="b"/>
              <a:pathLst>
                <a:path w="264494" h="205612">
                  <a:moveTo>
                    <a:pt x="0" y="0"/>
                  </a:moveTo>
                  <a:lnTo>
                    <a:pt x="264494" y="0"/>
                  </a:lnTo>
                  <a:lnTo>
                    <a:pt x="264494" y="205612"/>
                  </a:lnTo>
                  <a:lnTo>
                    <a:pt x="0" y="20561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50000">
                  <a:srgbClr val="FCFDFE">
                    <a:alpha val="100000"/>
                  </a:srgbClr>
                </a:gs>
                <a:gs pos="100000">
                  <a:srgbClr val="FCFDF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60" name="TextBox 19">
              <a:extLst>
                <a:ext uri="{FF2B5EF4-FFF2-40B4-BE49-F238E27FC236}">
                  <a16:creationId xmlns:a16="http://schemas.microsoft.com/office/drawing/2014/main" id="{C0552647-C3C7-BE86-6A3D-356B0BB0A624}"/>
                </a:ext>
              </a:extLst>
            </p:cNvPr>
            <p:cNvSpPr txBox="1"/>
            <p:nvPr/>
          </p:nvSpPr>
          <p:spPr>
            <a:xfrm>
              <a:off x="0" y="-47625"/>
              <a:ext cx="264494" cy="253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endParaRPr sz="1200"/>
            </a:p>
          </p:txBody>
        </p:sp>
      </p:grpSp>
      <p:grpSp>
        <p:nvGrpSpPr>
          <p:cNvPr id="61" name="Group 20">
            <a:extLst>
              <a:ext uri="{FF2B5EF4-FFF2-40B4-BE49-F238E27FC236}">
                <a16:creationId xmlns:a16="http://schemas.microsoft.com/office/drawing/2014/main" id="{AF5D32DF-002E-4157-000E-3C1DA72152F0}"/>
              </a:ext>
            </a:extLst>
          </p:cNvPr>
          <p:cNvGrpSpPr/>
          <p:nvPr/>
        </p:nvGrpSpPr>
        <p:grpSpPr>
          <a:xfrm>
            <a:off x="5821947" y="2405739"/>
            <a:ext cx="847208" cy="698510"/>
            <a:chOff x="0" y="0"/>
            <a:chExt cx="264494" cy="205612"/>
          </a:xfrm>
        </p:grpSpPr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841CB474-79EC-AF6B-1534-28D7C56C411A}"/>
                </a:ext>
              </a:extLst>
            </p:cNvPr>
            <p:cNvSpPr/>
            <p:nvPr/>
          </p:nvSpPr>
          <p:spPr>
            <a:xfrm>
              <a:off x="0" y="0"/>
              <a:ext cx="264494" cy="205612"/>
            </a:xfrm>
            <a:custGeom>
              <a:avLst/>
              <a:gdLst/>
              <a:ahLst/>
              <a:cxnLst/>
              <a:rect l="l" t="t" r="r" b="b"/>
              <a:pathLst>
                <a:path w="264494" h="205612">
                  <a:moveTo>
                    <a:pt x="0" y="0"/>
                  </a:moveTo>
                  <a:lnTo>
                    <a:pt x="264494" y="0"/>
                  </a:lnTo>
                  <a:lnTo>
                    <a:pt x="264494" y="205612"/>
                  </a:lnTo>
                  <a:lnTo>
                    <a:pt x="0" y="20561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50000">
                  <a:srgbClr val="FCFDFE">
                    <a:alpha val="100000"/>
                  </a:srgbClr>
                </a:gs>
                <a:gs pos="100000">
                  <a:srgbClr val="FCFDF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63" name="TextBox 22">
              <a:extLst>
                <a:ext uri="{FF2B5EF4-FFF2-40B4-BE49-F238E27FC236}">
                  <a16:creationId xmlns:a16="http://schemas.microsoft.com/office/drawing/2014/main" id="{788E0D9A-5511-AB99-5618-5FEE5F2FF7E6}"/>
                </a:ext>
              </a:extLst>
            </p:cNvPr>
            <p:cNvSpPr txBox="1"/>
            <p:nvPr/>
          </p:nvSpPr>
          <p:spPr>
            <a:xfrm>
              <a:off x="0" y="-47625"/>
              <a:ext cx="264494" cy="253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endParaRPr sz="1200"/>
            </a:p>
          </p:txBody>
        </p:sp>
      </p:grpSp>
      <p:grpSp>
        <p:nvGrpSpPr>
          <p:cNvPr id="64" name="Group 23">
            <a:extLst>
              <a:ext uri="{FF2B5EF4-FFF2-40B4-BE49-F238E27FC236}">
                <a16:creationId xmlns:a16="http://schemas.microsoft.com/office/drawing/2014/main" id="{CD5856AC-E5A7-B7C5-CE8C-1214077FB58F}"/>
              </a:ext>
            </a:extLst>
          </p:cNvPr>
          <p:cNvGrpSpPr/>
          <p:nvPr/>
        </p:nvGrpSpPr>
        <p:grpSpPr>
          <a:xfrm>
            <a:off x="7726610" y="2405739"/>
            <a:ext cx="847208" cy="698510"/>
            <a:chOff x="0" y="0"/>
            <a:chExt cx="264494" cy="205612"/>
          </a:xfrm>
        </p:grpSpPr>
        <p:sp>
          <p:nvSpPr>
            <p:cNvPr id="65" name="Freeform 24">
              <a:extLst>
                <a:ext uri="{FF2B5EF4-FFF2-40B4-BE49-F238E27FC236}">
                  <a16:creationId xmlns:a16="http://schemas.microsoft.com/office/drawing/2014/main" id="{2D423FED-E734-9347-1277-6B63579AFD15}"/>
                </a:ext>
              </a:extLst>
            </p:cNvPr>
            <p:cNvSpPr/>
            <p:nvPr/>
          </p:nvSpPr>
          <p:spPr>
            <a:xfrm>
              <a:off x="0" y="0"/>
              <a:ext cx="264494" cy="205612"/>
            </a:xfrm>
            <a:custGeom>
              <a:avLst/>
              <a:gdLst/>
              <a:ahLst/>
              <a:cxnLst/>
              <a:rect l="l" t="t" r="r" b="b"/>
              <a:pathLst>
                <a:path w="264494" h="205612">
                  <a:moveTo>
                    <a:pt x="0" y="0"/>
                  </a:moveTo>
                  <a:lnTo>
                    <a:pt x="264494" y="0"/>
                  </a:lnTo>
                  <a:lnTo>
                    <a:pt x="264494" y="205612"/>
                  </a:lnTo>
                  <a:lnTo>
                    <a:pt x="0" y="205612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50000">
                  <a:srgbClr val="FCFDFE">
                    <a:alpha val="100000"/>
                  </a:srgbClr>
                </a:gs>
                <a:gs pos="100000">
                  <a:srgbClr val="FCFDF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VN" sz="1200"/>
            </a:p>
          </p:txBody>
        </p:sp>
        <p:sp>
          <p:nvSpPr>
            <p:cNvPr id="66" name="TextBox 25">
              <a:extLst>
                <a:ext uri="{FF2B5EF4-FFF2-40B4-BE49-F238E27FC236}">
                  <a16:creationId xmlns:a16="http://schemas.microsoft.com/office/drawing/2014/main" id="{8AA88E7D-F000-791E-25DE-94831335D4D1}"/>
                </a:ext>
              </a:extLst>
            </p:cNvPr>
            <p:cNvSpPr txBox="1"/>
            <p:nvPr/>
          </p:nvSpPr>
          <p:spPr>
            <a:xfrm>
              <a:off x="0" y="-47625"/>
              <a:ext cx="264494" cy="253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endParaRPr sz="1200"/>
            </a:p>
          </p:txBody>
        </p:sp>
      </p:grpSp>
      <p:sp>
        <p:nvSpPr>
          <p:cNvPr id="67" name="TextBox 26">
            <a:extLst>
              <a:ext uri="{FF2B5EF4-FFF2-40B4-BE49-F238E27FC236}">
                <a16:creationId xmlns:a16="http://schemas.microsoft.com/office/drawing/2014/main" id="{2534CA98-6EE3-41B5-6C78-96F4B35F387A}"/>
              </a:ext>
            </a:extLst>
          </p:cNvPr>
          <p:cNvSpPr txBox="1"/>
          <p:nvPr/>
        </p:nvSpPr>
        <p:spPr>
          <a:xfrm>
            <a:off x="928334" y="2885524"/>
            <a:ext cx="2240636" cy="2122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600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Roadmap Optimization Keys</a:t>
            </a:r>
          </a:p>
        </p:txBody>
      </p:sp>
      <p:sp>
        <p:nvSpPr>
          <p:cNvPr id="68" name="TextBox 27">
            <a:extLst>
              <a:ext uri="{FF2B5EF4-FFF2-40B4-BE49-F238E27FC236}">
                <a16:creationId xmlns:a16="http://schemas.microsoft.com/office/drawing/2014/main" id="{92FC95BF-AE3D-E60F-5D66-07F49B820418}"/>
              </a:ext>
            </a:extLst>
          </p:cNvPr>
          <p:cNvSpPr txBox="1"/>
          <p:nvPr/>
        </p:nvSpPr>
        <p:spPr>
          <a:xfrm>
            <a:off x="928334" y="4255087"/>
            <a:ext cx="2240636" cy="70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Final recommendations to enhance roadmap effectiveness and drive sustained success</a:t>
            </a:r>
          </a:p>
        </p:txBody>
      </p:sp>
      <p:sp>
        <p:nvSpPr>
          <p:cNvPr id="69" name="TextBox 28">
            <a:extLst>
              <a:ext uri="{FF2B5EF4-FFF2-40B4-BE49-F238E27FC236}">
                <a16:creationId xmlns:a16="http://schemas.microsoft.com/office/drawing/2014/main" id="{D3676000-95E9-77DB-7F7C-0F3E8257B7D7}"/>
              </a:ext>
            </a:extLst>
          </p:cNvPr>
          <p:cNvSpPr txBox="1"/>
          <p:nvPr/>
        </p:nvSpPr>
        <p:spPr>
          <a:xfrm>
            <a:off x="3670165" y="4606116"/>
            <a:ext cx="1374590" cy="11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Schedule monthly assessments to evaluate progress and adjust strategies accordingly.</a:t>
            </a:r>
          </a:p>
        </p:txBody>
      </p:sp>
      <p:sp>
        <p:nvSpPr>
          <p:cNvPr id="70" name="TextBox 29">
            <a:extLst>
              <a:ext uri="{FF2B5EF4-FFF2-40B4-BE49-F238E27FC236}">
                <a16:creationId xmlns:a16="http://schemas.microsoft.com/office/drawing/2014/main" id="{0406E10F-0985-B03D-3EED-05C9618B036C}"/>
              </a:ext>
            </a:extLst>
          </p:cNvPr>
          <p:cNvSpPr txBox="1"/>
          <p:nvPr/>
        </p:nvSpPr>
        <p:spPr>
          <a:xfrm>
            <a:off x="5558256" y="4606116"/>
            <a:ext cx="1374590" cy="943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Collect input from users, customers, and team members for improvement.</a:t>
            </a:r>
          </a:p>
        </p:txBody>
      </p:sp>
      <p:sp>
        <p:nvSpPr>
          <p:cNvPr id="71" name="TextBox 30">
            <a:extLst>
              <a:ext uri="{FF2B5EF4-FFF2-40B4-BE49-F238E27FC236}">
                <a16:creationId xmlns:a16="http://schemas.microsoft.com/office/drawing/2014/main" id="{F664EBFD-59F7-5794-11E6-0F289AAB09B4}"/>
              </a:ext>
            </a:extLst>
          </p:cNvPr>
          <p:cNvSpPr txBox="1"/>
          <p:nvPr/>
        </p:nvSpPr>
        <p:spPr>
          <a:xfrm>
            <a:off x="3670165" y="3705688"/>
            <a:ext cx="1374590" cy="35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01</a:t>
            </a:r>
          </a:p>
        </p:txBody>
      </p:sp>
      <p:sp>
        <p:nvSpPr>
          <p:cNvPr id="72" name="TextBox 31">
            <a:extLst>
              <a:ext uri="{FF2B5EF4-FFF2-40B4-BE49-F238E27FC236}">
                <a16:creationId xmlns:a16="http://schemas.microsoft.com/office/drawing/2014/main" id="{12FE860D-B9A3-CEF9-5038-0EB105A62C80}"/>
              </a:ext>
            </a:extLst>
          </p:cNvPr>
          <p:cNvSpPr txBox="1"/>
          <p:nvPr/>
        </p:nvSpPr>
        <p:spPr>
          <a:xfrm>
            <a:off x="5558256" y="3705688"/>
            <a:ext cx="1374590" cy="35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02</a:t>
            </a:r>
          </a:p>
        </p:txBody>
      </p:sp>
      <p:sp>
        <p:nvSpPr>
          <p:cNvPr id="73" name="TextBox 32">
            <a:extLst>
              <a:ext uri="{FF2B5EF4-FFF2-40B4-BE49-F238E27FC236}">
                <a16:creationId xmlns:a16="http://schemas.microsoft.com/office/drawing/2014/main" id="{C49A9039-35E2-2CDF-3836-48CFD869A006}"/>
              </a:ext>
            </a:extLst>
          </p:cNvPr>
          <p:cNvSpPr txBox="1"/>
          <p:nvPr/>
        </p:nvSpPr>
        <p:spPr>
          <a:xfrm>
            <a:off x="3670165" y="2885525"/>
            <a:ext cx="1374590" cy="628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600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Regular</a:t>
            </a:r>
          </a:p>
          <a:p>
            <a:pPr algn="ctr"/>
            <a:r>
              <a:rPr lang="en-US" sz="1600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Reviews</a:t>
            </a:r>
          </a:p>
        </p:txBody>
      </p:sp>
      <p:sp>
        <p:nvSpPr>
          <p:cNvPr id="74" name="TextBox 33">
            <a:extLst>
              <a:ext uri="{FF2B5EF4-FFF2-40B4-BE49-F238E27FC236}">
                <a16:creationId xmlns:a16="http://schemas.microsoft.com/office/drawing/2014/main" id="{2EA2086D-F81B-003C-64AE-06A76DD199FA}"/>
              </a:ext>
            </a:extLst>
          </p:cNvPr>
          <p:cNvSpPr txBox="1"/>
          <p:nvPr/>
        </p:nvSpPr>
        <p:spPr>
          <a:xfrm>
            <a:off x="5558256" y="2880313"/>
            <a:ext cx="1374590" cy="628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600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Stakeholder Feedback</a:t>
            </a:r>
          </a:p>
        </p:txBody>
      </p:sp>
      <p:sp>
        <p:nvSpPr>
          <p:cNvPr id="75" name="TextBox 34">
            <a:extLst>
              <a:ext uri="{FF2B5EF4-FFF2-40B4-BE49-F238E27FC236}">
                <a16:creationId xmlns:a16="http://schemas.microsoft.com/office/drawing/2014/main" id="{B435AB9F-F4C1-D981-94E9-2855EB653476}"/>
              </a:ext>
            </a:extLst>
          </p:cNvPr>
          <p:cNvSpPr txBox="1"/>
          <p:nvPr/>
        </p:nvSpPr>
        <p:spPr>
          <a:xfrm>
            <a:off x="7462919" y="4606116"/>
            <a:ext cx="1374590" cy="943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Track key indicators that measure progress toward strategic objectives.</a:t>
            </a:r>
          </a:p>
        </p:txBody>
      </p:sp>
      <p:sp>
        <p:nvSpPr>
          <p:cNvPr id="76" name="TextBox 35">
            <a:extLst>
              <a:ext uri="{FF2B5EF4-FFF2-40B4-BE49-F238E27FC236}">
                <a16:creationId xmlns:a16="http://schemas.microsoft.com/office/drawing/2014/main" id="{0A5D8A5D-2ED7-8932-A907-D9550581D6D4}"/>
              </a:ext>
            </a:extLst>
          </p:cNvPr>
          <p:cNvSpPr txBox="1"/>
          <p:nvPr/>
        </p:nvSpPr>
        <p:spPr>
          <a:xfrm>
            <a:off x="7462919" y="3705688"/>
            <a:ext cx="1374590" cy="35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>
                <a:solidFill>
                  <a:srgbClr val="041F60"/>
                </a:solidFill>
                <a:latin typeface="Gotham"/>
                <a:ea typeface="Gotham"/>
                <a:cs typeface="Gotham"/>
                <a:sym typeface="Gotham"/>
              </a:rPr>
              <a:t>03</a:t>
            </a:r>
          </a:p>
        </p:txBody>
      </p:sp>
      <p:sp>
        <p:nvSpPr>
          <p:cNvPr id="77" name="TextBox 36">
            <a:extLst>
              <a:ext uri="{FF2B5EF4-FFF2-40B4-BE49-F238E27FC236}">
                <a16:creationId xmlns:a16="http://schemas.microsoft.com/office/drawing/2014/main" id="{9AA1A3F5-5CA8-8B44-C13B-BCDD41B068F6}"/>
              </a:ext>
            </a:extLst>
          </p:cNvPr>
          <p:cNvSpPr txBox="1"/>
          <p:nvPr/>
        </p:nvSpPr>
        <p:spPr>
          <a:xfrm>
            <a:off x="7462919" y="2880313"/>
            <a:ext cx="1374590" cy="628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600" b="1">
                <a:solidFill>
                  <a:srgbClr val="041F60"/>
                </a:solidFill>
                <a:latin typeface="Gotham Bold"/>
                <a:ea typeface="Gotham Bold"/>
                <a:cs typeface="Gotham Bold"/>
                <a:sym typeface="Gotham Bold"/>
              </a:rPr>
              <a:t>Performance Metrics</a:t>
            </a:r>
          </a:p>
        </p:txBody>
      </p:sp>
      <p:sp>
        <p:nvSpPr>
          <p:cNvPr id="78" name="TextBox 37">
            <a:extLst>
              <a:ext uri="{FF2B5EF4-FFF2-40B4-BE49-F238E27FC236}">
                <a16:creationId xmlns:a16="http://schemas.microsoft.com/office/drawing/2014/main" id="{C99E774A-A44B-3EAE-7150-73511400AA32}"/>
              </a:ext>
            </a:extLst>
          </p:cNvPr>
          <p:cNvSpPr txBox="1"/>
          <p:nvPr/>
        </p:nvSpPr>
        <p:spPr>
          <a:xfrm>
            <a:off x="8875737" y="6046253"/>
            <a:ext cx="182742" cy="27508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409076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2937"/>
                </a:solidFill>
              </a:rPr>
              <a:t>Trân trọng cảm ơn!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Em xin cảm ơn Hội đồng đã lắng nghe phần trình bày.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</a:rPr>
              <a:t>Em rất mong nhận được nhận xét và câu hỏi từ Hội đồng.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C00000"/>
                </a:solidFill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</TotalTime>
  <Words>2637</Words>
  <Application>Microsoft Macintosh PowerPoint</Application>
  <PresentationFormat>On-screen Show (4:3)</PresentationFormat>
  <Paragraphs>297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Calibri</vt:lpstr>
      <vt:lpstr>Canva Sans</vt:lpstr>
      <vt:lpstr>Canva Sans Bold</vt:lpstr>
      <vt:lpstr>Gotham</vt:lpstr>
      <vt:lpstr>Gotham Bold</vt:lpstr>
      <vt:lpstr>Lato</vt:lpstr>
      <vt:lpstr>Office Theme</vt:lpstr>
      <vt:lpstr>PHẦN MỀM QUẢN LÝ KHEN THƯỞNG</vt:lpstr>
      <vt:lpstr>PowerPoint Presentation</vt:lpstr>
      <vt:lpstr>Nội dung trình bày</vt:lpstr>
      <vt:lpstr>Nội dung trình bày</vt:lpstr>
      <vt:lpstr>PHẦN I — Mở đầu</vt:lpstr>
      <vt:lpstr>Mục tiêu của đồ án</vt:lpstr>
      <vt:lpstr>Mục tiêu của đồ án</vt:lpstr>
      <vt:lpstr>Hệ thống khen thưởng</vt:lpstr>
      <vt:lpstr>Chuỗi danh hiệu hằng năm</vt:lpstr>
      <vt:lpstr>Chuỗi danh hiệu hằng năm</vt:lpstr>
      <vt:lpstr>Chuỗi danh hiệu hằng năm</vt:lpstr>
      <vt:lpstr>Các danh hiệu dài hạn</vt:lpstr>
      <vt:lpstr>Các danh hiệu dài hạn</vt:lpstr>
      <vt:lpstr>Các danh hiệu dài hạn</vt:lpstr>
      <vt:lpstr>Phân tích bài toán — bốn thách thức cốt lõi</vt:lpstr>
      <vt:lpstr>PHẦN II — Công nghệ &amp; Thiết kế</vt:lpstr>
      <vt:lpstr>Công nghệ sử dụng</vt:lpstr>
      <vt:lpstr>Kiến trúc tổng quan hệ thống</vt:lpstr>
      <vt:lpstr>Thiết kế cơ sở dữ liệu</vt:lpstr>
      <vt:lpstr>Sơ đồ ERD tổng quan</vt:lpstr>
      <vt:lpstr>ERD — Tổ chức, Quân nhân, Tài khoản</vt:lpstr>
      <vt:lpstr>ERD — Đề xuất khen thưởng</vt:lpstr>
      <vt:lpstr>ERD — Khen thưởng &amp; hồ sơ cá nhân</vt:lpstr>
      <vt:lpstr>ERD — Khen thưởng &amp; hồ sơ đơn vị</vt:lpstr>
      <vt:lpstr>ERD — Quyết định</vt:lpstr>
      <vt:lpstr>ERD — Hệ thống</vt:lpstr>
      <vt:lpstr>Phân tích chức năng — Use-case</vt:lpstr>
      <vt:lpstr>Quy trình duyệt đề xuất</vt:lpstr>
      <vt:lpstr>Kiến trúc phần mềm — Strategy pattern</vt:lpstr>
      <vt:lpstr>PHẦN III — Các đóng góp nổi bật</vt:lpstr>
      <vt:lpstr>Tự động xét điều kiện &amp; gợi ý chủ động</vt:lpstr>
      <vt:lpstr>Số hoá quy trình đề xuất &amp; lưu vết</vt:lpstr>
      <vt:lpstr>Nhập Excel hàng loạt có giao dịch</vt:lpstr>
      <vt:lpstr>Lưu vết đầy đủ, sao lưu định kỳ &amp; thông báo</vt:lpstr>
      <vt:lpstr>PHẦN IV — Đánh giá &amp; Tổng kết</vt:lpstr>
      <vt:lpstr>Kiểm thử và triển khai</vt:lpstr>
      <vt:lpstr>Kết luận và hướng phát triển</vt:lpstr>
      <vt:lpstr>PowerPoint Presentation</vt:lpstr>
      <vt:lpstr>PowerPoint Presentation</vt:lpstr>
      <vt:lpstr>Trân trọng cảm ơn!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Tran Anh Duc 20220120</cp:lastModifiedBy>
  <cp:revision>15</cp:revision>
  <dcterms:created xsi:type="dcterms:W3CDTF">2021-05-28T04:32:29Z</dcterms:created>
  <dcterms:modified xsi:type="dcterms:W3CDTF">2026-06-18T00:25:05Z</dcterms:modified>
</cp:coreProperties>
</file>