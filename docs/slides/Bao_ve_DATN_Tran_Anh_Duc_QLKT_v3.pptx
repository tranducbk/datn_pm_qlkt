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58" r:id="rId1"/>
  </p:sldMasterIdLst>
  <p:notesMasterIdLst>
    <p:notesMasterId r:id="rId33"/>
  </p:notesMasterIdLst>
  <p:handoutMasterIdLst>
    <p:handoutMasterId r:id="rId34"/>
  </p:handoutMasterIdLst>
  <p:sldIdLst>
    <p:sldId id="277" r:id="rId2"/>
    <p:sldId id="278" r:id="rId3"/>
    <p:sldId id="279" r:id="rId4"/>
    <p:sldId id="280" r:id="rId5"/>
    <p:sldId id="281" r:id="rId6"/>
    <p:sldId id="282" r:id="rId7"/>
    <p:sldId id="283" r:id="rId8"/>
    <p:sldId id="284" r:id="rId9"/>
    <p:sldId id="285" r:id="rId10"/>
    <p:sldId id="286" r:id="rId11"/>
    <p:sldId id="287" r:id="rId12"/>
    <p:sldId id="288" r:id="rId13"/>
    <p:sldId id="289" r:id="rId14"/>
    <p:sldId id="290" r:id="rId15"/>
    <p:sldId id="291" r:id="rId16"/>
    <p:sldId id="292" r:id="rId17"/>
    <p:sldId id="293" r:id="rId18"/>
    <p:sldId id="294" r:id="rId19"/>
    <p:sldId id="295" r:id="rId20"/>
    <p:sldId id="296" r:id="rId21"/>
    <p:sldId id="297" r:id="rId22"/>
    <p:sldId id="298" r:id="rId23"/>
    <p:sldId id="299" r:id="rId24"/>
    <p:sldId id="300" r:id="rId25"/>
    <p:sldId id="301" r:id="rId26"/>
    <p:sldId id="302" r:id="rId27"/>
    <p:sldId id="303" r:id="rId28"/>
    <p:sldId id="304" r:id="rId29"/>
    <p:sldId id="305" r:id="rId30"/>
    <p:sldId id="306" r:id="rId31"/>
    <p:sldId id="307" r:id="rId32"/>
  </p:sldIdLst>
  <p:sldSz cx="9144000" cy="6858000" type="screen4x3"/>
  <p:notesSz cx="6858000" cy="9144000"/>
  <p:embeddedFontLst>
    <p:embeddedFont>
      <p:font typeface="Be Vietnam Pro" pitchFamily="2" charset="77"/>
      <p:regular r:id="rId35"/>
      <p:bold r:id="rId36"/>
      <p:italic r:id="rId37"/>
      <p:boldItalic r:id="rId38"/>
    </p:embeddedFont>
    <p:embeddedFont>
      <p:font typeface="Be Vietnam Pro Black" pitchFamily="2" charset="77"/>
      <p:regular r:id="rId39"/>
      <p:bold r:id="rId40"/>
      <p:italic r:id="rId41"/>
      <p:boldItalic r:id="rId42"/>
    </p:embeddedFont>
    <p:embeddedFont>
      <p:font typeface="Be Vietnam Pro ExtraBold" pitchFamily="2" charset="77"/>
      <p:regular r:id="rId43"/>
      <p:bold r:id="rId44"/>
      <p:italic r:id="rId45"/>
      <p:boldItalic r:id="rId46"/>
    </p:embeddedFont>
    <p:embeddedFont>
      <p:font typeface="Be Vietnam Pro SemiBold" pitchFamily="2" charset="77"/>
      <p:regular r:id="rId47"/>
      <p:bold r:id="rId48"/>
      <p:italic r:id="rId49"/>
      <p:boldItalic r:id="rId50"/>
    </p:embeddedFont>
    <p:embeddedFont>
      <p:font typeface="Consolas" panose="020B0609020204030204" pitchFamily="49" charset="0"/>
      <p:regular r:id="rId51"/>
      <p:bold r:id="rId52"/>
      <p:italic r:id="rId53"/>
      <p:boldItalic r:id="rId54"/>
    </p:embeddedFont>
    <p:embeddedFont>
      <p:font typeface="Lato" panose="020F0502020204030203" pitchFamily="34" charset="0"/>
      <p:regular r:id="rId55"/>
      <p:bold r:id="rId56"/>
      <p:italic r:id="rId57"/>
      <p:boldItalic r:id="rId58"/>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30217" autoAdjust="0"/>
    <p:restoredTop sz="94660"/>
  </p:normalViewPr>
  <p:slideViewPr>
    <p:cSldViewPr snapToGrid="0">
      <p:cViewPr>
        <p:scale>
          <a:sx n="64" d="100"/>
          <a:sy n="64" d="100"/>
        </p:scale>
        <p:origin x="224" y="16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5.fntdata"/><Relationship Id="rId21" Type="http://schemas.openxmlformats.org/officeDocument/2006/relationships/slide" Target="slides/slide20.xml"/><Relationship Id="rId34" Type="http://schemas.openxmlformats.org/officeDocument/2006/relationships/handoutMaster" Target="handoutMasters/handoutMaster1.xml"/><Relationship Id="rId42" Type="http://schemas.openxmlformats.org/officeDocument/2006/relationships/font" Target="fonts/font8.fntdata"/><Relationship Id="rId47" Type="http://schemas.openxmlformats.org/officeDocument/2006/relationships/font" Target="fonts/font13.fntdata"/><Relationship Id="rId50" Type="http://schemas.openxmlformats.org/officeDocument/2006/relationships/font" Target="fonts/font16.fntdata"/><Relationship Id="rId55" Type="http://schemas.openxmlformats.org/officeDocument/2006/relationships/font" Target="fonts/font21.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3.fntdata"/><Relationship Id="rId40" Type="http://schemas.openxmlformats.org/officeDocument/2006/relationships/font" Target="fonts/font6.fntdata"/><Relationship Id="rId45" Type="http://schemas.openxmlformats.org/officeDocument/2006/relationships/font" Target="fonts/font11.fntdata"/><Relationship Id="rId53" Type="http://schemas.openxmlformats.org/officeDocument/2006/relationships/font" Target="fonts/font19.fntdata"/><Relationship Id="rId58" Type="http://schemas.openxmlformats.org/officeDocument/2006/relationships/font" Target="fonts/font24.fntdata"/><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1.fntdata"/><Relationship Id="rId43" Type="http://schemas.openxmlformats.org/officeDocument/2006/relationships/font" Target="fonts/font9.fntdata"/><Relationship Id="rId48" Type="http://schemas.openxmlformats.org/officeDocument/2006/relationships/font" Target="fonts/font14.fntdata"/><Relationship Id="rId56" Type="http://schemas.openxmlformats.org/officeDocument/2006/relationships/font" Target="fonts/font22.fntdata"/><Relationship Id="rId8" Type="http://schemas.openxmlformats.org/officeDocument/2006/relationships/slide" Target="slides/slide7.xml"/><Relationship Id="rId51" Type="http://schemas.openxmlformats.org/officeDocument/2006/relationships/font" Target="fonts/font17.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font" Target="fonts/font4.fntdata"/><Relationship Id="rId46" Type="http://schemas.openxmlformats.org/officeDocument/2006/relationships/font" Target="fonts/font12.fntdata"/><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font" Target="fonts/font7.fntdata"/><Relationship Id="rId54" Type="http://schemas.openxmlformats.org/officeDocument/2006/relationships/font" Target="fonts/font20.fntdata"/><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2.fntdata"/><Relationship Id="rId49" Type="http://schemas.openxmlformats.org/officeDocument/2006/relationships/font" Target="fonts/font15.fntdata"/><Relationship Id="rId57" Type="http://schemas.openxmlformats.org/officeDocument/2006/relationships/font" Target="fonts/font23.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font" Target="fonts/font10.fntdata"/><Relationship Id="rId52" Type="http://schemas.openxmlformats.org/officeDocument/2006/relationships/font" Target="fonts/font18.fntdata"/><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5EAC724-B034-4F10-A9E8-56851A79B80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20872BB-3892-4F66-9266-36ADB83FAD5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8B45424-6BAC-416C-8F6C-5F9DE854A36B}" type="datetimeFigureOut">
              <a:rPr lang="en-US" smtClean="0"/>
              <a:t>6/17/26</a:t>
            </a:fld>
            <a:endParaRPr lang="en-US"/>
          </a:p>
        </p:txBody>
      </p:sp>
      <p:sp>
        <p:nvSpPr>
          <p:cNvPr id="4" name="Footer Placeholder 3">
            <a:extLst>
              <a:ext uri="{FF2B5EF4-FFF2-40B4-BE49-F238E27FC236}">
                <a16:creationId xmlns:a16="http://schemas.microsoft.com/office/drawing/2014/main" id="{0ACA138F-B9BA-4997-B3C2-DA8B17B6D5B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5EE86FBF-0AC4-4904-8ED7-0BD6E9AC71D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E34D737-83BD-4FDE-8CF3-8BC01E7FCF39}" type="slidenum">
              <a:rPr lang="en-US" smtClean="0"/>
              <a:t>‹#›</a:t>
            </a:fld>
            <a:endParaRPr lang="en-US"/>
          </a:p>
        </p:txBody>
      </p:sp>
    </p:spTree>
    <p:extLst>
      <p:ext uri="{BB962C8B-B14F-4D97-AF65-F5344CB8AC3E}">
        <p14:creationId xmlns:p14="http://schemas.microsoft.com/office/powerpoint/2010/main" val="408907374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733702-C25A-40B9-9167-54BAA79B29B0}" type="datetimeFigureOut">
              <a:rPr lang="en-US" smtClean="0"/>
              <a:t>6/17/26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2FC7A4-3D1B-482D-8C9D-7642A2CE3076}" type="slidenum">
              <a:rPr lang="en-US" smtClean="0"/>
              <a:t>‹#›</a:t>
            </a:fld>
            <a:endParaRPr lang="en-US"/>
          </a:p>
        </p:txBody>
      </p:sp>
    </p:spTree>
    <p:extLst>
      <p:ext uri="{BB962C8B-B14F-4D97-AF65-F5344CB8AC3E}">
        <p14:creationId xmlns:p14="http://schemas.microsoft.com/office/powerpoint/2010/main" val="398192653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Custom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159802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6">
            <a:extLst>
              <a:ext uri="{FF2B5EF4-FFF2-40B4-BE49-F238E27FC236}">
                <a16:creationId xmlns:a16="http://schemas.microsoft.com/office/drawing/2014/main" id="{C5DD3B49-F775-49FC-ACAD-45B074D1C945}"/>
              </a:ext>
            </a:extLst>
          </p:cNvPr>
          <p:cNvSpPr>
            <a:spLocks noGrp="1"/>
          </p:cNvSpPr>
          <p:nvPr>
            <p:ph type="title" hasCustomPrompt="1"/>
          </p:nvPr>
        </p:nvSpPr>
        <p:spPr>
          <a:xfrm>
            <a:off x="2380488" y="2365248"/>
            <a:ext cx="4383024" cy="2127504"/>
          </a:xfrm>
          <a:prstGeom prst="rect">
            <a:avLst/>
          </a:prstGeom>
        </p:spPr>
        <p:txBody>
          <a:bodyPr/>
          <a:lstStyle>
            <a:lvl1pPr algn="ctr">
              <a:defRPr sz="4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CLICK TO EDIT MASTER TITLE STYLE</a:t>
            </a:r>
          </a:p>
        </p:txBody>
      </p:sp>
    </p:spTree>
    <p:extLst>
      <p:ext uri="{BB962C8B-B14F-4D97-AF65-F5344CB8AC3E}">
        <p14:creationId xmlns:p14="http://schemas.microsoft.com/office/powerpoint/2010/main" val="6788040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264949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B30FC03-A82E-4B34-AE4B-8AC40A0CD5B2}"/>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6/17/26</a:t>
            </a:fld>
            <a:endParaRPr lang="en-US"/>
          </a:p>
        </p:txBody>
      </p:sp>
      <p:sp>
        <p:nvSpPr>
          <p:cNvPr id="5" name="Footer Placeholder 4">
            <a:extLst>
              <a:ext uri="{FF2B5EF4-FFF2-40B4-BE49-F238E27FC236}">
                <a16:creationId xmlns:a16="http://schemas.microsoft.com/office/drawing/2014/main" id="{D149FB7E-C73B-452D-861A-6C73FF59EC96}"/>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6" name="Slide Number Placeholder 5">
            <a:extLst>
              <a:ext uri="{FF2B5EF4-FFF2-40B4-BE49-F238E27FC236}">
                <a16:creationId xmlns:a16="http://schemas.microsoft.com/office/drawing/2014/main" id="{8A5733BD-32DD-483E-A597-B70529CBDA53}"/>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0" name="Title 6">
            <a:extLst>
              <a:ext uri="{FF2B5EF4-FFF2-40B4-BE49-F238E27FC236}">
                <a16:creationId xmlns:a16="http://schemas.microsoft.com/office/drawing/2014/main" id="{44DCE4FD-DEE1-4DE9-A40E-616ACEB2FECC}"/>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1: ………………………………………</a:t>
            </a:r>
          </a:p>
        </p:txBody>
      </p:sp>
      <p:sp>
        <p:nvSpPr>
          <p:cNvPr id="11" name="Content Placeholder 8">
            <a:extLst>
              <a:ext uri="{FF2B5EF4-FFF2-40B4-BE49-F238E27FC236}">
                <a16:creationId xmlns:a16="http://schemas.microsoft.com/office/drawing/2014/main" id="{90DFCEB3-810D-48E5-B7BA-1A6C924A64A4}"/>
              </a:ext>
            </a:extLst>
          </p:cNvPr>
          <p:cNvSpPr>
            <a:spLocks noGrp="1"/>
          </p:cNvSpPr>
          <p:nvPr>
            <p:ph sz="quarter" idx="13"/>
          </p:nvPr>
        </p:nvSpPr>
        <p:spPr>
          <a:xfrm>
            <a:off x="235077" y="841247"/>
            <a:ext cx="8674100" cy="5303393"/>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675470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1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Date Placeholder 3">
            <a:extLst>
              <a:ext uri="{FF2B5EF4-FFF2-40B4-BE49-F238E27FC236}">
                <a16:creationId xmlns:a16="http://schemas.microsoft.com/office/drawing/2014/main" id="{1D2FCDAA-D1AE-440A-ADEA-98F1ACB06478}"/>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6/17/26</a:t>
            </a:fld>
            <a:endParaRPr lang="en-US"/>
          </a:p>
        </p:txBody>
      </p:sp>
      <p:sp>
        <p:nvSpPr>
          <p:cNvPr id="15" name="Footer Placeholder 4">
            <a:extLst>
              <a:ext uri="{FF2B5EF4-FFF2-40B4-BE49-F238E27FC236}">
                <a16:creationId xmlns:a16="http://schemas.microsoft.com/office/drawing/2014/main" id="{C4186984-389F-440C-BD79-8D1349BD856E}"/>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7" name="Content Placeholder 2">
            <a:extLst>
              <a:ext uri="{FF2B5EF4-FFF2-40B4-BE49-F238E27FC236}">
                <a16:creationId xmlns:a16="http://schemas.microsoft.com/office/drawing/2014/main" id="{03483232-D29A-4255-9149-0177F8785818}"/>
              </a:ext>
            </a:extLst>
          </p:cNvPr>
          <p:cNvSpPr>
            <a:spLocks noGrp="1"/>
          </p:cNvSpPr>
          <p:nvPr>
            <p:ph sz="half" idx="1"/>
          </p:nvPr>
        </p:nvSpPr>
        <p:spPr>
          <a:xfrm>
            <a:off x="528828"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A1BAF8AD-67D8-46AD-A292-05589E827344}"/>
              </a:ext>
            </a:extLst>
          </p:cNvPr>
          <p:cNvSpPr>
            <a:spLocks noGrp="1"/>
          </p:cNvSpPr>
          <p:nvPr>
            <p:ph sz="half" idx="2"/>
          </p:nvPr>
        </p:nvSpPr>
        <p:spPr>
          <a:xfrm>
            <a:off x="4572000"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Title 6">
            <a:extLst>
              <a:ext uri="{FF2B5EF4-FFF2-40B4-BE49-F238E27FC236}">
                <a16:creationId xmlns:a16="http://schemas.microsoft.com/office/drawing/2014/main" id="{EFD61387-9809-4E21-B8EA-93815E5E8F6F}"/>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2: ………………………………………</a:t>
            </a:r>
          </a:p>
        </p:txBody>
      </p:sp>
    </p:spTree>
    <p:extLst>
      <p:ext uri="{BB962C8B-B14F-4D97-AF65-F5344CB8AC3E}">
        <p14:creationId xmlns:p14="http://schemas.microsoft.com/office/powerpoint/2010/main" val="3148809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007929A3-17ED-41F3-AD36-819BC9DFBCB6}"/>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6/17/26</a:t>
            </a:fld>
            <a:endParaRPr lang="en-US"/>
          </a:p>
        </p:txBody>
      </p:sp>
      <p:sp>
        <p:nvSpPr>
          <p:cNvPr id="8" name="Footer Placeholder 4">
            <a:extLst>
              <a:ext uri="{FF2B5EF4-FFF2-40B4-BE49-F238E27FC236}">
                <a16:creationId xmlns:a16="http://schemas.microsoft.com/office/drawing/2014/main" id="{4973EE95-672F-4E5A-A918-2F51DB2C3ACB}"/>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9" name="Slide Number Placeholder 5">
            <a:extLst>
              <a:ext uri="{FF2B5EF4-FFF2-40B4-BE49-F238E27FC236}">
                <a16:creationId xmlns:a16="http://schemas.microsoft.com/office/drawing/2014/main" id="{2B17F6F6-0CA3-4D52-AA3D-7CF8ADE793B6}"/>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1" name="Title 6">
            <a:extLst>
              <a:ext uri="{FF2B5EF4-FFF2-40B4-BE49-F238E27FC236}">
                <a16:creationId xmlns:a16="http://schemas.microsoft.com/office/drawing/2014/main" id="{943CD72D-5295-43E4-B175-0EA61084ADC7}"/>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3: ………………………………………</a:t>
            </a:r>
          </a:p>
        </p:txBody>
      </p:sp>
      <p:sp>
        <p:nvSpPr>
          <p:cNvPr id="16" name="Text Placeholder 11">
            <a:extLst>
              <a:ext uri="{FF2B5EF4-FFF2-40B4-BE49-F238E27FC236}">
                <a16:creationId xmlns:a16="http://schemas.microsoft.com/office/drawing/2014/main" id="{0C9A3A79-B187-4A33-8EBB-92ECD8BA3C59}"/>
              </a:ext>
            </a:extLst>
          </p:cNvPr>
          <p:cNvSpPr>
            <a:spLocks noGrp="1"/>
          </p:cNvSpPr>
          <p:nvPr>
            <p:ph type="body" sz="quarter" idx="13"/>
          </p:nvPr>
        </p:nvSpPr>
        <p:spPr>
          <a:xfrm>
            <a:off x="234950" y="963168"/>
            <a:ext cx="8674100" cy="5132832"/>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179857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Date Placeholder 3">
            <a:extLst>
              <a:ext uri="{FF2B5EF4-FFF2-40B4-BE49-F238E27FC236}">
                <a16:creationId xmlns:a16="http://schemas.microsoft.com/office/drawing/2014/main" id="{1D2FCDAA-D1AE-440A-ADEA-98F1ACB06478}"/>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6/17/26</a:t>
            </a:fld>
            <a:endParaRPr lang="en-US"/>
          </a:p>
        </p:txBody>
      </p:sp>
      <p:sp>
        <p:nvSpPr>
          <p:cNvPr id="15" name="Footer Placeholder 4">
            <a:extLst>
              <a:ext uri="{FF2B5EF4-FFF2-40B4-BE49-F238E27FC236}">
                <a16:creationId xmlns:a16="http://schemas.microsoft.com/office/drawing/2014/main" id="{C4186984-389F-440C-BD79-8D1349BD856E}"/>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7" name="Content Placeholder 2">
            <a:extLst>
              <a:ext uri="{FF2B5EF4-FFF2-40B4-BE49-F238E27FC236}">
                <a16:creationId xmlns:a16="http://schemas.microsoft.com/office/drawing/2014/main" id="{03483232-D29A-4255-9149-0177F8785818}"/>
              </a:ext>
            </a:extLst>
          </p:cNvPr>
          <p:cNvSpPr>
            <a:spLocks noGrp="1"/>
          </p:cNvSpPr>
          <p:nvPr>
            <p:ph sz="half" idx="1"/>
          </p:nvPr>
        </p:nvSpPr>
        <p:spPr>
          <a:xfrm>
            <a:off x="528828"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A1BAF8AD-67D8-46AD-A292-05589E827344}"/>
              </a:ext>
            </a:extLst>
          </p:cNvPr>
          <p:cNvSpPr>
            <a:spLocks noGrp="1"/>
          </p:cNvSpPr>
          <p:nvPr>
            <p:ph sz="half" idx="2"/>
          </p:nvPr>
        </p:nvSpPr>
        <p:spPr>
          <a:xfrm>
            <a:off x="4572000"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Title 6">
            <a:extLst>
              <a:ext uri="{FF2B5EF4-FFF2-40B4-BE49-F238E27FC236}">
                <a16:creationId xmlns:a16="http://schemas.microsoft.com/office/drawing/2014/main" id="{EFD61387-9809-4E21-B8EA-93815E5E8F6F}"/>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4: ………………………………………</a:t>
            </a:r>
          </a:p>
        </p:txBody>
      </p:sp>
    </p:spTree>
    <p:extLst>
      <p:ext uri="{BB962C8B-B14F-4D97-AF65-F5344CB8AC3E}">
        <p14:creationId xmlns:p14="http://schemas.microsoft.com/office/powerpoint/2010/main" val="13534025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1_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Title 6">
            <a:extLst>
              <a:ext uri="{FF2B5EF4-FFF2-40B4-BE49-F238E27FC236}">
                <a16:creationId xmlns:a16="http://schemas.microsoft.com/office/drawing/2014/main" id="{689FBFE6-E7AD-40DE-88B8-794C73F956C5}"/>
              </a:ext>
            </a:extLst>
          </p:cNvPr>
          <p:cNvSpPr>
            <a:spLocks noGrp="1"/>
          </p:cNvSpPr>
          <p:nvPr>
            <p:ph type="title" hasCustomPrompt="1"/>
          </p:nvPr>
        </p:nvSpPr>
        <p:spPr>
          <a:xfrm>
            <a:off x="3511295" y="224917"/>
            <a:ext cx="5397627" cy="451739"/>
          </a:xfrm>
          <a:prstGeom prst="rect">
            <a:avLst/>
          </a:prstGeom>
        </p:spPr>
        <p:txBody>
          <a:bodyPr/>
          <a:lstStyle>
            <a:lvl1pPr>
              <a:defRPr sz="2800" b="1">
                <a:solidFill>
                  <a:schemeClr val="tx1"/>
                </a:solidFill>
                <a:latin typeface="Lato" panose="020F0502020204030203" pitchFamily="34" charset="0"/>
                <a:ea typeface="Lato" panose="020F0502020204030203" pitchFamily="34" charset="0"/>
                <a:cs typeface="Lato" panose="020F0502020204030203" pitchFamily="34" charset="0"/>
              </a:defRPr>
            </a:lvl1pPr>
          </a:lstStyle>
          <a:p>
            <a:r>
              <a:rPr lang="en-US" dirty="0"/>
              <a:t>Title 5: ……………………………………</a:t>
            </a:r>
          </a:p>
        </p:txBody>
      </p:sp>
      <p:sp>
        <p:nvSpPr>
          <p:cNvPr id="12" name="Text Placeholder 7">
            <a:extLst>
              <a:ext uri="{FF2B5EF4-FFF2-40B4-BE49-F238E27FC236}">
                <a16:creationId xmlns:a16="http://schemas.microsoft.com/office/drawing/2014/main" id="{1C2ED7A5-CBB5-4B5C-BD2A-3596087A71FA}"/>
              </a:ext>
            </a:extLst>
          </p:cNvPr>
          <p:cNvSpPr>
            <a:spLocks noGrp="1"/>
          </p:cNvSpPr>
          <p:nvPr>
            <p:ph type="body" sz="quarter" idx="13"/>
          </p:nvPr>
        </p:nvSpPr>
        <p:spPr>
          <a:xfrm>
            <a:off x="3524251" y="1011238"/>
            <a:ext cx="5384672" cy="5529262"/>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Date Placeholder 3">
            <a:extLst>
              <a:ext uri="{FF2B5EF4-FFF2-40B4-BE49-F238E27FC236}">
                <a16:creationId xmlns:a16="http://schemas.microsoft.com/office/drawing/2014/main" id="{E21F2271-B488-4DC9-A50E-592D82F22CE9}"/>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bg1">
                    <a:lumMod val="95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6/17/26</a:t>
            </a:fld>
            <a:endParaRPr lang="en-US"/>
          </a:p>
        </p:txBody>
      </p:sp>
      <p:sp>
        <p:nvSpPr>
          <p:cNvPr id="14" name="Footer Placeholder 4">
            <a:extLst>
              <a:ext uri="{FF2B5EF4-FFF2-40B4-BE49-F238E27FC236}">
                <a16:creationId xmlns:a16="http://schemas.microsoft.com/office/drawing/2014/main" id="{706E966D-F219-41DE-82BF-3F3121B7DCCC}"/>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5" name="Slide Number Placeholder 5">
            <a:extLst>
              <a:ext uri="{FF2B5EF4-FFF2-40B4-BE49-F238E27FC236}">
                <a16:creationId xmlns:a16="http://schemas.microsoft.com/office/drawing/2014/main" id="{AF61A491-C108-489A-B2EA-9FC27DAD4D2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Tree>
    <p:extLst>
      <p:ext uri="{BB962C8B-B14F-4D97-AF65-F5344CB8AC3E}">
        <p14:creationId xmlns:p14="http://schemas.microsoft.com/office/powerpoint/2010/main" val="33133887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6">
            <a:extLst>
              <a:ext uri="{FF2B5EF4-FFF2-40B4-BE49-F238E27FC236}">
                <a16:creationId xmlns:a16="http://schemas.microsoft.com/office/drawing/2014/main" id="{74BADCE4-794A-4B69-9AB7-3D794A1F9A49}"/>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6: ………………………………………</a:t>
            </a:r>
          </a:p>
        </p:txBody>
      </p:sp>
      <p:sp>
        <p:nvSpPr>
          <p:cNvPr id="14" name="Content Placeholder 2">
            <a:extLst>
              <a:ext uri="{FF2B5EF4-FFF2-40B4-BE49-F238E27FC236}">
                <a16:creationId xmlns:a16="http://schemas.microsoft.com/office/drawing/2014/main" id="{38375D86-D290-4003-A314-C916116C4238}"/>
              </a:ext>
            </a:extLst>
          </p:cNvPr>
          <p:cNvSpPr>
            <a:spLocks noGrp="1"/>
          </p:cNvSpPr>
          <p:nvPr>
            <p:ph sz="half" idx="1"/>
          </p:nvPr>
        </p:nvSpPr>
        <p:spPr>
          <a:xfrm>
            <a:off x="595884"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3">
            <a:extLst>
              <a:ext uri="{FF2B5EF4-FFF2-40B4-BE49-F238E27FC236}">
                <a16:creationId xmlns:a16="http://schemas.microsoft.com/office/drawing/2014/main" id="{FB62406B-26DB-4A01-B048-1F2C7540F82F}"/>
              </a:ext>
            </a:extLst>
          </p:cNvPr>
          <p:cNvSpPr>
            <a:spLocks noGrp="1"/>
          </p:cNvSpPr>
          <p:nvPr>
            <p:ph sz="half" idx="2"/>
          </p:nvPr>
        </p:nvSpPr>
        <p:spPr>
          <a:xfrm>
            <a:off x="4639056"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Date Placeholder 3">
            <a:extLst>
              <a:ext uri="{FF2B5EF4-FFF2-40B4-BE49-F238E27FC236}">
                <a16:creationId xmlns:a16="http://schemas.microsoft.com/office/drawing/2014/main" id="{A52862E5-D8E1-49BF-8D1B-BF0ED6579EA7}"/>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6/17/26</a:t>
            </a:fld>
            <a:endParaRPr lang="en-US"/>
          </a:p>
        </p:txBody>
      </p:sp>
      <p:sp>
        <p:nvSpPr>
          <p:cNvPr id="17" name="Footer Placeholder 4">
            <a:extLst>
              <a:ext uri="{FF2B5EF4-FFF2-40B4-BE49-F238E27FC236}">
                <a16:creationId xmlns:a16="http://schemas.microsoft.com/office/drawing/2014/main" id="{591AAF74-01FB-49A8-9375-959140F1D0E6}"/>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8" name="Slide Number Placeholder 5">
            <a:extLst>
              <a:ext uri="{FF2B5EF4-FFF2-40B4-BE49-F238E27FC236}">
                <a16:creationId xmlns:a16="http://schemas.microsoft.com/office/drawing/2014/main" id="{BBF4BC2F-980C-499D-A4B9-E7CD3D44754C}"/>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Tree>
    <p:extLst>
      <p:ext uri="{BB962C8B-B14F-4D97-AF65-F5344CB8AC3E}">
        <p14:creationId xmlns:p14="http://schemas.microsoft.com/office/powerpoint/2010/main" val="39385406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007929A3-17ED-41F3-AD36-819BC9DFBCB6}"/>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6/17/26</a:t>
            </a:fld>
            <a:endParaRPr lang="en-US"/>
          </a:p>
        </p:txBody>
      </p:sp>
      <p:sp>
        <p:nvSpPr>
          <p:cNvPr id="8" name="Footer Placeholder 4">
            <a:extLst>
              <a:ext uri="{FF2B5EF4-FFF2-40B4-BE49-F238E27FC236}">
                <a16:creationId xmlns:a16="http://schemas.microsoft.com/office/drawing/2014/main" id="{4973EE95-672F-4E5A-A918-2F51DB2C3ACB}"/>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9" name="Slide Number Placeholder 5">
            <a:extLst>
              <a:ext uri="{FF2B5EF4-FFF2-40B4-BE49-F238E27FC236}">
                <a16:creationId xmlns:a16="http://schemas.microsoft.com/office/drawing/2014/main" id="{2B17F6F6-0CA3-4D52-AA3D-7CF8ADE793B6}"/>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1" name="Title 6">
            <a:extLst>
              <a:ext uri="{FF2B5EF4-FFF2-40B4-BE49-F238E27FC236}">
                <a16:creationId xmlns:a16="http://schemas.microsoft.com/office/drawing/2014/main" id="{943CD72D-5295-43E4-B175-0EA61084ADC7}"/>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7: ………………………………………</a:t>
            </a:r>
          </a:p>
        </p:txBody>
      </p:sp>
      <p:sp>
        <p:nvSpPr>
          <p:cNvPr id="16" name="Text Placeholder 11">
            <a:extLst>
              <a:ext uri="{FF2B5EF4-FFF2-40B4-BE49-F238E27FC236}">
                <a16:creationId xmlns:a16="http://schemas.microsoft.com/office/drawing/2014/main" id="{0C9A3A79-B187-4A33-8EBB-92ECD8BA3C59}"/>
              </a:ext>
            </a:extLst>
          </p:cNvPr>
          <p:cNvSpPr>
            <a:spLocks noGrp="1"/>
          </p:cNvSpPr>
          <p:nvPr>
            <p:ph type="body" sz="quarter" idx="13"/>
          </p:nvPr>
        </p:nvSpPr>
        <p:spPr>
          <a:xfrm>
            <a:off x="234950" y="1227550"/>
            <a:ext cx="8674100" cy="4868449"/>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2342310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_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6">
            <a:extLst>
              <a:ext uri="{FF2B5EF4-FFF2-40B4-BE49-F238E27FC236}">
                <a16:creationId xmlns:a16="http://schemas.microsoft.com/office/drawing/2014/main" id="{74BADCE4-794A-4B69-9AB7-3D794A1F9A49}"/>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8: ………………………………………</a:t>
            </a:r>
          </a:p>
        </p:txBody>
      </p:sp>
      <p:sp>
        <p:nvSpPr>
          <p:cNvPr id="14" name="Content Placeholder 2">
            <a:extLst>
              <a:ext uri="{FF2B5EF4-FFF2-40B4-BE49-F238E27FC236}">
                <a16:creationId xmlns:a16="http://schemas.microsoft.com/office/drawing/2014/main" id="{38375D86-D290-4003-A314-C916116C4238}"/>
              </a:ext>
            </a:extLst>
          </p:cNvPr>
          <p:cNvSpPr>
            <a:spLocks noGrp="1"/>
          </p:cNvSpPr>
          <p:nvPr>
            <p:ph sz="half" idx="1"/>
          </p:nvPr>
        </p:nvSpPr>
        <p:spPr>
          <a:xfrm>
            <a:off x="595884"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3">
            <a:extLst>
              <a:ext uri="{FF2B5EF4-FFF2-40B4-BE49-F238E27FC236}">
                <a16:creationId xmlns:a16="http://schemas.microsoft.com/office/drawing/2014/main" id="{FB62406B-26DB-4A01-B048-1F2C7540F82F}"/>
              </a:ext>
            </a:extLst>
          </p:cNvPr>
          <p:cNvSpPr>
            <a:spLocks noGrp="1"/>
          </p:cNvSpPr>
          <p:nvPr>
            <p:ph sz="half" idx="2"/>
          </p:nvPr>
        </p:nvSpPr>
        <p:spPr>
          <a:xfrm>
            <a:off x="4639056"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Date Placeholder 3">
            <a:extLst>
              <a:ext uri="{FF2B5EF4-FFF2-40B4-BE49-F238E27FC236}">
                <a16:creationId xmlns:a16="http://schemas.microsoft.com/office/drawing/2014/main" id="{A52862E5-D8E1-49BF-8D1B-BF0ED6579EA7}"/>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6/17/26</a:t>
            </a:fld>
            <a:endParaRPr lang="en-US"/>
          </a:p>
        </p:txBody>
      </p:sp>
      <p:sp>
        <p:nvSpPr>
          <p:cNvPr id="17" name="Footer Placeholder 4">
            <a:extLst>
              <a:ext uri="{FF2B5EF4-FFF2-40B4-BE49-F238E27FC236}">
                <a16:creationId xmlns:a16="http://schemas.microsoft.com/office/drawing/2014/main" id="{591AAF74-01FB-49A8-9375-959140F1D0E6}"/>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8" name="Slide Number Placeholder 5">
            <a:extLst>
              <a:ext uri="{FF2B5EF4-FFF2-40B4-BE49-F238E27FC236}">
                <a16:creationId xmlns:a16="http://schemas.microsoft.com/office/drawing/2014/main" id="{BBF4BC2F-980C-499D-A4B9-E7CD3D44754C}"/>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Tree>
    <p:extLst>
      <p:ext uri="{BB962C8B-B14F-4D97-AF65-F5344CB8AC3E}">
        <p14:creationId xmlns:p14="http://schemas.microsoft.com/office/powerpoint/2010/main" val="16290188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007929A3-17ED-41F3-AD36-819BC9DFBCB6}"/>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6/17/26</a:t>
            </a:fld>
            <a:endParaRPr lang="en-US"/>
          </a:p>
        </p:txBody>
      </p:sp>
      <p:sp>
        <p:nvSpPr>
          <p:cNvPr id="8" name="Footer Placeholder 4">
            <a:extLst>
              <a:ext uri="{FF2B5EF4-FFF2-40B4-BE49-F238E27FC236}">
                <a16:creationId xmlns:a16="http://schemas.microsoft.com/office/drawing/2014/main" id="{4973EE95-672F-4E5A-A918-2F51DB2C3ACB}"/>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9" name="Slide Number Placeholder 5">
            <a:extLst>
              <a:ext uri="{FF2B5EF4-FFF2-40B4-BE49-F238E27FC236}">
                <a16:creationId xmlns:a16="http://schemas.microsoft.com/office/drawing/2014/main" id="{2B17F6F6-0CA3-4D52-AA3D-7CF8ADE793B6}"/>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1" name="Title 6">
            <a:extLst>
              <a:ext uri="{FF2B5EF4-FFF2-40B4-BE49-F238E27FC236}">
                <a16:creationId xmlns:a16="http://schemas.microsoft.com/office/drawing/2014/main" id="{943CD72D-5295-43E4-B175-0EA61084ADC7}"/>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9: ………………………………………</a:t>
            </a:r>
          </a:p>
        </p:txBody>
      </p:sp>
      <p:sp>
        <p:nvSpPr>
          <p:cNvPr id="16" name="Text Placeholder 11">
            <a:extLst>
              <a:ext uri="{FF2B5EF4-FFF2-40B4-BE49-F238E27FC236}">
                <a16:creationId xmlns:a16="http://schemas.microsoft.com/office/drawing/2014/main" id="{0C9A3A79-B187-4A33-8EBB-92ECD8BA3C59}"/>
              </a:ext>
            </a:extLst>
          </p:cNvPr>
          <p:cNvSpPr>
            <a:spLocks noGrp="1"/>
          </p:cNvSpPr>
          <p:nvPr>
            <p:ph type="body" sz="quarter" idx="13"/>
          </p:nvPr>
        </p:nvSpPr>
        <p:spPr>
          <a:xfrm>
            <a:off x="234950" y="1164920"/>
            <a:ext cx="8674100" cy="4931079"/>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6664829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Content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Date Placeholder 3">
            <a:extLst>
              <a:ext uri="{FF2B5EF4-FFF2-40B4-BE49-F238E27FC236}">
                <a16:creationId xmlns:a16="http://schemas.microsoft.com/office/drawing/2014/main" id="{76EAE966-F590-4BAF-A55B-75735FCC661F}"/>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bg1">
                    <a:lumMod val="95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6/17/26</a:t>
            </a:fld>
            <a:endParaRPr lang="en-US"/>
          </a:p>
        </p:txBody>
      </p:sp>
      <p:sp>
        <p:nvSpPr>
          <p:cNvPr id="6" name="Footer Placeholder 4">
            <a:extLst>
              <a:ext uri="{FF2B5EF4-FFF2-40B4-BE49-F238E27FC236}">
                <a16:creationId xmlns:a16="http://schemas.microsoft.com/office/drawing/2014/main" id="{C330CA1C-4366-43E8-9DC8-B360FC115AE4}"/>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7" name="Slide Number Placeholder 5">
            <a:extLst>
              <a:ext uri="{FF2B5EF4-FFF2-40B4-BE49-F238E27FC236}">
                <a16:creationId xmlns:a16="http://schemas.microsoft.com/office/drawing/2014/main" id="{72DB13F6-9193-4FE2-AE85-5B96248CC0EA}"/>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Tree>
    <p:extLst>
      <p:ext uri="{BB962C8B-B14F-4D97-AF65-F5344CB8AC3E}">
        <p14:creationId xmlns:p14="http://schemas.microsoft.com/office/powerpoint/2010/main" val="8170462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19895280"/>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83" r:id="rId7"/>
    <p:sldLayoutId id="2147483676" r:id="rId8"/>
    <p:sldLayoutId id="2147483679" r:id="rId9"/>
    <p:sldLayoutId id="2147483680" r:id="rId10"/>
    <p:sldLayoutId id="2147483681" r:id="rId11"/>
    <p:sldLayoutId id="2147483682" r:id="rId12"/>
    <p:sldLayoutId id="2147483678"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9.xml"/><Relationship Id="rId4" Type="http://schemas.openxmlformats.org/officeDocument/2006/relationships/image" Target="../media/image17.jpg"/></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9.xml"/><Relationship Id="rId4" Type="http://schemas.openxmlformats.org/officeDocument/2006/relationships/image" Target="../media/image18.jpg"/></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9.xml"/><Relationship Id="rId4" Type="http://schemas.openxmlformats.org/officeDocument/2006/relationships/image" Target="../media/image19.jpg"/></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9.xml"/><Relationship Id="rId4" Type="http://schemas.openxmlformats.org/officeDocument/2006/relationships/image" Target="../media/image20.jpg"/></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9.xml"/><Relationship Id="rId4" Type="http://schemas.openxmlformats.org/officeDocument/2006/relationships/image" Target="../media/image21.jpg"/></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9.xml"/><Relationship Id="rId4" Type="http://schemas.openxmlformats.org/officeDocument/2006/relationships/image" Target="../media/image22.jpg"/></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9.xml"/><Relationship Id="rId4" Type="http://schemas.openxmlformats.org/officeDocument/2006/relationships/image" Target="../media/image23.jpg"/></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9.xml"/><Relationship Id="rId4" Type="http://schemas.openxmlformats.org/officeDocument/2006/relationships/image" Target="../media/image24.jpg"/></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9.xml"/><Relationship Id="rId4" Type="http://schemas.openxmlformats.org/officeDocument/2006/relationships/image" Target="../media/image25.jpg"/></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9.xml"/><Relationship Id="rId4" Type="http://schemas.openxmlformats.org/officeDocument/2006/relationships/image" Target="../media/image26.jpg"/></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 y="-45720"/>
            <a:ext cx="9235440" cy="6949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motif_dots.png"/>
          <p:cNvPicPr>
            <a:picLocks noChangeAspect="1"/>
          </p:cNvPicPr>
          <p:nvPr/>
        </p:nvPicPr>
        <p:blipFill>
          <a:blip r:embed="rId2">
            <a:alphaModFix amt="90000"/>
          </a:blip>
          <a:stretch>
            <a:fillRect/>
          </a:stretch>
        </p:blipFill>
        <p:spPr>
          <a:xfrm>
            <a:off x="4892040" y="-960120"/>
            <a:ext cx="6126480" cy="4594860"/>
          </a:xfrm>
          <a:prstGeom prst="rect">
            <a:avLst/>
          </a:prstGeom>
        </p:spPr>
      </p:pic>
      <p:pic>
        <p:nvPicPr>
          <p:cNvPr id="4" name="Picture 3" descr="image.png"/>
          <p:cNvPicPr>
            <a:picLocks noChangeAspect="1"/>
          </p:cNvPicPr>
          <p:nvPr/>
        </p:nvPicPr>
        <p:blipFill>
          <a:blip r:embed="rId3"/>
          <a:stretch>
            <a:fillRect/>
          </a:stretch>
        </p:blipFill>
        <p:spPr>
          <a:xfrm>
            <a:off x="548640" y="457200"/>
            <a:ext cx="1583853" cy="475488"/>
          </a:xfrm>
          <a:prstGeom prst="rect">
            <a:avLst/>
          </a:prstGeom>
        </p:spPr>
      </p:pic>
      <p:sp>
        <p:nvSpPr>
          <p:cNvPr id="5" name="Rectangle 4"/>
          <p:cNvSpPr/>
          <p:nvPr/>
        </p:nvSpPr>
        <p:spPr>
          <a:xfrm>
            <a:off x="576072" y="1847088"/>
            <a:ext cx="420624" cy="41148"/>
          </a:xfrm>
          <a:prstGeom prst="rect">
            <a:avLst/>
          </a:prstGeom>
          <a:solidFill>
            <a:srgbClr val="ECA7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15568" y="1673352"/>
            <a:ext cx="5486400" cy="310896"/>
          </a:xfrm>
          <a:prstGeom prst="rect">
            <a:avLst/>
          </a:prstGeom>
          <a:noFill/>
        </p:spPr>
        <p:txBody>
          <a:bodyPr wrap="square" lIns="0" tIns="0" rIns="0" bIns="0" anchor="t">
            <a:spAutoFit/>
          </a:bodyPr>
          <a:lstStyle/>
          <a:p>
            <a:pPr algn="l">
              <a:spcBef>
                <a:spcPts val="0"/>
              </a:spcBef>
              <a:spcAft>
                <a:spcPts val="0"/>
              </a:spcAft>
            </a:pPr>
            <a:r>
              <a:rPr sz="1200" b="0" i="0" spc="130">
                <a:solidFill>
                  <a:srgbClr val="8A0C20"/>
                </a:solidFill>
                <a:latin typeface="Be Vietnam Pro SemiBold"/>
              </a:rPr>
              <a:t>ĐỒ ÁN TỐT NGHIỆP ĐẠI HỌC  ·  NIÊN KHÓA 2025/2026</a:t>
            </a:r>
          </a:p>
        </p:txBody>
      </p:sp>
      <p:sp>
        <p:nvSpPr>
          <p:cNvPr id="7" name="TextBox 6"/>
          <p:cNvSpPr txBox="1"/>
          <p:nvPr/>
        </p:nvSpPr>
        <p:spPr>
          <a:xfrm>
            <a:off x="548640" y="2121408"/>
            <a:ext cx="5532120" cy="1463040"/>
          </a:xfrm>
          <a:prstGeom prst="rect">
            <a:avLst/>
          </a:prstGeom>
          <a:noFill/>
        </p:spPr>
        <p:txBody>
          <a:bodyPr wrap="square" lIns="0" tIns="0" rIns="0" bIns="0" anchor="t">
            <a:spAutoFit/>
          </a:bodyPr>
          <a:lstStyle/>
          <a:p>
            <a:pPr algn="l">
              <a:lnSpc>
                <a:spcPct val="104000"/>
              </a:lnSpc>
              <a:spcBef>
                <a:spcPts val="0"/>
              </a:spcBef>
              <a:spcAft>
                <a:spcPts val="0"/>
              </a:spcAft>
            </a:pPr>
            <a:r>
              <a:rPr sz="4000" b="0" i="0">
                <a:solidFill>
                  <a:srgbClr val="C00000"/>
                </a:solidFill>
                <a:latin typeface="Be Vietnam Pro ExtraBold"/>
              </a:rPr>
              <a:t>PHẦN MỀM QUẢN LÝ</a:t>
            </a:r>
          </a:p>
          <a:p>
            <a:pPr algn="l">
              <a:lnSpc>
                <a:spcPct val="104000"/>
              </a:lnSpc>
              <a:spcBef>
                <a:spcPts val="0"/>
              </a:spcBef>
              <a:spcAft>
                <a:spcPts val="0"/>
              </a:spcAft>
            </a:pPr>
            <a:r>
              <a:rPr sz="4000" b="0" i="0">
                <a:solidFill>
                  <a:srgbClr val="C00000"/>
                </a:solidFill>
                <a:latin typeface="Be Vietnam Pro ExtraBold"/>
              </a:rPr>
              <a:t>KHEN THƯỞNG</a:t>
            </a:r>
          </a:p>
        </p:txBody>
      </p:sp>
      <p:sp>
        <p:nvSpPr>
          <p:cNvPr id="8" name="TextBox 7"/>
          <p:cNvSpPr txBox="1"/>
          <p:nvPr/>
        </p:nvSpPr>
        <p:spPr>
          <a:xfrm>
            <a:off x="576072" y="3529584"/>
            <a:ext cx="5074920" cy="868680"/>
          </a:xfrm>
          <a:prstGeom prst="rect">
            <a:avLst/>
          </a:prstGeom>
          <a:noFill/>
        </p:spPr>
        <p:txBody>
          <a:bodyPr wrap="square" lIns="0" tIns="0" rIns="0" bIns="0" anchor="t">
            <a:spAutoFit/>
          </a:bodyPr>
          <a:lstStyle/>
          <a:p>
            <a:pPr algn="l">
              <a:lnSpc>
                <a:spcPct val="120000"/>
              </a:lnSpc>
              <a:spcBef>
                <a:spcPts val="0"/>
              </a:spcBef>
              <a:spcAft>
                <a:spcPts val="0"/>
              </a:spcAft>
            </a:pPr>
            <a:r>
              <a:rPr sz="1300" b="0" i="0">
                <a:solidFill>
                  <a:srgbClr val="6B7280"/>
                </a:solidFill>
                <a:latin typeface="Be Vietnam Pro"/>
              </a:rPr>
              <a:t>Hệ thống hỗ trợ quản lý, xét duyệt và thống kê khen thưởng: minh bạch, chính xác và hiệu quả.</a:t>
            </a:r>
          </a:p>
        </p:txBody>
      </p:sp>
      <p:sp>
        <p:nvSpPr>
          <p:cNvPr id="9" name="Rectangle 8"/>
          <p:cNvSpPr/>
          <p:nvPr/>
        </p:nvSpPr>
        <p:spPr>
          <a:xfrm>
            <a:off x="594360" y="4370832"/>
            <a:ext cx="1920240" cy="32004"/>
          </a:xfrm>
          <a:prstGeom prst="rect">
            <a:avLst/>
          </a:prstGeom>
          <a:solidFill>
            <a:srgbClr val="ECA7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76072" y="4608576"/>
            <a:ext cx="2743200" cy="914400"/>
          </a:xfrm>
          <a:prstGeom prst="rect">
            <a:avLst/>
          </a:prstGeom>
          <a:noFill/>
        </p:spPr>
        <p:txBody>
          <a:bodyPr wrap="square" lIns="0" tIns="0" rIns="0" bIns="0" anchor="t">
            <a:spAutoFit/>
          </a:bodyPr>
          <a:lstStyle/>
          <a:p>
            <a:pPr algn="l">
              <a:spcBef>
                <a:spcPts val="0"/>
              </a:spcBef>
              <a:spcAft>
                <a:spcPts val="300"/>
              </a:spcAft>
            </a:pPr>
            <a:r>
              <a:rPr sz="900" b="0" i="0" spc="90">
                <a:solidFill>
                  <a:srgbClr val="C00000"/>
                </a:solidFill>
                <a:latin typeface="Be Vietnam Pro SemiBold"/>
              </a:rPr>
              <a:t>SINH VIÊN THỰC HIỆN</a:t>
            </a:r>
          </a:p>
          <a:p>
            <a:pPr algn="l">
              <a:spcBef>
                <a:spcPts val="0"/>
              </a:spcBef>
              <a:spcAft>
                <a:spcPts val="0"/>
              </a:spcAft>
            </a:pPr>
            <a:r>
              <a:rPr sz="1500" b="1" i="0">
                <a:solidFill>
                  <a:srgbClr val="1F2937"/>
                </a:solidFill>
                <a:latin typeface="Be Vietnam Pro"/>
              </a:rPr>
              <a:t>Trần Anh Đức</a:t>
            </a:r>
          </a:p>
          <a:p>
            <a:pPr algn="l">
              <a:spcBef>
                <a:spcPts val="0"/>
              </a:spcBef>
              <a:spcAft>
                <a:spcPts val="0"/>
              </a:spcAft>
            </a:pPr>
            <a:r>
              <a:rPr sz="1050" b="0" i="0">
                <a:solidFill>
                  <a:srgbClr val="6B7280"/>
                </a:solidFill>
                <a:latin typeface="Be Vietnam Pro"/>
              </a:rPr>
              <a:t>MSSV 20220120</a:t>
            </a:r>
          </a:p>
        </p:txBody>
      </p:sp>
      <p:sp>
        <p:nvSpPr>
          <p:cNvPr id="11" name="TextBox 10"/>
          <p:cNvSpPr txBox="1"/>
          <p:nvPr/>
        </p:nvSpPr>
        <p:spPr>
          <a:xfrm>
            <a:off x="3154680" y="4608576"/>
            <a:ext cx="2743200" cy="914400"/>
          </a:xfrm>
          <a:prstGeom prst="rect">
            <a:avLst/>
          </a:prstGeom>
          <a:noFill/>
        </p:spPr>
        <p:txBody>
          <a:bodyPr wrap="square" lIns="0" tIns="0" rIns="0" bIns="0" anchor="t">
            <a:spAutoFit/>
          </a:bodyPr>
          <a:lstStyle/>
          <a:p>
            <a:pPr algn="l">
              <a:spcBef>
                <a:spcPts val="0"/>
              </a:spcBef>
              <a:spcAft>
                <a:spcPts val="300"/>
              </a:spcAft>
            </a:pPr>
            <a:r>
              <a:rPr sz="900" b="0" i="0" spc="90">
                <a:solidFill>
                  <a:srgbClr val="C00000"/>
                </a:solidFill>
                <a:latin typeface="Be Vietnam Pro SemiBold"/>
              </a:rPr>
              <a:t>GIẢNG VIÊN HƯỚNG DẪN</a:t>
            </a:r>
          </a:p>
          <a:p>
            <a:pPr algn="l">
              <a:spcBef>
                <a:spcPts val="0"/>
              </a:spcBef>
              <a:spcAft>
                <a:spcPts val="0"/>
              </a:spcAft>
            </a:pPr>
            <a:r>
              <a:rPr sz="1500" b="1" i="0">
                <a:solidFill>
                  <a:srgbClr val="1F2937"/>
                </a:solidFill>
                <a:latin typeface="Be Vietnam Pro"/>
              </a:rPr>
              <a:t>ThS. Lê Đức Trung</a:t>
            </a:r>
          </a:p>
          <a:p>
            <a:pPr algn="l">
              <a:spcBef>
                <a:spcPts val="0"/>
              </a:spcBef>
              <a:spcAft>
                <a:spcPts val="0"/>
              </a:spcAft>
            </a:pPr>
            <a:r>
              <a:rPr sz="1050" b="0" i="0">
                <a:solidFill>
                  <a:srgbClr val="6B7280"/>
                </a:solidFill>
                <a:latin typeface="Be Vietnam Pro"/>
              </a:rPr>
              <a:t>Giảng viên hướng dẫn</a:t>
            </a:r>
          </a:p>
        </p:txBody>
      </p:sp>
      <p:sp>
        <p:nvSpPr>
          <p:cNvPr id="12" name="Rectangle 11"/>
          <p:cNvSpPr/>
          <p:nvPr/>
        </p:nvSpPr>
        <p:spPr>
          <a:xfrm>
            <a:off x="-45720" y="6272784"/>
            <a:ext cx="9235440" cy="64008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76072" y="6272784"/>
            <a:ext cx="5029200" cy="640080"/>
          </a:xfrm>
          <a:prstGeom prst="rect">
            <a:avLst/>
          </a:prstGeom>
          <a:noFill/>
        </p:spPr>
        <p:txBody>
          <a:bodyPr wrap="square" lIns="0" tIns="0" rIns="0" bIns="0" anchor="ctr">
            <a:spAutoFit/>
          </a:bodyPr>
          <a:lstStyle/>
          <a:p>
            <a:pPr algn="l">
              <a:spcBef>
                <a:spcPts val="0"/>
              </a:spcBef>
              <a:spcAft>
                <a:spcPts val="0"/>
              </a:spcAft>
            </a:pPr>
            <a:r>
              <a:rPr sz="1100" b="0" i="1">
                <a:solidFill>
                  <a:srgbClr val="FFFFFF"/>
                </a:solidFill>
                <a:latin typeface="Be Vietnam Pro"/>
              </a:rPr>
              <a:t>Hà Nội, tháng 5 năm 2026</a:t>
            </a:r>
          </a:p>
        </p:txBody>
      </p:sp>
      <p:sp>
        <p:nvSpPr>
          <p:cNvPr id="14" name="TextBox 13"/>
          <p:cNvSpPr txBox="1"/>
          <p:nvPr/>
        </p:nvSpPr>
        <p:spPr>
          <a:xfrm>
            <a:off x="4572000" y="6272784"/>
            <a:ext cx="4023360" cy="640080"/>
          </a:xfrm>
          <a:prstGeom prst="rect">
            <a:avLst/>
          </a:prstGeom>
          <a:noFill/>
        </p:spPr>
        <p:txBody>
          <a:bodyPr wrap="square" lIns="0" tIns="0" rIns="0" bIns="0" anchor="ctr">
            <a:spAutoFit/>
          </a:bodyPr>
          <a:lstStyle/>
          <a:p>
            <a:pPr algn="r">
              <a:spcBef>
                <a:spcPts val="0"/>
              </a:spcBef>
              <a:spcAft>
                <a:spcPts val="0"/>
              </a:spcAft>
            </a:pPr>
            <a:r>
              <a:rPr sz="1100" b="0" i="0" spc="120">
                <a:solidFill>
                  <a:srgbClr val="FFFFFF"/>
                </a:solidFill>
                <a:latin typeface="Be Vietnam Pro SemiBold"/>
              </a:rPr>
              <a:t>ONE LOVE. ONE FUTURE.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 y="-45720"/>
            <a:ext cx="9235440" cy="6949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 y="-45720"/>
            <a:ext cx="9235440" cy="886968"/>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motif_white.png"/>
          <p:cNvPicPr>
            <a:picLocks noChangeAspect="1"/>
          </p:cNvPicPr>
          <p:nvPr/>
        </p:nvPicPr>
        <p:blipFill>
          <a:blip r:embed="rId2">
            <a:alphaModFix amt="34000"/>
          </a:blip>
          <a:stretch>
            <a:fillRect/>
          </a:stretch>
        </p:blipFill>
        <p:spPr>
          <a:xfrm>
            <a:off x="5989320" y="-1874519"/>
            <a:ext cx="4206240" cy="3154680"/>
          </a:xfrm>
          <a:prstGeom prst="rect">
            <a:avLst/>
          </a:prstGeom>
        </p:spPr>
      </p:pic>
      <p:sp>
        <p:nvSpPr>
          <p:cNvPr id="5" name="Rectangle 4"/>
          <p:cNvSpPr/>
          <p:nvPr/>
        </p:nvSpPr>
        <p:spPr>
          <a:xfrm>
            <a:off x="-45720" y="841248"/>
            <a:ext cx="9235440" cy="96012"/>
          </a:xfrm>
          <a:prstGeom prst="rect">
            <a:avLst/>
          </a:prstGeom>
          <a:solidFill>
            <a:srgbClr val="ECA7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 y="937260"/>
            <a:ext cx="9235440" cy="20116"/>
          </a:xfrm>
          <a:prstGeom prst="rect">
            <a:avLst/>
          </a:prstGeom>
          <a:solidFill>
            <a:srgbClr val="8A0C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8288"/>
            <a:ext cx="5897880" cy="822960"/>
          </a:xfrm>
          <a:prstGeom prst="rect">
            <a:avLst/>
          </a:prstGeom>
          <a:noFill/>
        </p:spPr>
        <p:txBody>
          <a:bodyPr wrap="square" lIns="0" tIns="0" rIns="0" bIns="0" anchor="ctr">
            <a:spAutoFit/>
          </a:bodyPr>
          <a:lstStyle/>
          <a:p>
            <a:pPr algn="l">
              <a:lnSpc>
                <a:spcPct val="96000"/>
              </a:lnSpc>
              <a:spcBef>
                <a:spcPts val="0"/>
              </a:spcBef>
              <a:spcAft>
                <a:spcPts val="0"/>
              </a:spcAft>
            </a:pPr>
            <a:r>
              <a:rPr sz="2300" b="0" i="0">
                <a:solidFill>
                  <a:srgbClr val="FFFFFF"/>
                </a:solidFill>
                <a:latin typeface="Be Vietnam Pro ExtraBold"/>
              </a:rPr>
              <a:t>Nội dung trình bày</a:t>
            </a:r>
          </a:p>
        </p:txBody>
      </p:sp>
      <p:sp>
        <p:nvSpPr>
          <p:cNvPr id="8" name="Rounded Rectangle 7"/>
          <p:cNvSpPr/>
          <p:nvPr/>
        </p:nvSpPr>
        <p:spPr>
          <a:xfrm>
            <a:off x="7677302" y="256032"/>
            <a:ext cx="936345" cy="329184"/>
          </a:xfrm>
          <a:prstGeom prst="roundRect">
            <a:avLst>
              <a:gd name="adj" fmla="val 50000"/>
            </a:avLst>
          </a:prstGeom>
          <a:noFill/>
          <a:ln w="15875">
            <a:solidFill>
              <a:srgbClr val="F2C255"/>
            </a:solid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spcBef>
                <a:spcPts val="0"/>
              </a:spcBef>
              <a:spcAft>
                <a:spcPts val="0"/>
              </a:spcAft>
            </a:pPr>
            <a:r>
              <a:rPr sz="950" b="0" i="0" spc="80">
                <a:solidFill>
                  <a:srgbClr val="FFFFFF"/>
                </a:solidFill>
                <a:latin typeface="Be Vietnam Pro SemiBold"/>
              </a:rPr>
              <a:t>MỞ ĐẦU</a:t>
            </a:r>
          </a:p>
        </p:txBody>
      </p:sp>
      <p:sp>
        <p:nvSpPr>
          <p:cNvPr id="9" name="Rectangle 8"/>
          <p:cNvSpPr/>
          <p:nvPr/>
        </p:nvSpPr>
        <p:spPr>
          <a:xfrm>
            <a:off x="457200" y="6446520"/>
            <a:ext cx="8229600" cy="9144"/>
          </a:xfrm>
          <a:prstGeom prst="rect">
            <a:avLst/>
          </a:prstGeom>
          <a:solidFill>
            <a:srgbClr val="E3C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hust_shield.png"/>
          <p:cNvPicPr>
            <a:picLocks noChangeAspect="1"/>
          </p:cNvPicPr>
          <p:nvPr/>
        </p:nvPicPr>
        <p:blipFill>
          <a:blip r:embed="rId3"/>
          <a:stretch>
            <a:fillRect/>
          </a:stretch>
        </p:blipFill>
        <p:spPr>
          <a:xfrm>
            <a:off x="457200" y="6519672"/>
            <a:ext cx="164822" cy="246888"/>
          </a:xfrm>
          <a:prstGeom prst="rect">
            <a:avLst/>
          </a:prstGeom>
        </p:spPr>
      </p:pic>
      <p:sp>
        <p:nvSpPr>
          <p:cNvPr id="11" name="TextBox 10"/>
          <p:cNvSpPr txBox="1"/>
          <p:nvPr/>
        </p:nvSpPr>
        <p:spPr>
          <a:xfrm>
            <a:off x="713232" y="6501384"/>
            <a:ext cx="4206240" cy="310896"/>
          </a:xfrm>
          <a:prstGeom prst="rect">
            <a:avLst/>
          </a:prstGeom>
          <a:noFill/>
        </p:spPr>
        <p:txBody>
          <a:bodyPr wrap="square" lIns="0" tIns="0" rIns="0" bIns="0" anchor="ctr">
            <a:spAutoFit/>
          </a:bodyPr>
          <a:lstStyle/>
          <a:p>
            <a:pPr algn="l">
              <a:lnSpc>
                <a:spcPct val="94000"/>
              </a:lnSpc>
              <a:spcBef>
                <a:spcPts val="0"/>
              </a:spcBef>
              <a:spcAft>
                <a:spcPts val="0"/>
              </a:spcAft>
            </a:pPr>
            <a:r>
              <a:rPr sz="800" b="0" i="0">
                <a:solidFill>
                  <a:srgbClr val="8A0C20"/>
                </a:solidFill>
                <a:latin typeface="Be Vietnam Pro SemiBold"/>
              </a:rPr>
              <a:t>ĐẠI HỌC BÁCH KHOA HÀ NỘI</a:t>
            </a:r>
          </a:p>
          <a:p>
            <a:pPr algn="l">
              <a:lnSpc>
                <a:spcPct val="94000"/>
              </a:lnSpc>
              <a:spcBef>
                <a:spcPts val="0"/>
              </a:spcBef>
              <a:spcAft>
                <a:spcPts val="0"/>
              </a:spcAft>
            </a:pPr>
            <a:r>
              <a:rPr sz="750" b="0" i="0">
                <a:solidFill>
                  <a:srgbClr val="6B7280"/>
                </a:solidFill>
                <a:latin typeface="Be Vietnam Pro"/>
              </a:rPr>
              <a:t>Phần mềm Quản lý Khen thưởng  ·  Trần Anh Đức</a:t>
            </a:r>
          </a:p>
        </p:txBody>
      </p:sp>
      <p:sp>
        <p:nvSpPr>
          <p:cNvPr id="12" name="TextBox 11"/>
          <p:cNvSpPr txBox="1"/>
          <p:nvPr/>
        </p:nvSpPr>
        <p:spPr>
          <a:xfrm>
            <a:off x="7680960" y="6501384"/>
            <a:ext cx="1005840" cy="310896"/>
          </a:xfrm>
          <a:prstGeom prst="rect">
            <a:avLst/>
          </a:prstGeom>
          <a:noFill/>
        </p:spPr>
        <p:txBody>
          <a:bodyPr wrap="square" lIns="0" tIns="0" rIns="0" bIns="0" anchor="ctr">
            <a:spAutoFit/>
          </a:bodyPr>
          <a:lstStyle/>
          <a:p>
            <a:pPr algn="r">
              <a:spcBef>
                <a:spcPts val="0"/>
              </a:spcBef>
              <a:spcAft>
                <a:spcPts val="0"/>
              </a:spcAft>
            </a:pPr>
            <a:r>
              <a:rPr sz="1200" b="0" i="0">
                <a:solidFill>
                  <a:srgbClr val="C00000"/>
                </a:solidFill>
                <a:latin typeface="Be Vietnam Pro ExtraBold"/>
              </a:rPr>
              <a:t>02</a:t>
            </a:r>
            <a:r>
              <a:rPr sz="900" b="0" i="0">
                <a:solidFill>
                  <a:srgbClr val="6B7280"/>
                </a:solidFill>
                <a:latin typeface="Be Vietnam Pro"/>
              </a:rPr>
              <a:t> / 31</a:t>
            </a:r>
          </a:p>
        </p:txBody>
      </p:sp>
      <p:sp>
        <p:nvSpPr>
          <p:cNvPr id="13" name="Rounded Rectangle 12"/>
          <p:cNvSpPr/>
          <p:nvPr/>
        </p:nvSpPr>
        <p:spPr>
          <a:xfrm>
            <a:off x="502920" y="1600200"/>
            <a:ext cx="3968496" cy="2212848"/>
          </a:xfrm>
          <a:prstGeom prst="roundRect">
            <a:avLst>
              <a:gd name="adj" fmla="val 5000"/>
            </a:avLst>
          </a:prstGeom>
          <a:solidFill>
            <a:srgbClr val="FFFFFF"/>
          </a:solidFill>
          <a:ln w="12700">
            <a:solidFill>
              <a:srgbClr val="E5E7EB"/>
            </a:solidFill>
          </a:ln>
          <a:effectLst>
            <a:outerShdw blurRad="90000" dist="42000" dir="5400000" rotWithShape="0">
              <a:srgbClr val="98A2B3">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704088" y="1801368"/>
            <a:ext cx="841248" cy="365760"/>
          </a:xfrm>
          <a:prstGeom prst="roundRect">
            <a:avLst>
              <a:gd name="adj" fmla="val 50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spcBef>
                <a:spcPts val="0"/>
              </a:spcBef>
              <a:spcAft>
                <a:spcPts val="0"/>
              </a:spcAft>
            </a:pPr>
            <a:r>
              <a:rPr sz="1000" b="1" i="0">
                <a:solidFill>
                  <a:srgbClr val="FFFFFF"/>
                </a:solidFill>
                <a:latin typeface="Be Vietnam Pro"/>
              </a:rPr>
              <a:t>PHẦN I</a:t>
            </a:r>
          </a:p>
        </p:txBody>
      </p:sp>
      <p:sp>
        <p:nvSpPr>
          <p:cNvPr id="15" name="TextBox 14"/>
          <p:cNvSpPr txBox="1"/>
          <p:nvPr/>
        </p:nvSpPr>
        <p:spPr>
          <a:xfrm>
            <a:off x="1673352" y="1783080"/>
            <a:ext cx="2596896" cy="457200"/>
          </a:xfrm>
          <a:prstGeom prst="rect">
            <a:avLst/>
          </a:prstGeom>
          <a:noFill/>
        </p:spPr>
        <p:txBody>
          <a:bodyPr wrap="square" lIns="0" tIns="0" rIns="0" bIns="0" anchor="ctr">
            <a:spAutoFit/>
          </a:bodyPr>
          <a:lstStyle/>
          <a:p>
            <a:pPr algn="l">
              <a:lnSpc>
                <a:spcPct val="100000"/>
              </a:lnSpc>
              <a:spcBef>
                <a:spcPts val="0"/>
              </a:spcBef>
              <a:spcAft>
                <a:spcPts val="0"/>
              </a:spcAft>
            </a:pPr>
            <a:r>
              <a:rPr sz="1450" b="1" i="0">
                <a:solidFill>
                  <a:srgbClr val="C00000"/>
                </a:solidFill>
                <a:latin typeface="Be Vietnam Pro"/>
              </a:rPr>
              <a:t>Mở đầu</a:t>
            </a:r>
          </a:p>
        </p:txBody>
      </p:sp>
      <p:sp>
        <p:nvSpPr>
          <p:cNvPr id="16" name="TextBox 15"/>
          <p:cNvSpPr txBox="1"/>
          <p:nvPr/>
        </p:nvSpPr>
        <p:spPr>
          <a:xfrm>
            <a:off x="777240" y="2313432"/>
            <a:ext cx="3419856" cy="1344168"/>
          </a:xfrm>
          <a:prstGeom prst="rect">
            <a:avLst/>
          </a:prstGeom>
          <a:noFill/>
        </p:spPr>
        <p:txBody>
          <a:bodyPr wrap="square" lIns="0" tIns="0" rIns="0" bIns="0" anchor="t">
            <a:spAutoFit/>
          </a:bodyPr>
          <a:lstStyle/>
          <a:p>
            <a:pPr marL="219456" indent="-219456" algn="l">
              <a:lnSpc>
                <a:spcPct val="104000"/>
              </a:lnSpc>
              <a:spcBef>
                <a:spcPts val="0"/>
              </a:spcBef>
              <a:spcAft>
                <a:spcPts val="400"/>
              </a:spcAft>
            </a:pPr>
            <a:r>
              <a:rPr sz="1100" b="1">
                <a:solidFill>
                  <a:srgbClr val="C00000"/>
                </a:solidFill>
                <a:latin typeface="Arial"/>
              </a:rPr>
              <a:t>▪  </a:t>
            </a:r>
            <a:r>
              <a:rPr sz="1200" b="0" i="0">
                <a:solidFill>
                  <a:srgbClr val="1F2937"/>
                </a:solidFill>
                <a:latin typeface="Be Vietnam Pro"/>
              </a:rPr>
              <a:t>Mục tiêu của đồ án</a:t>
            </a:r>
          </a:p>
          <a:p>
            <a:pPr marL="219456" indent="-219456" algn="l">
              <a:lnSpc>
                <a:spcPct val="104000"/>
              </a:lnSpc>
              <a:spcBef>
                <a:spcPts val="0"/>
              </a:spcBef>
              <a:spcAft>
                <a:spcPts val="400"/>
              </a:spcAft>
            </a:pPr>
            <a:r>
              <a:rPr sz="1100" b="1">
                <a:solidFill>
                  <a:srgbClr val="C00000"/>
                </a:solidFill>
                <a:latin typeface="Arial"/>
              </a:rPr>
              <a:t>▪  </a:t>
            </a:r>
            <a:r>
              <a:rPr sz="1200" b="0" i="0">
                <a:solidFill>
                  <a:srgbClr val="1F2937"/>
                </a:solidFill>
                <a:latin typeface="Be Vietnam Pro"/>
              </a:rPr>
              <a:t>Hệ thống khen thưởng</a:t>
            </a:r>
          </a:p>
          <a:p>
            <a:pPr marL="219456" indent="-219456" algn="l">
              <a:lnSpc>
                <a:spcPct val="104000"/>
              </a:lnSpc>
              <a:spcBef>
                <a:spcPts val="0"/>
              </a:spcBef>
              <a:spcAft>
                <a:spcPts val="400"/>
              </a:spcAft>
            </a:pPr>
            <a:r>
              <a:rPr sz="1100" b="1">
                <a:solidFill>
                  <a:srgbClr val="C00000"/>
                </a:solidFill>
                <a:latin typeface="Arial"/>
              </a:rPr>
              <a:t>▪  </a:t>
            </a:r>
            <a:r>
              <a:rPr sz="1200" b="0" i="0">
                <a:solidFill>
                  <a:srgbClr val="1F2937"/>
                </a:solidFill>
                <a:latin typeface="Be Vietnam Pro"/>
              </a:rPr>
              <a:t>Chuỗi danh hiệu &amp; các danh hiệu dài hạn</a:t>
            </a:r>
          </a:p>
          <a:p>
            <a:pPr marL="219456" indent="-219456" algn="l">
              <a:lnSpc>
                <a:spcPct val="104000"/>
              </a:lnSpc>
              <a:spcBef>
                <a:spcPts val="0"/>
              </a:spcBef>
              <a:spcAft>
                <a:spcPts val="400"/>
              </a:spcAft>
            </a:pPr>
            <a:r>
              <a:rPr sz="1100" b="1">
                <a:solidFill>
                  <a:srgbClr val="C00000"/>
                </a:solidFill>
                <a:latin typeface="Arial"/>
              </a:rPr>
              <a:t>▪  </a:t>
            </a:r>
            <a:r>
              <a:rPr sz="1200" b="0" i="0">
                <a:solidFill>
                  <a:srgbClr val="1F2937"/>
                </a:solidFill>
                <a:latin typeface="Be Vietnam Pro"/>
              </a:rPr>
              <a:t>Thách thức &amp; yêu cầu</a:t>
            </a:r>
          </a:p>
        </p:txBody>
      </p:sp>
      <p:sp>
        <p:nvSpPr>
          <p:cNvPr id="17" name="Rounded Rectangle 16"/>
          <p:cNvSpPr/>
          <p:nvPr/>
        </p:nvSpPr>
        <p:spPr>
          <a:xfrm>
            <a:off x="4672583" y="1600200"/>
            <a:ext cx="3968496" cy="2212848"/>
          </a:xfrm>
          <a:prstGeom prst="roundRect">
            <a:avLst>
              <a:gd name="adj" fmla="val 5000"/>
            </a:avLst>
          </a:prstGeom>
          <a:solidFill>
            <a:srgbClr val="FFFFFF"/>
          </a:solidFill>
          <a:ln w="12700">
            <a:solidFill>
              <a:srgbClr val="E5E7EB"/>
            </a:solidFill>
          </a:ln>
          <a:effectLst>
            <a:outerShdw blurRad="90000" dist="42000" dir="5400000" rotWithShape="0">
              <a:srgbClr val="98A2B3">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4873751" y="1801368"/>
            <a:ext cx="841248" cy="365760"/>
          </a:xfrm>
          <a:prstGeom prst="roundRect">
            <a:avLst>
              <a:gd name="adj" fmla="val 50000"/>
            </a:avLst>
          </a:prstGeom>
          <a:solidFill>
            <a:srgbClr val="1E5588"/>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spcBef>
                <a:spcPts val="0"/>
              </a:spcBef>
              <a:spcAft>
                <a:spcPts val="0"/>
              </a:spcAft>
            </a:pPr>
            <a:r>
              <a:rPr sz="1000" b="1" i="0">
                <a:solidFill>
                  <a:srgbClr val="FFFFFF"/>
                </a:solidFill>
                <a:latin typeface="Be Vietnam Pro"/>
              </a:rPr>
              <a:t>PHẦN II</a:t>
            </a:r>
          </a:p>
        </p:txBody>
      </p:sp>
      <p:sp>
        <p:nvSpPr>
          <p:cNvPr id="19" name="TextBox 18"/>
          <p:cNvSpPr txBox="1"/>
          <p:nvPr/>
        </p:nvSpPr>
        <p:spPr>
          <a:xfrm>
            <a:off x="5843016" y="1783080"/>
            <a:ext cx="2596896" cy="457200"/>
          </a:xfrm>
          <a:prstGeom prst="rect">
            <a:avLst/>
          </a:prstGeom>
          <a:noFill/>
        </p:spPr>
        <p:txBody>
          <a:bodyPr wrap="square" lIns="0" tIns="0" rIns="0" bIns="0" anchor="ctr">
            <a:spAutoFit/>
          </a:bodyPr>
          <a:lstStyle/>
          <a:p>
            <a:pPr algn="l">
              <a:lnSpc>
                <a:spcPct val="100000"/>
              </a:lnSpc>
              <a:spcBef>
                <a:spcPts val="0"/>
              </a:spcBef>
              <a:spcAft>
                <a:spcPts val="0"/>
              </a:spcAft>
            </a:pPr>
            <a:r>
              <a:rPr sz="1450" b="1" i="0">
                <a:solidFill>
                  <a:srgbClr val="1E5588"/>
                </a:solidFill>
                <a:latin typeface="Be Vietnam Pro"/>
              </a:rPr>
              <a:t>Công nghệ &amp; Thiết kế</a:t>
            </a:r>
          </a:p>
        </p:txBody>
      </p:sp>
      <p:sp>
        <p:nvSpPr>
          <p:cNvPr id="20" name="TextBox 19"/>
          <p:cNvSpPr txBox="1"/>
          <p:nvPr/>
        </p:nvSpPr>
        <p:spPr>
          <a:xfrm>
            <a:off x="4946903" y="2313432"/>
            <a:ext cx="3419856" cy="1344168"/>
          </a:xfrm>
          <a:prstGeom prst="rect">
            <a:avLst/>
          </a:prstGeom>
          <a:noFill/>
        </p:spPr>
        <p:txBody>
          <a:bodyPr wrap="square" lIns="0" tIns="0" rIns="0" bIns="0" anchor="t">
            <a:spAutoFit/>
          </a:bodyPr>
          <a:lstStyle/>
          <a:p>
            <a:pPr marL="219456" indent="-219456" algn="l">
              <a:lnSpc>
                <a:spcPct val="104000"/>
              </a:lnSpc>
              <a:spcBef>
                <a:spcPts val="0"/>
              </a:spcBef>
              <a:spcAft>
                <a:spcPts val="400"/>
              </a:spcAft>
            </a:pPr>
            <a:r>
              <a:rPr sz="1100" b="1">
                <a:solidFill>
                  <a:srgbClr val="1E5588"/>
                </a:solidFill>
                <a:latin typeface="Arial"/>
              </a:rPr>
              <a:t>▪  </a:t>
            </a:r>
            <a:r>
              <a:rPr sz="1200" b="0" i="0">
                <a:solidFill>
                  <a:srgbClr val="1F2937"/>
                </a:solidFill>
                <a:latin typeface="Be Vietnam Pro"/>
              </a:rPr>
              <a:t>Công nghệ sử dụng</a:t>
            </a:r>
          </a:p>
          <a:p>
            <a:pPr marL="219456" indent="-219456" algn="l">
              <a:lnSpc>
                <a:spcPct val="104000"/>
              </a:lnSpc>
              <a:spcBef>
                <a:spcPts val="0"/>
              </a:spcBef>
              <a:spcAft>
                <a:spcPts val="400"/>
              </a:spcAft>
            </a:pPr>
            <a:r>
              <a:rPr sz="1100" b="1">
                <a:solidFill>
                  <a:srgbClr val="1E5588"/>
                </a:solidFill>
                <a:latin typeface="Arial"/>
              </a:rPr>
              <a:t>▪  </a:t>
            </a:r>
            <a:r>
              <a:rPr sz="1200" b="0" i="0">
                <a:solidFill>
                  <a:srgbClr val="1F2937"/>
                </a:solidFill>
                <a:latin typeface="Be Vietnam Pro"/>
              </a:rPr>
              <a:t>Kiến trúc hệ thống</a:t>
            </a:r>
          </a:p>
          <a:p>
            <a:pPr marL="219456" indent="-219456" algn="l">
              <a:lnSpc>
                <a:spcPct val="104000"/>
              </a:lnSpc>
              <a:spcBef>
                <a:spcPts val="0"/>
              </a:spcBef>
              <a:spcAft>
                <a:spcPts val="400"/>
              </a:spcAft>
            </a:pPr>
            <a:r>
              <a:rPr sz="1100" b="1">
                <a:solidFill>
                  <a:srgbClr val="1E5588"/>
                </a:solidFill>
                <a:latin typeface="Arial"/>
              </a:rPr>
              <a:t>▪  </a:t>
            </a:r>
            <a:r>
              <a:rPr sz="1200" b="0" i="0">
                <a:solidFill>
                  <a:srgbClr val="1F2937"/>
                </a:solidFill>
                <a:latin typeface="Be Vietnam Pro"/>
              </a:rPr>
              <a:t>Cơ sở dữ liệu</a:t>
            </a:r>
          </a:p>
          <a:p>
            <a:pPr marL="219456" indent="-219456" algn="l">
              <a:lnSpc>
                <a:spcPct val="104000"/>
              </a:lnSpc>
              <a:spcBef>
                <a:spcPts val="0"/>
              </a:spcBef>
              <a:spcAft>
                <a:spcPts val="400"/>
              </a:spcAft>
            </a:pPr>
            <a:r>
              <a:rPr sz="1100" b="1">
                <a:solidFill>
                  <a:srgbClr val="1E5588"/>
                </a:solidFill>
                <a:latin typeface="Arial"/>
              </a:rPr>
              <a:t>▪  </a:t>
            </a:r>
            <a:r>
              <a:rPr sz="1200" b="0" i="0">
                <a:solidFill>
                  <a:srgbClr val="1F2937"/>
                </a:solidFill>
                <a:latin typeface="Be Vietnam Pro"/>
              </a:rPr>
              <a:t>Use-case &amp; quy trình duyệt</a:t>
            </a:r>
          </a:p>
          <a:p>
            <a:pPr marL="219456" indent="-219456" algn="l">
              <a:lnSpc>
                <a:spcPct val="104000"/>
              </a:lnSpc>
              <a:spcBef>
                <a:spcPts val="0"/>
              </a:spcBef>
              <a:spcAft>
                <a:spcPts val="400"/>
              </a:spcAft>
            </a:pPr>
            <a:r>
              <a:rPr sz="1100" b="1">
                <a:solidFill>
                  <a:srgbClr val="1E5588"/>
                </a:solidFill>
                <a:latin typeface="Arial"/>
              </a:rPr>
              <a:t>▪  </a:t>
            </a:r>
            <a:r>
              <a:rPr sz="1200" b="0" i="0">
                <a:solidFill>
                  <a:srgbClr val="1F2937"/>
                </a:solidFill>
                <a:latin typeface="Be Vietnam Pro"/>
              </a:rPr>
              <a:t>Kiến trúc phần mềm (Strategy)</a:t>
            </a:r>
          </a:p>
        </p:txBody>
      </p:sp>
      <p:sp>
        <p:nvSpPr>
          <p:cNvPr id="21" name="Rounded Rectangle 20"/>
          <p:cNvSpPr/>
          <p:nvPr/>
        </p:nvSpPr>
        <p:spPr>
          <a:xfrm>
            <a:off x="502920" y="3995928"/>
            <a:ext cx="3968496" cy="2212848"/>
          </a:xfrm>
          <a:prstGeom prst="roundRect">
            <a:avLst>
              <a:gd name="adj" fmla="val 5000"/>
            </a:avLst>
          </a:prstGeom>
          <a:solidFill>
            <a:srgbClr val="FFFFFF"/>
          </a:solidFill>
          <a:ln w="12700">
            <a:solidFill>
              <a:srgbClr val="E5E7EB"/>
            </a:solidFill>
          </a:ln>
          <a:effectLst>
            <a:outerShdw blurRad="90000" dist="42000" dir="5400000" rotWithShape="0">
              <a:srgbClr val="98A2B3">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704088" y="4197096"/>
            <a:ext cx="841248" cy="365760"/>
          </a:xfrm>
          <a:prstGeom prst="roundRect">
            <a:avLst>
              <a:gd name="adj" fmla="val 50000"/>
            </a:avLst>
          </a:prstGeom>
          <a:solidFill>
            <a:srgbClr val="ECA72C"/>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spcBef>
                <a:spcPts val="0"/>
              </a:spcBef>
              <a:spcAft>
                <a:spcPts val="0"/>
              </a:spcAft>
            </a:pPr>
            <a:r>
              <a:rPr sz="1000" b="1" i="0">
                <a:solidFill>
                  <a:srgbClr val="FFFFFF"/>
                </a:solidFill>
                <a:latin typeface="Be Vietnam Pro"/>
              </a:rPr>
              <a:t>PHẦN III</a:t>
            </a:r>
          </a:p>
        </p:txBody>
      </p:sp>
      <p:sp>
        <p:nvSpPr>
          <p:cNvPr id="23" name="TextBox 22"/>
          <p:cNvSpPr txBox="1"/>
          <p:nvPr/>
        </p:nvSpPr>
        <p:spPr>
          <a:xfrm>
            <a:off x="1673352" y="4178808"/>
            <a:ext cx="2596896" cy="457200"/>
          </a:xfrm>
          <a:prstGeom prst="rect">
            <a:avLst/>
          </a:prstGeom>
          <a:noFill/>
        </p:spPr>
        <p:txBody>
          <a:bodyPr wrap="square" lIns="0" tIns="0" rIns="0" bIns="0" anchor="ctr">
            <a:spAutoFit/>
          </a:bodyPr>
          <a:lstStyle/>
          <a:p>
            <a:pPr algn="l">
              <a:lnSpc>
                <a:spcPct val="100000"/>
              </a:lnSpc>
              <a:spcBef>
                <a:spcPts val="0"/>
              </a:spcBef>
              <a:spcAft>
                <a:spcPts val="0"/>
              </a:spcAft>
            </a:pPr>
            <a:r>
              <a:rPr sz="1450" b="1" i="0">
                <a:solidFill>
                  <a:srgbClr val="ECA72C"/>
                </a:solidFill>
                <a:latin typeface="Be Vietnam Pro"/>
              </a:rPr>
              <a:t>Các đóng góp nổi bật</a:t>
            </a:r>
          </a:p>
        </p:txBody>
      </p:sp>
      <p:sp>
        <p:nvSpPr>
          <p:cNvPr id="24" name="TextBox 23"/>
          <p:cNvSpPr txBox="1"/>
          <p:nvPr/>
        </p:nvSpPr>
        <p:spPr>
          <a:xfrm>
            <a:off x="777240" y="4709160"/>
            <a:ext cx="3419856" cy="1344168"/>
          </a:xfrm>
          <a:prstGeom prst="rect">
            <a:avLst/>
          </a:prstGeom>
          <a:noFill/>
        </p:spPr>
        <p:txBody>
          <a:bodyPr wrap="square" lIns="0" tIns="0" rIns="0" bIns="0" anchor="t">
            <a:spAutoFit/>
          </a:bodyPr>
          <a:lstStyle/>
          <a:p>
            <a:pPr marL="219456" indent="-219456" algn="l">
              <a:lnSpc>
                <a:spcPct val="104000"/>
              </a:lnSpc>
              <a:spcBef>
                <a:spcPts val="0"/>
              </a:spcBef>
              <a:spcAft>
                <a:spcPts val="400"/>
              </a:spcAft>
            </a:pPr>
            <a:r>
              <a:rPr sz="1100" b="1">
                <a:solidFill>
                  <a:srgbClr val="ECA72C"/>
                </a:solidFill>
                <a:latin typeface="Arial"/>
              </a:rPr>
              <a:t>▪  </a:t>
            </a:r>
            <a:r>
              <a:rPr sz="1200" b="0" i="0">
                <a:solidFill>
                  <a:srgbClr val="1F2937"/>
                </a:solidFill>
                <a:latin typeface="Be Vietnam Pro"/>
              </a:rPr>
              <a:t>Tự động xét điều kiện &amp; gợi ý</a:t>
            </a:r>
          </a:p>
          <a:p>
            <a:pPr marL="219456" indent="-219456" algn="l">
              <a:lnSpc>
                <a:spcPct val="104000"/>
              </a:lnSpc>
              <a:spcBef>
                <a:spcPts val="0"/>
              </a:spcBef>
              <a:spcAft>
                <a:spcPts val="400"/>
              </a:spcAft>
            </a:pPr>
            <a:r>
              <a:rPr sz="1100" b="1">
                <a:solidFill>
                  <a:srgbClr val="ECA72C"/>
                </a:solidFill>
                <a:latin typeface="Arial"/>
              </a:rPr>
              <a:t>▪  </a:t>
            </a:r>
            <a:r>
              <a:rPr sz="1200" b="0" i="0">
                <a:solidFill>
                  <a:srgbClr val="1F2937"/>
                </a:solidFill>
                <a:latin typeface="Be Vietnam Pro"/>
              </a:rPr>
              <a:t>Số hoá quy trình &amp; lưu vết</a:t>
            </a:r>
          </a:p>
          <a:p>
            <a:pPr marL="219456" indent="-219456" algn="l">
              <a:lnSpc>
                <a:spcPct val="104000"/>
              </a:lnSpc>
              <a:spcBef>
                <a:spcPts val="0"/>
              </a:spcBef>
              <a:spcAft>
                <a:spcPts val="400"/>
              </a:spcAft>
            </a:pPr>
            <a:r>
              <a:rPr sz="1100" b="1">
                <a:solidFill>
                  <a:srgbClr val="ECA72C"/>
                </a:solidFill>
                <a:latin typeface="Arial"/>
              </a:rPr>
              <a:t>▪  </a:t>
            </a:r>
            <a:r>
              <a:rPr sz="1200" b="0" i="0">
                <a:solidFill>
                  <a:srgbClr val="1F2937"/>
                </a:solidFill>
                <a:latin typeface="Be Vietnam Pro"/>
              </a:rPr>
              <a:t>Nhập Excel có giao dịch</a:t>
            </a:r>
          </a:p>
          <a:p>
            <a:pPr marL="219456" indent="-219456" algn="l">
              <a:lnSpc>
                <a:spcPct val="104000"/>
              </a:lnSpc>
              <a:spcBef>
                <a:spcPts val="0"/>
              </a:spcBef>
              <a:spcAft>
                <a:spcPts val="400"/>
              </a:spcAft>
            </a:pPr>
            <a:r>
              <a:rPr sz="1100" b="1">
                <a:solidFill>
                  <a:srgbClr val="ECA72C"/>
                </a:solidFill>
                <a:latin typeface="Arial"/>
              </a:rPr>
              <a:t>▪  </a:t>
            </a:r>
            <a:r>
              <a:rPr sz="1200" b="0" i="0">
                <a:solidFill>
                  <a:srgbClr val="1F2937"/>
                </a:solidFill>
                <a:latin typeface="Be Vietnam Pro"/>
              </a:rPr>
              <a:t>Lưu vết, sao lưu &amp; thông báo</a:t>
            </a:r>
          </a:p>
        </p:txBody>
      </p:sp>
      <p:sp>
        <p:nvSpPr>
          <p:cNvPr id="25" name="Rounded Rectangle 24"/>
          <p:cNvSpPr/>
          <p:nvPr/>
        </p:nvSpPr>
        <p:spPr>
          <a:xfrm>
            <a:off x="4672583" y="3995928"/>
            <a:ext cx="3968496" cy="2212848"/>
          </a:xfrm>
          <a:prstGeom prst="roundRect">
            <a:avLst>
              <a:gd name="adj" fmla="val 5000"/>
            </a:avLst>
          </a:prstGeom>
          <a:solidFill>
            <a:srgbClr val="FFFFFF"/>
          </a:solidFill>
          <a:ln w="12700">
            <a:solidFill>
              <a:srgbClr val="E5E7EB"/>
            </a:solidFill>
          </a:ln>
          <a:effectLst>
            <a:outerShdw blurRad="90000" dist="42000" dir="5400000" rotWithShape="0">
              <a:srgbClr val="98A2B3">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4873751" y="4197096"/>
            <a:ext cx="841248" cy="365760"/>
          </a:xfrm>
          <a:prstGeom prst="roundRect">
            <a:avLst>
              <a:gd name="adj" fmla="val 50000"/>
            </a:avLst>
          </a:prstGeom>
          <a:solidFill>
            <a:srgbClr val="2E7D46"/>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spcBef>
                <a:spcPts val="0"/>
              </a:spcBef>
              <a:spcAft>
                <a:spcPts val="0"/>
              </a:spcAft>
            </a:pPr>
            <a:r>
              <a:rPr sz="1000" b="1" i="0">
                <a:solidFill>
                  <a:srgbClr val="FFFFFF"/>
                </a:solidFill>
                <a:latin typeface="Be Vietnam Pro"/>
              </a:rPr>
              <a:t>PHẦN IV</a:t>
            </a:r>
          </a:p>
        </p:txBody>
      </p:sp>
      <p:sp>
        <p:nvSpPr>
          <p:cNvPr id="27" name="TextBox 26"/>
          <p:cNvSpPr txBox="1"/>
          <p:nvPr/>
        </p:nvSpPr>
        <p:spPr>
          <a:xfrm>
            <a:off x="5843016" y="4178808"/>
            <a:ext cx="2596896" cy="457200"/>
          </a:xfrm>
          <a:prstGeom prst="rect">
            <a:avLst/>
          </a:prstGeom>
          <a:noFill/>
        </p:spPr>
        <p:txBody>
          <a:bodyPr wrap="square" lIns="0" tIns="0" rIns="0" bIns="0" anchor="ctr">
            <a:spAutoFit/>
          </a:bodyPr>
          <a:lstStyle/>
          <a:p>
            <a:pPr algn="l">
              <a:lnSpc>
                <a:spcPct val="100000"/>
              </a:lnSpc>
              <a:spcBef>
                <a:spcPts val="0"/>
              </a:spcBef>
              <a:spcAft>
                <a:spcPts val="0"/>
              </a:spcAft>
            </a:pPr>
            <a:r>
              <a:rPr sz="1450" b="1" i="0">
                <a:solidFill>
                  <a:srgbClr val="2E7D46"/>
                </a:solidFill>
                <a:latin typeface="Be Vietnam Pro"/>
              </a:rPr>
              <a:t>Đánh giá &amp; Tổng kết</a:t>
            </a:r>
          </a:p>
        </p:txBody>
      </p:sp>
      <p:sp>
        <p:nvSpPr>
          <p:cNvPr id="28" name="TextBox 27"/>
          <p:cNvSpPr txBox="1"/>
          <p:nvPr/>
        </p:nvSpPr>
        <p:spPr>
          <a:xfrm>
            <a:off x="4946903" y="4709160"/>
            <a:ext cx="3419856" cy="1344168"/>
          </a:xfrm>
          <a:prstGeom prst="rect">
            <a:avLst/>
          </a:prstGeom>
          <a:noFill/>
        </p:spPr>
        <p:txBody>
          <a:bodyPr wrap="square" lIns="0" tIns="0" rIns="0" bIns="0" anchor="t">
            <a:spAutoFit/>
          </a:bodyPr>
          <a:lstStyle/>
          <a:p>
            <a:pPr marL="219456" indent="-219456" algn="l">
              <a:lnSpc>
                <a:spcPct val="104000"/>
              </a:lnSpc>
              <a:spcBef>
                <a:spcPts val="0"/>
              </a:spcBef>
              <a:spcAft>
                <a:spcPts val="400"/>
              </a:spcAft>
            </a:pPr>
            <a:r>
              <a:rPr sz="1100" b="1">
                <a:solidFill>
                  <a:srgbClr val="2E7D46"/>
                </a:solidFill>
                <a:latin typeface="Arial"/>
              </a:rPr>
              <a:t>▪  </a:t>
            </a:r>
            <a:r>
              <a:rPr sz="1200" b="0" i="0">
                <a:solidFill>
                  <a:srgbClr val="1F2937"/>
                </a:solidFill>
                <a:latin typeface="Be Vietnam Pro"/>
              </a:rPr>
              <a:t>Kiểm thử &amp; triển khai</a:t>
            </a:r>
          </a:p>
          <a:p>
            <a:pPr marL="219456" indent="-219456" algn="l">
              <a:lnSpc>
                <a:spcPct val="104000"/>
              </a:lnSpc>
              <a:spcBef>
                <a:spcPts val="0"/>
              </a:spcBef>
              <a:spcAft>
                <a:spcPts val="400"/>
              </a:spcAft>
            </a:pPr>
            <a:r>
              <a:rPr sz="1100" b="1">
                <a:solidFill>
                  <a:srgbClr val="2E7D46"/>
                </a:solidFill>
                <a:latin typeface="Arial"/>
              </a:rPr>
              <a:t>▪  </a:t>
            </a:r>
            <a:r>
              <a:rPr sz="1200" b="0" i="0">
                <a:solidFill>
                  <a:srgbClr val="1F2937"/>
                </a:solidFill>
                <a:latin typeface="Be Vietnam Pro"/>
              </a:rPr>
              <a:t>Kết luận &amp; hướng phát triển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 y="-45720"/>
            <a:ext cx="9235440" cy="694944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 y="-45720"/>
            <a:ext cx="9235440" cy="694944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motif_white.png"/>
          <p:cNvPicPr>
            <a:picLocks noChangeAspect="1"/>
          </p:cNvPicPr>
          <p:nvPr/>
        </p:nvPicPr>
        <p:blipFill>
          <a:blip r:embed="rId2">
            <a:alphaModFix amt="30000"/>
          </a:blip>
          <a:stretch>
            <a:fillRect/>
          </a:stretch>
        </p:blipFill>
        <p:spPr>
          <a:xfrm>
            <a:off x="4297680" y="-1097280"/>
            <a:ext cx="6766560" cy="5074920"/>
          </a:xfrm>
          <a:prstGeom prst="rect">
            <a:avLst/>
          </a:prstGeom>
        </p:spPr>
      </p:pic>
      <p:sp>
        <p:nvSpPr>
          <p:cNvPr id="5" name="TextBox 4"/>
          <p:cNvSpPr txBox="1"/>
          <p:nvPr/>
        </p:nvSpPr>
        <p:spPr>
          <a:xfrm>
            <a:off x="640080" y="1371600"/>
            <a:ext cx="2926080" cy="2377440"/>
          </a:xfrm>
          <a:prstGeom prst="rect">
            <a:avLst/>
          </a:prstGeom>
          <a:noFill/>
        </p:spPr>
        <p:txBody>
          <a:bodyPr wrap="square" lIns="0" tIns="0" rIns="0" bIns="0" anchor="t">
            <a:spAutoFit/>
          </a:bodyPr>
          <a:lstStyle/>
          <a:p>
            <a:pPr algn="l">
              <a:lnSpc>
                <a:spcPct val="85000"/>
              </a:lnSpc>
              <a:spcBef>
                <a:spcPts val="0"/>
              </a:spcBef>
              <a:spcAft>
                <a:spcPts val="0"/>
              </a:spcAft>
            </a:pPr>
            <a:r>
              <a:rPr sz="15000" b="0" i="0">
                <a:solidFill>
                  <a:srgbClr val="F2C255"/>
                </a:solidFill>
                <a:latin typeface="Be Vietnam Pro Black"/>
              </a:rPr>
              <a:t>I</a:t>
            </a:r>
          </a:p>
        </p:txBody>
      </p:sp>
      <p:sp>
        <p:nvSpPr>
          <p:cNvPr id="6" name="TextBox 5"/>
          <p:cNvSpPr txBox="1"/>
          <p:nvPr/>
        </p:nvSpPr>
        <p:spPr>
          <a:xfrm>
            <a:off x="3246120" y="2331720"/>
            <a:ext cx="5303520" cy="457200"/>
          </a:xfrm>
          <a:prstGeom prst="rect">
            <a:avLst/>
          </a:prstGeom>
          <a:noFill/>
        </p:spPr>
        <p:txBody>
          <a:bodyPr wrap="square" lIns="0" tIns="0" rIns="0" bIns="0" anchor="t">
            <a:spAutoFit/>
          </a:bodyPr>
          <a:lstStyle/>
          <a:p>
            <a:pPr algn="l">
              <a:spcBef>
                <a:spcPts val="0"/>
              </a:spcBef>
              <a:spcAft>
                <a:spcPts val="0"/>
              </a:spcAft>
            </a:pPr>
            <a:r>
              <a:rPr sz="1400" b="0" i="0" spc="200">
                <a:solidFill>
                  <a:srgbClr val="F7D99B"/>
                </a:solidFill>
                <a:latin typeface="Be Vietnam Pro SemiBold"/>
              </a:rPr>
              <a:t>PHẦN I</a:t>
            </a:r>
          </a:p>
        </p:txBody>
      </p:sp>
      <p:sp>
        <p:nvSpPr>
          <p:cNvPr id="7" name="TextBox 6"/>
          <p:cNvSpPr txBox="1"/>
          <p:nvPr/>
        </p:nvSpPr>
        <p:spPr>
          <a:xfrm>
            <a:off x="3200400" y="2697480"/>
            <a:ext cx="5486400" cy="1188720"/>
          </a:xfrm>
          <a:prstGeom prst="rect">
            <a:avLst/>
          </a:prstGeom>
          <a:noFill/>
        </p:spPr>
        <p:txBody>
          <a:bodyPr wrap="square" lIns="0" tIns="0" rIns="0" bIns="0" anchor="t">
            <a:spAutoFit/>
          </a:bodyPr>
          <a:lstStyle/>
          <a:p>
            <a:pPr algn="l">
              <a:lnSpc>
                <a:spcPct val="100000"/>
              </a:lnSpc>
              <a:spcBef>
                <a:spcPts val="0"/>
              </a:spcBef>
              <a:spcAft>
                <a:spcPts val="0"/>
              </a:spcAft>
            </a:pPr>
            <a:r>
              <a:rPr sz="3300" b="0" i="0">
                <a:solidFill>
                  <a:srgbClr val="FFFFFF"/>
                </a:solidFill>
                <a:latin typeface="Be Vietnam Pro ExtraBold"/>
              </a:rPr>
              <a:t>Mở đầu</a:t>
            </a:r>
          </a:p>
        </p:txBody>
      </p:sp>
      <p:sp>
        <p:nvSpPr>
          <p:cNvPr id="8" name="Rectangle 7"/>
          <p:cNvSpPr/>
          <p:nvPr/>
        </p:nvSpPr>
        <p:spPr>
          <a:xfrm>
            <a:off x="3264408" y="3913632"/>
            <a:ext cx="1554480" cy="36576"/>
          </a:xfrm>
          <a:prstGeom prst="rect">
            <a:avLst/>
          </a:prstGeom>
          <a:solidFill>
            <a:srgbClr val="F2C2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246120" y="4160520"/>
            <a:ext cx="5394960" cy="1828800"/>
          </a:xfrm>
          <a:prstGeom prst="rect">
            <a:avLst/>
          </a:prstGeom>
          <a:noFill/>
        </p:spPr>
        <p:txBody>
          <a:bodyPr wrap="square" lIns="0" tIns="0" rIns="0" bIns="0" anchor="t">
            <a:spAutoFit/>
          </a:bodyPr>
          <a:lstStyle/>
          <a:p>
            <a:pPr marL="237744" indent="-237744" algn="l">
              <a:lnSpc>
                <a:spcPct val="105000"/>
              </a:lnSpc>
              <a:spcBef>
                <a:spcPts val="0"/>
              </a:spcBef>
              <a:spcAft>
                <a:spcPts val="600"/>
              </a:spcAft>
            </a:pPr>
            <a:r>
              <a:rPr sz="1200">
                <a:solidFill>
                  <a:srgbClr val="F2C255"/>
                </a:solidFill>
                <a:latin typeface="Be Vietnam Pro SemiBold"/>
              </a:rPr>
              <a:t>—  </a:t>
            </a:r>
            <a:r>
              <a:rPr sz="1250" b="0" i="0">
                <a:solidFill>
                  <a:srgbClr val="FBECEC"/>
                </a:solidFill>
                <a:latin typeface="Be Vietnam Pro"/>
              </a:rPr>
              <a:t>Mục tiêu của đồ án</a:t>
            </a:r>
          </a:p>
          <a:p>
            <a:pPr marL="237744" indent="-237744" algn="l">
              <a:lnSpc>
                <a:spcPct val="105000"/>
              </a:lnSpc>
              <a:spcBef>
                <a:spcPts val="0"/>
              </a:spcBef>
              <a:spcAft>
                <a:spcPts val="600"/>
              </a:spcAft>
            </a:pPr>
            <a:r>
              <a:rPr sz="1200">
                <a:solidFill>
                  <a:srgbClr val="F2C255"/>
                </a:solidFill>
                <a:latin typeface="Be Vietnam Pro SemiBold"/>
              </a:rPr>
              <a:t>—  </a:t>
            </a:r>
            <a:r>
              <a:rPr sz="1250" b="0" i="0">
                <a:solidFill>
                  <a:srgbClr val="FBECEC"/>
                </a:solidFill>
                <a:latin typeface="Be Vietnam Pro"/>
              </a:rPr>
              <a:t>Hệ thống và chuỗi danh hiệu khen thưởng</a:t>
            </a:r>
          </a:p>
          <a:p>
            <a:pPr marL="237744" indent="-237744" algn="l">
              <a:lnSpc>
                <a:spcPct val="105000"/>
              </a:lnSpc>
              <a:spcBef>
                <a:spcPts val="0"/>
              </a:spcBef>
              <a:spcAft>
                <a:spcPts val="600"/>
              </a:spcAft>
            </a:pPr>
            <a:r>
              <a:rPr sz="1200">
                <a:solidFill>
                  <a:srgbClr val="F2C255"/>
                </a:solidFill>
                <a:latin typeface="Be Vietnam Pro SemiBold"/>
              </a:rPr>
              <a:t>—  </a:t>
            </a:r>
            <a:r>
              <a:rPr sz="1250" b="0" i="0">
                <a:solidFill>
                  <a:srgbClr val="FBECEC"/>
                </a:solidFill>
                <a:latin typeface="Be Vietnam Pro"/>
              </a:rPr>
              <a:t>Phân tích bài toán và các thách thức</a:t>
            </a:r>
          </a:p>
        </p:txBody>
      </p:sp>
      <p:sp>
        <p:nvSpPr>
          <p:cNvPr id="10" name="TextBox 9"/>
          <p:cNvSpPr txBox="1"/>
          <p:nvPr/>
        </p:nvSpPr>
        <p:spPr>
          <a:xfrm>
            <a:off x="7680960" y="6455664"/>
            <a:ext cx="1005840" cy="310896"/>
          </a:xfrm>
          <a:prstGeom prst="rect">
            <a:avLst/>
          </a:prstGeom>
          <a:noFill/>
        </p:spPr>
        <p:txBody>
          <a:bodyPr wrap="square" lIns="0" tIns="0" rIns="0" bIns="0" anchor="ctr">
            <a:spAutoFit/>
          </a:bodyPr>
          <a:lstStyle/>
          <a:p>
            <a:pPr algn="r">
              <a:spcBef>
                <a:spcPts val="0"/>
              </a:spcBef>
              <a:spcAft>
                <a:spcPts val="0"/>
              </a:spcAft>
            </a:pPr>
            <a:r>
              <a:rPr sz="1200" b="0" i="0">
                <a:solidFill>
                  <a:srgbClr val="FFFFFF"/>
                </a:solidFill>
                <a:latin typeface="Be Vietnam Pro ExtraBold"/>
              </a:rPr>
              <a:t>03</a:t>
            </a:r>
            <a:r>
              <a:rPr sz="900" b="0" i="0">
                <a:solidFill>
                  <a:srgbClr val="F2C9C9"/>
                </a:solidFill>
                <a:latin typeface="Be Vietnam Pro"/>
              </a:rPr>
              <a:t> / 31</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 y="-45720"/>
            <a:ext cx="9235440" cy="6949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 y="-45720"/>
            <a:ext cx="9235440" cy="886968"/>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motif_white.png"/>
          <p:cNvPicPr>
            <a:picLocks noChangeAspect="1"/>
          </p:cNvPicPr>
          <p:nvPr/>
        </p:nvPicPr>
        <p:blipFill>
          <a:blip r:embed="rId2">
            <a:alphaModFix amt="34000"/>
          </a:blip>
          <a:stretch>
            <a:fillRect/>
          </a:stretch>
        </p:blipFill>
        <p:spPr>
          <a:xfrm>
            <a:off x="5989320" y="-1874519"/>
            <a:ext cx="4206240" cy="3154680"/>
          </a:xfrm>
          <a:prstGeom prst="rect">
            <a:avLst/>
          </a:prstGeom>
        </p:spPr>
      </p:pic>
      <p:sp>
        <p:nvSpPr>
          <p:cNvPr id="5" name="Rectangle 4"/>
          <p:cNvSpPr/>
          <p:nvPr/>
        </p:nvSpPr>
        <p:spPr>
          <a:xfrm>
            <a:off x="-45720" y="841248"/>
            <a:ext cx="9235440" cy="96012"/>
          </a:xfrm>
          <a:prstGeom prst="rect">
            <a:avLst/>
          </a:prstGeom>
          <a:solidFill>
            <a:srgbClr val="ECA7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 y="937260"/>
            <a:ext cx="9235440" cy="20116"/>
          </a:xfrm>
          <a:prstGeom prst="rect">
            <a:avLst/>
          </a:prstGeom>
          <a:solidFill>
            <a:srgbClr val="8A0C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8288"/>
            <a:ext cx="5897880" cy="822960"/>
          </a:xfrm>
          <a:prstGeom prst="rect">
            <a:avLst/>
          </a:prstGeom>
          <a:noFill/>
        </p:spPr>
        <p:txBody>
          <a:bodyPr wrap="square" lIns="0" tIns="0" rIns="0" bIns="0" anchor="ctr">
            <a:spAutoFit/>
          </a:bodyPr>
          <a:lstStyle/>
          <a:p>
            <a:pPr algn="l">
              <a:lnSpc>
                <a:spcPct val="96000"/>
              </a:lnSpc>
              <a:spcBef>
                <a:spcPts val="0"/>
              </a:spcBef>
              <a:spcAft>
                <a:spcPts val="0"/>
              </a:spcAft>
            </a:pPr>
            <a:r>
              <a:rPr sz="2300" b="0" i="0">
                <a:solidFill>
                  <a:srgbClr val="FFFFFF"/>
                </a:solidFill>
                <a:latin typeface="Be Vietnam Pro ExtraBold"/>
              </a:rPr>
              <a:t>Mục tiêu của đồ án</a:t>
            </a:r>
          </a:p>
        </p:txBody>
      </p:sp>
      <p:sp>
        <p:nvSpPr>
          <p:cNvPr id="8" name="Rounded Rectangle 7"/>
          <p:cNvSpPr/>
          <p:nvPr/>
        </p:nvSpPr>
        <p:spPr>
          <a:xfrm>
            <a:off x="7677302" y="256032"/>
            <a:ext cx="936345" cy="329184"/>
          </a:xfrm>
          <a:prstGeom prst="roundRect">
            <a:avLst>
              <a:gd name="adj" fmla="val 50000"/>
            </a:avLst>
          </a:prstGeom>
          <a:noFill/>
          <a:ln w="15875">
            <a:solidFill>
              <a:srgbClr val="F2C255"/>
            </a:solid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spcBef>
                <a:spcPts val="0"/>
              </a:spcBef>
              <a:spcAft>
                <a:spcPts val="0"/>
              </a:spcAft>
            </a:pPr>
            <a:r>
              <a:rPr sz="950" b="0" i="0" spc="80">
                <a:solidFill>
                  <a:srgbClr val="FFFFFF"/>
                </a:solidFill>
                <a:latin typeface="Be Vietnam Pro SemiBold"/>
              </a:rPr>
              <a:t>MỞ ĐẦU</a:t>
            </a:r>
          </a:p>
        </p:txBody>
      </p:sp>
      <p:sp>
        <p:nvSpPr>
          <p:cNvPr id="9" name="Rectangle 8"/>
          <p:cNvSpPr/>
          <p:nvPr/>
        </p:nvSpPr>
        <p:spPr>
          <a:xfrm>
            <a:off x="457200" y="6446520"/>
            <a:ext cx="8229600" cy="9144"/>
          </a:xfrm>
          <a:prstGeom prst="rect">
            <a:avLst/>
          </a:prstGeom>
          <a:solidFill>
            <a:srgbClr val="E3C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hust_shield.png"/>
          <p:cNvPicPr>
            <a:picLocks noChangeAspect="1"/>
          </p:cNvPicPr>
          <p:nvPr/>
        </p:nvPicPr>
        <p:blipFill>
          <a:blip r:embed="rId3"/>
          <a:stretch>
            <a:fillRect/>
          </a:stretch>
        </p:blipFill>
        <p:spPr>
          <a:xfrm>
            <a:off x="457200" y="6519672"/>
            <a:ext cx="164822" cy="246888"/>
          </a:xfrm>
          <a:prstGeom prst="rect">
            <a:avLst/>
          </a:prstGeom>
        </p:spPr>
      </p:pic>
      <p:sp>
        <p:nvSpPr>
          <p:cNvPr id="11" name="TextBox 10"/>
          <p:cNvSpPr txBox="1"/>
          <p:nvPr/>
        </p:nvSpPr>
        <p:spPr>
          <a:xfrm>
            <a:off x="713232" y="6501384"/>
            <a:ext cx="4206240" cy="310896"/>
          </a:xfrm>
          <a:prstGeom prst="rect">
            <a:avLst/>
          </a:prstGeom>
          <a:noFill/>
        </p:spPr>
        <p:txBody>
          <a:bodyPr wrap="square" lIns="0" tIns="0" rIns="0" bIns="0" anchor="ctr">
            <a:spAutoFit/>
          </a:bodyPr>
          <a:lstStyle/>
          <a:p>
            <a:pPr algn="l">
              <a:lnSpc>
                <a:spcPct val="94000"/>
              </a:lnSpc>
              <a:spcBef>
                <a:spcPts val="0"/>
              </a:spcBef>
              <a:spcAft>
                <a:spcPts val="0"/>
              </a:spcAft>
            </a:pPr>
            <a:r>
              <a:rPr sz="800" b="0" i="0">
                <a:solidFill>
                  <a:srgbClr val="8A0C20"/>
                </a:solidFill>
                <a:latin typeface="Be Vietnam Pro SemiBold"/>
              </a:rPr>
              <a:t>ĐẠI HỌC BÁCH KHOA HÀ NỘI</a:t>
            </a:r>
          </a:p>
          <a:p>
            <a:pPr algn="l">
              <a:lnSpc>
                <a:spcPct val="94000"/>
              </a:lnSpc>
              <a:spcBef>
                <a:spcPts val="0"/>
              </a:spcBef>
              <a:spcAft>
                <a:spcPts val="0"/>
              </a:spcAft>
            </a:pPr>
            <a:r>
              <a:rPr sz="750" b="0" i="0">
                <a:solidFill>
                  <a:srgbClr val="6B7280"/>
                </a:solidFill>
                <a:latin typeface="Be Vietnam Pro"/>
              </a:rPr>
              <a:t>Phần mềm Quản lý Khen thưởng  ·  Trần Anh Đức</a:t>
            </a:r>
          </a:p>
        </p:txBody>
      </p:sp>
      <p:sp>
        <p:nvSpPr>
          <p:cNvPr id="12" name="TextBox 11"/>
          <p:cNvSpPr txBox="1"/>
          <p:nvPr/>
        </p:nvSpPr>
        <p:spPr>
          <a:xfrm>
            <a:off x="7680960" y="6501384"/>
            <a:ext cx="1005840" cy="310896"/>
          </a:xfrm>
          <a:prstGeom prst="rect">
            <a:avLst/>
          </a:prstGeom>
          <a:noFill/>
        </p:spPr>
        <p:txBody>
          <a:bodyPr wrap="square" lIns="0" tIns="0" rIns="0" bIns="0" anchor="ctr">
            <a:spAutoFit/>
          </a:bodyPr>
          <a:lstStyle/>
          <a:p>
            <a:pPr algn="r">
              <a:spcBef>
                <a:spcPts val="0"/>
              </a:spcBef>
              <a:spcAft>
                <a:spcPts val="0"/>
              </a:spcAft>
            </a:pPr>
            <a:r>
              <a:rPr sz="1200" b="0" i="0">
                <a:solidFill>
                  <a:srgbClr val="C00000"/>
                </a:solidFill>
                <a:latin typeface="Be Vietnam Pro ExtraBold"/>
              </a:rPr>
              <a:t>04</a:t>
            </a:r>
            <a:r>
              <a:rPr sz="900" b="0" i="0">
                <a:solidFill>
                  <a:srgbClr val="6B7280"/>
                </a:solidFill>
                <a:latin typeface="Be Vietnam Pro"/>
              </a:rPr>
              <a:t> / 31</a:t>
            </a:r>
          </a:p>
        </p:txBody>
      </p:sp>
      <p:sp>
        <p:nvSpPr>
          <p:cNvPr id="13" name="Rounded Rectangle 12"/>
          <p:cNvSpPr/>
          <p:nvPr/>
        </p:nvSpPr>
        <p:spPr>
          <a:xfrm>
            <a:off x="502920" y="1572768"/>
            <a:ext cx="3968496" cy="3246120"/>
          </a:xfrm>
          <a:prstGeom prst="roundRect">
            <a:avLst>
              <a:gd name="adj" fmla="val 5000"/>
            </a:avLst>
          </a:prstGeom>
          <a:solidFill>
            <a:srgbClr val="FFFFFF"/>
          </a:solidFill>
          <a:ln w="12700">
            <a:solidFill>
              <a:srgbClr val="E5E7EB"/>
            </a:solidFill>
          </a:ln>
          <a:effectLst>
            <a:outerShdw blurRad="90000" dist="42000" dir="5400000" rotWithShape="0">
              <a:srgbClr val="98A2B3">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4672583" y="1572768"/>
            <a:ext cx="3968496" cy="3246120"/>
          </a:xfrm>
          <a:prstGeom prst="roundRect">
            <a:avLst>
              <a:gd name="adj" fmla="val 5000"/>
            </a:avLst>
          </a:prstGeom>
          <a:solidFill>
            <a:srgbClr val="FBEAEA"/>
          </a:solidFill>
          <a:ln>
            <a:noFill/>
          </a:ln>
          <a:effectLst>
            <a:outerShdw blurRad="90000" dist="42000" dir="5400000" rotWithShape="0">
              <a:srgbClr val="98A2B3">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95528" y="1792224"/>
            <a:ext cx="3419856" cy="365760"/>
          </a:xfrm>
          <a:prstGeom prst="rect">
            <a:avLst/>
          </a:prstGeom>
          <a:noFill/>
        </p:spPr>
        <p:txBody>
          <a:bodyPr wrap="square" lIns="0" tIns="0" rIns="0" bIns="0" anchor="t">
            <a:spAutoFit/>
          </a:bodyPr>
          <a:lstStyle/>
          <a:p>
            <a:pPr algn="l">
              <a:spcBef>
                <a:spcPts val="0"/>
              </a:spcBef>
              <a:spcAft>
                <a:spcPts val="0"/>
              </a:spcAft>
            </a:pPr>
            <a:r>
              <a:rPr sz="1500" b="1" i="0">
                <a:solidFill>
                  <a:srgbClr val="1F2937"/>
                </a:solidFill>
                <a:latin typeface="Be Vietnam Pro"/>
              </a:rPr>
              <a:t>Bối cảnh và động lực</a:t>
            </a:r>
          </a:p>
        </p:txBody>
      </p:sp>
      <p:sp>
        <p:nvSpPr>
          <p:cNvPr id="16" name="TextBox 15"/>
          <p:cNvSpPr txBox="1"/>
          <p:nvPr/>
        </p:nvSpPr>
        <p:spPr>
          <a:xfrm>
            <a:off x="4965192" y="1792224"/>
            <a:ext cx="3419856" cy="365760"/>
          </a:xfrm>
          <a:prstGeom prst="rect">
            <a:avLst/>
          </a:prstGeom>
          <a:noFill/>
        </p:spPr>
        <p:txBody>
          <a:bodyPr wrap="square" lIns="0" tIns="0" rIns="0" bIns="0" anchor="t">
            <a:spAutoFit/>
          </a:bodyPr>
          <a:lstStyle/>
          <a:p>
            <a:pPr algn="l">
              <a:spcBef>
                <a:spcPts val="0"/>
              </a:spcBef>
              <a:spcAft>
                <a:spcPts val="0"/>
              </a:spcAft>
            </a:pPr>
            <a:r>
              <a:rPr sz="1500" b="1" i="0">
                <a:solidFill>
                  <a:srgbClr val="C00000"/>
                </a:solidFill>
                <a:latin typeface="Be Vietnam Pro"/>
              </a:rPr>
              <a:t>Mục tiêu cụ thể</a:t>
            </a:r>
          </a:p>
        </p:txBody>
      </p:sp>
      <p:sp>
        <p:nvSpPr>
          <p:cNvPr id="17" name="TextBox 16"/>
          <p:cNvSpPr txBox="1"/>
          <p:nvPr/>
        </p:nvSpPr>
        <p:spPr>
          <a:xfrm>
            <a:off x="795528" y="2249424"/>
            <a:ext cx="3401568" cy="2468880"/>
          </a:xfrm>
          <a:prstGeom prst="rect">
            <a:avLst/>
          </a:prstGeom>
          <a:noFill/>
        </p:spPr>
        <p:txBody>
          <a:bodyPr wrap="square" lIns="0" tIns="0" rIns="0" bIns="0" anchor="t">
            <a:spAutoFit/>
          </a:bodyPr>
          <a:lstStyle/>
          <a:p>
            <a:pPr marL="219456" indent="-219456" algn="l">
              <a:lnSpc>
                <a:spcPct val="108000"/>
              </a:lnSpc>
              <a:spcBef>
                <a:spcPts val="0"/>
              </a:spcBef>
              <a:spcAft>
                <a:spcPts val="700"/>
              </a:spcAft>
            </a:pPr>
            <a:r>
              <a:rPr sz="1100" b="1">
                <a:solidFill>
                  <a:srgbClr val="6B7280"/>
                </a:solidFill>
                <a:latin typeface="Arial"/>
              </a:rPr>
              <a:t>▪  </a:t>
            </a:r>
            <a:r>
              <a:rPr sz="1200" b="0" i="0">
                <a:solidFill>
                  <a:srgbClr val="1F2937"/>
                </a:solidFill>
                <a:latin typeface="Be Vietnam Pro"/>
              </a:rPr>
              <a:t>Quản lý khen thưởng tại đơn vị quân đội hiện chủ yếu dựa trên Excel và hồ sơ giấy.</a:t>
            </a:r>
          </a:p>
          <a:p>
            <a:pPr marL="219456" indent="-219456" algn="l">
              <a:lnSpc>
                <a:spcPct val="108000"/>
              </a:lnSpc>
              <a:spcBef>
                <a:spcPts val="0"/>
              </a:spcBef>
              <a:spcAft>
                <a:spcPts val="700"/>
              </a:spcAft>
            </a:pPr>
            <a:r>
              <a:rPr sz="1100" b="1">
                <a:solidFill>
                  <a:srgbClr val="6B7280"/>
                </a:solidFill>
                <a:latin typeface="Arial"/>
              </a:rPr>
              <a:t>▪  </a:t>
            </a:r>
            <a:r>
              <a:rPr sz="1200" b="0" i="0">
                <a:solidFill>
                  <a:srgbClr val="1F2937"/>
                </a:solidFill>
                <a:latin typeface="Be Vietnam Pro"/>
              </a:rPr>
              <a:t>Khó tra cứu lịch sử khen thưởng nhiều năm.</a:t>
            </a:r>
          </a:p>
          <a:p>
            <a:pPr marL="219456" indent="-219456" algn="l">
              <a:lnSpc>
                <a:spcPct val="108000"/>
              </a:lnSpc>
              <a:spcBef>
                <a:spcPts val="0"/>
              </a:spcBef>
              <a:spcAft>
                <a:spcPts val="700"/>
              </a:spcAft>
            </a:pPr>
            <a:r>
              <a:rPr sz="1100" b="1">
                <a:solidFill>
                  <a:srgbClr val="6B7280"/>
                </a:solidFill>
                <a:latin typeface="Arial"/>
              </a:rPr>
              <a:t>▪  </a:t>
            </a:r>
            <a:r>
              <a:rPr sz="1200" b="0" i="0">
                <a:solidFill>
                  <a:srgbClr val="1F2937"/>
                </a:solidFill>
                <a:latin typeface="Be Vietnam Pro"/>
              </a:rPr>
              <a:t>Quy định chuỗi danh hiệu phức tạp (BKBQP, CSTĐTQ, BKTTCP) dễ sai sót khi tính thủ công.</a:t>
            </a:r>
          </a:p>
          <a:p>
            <a:pPr marL="219456" indent="-219456" algn="l">
              <a:lnSpc>
                <a:spcPct val="108000"/>
              </a:lnSpc>
              <a:spcBef>
                <a:spcPts val="0"/>
              </a:spcBef>
              <a:spcAft>
                <a:spcPts val="700"/>
              </a:spcAft>
            </a:pPr>
            <a:r>
              <a:rPr sz="1100" b="1">
                <a:solidFill>
                  <a:srgbClr val="6B7280"/>
                </a:solidFill>
                <a:latin typeface="Arial"/>
              </a:rPr>
              <a:t>▪  </a:t>
            </a:r>
            <a:r>
              <a:rPr sz="1200" b="0" i="0">
                <a:solidFill>
                  <a:srgbClr val="1F2937"/>
                </a:solidFill>
                <a:latin typeface="Be Vietnam Pro"/>
              </a:rPr>
              <a:t>Vận hành trên mạng nội bộ, không phụ thuộc Internet.</a:t>
            </a:r>
          </a:p>
        </p:txBody>
      </p:sp>
      <p:sp>
        <p:nvSpPr>
          <p:cNvPr id="18" name="TextBox 17"/>
          <p:cNvSpPr txBox="1"/>
          <p:nvPr/>
        </p:nvSpPr>
        <p:spPr>
          <a:xfrm>
            <a:off x="4965192" y="2249424"/>
            <a:ext cx="3401568" cy="2468880"/>
          </a:xfrm>
          <a:prstGeom prst="rect">
            <a:avLst/>
          </a:prstGeom>
          <a:noFill/>
        </p:spPr>
        <p:txBody>
          <a:bodyPr wrap="square" lIns="0" tIns="0" rIns="0" bIns="0" anchor="t">
            <a:spAutoFit/>
          </a:bodyPr>
          <a:lstStyle/>
          <a:p>
            <a:pPr marL="219456" indent="-219456" algn="l">
              <a:lnSpc>
                <a:spcPct val="106000"/>
              </a:lnSpc>
              <a:spcBef>
                <a:spcPts val="0"/>
              </a:spcBef>
              <a:spcAft>
                <a:spcPts val="600"/>
              </a:spcAft>
            </a:pPr>
            <a:r>
              <a:rPr sz="1100" b="1">
                <a:solidFill>
                  <a:srgbClr val="C00000"/>
                </a:solidFill>
                <a:latin typeface="Arial"/>
              </a:rPr>
              <a:t>▪  </a:t>
            </a:r>
            <a:r>
              <a:rPr sz="1200" b="0" i="0">
                <a:solidFill>
                  <a:srgbClr val="1F2937"/>
                </a:solidFill>
                <a:latin typeface="Be Vietnam Pro"/>
              </a:rPr>
              <a:t>Quản lý bảy nhóm khen thưởng với 4 cấp vai trò.</a:t>
            </a:r>
          </a:p>
          <a:p>
            <a:pPr marL="219456" indent="-219456" algn="l">
              <a:lnSpc>
                <a:spcPct val="106000"/>
              </a:lnSpc>
              <a:spcBef>
                <a:spcPts val="0"/>
              </a:spcBef>
              <a:spcAft>
                <a:spcPts val="600"/>
              </a:spcAft>
            </a:pPr>
            <a:r>
              <a:rPr sz="1100" b="1">
                <a:solidFill>
                  <a:srgbClr val="C00000"/>
                </a:solidFill>
                <a:latin typeface="Arial"/>
              </a:rPr>
              <a:t>▪  </a:t>
            </a:r>
            <a:r>
              <a:rPr sz="1200" b="0" i="0">
                <a:solidFill>
                  <a:srgbClr val="1F2937"/>
                </a:solidFill>
                <a:latin typeface="Be Vietnam Pro"/>
              </a:rPr>
              <a:t>Tự động hoá xét điều kiện theo quy định hiện hành.</a:t>
            </a:r>
          </a:p>
          <a:p>
            <a:pPr marL="219456" indent="-219456" algn="l">
              <a:lnSpc>
                <a:spcPct val="106000"/>
              </a:lnSpc>
              <a:spcBef>
                <a:spcPts val="0"/>
              </a:spcBef>
              <a:spcAft>
                <a:spcPts val="600"/>
              </a:spcAft>
            </a:pPr>
            <a:r>
              <a:rPr sz="1100" b="1">
                <a:solidFill>
                  <a:srgbClr val="C00000"/>
                </a:solidFill>
                <a:latin typeface="Arial"/>
              </a:rPr>
              <a:t>▪  </a:t>
            </a:r>
            <a:r>
              <a:rPr sz="1200" b="0" i="0">
                <a:solidFill>
                  <a:srgbClr val="1F2937"/>
                </a:solidFill>
                <a:latin typeface="Be Vietnam Pro"/>
              </a:rPr>
              <a:t>Hỗ trợ đề xuất → đính kèm quyết định → phê duyệt.</a:t>
            </a:r>
          </a:p>
          <a:p>
            <a:pPr marL="219456" indent="-219456" algn="l">
              <a:lnSpc>
                <a:spcPct val="106000"/>
              </a:lnSpc>
              <a:spcBef>
                <a:spcPts val="0"/>
              </a:spcBef>
              <a:spcAft>
                <a:spcPts val="600"/>
              </a:spcAft>
            </a:pPr>
            <a:r>
              <a:rPr sz="1100" b="1">
                <a:solidFill>
                  <a:srgbClr val="C00000"/>
                </a:solidFill>
                <a:latin typeface="Arial"/>
              </a:rPr>
              <a:t>▪  </a:t>
            </a:r>
            <a:r>
              <a:rPr sz="1200" b="0" i="0">
                <a:solidFill>
                  <a:srgbClr val="1F2937"/>
                </a:solidFill>
                <a:latin typeface="Be Vietnam Pro"/>
              </a:rPr>
              <a:t>Đảm bảo truy vết và bảo mật đầy đủ.</a:t>
            </a:r>
          </a:p>
          <a:p>
            <a:pPr marL="219456" indent="-219456" algn="l">
              <a:lnSpc>
                <a:spcPct val="106000"/>
              </a:lnSpc>
              <a:spcBef>
                <a:spcPts val="0"/>
              </a:spcBef>
              <a:spcAft>
                <a:spcPts val="600"/>
              </a:spcAft>
            </a:pPr>
            <a:r>
              <a:rPr sz="1100" b="1">
                <a:solidFill>
                  <a:srgbClr val="C00000"/>
                </a:solidFill>
                <a:latin typeface="Arial"/>
              </a:rPr>
              <a:t>▪  </a:t>
            </a:r>
            <a:r>
              <a:rPr sz="1200" b="0" i="0">
                <a:solidFill>
                  <a:srgbClr val="1F2937"/>
                </a:solidFill>
                <a:latin typeface="Be Vietnam Pro"/>
              </a:rPr>
              <a:t>Triển khai trên mạng nội bộ, hoạt động offline.</a:t>
            </a:r>
          </a:p>
        </p:txBody>
      </p:sp>
      <p:sp>
        <p:nvSpPr>
          <p:cNvPr id="19" name="Rounded Rectangle 18"/>
          <p:cNvSpPr/>
          <p:nvPr/>
        </p:nvSpPr>
        <p:spPr>
          <a:xfrm>
            <a:off x="502920" y="4983480"/>
            <a:ext cx="8138160" cy="1078992"/>
          </a:xfrm>
          <a:prstGeom prst="roundRect">
            <a:avLst>
              <a:gd name="adj" fmla="val 6000"/>
            </a:avLst>
          </a:prstGeom>
          <a:solidFill>
            <a:srgbClr val="C00000"/>
          </a:solidFill>
          <a:ln>
            <a:noFill/>
          </a:ln>
          <a:effectLst>
            <a:outerShdw blurRad="90000" dist="42000" dir="5400000" rotWithShape="0">
              <a:srgbClr val="98A2B3">
                <a:alpha val="20000"/>
              </a:srgbClr>
            </a:outerShdw>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spcBef>
                <a:spcPts val="0"/>
              </a:spcBef>
              <a:spcAft>
                <a:spcPts val="200"/>
              </a:spcAft>
            </a:pPr>
            <a:r>
              <a:rPr sz="1100" b="1" i="0" spc="100">
                <a:solidFill>
                  <a:srgbClr val="E8B04B"/>
                </a:solidFill>
                <a:latin typeface="Be Vietnam Pro"/>
              </a:rPr>
              <a:t>MỤC TIÊU CỐT LÕI</a:t>
            </a:r>
          </a:p>
          <a:p>
            <a:pPr algn="ctr">
              <a:spcBef>
                <a:spcPts val="0"/>
              </a:spcBef>
              <a:spcAft>
                <a:spcPts val="0"/>
              </a:spcAft>
            </a:pPr>
            <a:r>
              <a:rPr sz="1600" b="1" i="0">
                <a:solidFill>
                  <a:srgbClr val="FFFFFF"/>
                </a:solidFill>
                <a:latin typeface="Be Vietnam Pro"/>
              </a:rPr>
              <a:t>Giảm sai sót thủ công, tiết kiệm thời gian, đảm bảo đúng quy định.</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 y="-45720"/>
            <a:ext cx="9235440" cy="6949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 y="-45720"/>
            <a:ext cx="9235440" cy="886968"/>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motif_white.png"/>
          <p:cNvPicPr>
            <a:picLocks noChangeAspect="1"/>
          </p:cNvPicPr>
          <p:nvPr/>
        </p:nvPicPr>
        <p:blipFill>
          <a:blip r:embed="rId2">
            <a:alphaModFix amt="34000"/>
          </a:blip>
          <a:stretch>
            <a:fillRect/>
          </a:stretch>
        </p:blipFill>
        <p:spPr>
          <a:xfrm>
            <a:off x="5989320" y="-1874519"/>
            <a:ext cx="4206240" cy="3154680"/>
          </a:xfrm>
          <a:prstGeom prst="rect">
            <a:avLst/>
          </a:prstGeom>
        </p:spPr>
      </p:pic>
      <p:sp>
        <p:nvSpPr>
          <p:cNvPr id="5" name="Rectangle 4"/>
          <p:cNvSpPr/>
          <p:nvPr/>
        </p:nvSpPr>
        <p:spPr>
          <a:xfrm>
            <a:off x="-45720" y="841248"/>
            <a:ext cx="9235440" cy="96012"/>
          </a:xfrm>
          <a:prstGeom prst="rect">
            <a:avLst/>
          </a:prstGeom>
          <a:solidFill>
            <a:srgbClr val="ECA7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 y="937260"/>
            <a:ext cx="9235440" cy="20116"/>
          </a:xfrm>
          <a:prstGeom prst="rect">
            <a:avLst/>
          </a:prstGeom>
          <a:solidFill>
            <a:srgbClr val="8A0C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8288"/>
            <a:ext cx="5897880" cy="822960"/>
          </a:xfrm>
          <a:prstGeom prst="rect">
            <a:avLst/>
          </a:prstGeom>
          <a:noFill/>
        </p:spPr>
        <p:txBody>
          <a:bodyPr wrap="square" lIns="0" tIns="0" rIns="0" bIns="0" anchor="ctr">
            <a:spAutoFit/>
          </a:bodyPr>
          <a:lstStyle/>
          <a:p>
            <a:pPr algn="l">
              <a:lnSpc>
                <a:spcPct val="96000"/>
              </a:lnSpc>
              <a:spcBef>
                <a:spcPts val="0"/>
              </a:spcBef>
              <a:spcAft>
                <a:spcPts val="0"/>
              </a:spcAft>
            </a:pPr>
            <a:r>
              <a:rPr sz="2300" b="0" i="0">
                <a:solidFill>
                  <a:srgbClr val="FFFFFF"/>
                </a:solidFill>
                <a:latin typeface="Be Vietnam Pro ExtraBold"/>
              </a:rPr>
              <a:t>Hệ thống khen thưởng</a:t>
            </a:r>
          </a:p>
        </p:txBody>
      </p:sp>
      <p:sp>
        <p:nvSpPr>
          <p:cNvPr id="8" name="Rounded Rectangle 7"/>
          <p:cNvSpPr/>
          <p:nvPr/>
        </p:nvSpPr>
        <p:spPr>
          <a:xfrm>
            <a:off x="7677302" y="256032"/>
            <a:ext cx="936345" cy="329184"/>
          </a:xfrm>
          <a:prstGeom prst="roundRect">
            <a:avLst>
              <a:gd name="adj" fmla="val 50000"/>
            </a:avLst>
          </a:prstGeom>
          <a:noFill/>
          <a:ln w="15875">
            <a:solidFill>
              <a:srgbClr val="F2C255"/>
            </a:solid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spcBef>
                <a:spcPts val="0"/>
              </a:spcBef>
              <a:spcAft>
                <a:spcPts val="0"/>
              </a:spcAft>
            </a:pPr>
            <a:r>
              <a:rPr sz="950" b="0" i="0" spc="80">
                <a:solidFill>
                  <a:srgbClr val="FFFFFF"/>
                </a:solidFill>
                <a:latin typeface="Be Vietnam Pro SemiBold"/>
              </a:rPr>
              <a:t>MỞ ĐẦU</a:t>
            </a:r>
          </a:p>
        </p:txBody>
      </p:sp>
      <p:sp>
        <p:nvSpPr>
          <p:cNvPr id="9" name="Rectangle 8"/>
          <p:cNvSpPr/>
          <p:nvPr/>
        </p:nvSpPr>
        <p:spPr>
          <a:xfrm>
            <a:off x="457200" y="6446520"/>
            <a:ext cx="8229600" cy="9144"/>
          </a:xfrm>
          <a:prstGeom prst="rect">
            <a:avLst/>
          </a:prstGeom>
          <a:solidFill>
            <a:srgbClr val="E3C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hust_shield.png"/>
          <p:cNvPicPr>
            <a:picLocks noChangeAspect="1"/>
          </p:cNvPicPr>
          <p:nvPr/>
        </p:nvPicPr>
        <p:blipFill>
          <a:blip r:embed="rId3"/>
          <a:stretch>
            <a:fillRect/>
          </a:stretch>
        </p:blipFill>
        <p:spPr>
          <a:xfrm>
            <a:off x="457200" y="6519672"/>
            <a:ext cx="164822" cy="246888"/>
          </a:xfrm>
          <a:prstGeom prst="rect">
            <a:avLst/>
          </a:prstGeom>
        </p:spPr>
      </p:pic>
      <p:sp>
        <p:nvSpPr>
          <p:cNvPr id="11" name="TextBox 10"/>
          <p:cNvSpPr txBox="1"/>
          <p:nvPr/>
        </p:nvSpPr>
        <p:spPr>
          <a:xfrm>
            <a:off x="713232" y="6501384"/>
            <a:ext cx="4206240" cy="310896"/>
          </a:xfrm>
          <a:prstGeom prst="rect">
            <a:avLst/>
          </a:prstGeom>
          <a:noFill/>
        </p:spPr>
        <p:txBody>
          <a:bodyPr wrap="square" lIns="0" tIns="0" rIns="0" bIns="0" anchor="ctr">
            <a:spAutoFit/>
          </a:bodyPr>
          <a:lstStyle/>
          <a:p>
            <a:pPr algn="l">
              <a:lnSpc>
                <a:spcPct val="94000"/>
              </a:lnSpc>
              <a:spcBef>
                <a:spcPts val="0"/>
              </a:spcBef>
              <a:spcAft>
                <a:spcPts val="0"/>
              </a:spcAft>
            </a:pPr>
            <a:r>
              <a:rPr sz="800" b="0" i="0">
                <a:solidFill>
                  <a:srgbClr val="8A0C20"/>
                </a:solidFill>
                <a:latin typeface="Be Vietnam Pro SemiBold"/>
              </a:rPr>
              <a:t>ĐẠI HỌC BÁCH KHOA HÀ NỘI</a:t>
            </a:r>
          </a:p>
          <a:p>
            <a:pPr algn="l">
              <a:lnSpc>
                <a:spcPct val="94000"/>
              </a:lnSpc>
              <a:spcBef>
                <a:spcPts val="0"/>
              </a:spcBef>
              <a:spcAft>
                <a:spcPts val="0"/>
              </a:spcAft>
            </a:pPr>
            <a:r>
              <a:rPr sz="750" b="0" i="0">
                <a:solidFill>
                  <a:srgbClr val="6B7280"/>
                </a:solidFill>
                <a:latin typeface="Be Vietnam Pro"/>
              </a:rPr>
              <a:t>Phần mềm Quản lý Khen thưởng  ·  Trần Anh Đức</a:t>
            </a:r>
          </a:p>
        </p:txBody>
      </p:sp>
      <p:sp>
        <p:nvSpPr>
          <p:cNvPr id="12" name="TextBox 11"/>
          <p:cNvSpPr txBox="1"/>
          <p:nvPr/>
        </p:nvSpPr>
        <p:spPr>
          <a:xfrm>
            <a:off x="7680960" y="6501384"/>
            <a:ext cx="1005840" cy="310896"/>
          </a:xfrm>
          <a:prstGeom prst="rect">
            <a:avLst/>
          </a:prstGeom>
          <a:noFill/>
        </p:spPr>
        <p:txBody>
          <a:bodyPr wrap="square" lIns="0" tIns="0" rIns="0" bIns="0" anchor="ctr">
            <a:spAutoFit/>
          </a:bodyPr>
          <a:lstStyle/>
          <a:p>
            <a:pPr algn="r">
              <a:spcBef>
                <a:spcPts val="0"/>
              </a:spcBef>
              <a:spcAft>
                <a:spcPts val="0"/>
              </a:spcAft>
            </a:pPr>
            <a:r>
              <a:rPr sz="1200" b="0" i="0">
                <a:solidFill>
                  <a:srgbClr val="C00000"/>
                </a:solidFill>
                <a:latin typeface="Be Vietnam Pro ExtraBold"/>
              </a:rPr>
              <a:t>05</a:t>
            </a:r>
            <a:r>
              <a:rPr sz="900" b="0" i="0">
                <a:solidFill>
                  <a:srgbClr val="6B7280"/>
                </a:solidFill>
                <a:latin typeface="Be Vietnam Pro"/>
              </a:rPr>
              <a:t> / 31</a:t>
            </a:r>
          </a:p>
        </p:txBody>
      </p:sp>
      <p:sp>
        <p:nvSpPr>
          <p:cNvPr id="13" name="Rectangle 12"/>
          <p:cNvSpPr/>
          <p:nvPr/>
        </p:nvSpPr>
        <p:spPr>
          <a:xfrm>
            <a:off x="502920" y="1591056"/>
            <a:ext cx="8138160" cy="420624"/>
          </a:xfrm>
          <a:prstGeom prst="rect">
            <a:avLst/>
          </a:prstGeom>
          <a:solidFill>
            <a:srgbClr val="8A0C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0936" y="1591056"/>
            <a:ext cx="1929384" cy="420624"/>
          </a:xfrm>
          <a:prstGeom prst="rect">
            <a:avLst/>
          </a:prstGeom>
          <a:noFill/>
        </p:spPr>
        <p:txBody>
          <a:bodyPr wrap="square" lIns="0" tIns="0" rIns="0" bIns="0" anchor="ctr">
            <a:spAutoFit/>
          </a:bodyPr>
          <a:lstStyle/>
          <a:p>
            <a:pPr algn="l">
              <a:spcBef>
                <a:spcPts val="0"/>
              </a:spcBef>
              <a:spcAft>
                <a:spcPts val="0"/>
              </a:spcAft>
            </a:pPr>
            <a:r>
              <a:rPr sz="1100" b="1" i="0" spc="40">
                <a:solidFill>
                  <a:srgbClr val="FFFFFF"/>
                </a:solidFill>
                <a:latin typeface="Be Vietnam Pro"/>
              </a:rPr>
              <a:t>NHÓM KHEN THƯỞNG</a:t>
            </a:r>
          </a:p>
        </p:txBody>
      </p:sp>
      <p:sp>
        <p:nvSpPr>
          <p:cNvPr id="15" name="TextBox 14"/>
          <p:cNvSpPr txBox="1"/>
          <p:nvPr/>
        </p:nvSpPr>
        <p:spPr>
          <a:xfrm>
            <a:off x="2779776" y="1591056"/>
            <a:ext cx="3849624" cy="420624"/>
          </a:xfrm>
          <a:prstGeom prst="rect">
            <a:avLst/>
          </a:prstGeom>
          <a:noFill/>
        </p:spPr>
        <p:txBody>
          <a:bodyPr wrap="square" lIns="0" tIns="0" rIns="0" bIns="0" anchor="ctr">
            <a:spAutoFit/>
          </a:bodyPr>
          <a:lstStyle/>
          <a:p>
            <a:pPr algn="l">
              <a:spcBef>
                <a:spcPts val="0"/>
              </a:spcBef>
              <a:spcAft>
                <a:spcPts val="0"/>
              </a:spcAft>
            </a:pPr>
            <a:r>
              <a:rPr sz="1100" b="1" i="0" spc="40">
                <a:solidFill>
                  <a:srgbClr val="FFFFFF"/>
                </a:solidFill>
                <a:latin typeface="Be Vietnam Pro"/>
              </a:rPr>
              <a:t>PHÂN RÃ CHI TIẾT</a:t>
            </a:r>
          </a:p>
        </p:txBody>
      </p:sp>
      <p:sp>
        <p:nvSpPr>
          <p:cNvPr id="16" name="TextBox 15"/>
          <p:cNvSpPr txBox="1"/>
          <p:nvPr/>
        </p:nvSpPr>
        <p:spPr>
          <a:xfrm>
            <a:off x="6848856" y="1591056"/>
            <a:ext cx="1700784" cy="420624"/>
          </a:xfrm>
          <a:prstGeom prst="rect">
            <a:avLst/>
          </a:prstGeom>
          <a:noFill/>
        </p:spPr>
        <p:txBody>
          <a:bodyPr wrap="square" lIns="0" tIns="0" rIns="0" bIns="0" anchor="ctr">
            <a:spAutoFit/>
          </a:bodyPr>
          <a:lstStyle/>
          <a:p>
            <a:pPr algn="l">
              <a:spcBef>
                <a:spcPts val="0"/>
              </a:spcBef>
              <a:spcAft>
                <a:spcPts val="0"/>
              </a:spcAft>
            </a:pPr>
            <a:r>
              <a:rPr sz="1100" b="1" i="0" spc="40">
                <a:solidFill>
                  <a:srgbClr val="FFFFFF"/>
                </a:solidFill>
                <a:latin typeface="Be Vietnam Pro"/>
              </a:rPr>
              <a:t>TIÊU CHÍ XÉT</a:t>
            </a:r>
          </a:p>
        </p:txBody>
      </p:sp>
      <p:sp>
        <p:nvSpPr>
          <p:cNvPr id="17" name="Rectangle 16"/>
          <p:cNvSpPr/>
          <p:nvPr/>
        </p:nvSpPr>
        <p:spPr>
          <a:xfrm>
            <a:off x="502920" y="2011680"/>
            <a:ext cx="8138160" cy="658368"/>
          </a:xfrm>
          <a:prstGeom prst="rect">
            <a:avLst/>
          </a:prstGeom>
          <a:solidFill>
            <a:srgbClr val="FFFFFF"/>
          </a:solidFill>
          <a:ln w="63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9224" y="2011680"/>
            <a:ext cx="1892808" cy="658368"/>
          </a:xfrm>
          <a:prstGeom prst="rect">
            <a:avLst/>
          </a:prstGeom>
          <a:noFill/>
        </p:spPr>
        <p:txBody>
          <a:bodyPr wrap="square" lIns="0" tIns="0" rIns="0" bIns="0" anchor="ctr">
            <a:spAutoFit/>
          </a:bodyPr>
          <a:lstStyle/>
          <a:p>
            <a:pPr algn="l">
              <a:lnSpc>
                <a:spcPct val="100000"/>
              </a:lnSpc>
              <a:spcBef>
                <a:spcPts val="0"/>
              </a:spcBef>
              <a:spcAft>
                <a:spcPts val="0"/>
              </a:spcAft>
            </a:pPr>
            <a:r>
              <a:rPr sz="1150" b="1" i="0">
                <a:solidFill>
                  <a:srgbClr val="C00000"/>
                </a:solidFill>
                <a:latin typeface="Be Vietnam Pro"/>
              </a:rPr>
              <a:t>Khen thưởng hằng năm</a:t>
            </a:r>
          </a:p>
        </p:txBody>
      </p:sp>
      <p:sp>
        <p:nvSpPr>
          <p:cNvPr id="19" name="TextBox 18"/>
          <p:cNvSpPr txBox="1"/>
          <p:nvPr/>
        </p:nvSpPr>
        <p:spPr>
          <a:xfrm>
            <a:off x="2779776" y="2011680"/>
            <a:ext cx="3831336" cy="658368"/>
          </a:xfrm>
          <a:prstGeom prst="rect">
            <a:avLst/>
          </a:prstGeom>
          <a:noFill/>
        </p:spPr>
        <p:txBody>
          <a:bodyPr wrap="square" lIns="0" tIns="0" rIns="0" bIns="0" anchor="ctr">
            <a:spAutoFit/>
          </a:bodyPr>
          <a:lstStyle/>
          <a:p>
            <a:pPr algn="l">
              <a:lnSpc>
                <a:spcPct val="102000"/>
              </a:lnSpc>
              <a:spcBef>
                <a:spcPts val="0"/>
              </a:spcBef>
              <a:spcAft>
                <a:spcPts val="0"/>
              </a:spcAft>
            </a:pPr>
            <a:r>
              <a:rPr sz="1050" b="0" i="0">
                <a:solidFill>
                  <a:srgbClr val="1F2937"/>
                </a:solidFill>
                <a:latin typeface="Be Vietnam Pro"/>
              </a:rPr>
              <a:t>Cá nhân (CSTĐCS, CSTT, BKBQP, CSTĐTQ, BKTTCP) + Đơn vị (ĐVQT, ĐVTT, BKBQP, BKTTCP)</a:t>
            </a:r>
          </a:p>
        </p:txBody>
      </p:sp>
      <p:sp>
        <p:nvSpPr>
          <p:cNvPr id="20" name="TextBox 19"/>
          <p:cNvSpPr txBox="1"/>
          <p:nvPr/>
        </p:nvSpPr>
        <p:spPr>
          <a:xfrm>
            <a:off x="6848856" y="2011680"/>
            <a:ext cx="1682496" cy="658368"/>
          </a:xfrm>
          <a:prstGeom prst="rect">
            <a:avLst/>
          </a:prstGeom>
          <a:noFill/>
        </p:spPr>
        <p:txBody>
          <a:bodyPr wrap="square" lIns="0" tIns="0" rIns="0" bIns="0" anchor="ctr">
            <a:spAutoFit/>
          </a:bodyPr>
          <a:lstStyle/>
          <a:p>
            <a:pPr algn="l">
              <a:lnSpc>
                <a:spcPct val="102000"/>
              </a:lnSpc>
              <a:spcBef>
                <a:spcPts val="0"/>
              </a:spcBef>
              <a:spcAft>
                <a:spcPts val="0"/>
              </a:spcAft>
            </a:pPr>
            <a:r>
              <a:rPr sz="1050" b="0" i="0">
                <a:solidFill>
                  <a:srgbClr val="6B7280"/>
                </a:solidFill>
                <a:latin typeface="Be Vietnam Pro"/>
              </a:rPr>
              <a:t>Theo năm</a:t>
            </a:r>
          </a:p>
        </p:txBody>
      </p:sp>
      <p:sp>
        <p:nvSpPr>
          <p:cNvPr id="21" name="Rectangle 20"/>
          <p:cNvSpPr/>
          <p:nvPr/>
        </p:nvSpPr>
        <p:spPr>
          <a:xfrm>
            <a:off x="502920" y="2670048"/>
            <a:ext cx="8138160" cy="658368"/>
          </a:xfrm>
          <a:prstGeom prst="rect">
            <a:avLst/>
          </a:prstGeom>
          <a:solidFill>
            <a:srgbClr val="F7F7F8"/>
          </a:solidFill>
          <a:ln w="63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9224" y="2670048"/>
            <a:ext cx="1892808" cy="658368"/>
          </a:xfrm>
          <a:prstGeom prst="rect">
            <a:avLst/>
          </a:prstGeom>
          <a:noFill/>
        </p:spPr>
        <p:txBody>
          <a:bodyPr wrap="square" lIns="0" tIns="0" rIns="0" bIns="0" anchor="ctr">
            <a:spAutoFit/>
          </a:bodyPr>
          <a:lstStyle/>
          <a:p>
            <a:pPr algn="l">
              <a:lnSpc>
                <a:spcPct val="100000"/>
              </a:lnSpc>
              <a:spcBef>
                <a:spcPts val="0"/>
              </a:spcBef>
              <a:spcAft>
                <a:spcPts val="0"/>
              </a:spcAft>
            </a:pPr>
            <a:r>
              <a:rPr sz="1150" b="1" i="0">
                <a:solidFill>
                  <a:srgbClr val="C00000"/>
                </a:solidFill>
                <a:latin typeface="Be Vietnam Pro"/>
              </a:rPr>
              <a:t>Khen thưởng niên hạn</a:t>
            </a:r>
          </a:p>
        </p:txBody>
      </p:sp>
      <p:sp>
        <p:nvSpPr>
          <p:cNvPr id="23" name="TextBox 22"/>
          <p:cNvSpPr txBox="1"/>
          <p:nvPr/>
        </p:nvSpPr>
        <p:spPr>
          <a:xfrm>
            <a:off x="2779776" y="2670048"/>
            <a:ext cx="3831336" cy="658368"/>
          </a:xfrm>
          <a:prstGeom prst="rect">
            <a:avLst/>
          </a:prstGeom>
          <a:noFill/>
        </p:spPr>
        <p:txBody>
          <a:bodyPr wrap="square" lIns="0" tIns="0" rIns="0" bIns="0" anchor="ctr">
            <a:spAutoFit/>
          </a:bodyPr>
          <a:lstStyle/>
          <a:p>
            <a:pPr algn="l">
              <a:lnSpc>
                <a:spcPct val="102000"/>
              </a:lnSpc>
              <a:spcBef>
                <a:spcPts val="0"/>
              </a:spcBef>
              <a:spcAft>
                <a:spcPts val="0"/>
              </a:spcAft>
            </a:pPr>
            <a:r>
              <a:rPr sz="1050" b="0" i="0">
                <a:solidFill>
                  <a:srgbClr val="1F2937"/>
                </a:solidFill>
                <a:latin typeface="Be Vietnam Pro"/>
              </a:rPr>
              <a:t>HCCSVV (3 hạng), HCQKQT, KNC VSNXD QĐNDVN</a:t>
            </a:r>
          </a:p>
        </p:txBody>
      </p:sp>
      <p:sp>
        <p:nvSpPr>
          <p:cNvPr id="24" name="TextBox 23"/>
          <p:cNvSpPr txBox="1"/>
          <p:nvPr/>
        </p:nvSpPr>
        <p:spPr>
          <a:xfrm>
            <a:off x="6848856" y="2670048"/>
            <a:ext cx="1682496" cy="658368"/>
          </a:xfrm>
          <a:prstGeom prst="rect">
            <a:avLst/>
          </a:prstGeom>
          <a:noFill/>
        </p:spPr>
        <p:txBody>
          <a:bodyPr wrap="square" lIns="0" tIns="0" rIns="0" bIns="0" anchor="ctr">
            <a:spAutoFit/>
          </a:bodyPr>
          <a:lstStyle/>
          <a:p>
            <a:pPr algn="l">
              <a:lnSpc>
                <a:spcPct val="102000"/>
              </a:lnSpc>
              <a:spcBef>
                <a:spcPts val="0"/>
              </a:spcBef>
              <a:spcAft>
                <a:spcPts val="0"/>
              </a:spcAft>
            </a:pPr>
            <a:r>
              <a:rPr sz="1050" b="0" i="0">
                <a:solidFill>
                  <a:srgbClr val="6B7280"/>
                </a:solidFill>
                <a:latin typeface="Be Vietnam Pro"/>
              </a:rPr>
              <a:t>Theo thời gian phục vụ</a:t>
            </a:r>
          </a:p>
        </p:txBody>
      </p:sp>
      <p:sp>
        <p:nvSpPr>
          <p:cNvPr id="25" name="Rectangle 24"/>
          <p:cNvSpPr/>
          <p:nvPr/>
        </p:nvSpPr>
        <p:spPr>
          <a:xfrm>
            <a:off x="502920" y="3328415"/>
            <a:ext cx="8138160" cy="658368"/>
          </a:xfrm>
          <a:prstGeom prst="rect">
            <a:avLst/>
          </a:prstGeom>
          <a:solidFill>
            <a:srgbClr val="FFFFFF"/>
          </a:solidFill>
          <a:ln w="63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49224" y="3328415"/>
            <a:ext cx="1892808" cy="658368"/>
          </a:xfrm>
          <a:prstGeom prst="rect">
            <a:avLst/>
          </a:prstGeom>
          <a:noFill/>
        </p:spPr>
        <p:txBody>
          <a:bodyPr wrap="square" lIns="0" tIns="0" rIns="0" bIns="0" anchor="ctr">
            <a:spAutoFit/>
          </a:bodyPr>
          <a:lstStyle/>
          <a:p>
            <a:pPr algn="l">
              <a:lnSpc>
                <a:spcPct val="100000"/>
              </a:lnSpc>
              <a:spcBef>
                <a:spcPts val="0"/>
              </a:spcBef>
              <a:spcAft>
                <a:spcPts val="0"/>
              </a:spcAft>
            </a:pPr>
            <a:r>
              <a:rPr sz="1150" b="1" i="0">
                <a:solidFill>
                  <a:srgbClr val="C00000"/>
                </a:solidFill>
                <a:latin typeface="Be Vietnam Pro"/>
              </a:rPr>
              <a:t>Khen thưởng cống hiến</a:t>
            </a:r>
          </a:p>
        </p:txBody>
      </p:sp>
      <p:sp>
        <p:nvSpPr>
          <p:cNvPr id="27" name="TextBox 26"/>
          <p:cNvSpPr txBox="1"/>
          <p:nvPr/>
        </p:nvSpPr>
        <p:spPr>
          <a:xfrm>
            <a:off x="2779776" y="3328415"/>
            <a:ext cx="3831336" cy="658368"/>
          </a:xfrm>
          <a:prstGeom prst="rect">
            <a:avLst/>
          </a:prstGeom>
          <a:noFill/>
        </p:spPr>
        <p:txBody>
          <a:bodyPr wrap="square" lIns="0" tIns="0" rIns="0" bIns="0" anchor="ctr">
            <a:spAutoFit/>
          </a:bodyPr>
          <a:lstStyle/>
          <a:p>
            <a:pPr algn="l">
              <a:lnSpc>
                <a:spcPct val="102000"/>
              </a:lnSpc>
              <a:spcBef>
                <a:spcPts val="0"/>
              </a:spcBef>
              <a:spcAft>
                <a:spcPts val="0"/>
              </a:spcAft>
            </a:pPr>
            <a:r>
              <a:rPr sz="1050" b="0" i="0">
                <a:solidFill>
                  <a:srgbClr val="1F2937"/>
                </a:solidFill>
                <a:latin typeface="Be Vietnam Pro"/>
              </a:rPr>
              <a:t>HCBVTQ (3 hạng)</a:t>
            </a:r>
          </a:p>
        </p:txBody>
      </p:sp>
      <p:sp>
        <p:nvSpPr>
          <p:cNvPr id="28" name="TextBox 27"/>
          <p:cNvSpPr txBox="1"/>
          <p:nvPr/>
        </p:nvSpPr>
        <p:spPr>
          <a:xfrm>
            <a:off x="6848856" y="3328415"/>
            <a:ext cx="1682496" cy="658368"/>
          </a:xfrm>
          <a:prstGeom prst="rect">
            <a:avLst/>
          </a:prstGeom>
          <a:noFill/>
        </p:spPr>
        <p:txBody>
          <a:bodyPr wrap="square" lIns="0" tIns="0" rIns="0" bIns="0" anchor="ctr">
            <a:spAutoFit/>
          </a:bodyPr>
          <a:lstStyle/>
          <a:p>
            <a:pPr algn="l">
              <a:lnSpc>
                <a:spcPct val="102000"/>
              </a:lnSpc>
              <a:spcBef>
                <a:spcPts val="0"/>
              </a:spcBef>
              <a:spcAft>
                <a:spcPts val="0"/>
              </a:spcAft>
            </a:pPr>
            <a:r>
              <a:rPr sz="1050" b="0" i="0">
                <a:solidFill>
                  <a:srgbClr val="6B7280"/>
                </a:solidFill>
                <a:latin typeface="Be Vietnam Pro"/>
              </a:rPr>
              <a:t>120 tháng (nam) / 80 (nữ) theo nhóm hệ số</a:t>
            </a:r>
          </a:p>
        </p:txBody>
      </p:sp>
      <p:sp>
        <p:nvSpPr>
          <p:cNvPr id="29" name="Rectangle 28"/>
          <p:cNvSpPr/>
          <p:nvPr/>
        </p:nvSpPr>
        <p:spPr>
          <a:xfrm>
            <a:off x="502920" y="3986783"/>
            <a:ext cx="8138160" cy="658368"/>
          </a:xfrm>
          <a:prstGeom prst="rect">
            <a:avLst/>
          </a:prstGeom>
          <a:solidFill>
            <a:srgbClr val="F7F7F8"/>
          </a:solidFill>
          <a:ln w="63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49224" y="3986783"/>
            <a:ext cx="1892808" cy="658368"/>
          </a:xfrm>
          <a:prstGeom prst="rect">
            <a:avLst/>
          </a:prstGeom>
          <a:noFill/>
        </p:spPr>
        <p:txBody>
          <a:bodyPr wrap="square" lIns="0" tIns="0" rIns="0" bIns="0" anchor="ctr">
            <a:spAutoFit/>
          </a:bodyPr>
          <a:lstStyle/>
          <a:p>
            <a:pPr algn="l">
              <a:lnSpc>
                <a:spcPct val="100000"/>
              </a:lnSpc>
              <a:spcBef>
                <a:spcPts val="0"/>
              </a:spcBef>
              <a:spcAft>
                <a:spcPts val="0"/>
              </a:spcAft>
            </a:pPr>
            <a:r>
              <a:rPr sz="1150" b="1" i="0">
                <a:solidFill>
                  <a:srgbClr val="C00000"/>
                </a:solidFill>
                <a:latin typeface="Be Vietnam Pro"/>
              </a:rPr>
              <a:t>Khen thưởng thành tích</a:t>
            </a:r>
          </a:p>
        </p:txBody>
      </p:sp>
      <p:sp>
        <p:nvSpPr>
          <p:cNvPr id="31" name="TextBox 30"/>
          <p:cNvSpPr txBox="1"/>
          <p:nvPr/>
        </p:nvSpPr>
        <p:spPr>
          <a:xfrm>
            <a:off x="2779776" y="3986783"/>
            <a:ext cx="3831336" cy="658368"/>
          </a:xfrm>
          <a:prstGeom prst="rect">
            <a:avLst/>
          </a:prstGeom>
          <a:noFill/>
        </p:spPr>
        <p:txBody>
          <a:bodyPr wrap="square" lIns="0" tIns="0" rIns="0" bIns="0" anchor="ctr">
            <a:spAutoFit/>
          </a:bodyPr>
          <a:lstStyle/>
          <a:p>
            <a:pPr algn="l">
              <a:lnSpc>
                <a:spcPct val="102000"/>
              </a:lnSpc>
              <a:spcBef>
                <a:spcPts val="0"/>
              </a:spcBef>
              <a:spcAft>
                <a:spcPts val="0"/>
              </a:spcAft>
            </a:pPr>
            <a:r>
              <a:rPr sz="1050" b="0" i="0">
                <a:solidFill>
                  <a:srgbClr val="1F2937"/>
                </a:solidFill>
                <a:latin typeface="Be Vietnam Pro"/>
              </a:rPr>
              <a:t>NCKH (Đề tài KH, Sáng kiến KH)</a:t>
            </a:r>
          </a:p>
        </p:txBody>
      </p:sp>
      <p:sp>
        <p:nvSpPr>
          <p:cNvPr id="32" name="TextBox 31"/>
          <p:cNvSpPr txBox="1"/>
          <p:nvPr/>
        </p:nvSpPr>
        <p:spPr>
          <a:xfrm>
            <a:off x="6848856" y="3986783"/>
            <a:ext cx="1682496" cy="658368"/>
          </a:xfrm>
          <a:prstGeom prst="rect">
            <a:avLst/>
          </a:prstGeom>
          <a:noFill/>
        </p:spPr>
        <p:txBody>
          <a:bodyPr wrap="square" lIns="0" tIns="0" rIns="0" bIns="0" anchor="ctr">
            <a:spAutoFit/>
          </a:bodyPr>
          <a:lstStyle/>
          <a:p>
            <a:pPr algn="l">
              <a:lnSpc>
                <a:spcPct val="102000"/>
              </a:lnSpc>
              <a:spcBef>
                <a:spcPts val="0"/>
              </a:spcBef>
              <a:spcAft>
                <a:spcPts val="0"/>
              </a:spcAft>
            </a:pPr>
            <a:r>
              <a:rPr sz="1050" b="0" i="0">
                <a:solidFill>
                  <a:srgbClr val="6B7280"/>
                </a:solidFill>
                <a:latin typeface="Be Vietnam Pro"/>
              </a:rPr>
              <a:t>Theo công trình</a:t>
            </a:r>
          </a:p>
        </p:txBody>
      </p:sp>
      <p:sp>
        <p:nvSpPr>
          <p:cNvPr id="33" name="Rectangle 32"/>
          <p:cNvSpPr/>
          <p:nvPr/>
        </p:nvSpPr>
        <p:spPr>
          <a:xfrm>
            <a:off x="502920" y="4645151"/>
            <a:ext cx="8138160" cy="658368"/>
          </a:xfrm>
          <a:prstGeom prst="rect">
            <a:avLst/>
          </a:prstGeom>
          <a:solidFill>
            <a:srgbClr val="FFFFFF"/>
          </a:solidFill>
          <a:ln w="63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49224" y="4645151"/>
            <a:ext cx="1892808" cy="658368"/>
          </a:xfrm>
          <a:prstGeom prst="rect">
            <a:avLst/>
          </a:prstGeom>
          <a:noFill/>
        </p:spPr>
        <p:txBody>
          <a:bodyPr wrap="square" lIns="0" tIns="0" rIns="0" bIns="0" anchor="ctr">
            <a:spAutoFit/>
          </a:bodyPr>
          <a:lstStyle/>
          <a:p>
            <a:pPr algn="l">
              <a:lnSpc>
                <a:spcPct val="100000"/>
              </a:lnSpc>
              <a:spcBef>
                <a:spcPts val="0"/>
              </a:spcBef>
              <a:spcAft>
                <a:spcPts val="0"/>
              </a:spcAft>
            </a:pPr>
            <a:r>
              <a:rPr sz="1150" b="1" i="0">
                <a:solidFill>
                  <a:srgbClr val="C00000"/>
                </a:solidFill>
                <a:latin typeface="Be Vietnam Pro"/>
              </a:rPr>
              <a:t>Khen thưởng đột xuất</a:t>
            </a:r>
          </a:p>
        </p:txBody>
      </p:sp>
      <p:sp>
        <p:nvSpPr>
          <p:cNvPr id="35" name="TextBox 34"/>
          <p:cNvSpPr txBox="1"/>
          <p:nvPr/>
        </p:nvSpPr>
        <p:spPr>
          <a:xfrm>
            <a:off x="2779776" y="4645151"/>
            <a:ext cx="3831336" cy="658368"/>
          </a:xfrm>
          <a:prstGeom prst="rect">
            <a:avLst/>
          </a:prstGeom>
          <a:noFill/>
        </p:spPr>
        <p:txBody>
          <a:bodyPr wrap="square" lIns="0" tIns="0" rIns="0" bIns="0" anchor="ctr">
            <a:spAutoFit/>
          </a:bodyPr>
          <a:lstStyle/>
          <a:p>
            <a:pPr algn="l">
              <a:lnSpc>
                <a:spcPct val="102000"/>
              </a:lnSpc>
              <a:spcBef>
                <a:spcPts val="0"/>
              </a:spcBef>
              <a:spcAft>
                <a:spcPts val="0"/>
              </a:spcAft>
            </a:pPr>
            <a:r>
              <a:rPr sz="1050" b="0" i="0">
                <a:solidFill>
                  <a:srgbClr val="1F2937"/>
                </a:solidFill>
                <a:latin typeface="Be Vietnam Pro"/>
              </a:rPr>
              <a:t>Theo sự kiện / chiến công cụ thể</a:t>
            </a:r>
          </a:p>
        </p:txBody>
      </p:sp>
      <p:sp>
        <p:nvSpPr>
          <p:cNvPr id="36" name="TextBox 35"/>
          <p:cNvSpPr txBox="1"/>
          <p:nvPr/>
        </p:nvSpPr>
        <p:spPr>
          <a:xfrm>
            <a:off x="6848856" y="4645151"/>
            <a:ext cx="1682496" cy="658368"/>
          </a:xfrm>
          <a:prstGeom prst="rect">
            <a:avLst/>
          </a:prstGeom>
          <a:noFill/>
        </p:spPr>
        <p:txBody>
          <a:bodyPr wrap="square" lIns="0" tIns="0" rIns="0" bIns="0" anchor="ctr">
            <a:spAutoFit/>
          </a:bodyPr>
          <a:lstStyle/>
          <a:p>
            <a:pPr algn="l">
              <a:lnSpc>
                <a:spcPct val="102000"/>
              </a:lnSpc>
              <a:spcBef>
                <a:spcPts val="0"/>
              </a:spcBef>
              <a:spcAft>
                <a:spcPts val="0"/>
              </a:spcAft>
            </a:pPr>
            <a:r>
              <a:rPr sz="1050" b="0" i="0">
                <a:solidFill>
                  <a:srgbClr val="6B7280"/>
                </a:solidFill>
                <a:latin typeface="Be Vietnam Pro"/>
              </a:rPr>
              <a:t>Phi định kỳ</a:t>
            </a:r>
          </a:p>
        </p:txBody>
      </p:sp>
      <p:sp>
        <p:nvSpPr>
          <p:cNvPr id="37" name="Rectangle 36"/>
          <p:cNvSpPr/>
          <p:nvPr/>
        </p:nvSpPr>
        <p:spPr>
          <a:xfrm>
            <a:off x="2651760" y="1591056"/>
            <a:ext cx="5486" cy="3712463"/>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6720840" y="1591056"/>
            <a:ext cx="5486" cy="3712463"/>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ounded Rectangle 38"/>
          <p:cNvSpPr/>
          <p:nvPr/>
        </p:nvSpPr>
        <p:spPr>
          <a:xfrm>
            <a:off x="502920" y="5413247"/>
            <a:ext cx="8138160" cy="566928"/>
          </a:xfrm>
          <a:prstGeom prst="roundRect">
            <a:avLst>
              <a:gd name="adj" fmla="val 8000"/>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l">
              <a:lnSpc>
                <a:spcPct val="105000"/>
              </a:lnSpc>
              <a:spcBef>
                <a:spcPts val="0"/>
              </a:spcBef>
              <a:spcAft>
                <a:spcPts val="0"/>
              </a:spcAft>
            </a:pPr>
            <a:r>
              <a:rPr sz="1100" b="0" i="0">
                <a:solidFill>
                  <a:srgbClr val="1F2937"/>
                </a:solidFill>
                <a:latin typeface="Be Vietnam Pro"/>
              </a:rPr>
              <a:t>Bốn nhóm đầu gồm bảy loại đề xuất xử lý qua </a:t>
            </a:r>
            <a:r>
              <a:rPr sz="1100" b="1" i="0">
                <a:solidFill>
                  <a:srgbClr val="C00000"/>
                </a:solidFill>
                <a:latin typeface="Be Vietnam Pro"/>
              </a:rPr>
              <a:t>Strategy pattern</a:t>
            </a:r>
            <a:r>
              <a:rPr sz="1100" b="0" i="0">
                <a:solidFill>
                  <a:srgbClr val="1F2937"/>
                </a:solidFill>
                <a:latin typeface="Be Vietnam Pro"/>
              </a:rPr>
              <a:t>; khen thưởng đột xuất được quản lý riêng, ngoài luồng đề xuất.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 y="-45720"/>
            <a:ext cx="9235440" cy="6949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 y="-45720"/>
            <a:ext cx="9235440" cy="886968"/>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motif_white.png"/>
          <p:cNvPicPr>
            <a:picLocks noChangeAspect="1"/>
          </p:cNvPicPr>
          <p:nvPr/>
        </p:nvPicPr>
        <p:blipFill>
          <a:blip r:embed="rId2">
            <a:alphaModFix amt="34000"/>
          </a:blip>
          <a:stretch>
            <a:fillRect/>
          </a:stretch>
        </p:blipFill>
        <p:spPr>
          <a:xfrm>
            <a:off x="5989320" y="-1874519"/>
            <a:ext cx="4206240" cy="3154680"/>
          </a:xfrm>
          <a:prstGeom prst="rect">
            <a:avLst/>
          </a:prstGeom>
        </p:spPr>
      </p:pic>
      <p:sp>
        <p:nvSpPr>
          <p:cNvPr id="5" name="Rectangle 4"/>
          <p:cNvSpPr/>
          <p:nvPr/>
        </p:nvSpPr>
        <p:spPr>
          <a:xfrm>
            <a:off x="-45720" y="841248"/>
            <a:ext cx="9235440" cy="96012"/>
          </a:xfrm>
          <a:prstGeom prst="rect">
            <a:avLst/>
          </a:prstGeom>
          <a:solidFill>
            <a:srgbClr val="ECA7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 y="937260"/>
            <a:ext cx="9235440" cy="20116"/>
          </a:xfrm>
          <a:prstGeom prst="rect">
            <a:avLst/>
          </a:prstGeom>
          <a:solidFill>
            <a:srgbClr val="8A0C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8288"/>
            <a:ext cx="5897880" cy="822960"/>
          </a:xfrm>
          <a:prstGeom prst="rect">
            <a:avLst/>
          </a:prstGeom>
          <a:noFill/>
        </p:spPr>
        <p:txBody>
          <a:bodyPr wrap="square" lIns="0" tIns="0" rIns="0" bIns="0" anchor="ctr">
            <a:spAutoFit/>
          </a:bodyPr>
          <a:lstStyle/>
          <a:p>
            <a:pPr algn="l">
              <a:lnSpc>
                <a:spcPct val="96000"/>
              </a:lnSpc>
              <a:spcBef>
                <a:spcPts val="0"/>
              </a:spcBef>
              <a:spcAft>
                <a:spcPts val="0"/>
              </a:spcAft>
            </a:pPr>
            <a:r>
              <a:rPr sz="2300" b="0" i="0">
                <a:solidFill>
                  <a:srgbClr val="FFFFFF"/>
                </a:solidFill>
                <a:latin typeface="Be Vietnam Pro ExtraBold"/>
              </a:rPr>
              <a:t>Chuỗi danh hiệu hằng năm</a:t>
            </a:r>
          </a:p>
        </p:txBody>
      </p:sp>
      <p:sp>
        <p:nvSpPr>
          <p:cNvPr id="8" name="Rounded Rectangle 7"/>
          <p:cNvSpPr/>
          <p:nvPr/>
        </p:nvSpPr>
        <p:spPr>
          <a:xfrm>
            <a:off x="7677302" y="256032"/>
            <a:ext cx="936345" cy="329184"/>
          </a:xfrm>
          <a:prstGeom prst="roundRect">
            <a:avLst>
              <a:gd name="adj" fmla="val 50000"/>
            </a:avLst>
          </a:prstGeom>
          <a:noFill/>
          <a:ln w="15875">
            <a:solidFill>
              <a:srgbClr val="F2C255"/>
            </a:solid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spcBef>
                <a:spcPts val="0"/>
              </a:spcBef>
              <a:spcAft>
                <a:spcPts val="0"/>
              </a:spcAft>
            </a:pPr>
            <a:r>
              <a:rPr sz="950" b="0" i="0" spc="80">
                <a:solidFill>
                  <a:srgbClr val="FFFFFF"/>
                </a:solidFill>
                <a:latin typeface="Be Vietnam Pro SemiBold"/>
              </a:rPr>
              <a:t>MỞ ĐẦU</a:t>
            </a:r>
          </a:p>
        </p:txBody>
      </p:sp>
      <p:sp>
        <p:nvSpPr>
          <p:cNvPr id="9" name="Rectangle 8"/>
          <p:cNvSpPr/>
          <p:nvPr/>
        </p:nvSpPr>
        <p:spPr>
          <a:xfrm>
            <a:off x="457200" y="6446520"/>
            <a:ext cx="8229600" cy="9144"/>
          </a:xfrm>
          <a:prstGeom prst="rect">
            <a:avLst/>
          </a:prstGeom>
          <a:solidFill>
            <a:srgbClr val="E3C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hust_shield.png"/>
          <p:cNvPicPr>
            <a:picLocks noChangeAspect="1"/>
          </p:cNvPicPr>
          <p:nvPr/>
        </p:nvPicPr>
        <p:blipFill>
          <a:blip r:embed="rId3"/>
          <a:stretch>
            <a:fillRect/>
          </a:stretch>
        </p:blipFill>
        <p:spPr>
          <a:xfrm>
            <a:off x="457200" y="6519672"/>
            <a:ext cx="164822" cy="246888"/>
          </a:xfrm>
          <a:prstGeom prst="rect">
            <a:avLst/>
          </a:prstGeom>
        </p:spPr>
      </p:pic>
      <p:sp>
        <p:nvSpPr>
          <p:cNvPr id="11" name="TextBox 10"/>
          <p:cNvSpPr txBox="1"/>
          <p:nvPr/>
        </p:nvSpPr>
        <p:spPr>
          <a:xfrm>
            <a:off x="713232" y="6501384"/>
            <a:ext cx="4206240" cy="310896"/>
          </a:xfrm>
          <a:prstGeom prst="rect">
            <a:avLst/>
          </a:prstGeom>
          <a:noFill/>
        </p:spPr>
        <p:txBody>
          <a:bodyPr wrap="square" lIns="0" tIns="0" rIns="0" bIns="0" anchor="ctr">
            <a:spAutoFit/>
          </a:bodyPr>
          <a:lstStyle/>
          <a:p>
            <a:pPr algn="l">
              <a:lnSpc>
                <a:spcPct val="94000"/>
              </a:lnSpc>
              <a:spcBef>
                <a:spcPts val="0"/>
              </a:spcBef>
              <a:spcAft>
                <a:spcPts val="0"/>
              </a:spcAft>
            </a:pPr>
            <a:r>
              <a:rPr sz="800" b="0" i="0">
                <a:solidFill>
                  <a:srgbClr val="8A0C20"/>
                </a:solidFill>
                <a:latin typeface="Be Vietnam Pro SemiBold"/>
              </a:rPr>
              <a:t>ĐẠI HỌC BÁCH KHOA HÀ NỘI</a:t>
            </a:r>
          </a:p>
          <a:p>
            <a:pPr algn="l">
              <a:lnSpc>
                <a:spcPct val="94000"/>
              </a:lnSpc>
              <a:spcBef>
                <a:spcPts val="0"/>
              </a:spcBef>
              <a:spcAft>
                <a:spcPts val="0"/>
              </a:spcAft>
            </a:pPr>
            <a:r>
              <a:rPr sz="750" b="0" i="0">
                <a:solidFill>
                  <a:srgbClr val="6B7280"/>
                </a:solidFill>
                <a:latin typeface="Be Vietnam Pro"/>
              </a:rPr>
              <a:t>Phần mềm Quản lý Khen thưởng  ·  Trần Anh Đức</a:t>
            </a:r>
          </a:p>
        </p:txBody>
      </p:sp>
      <p:sp>
        <p:nvSpPr>
          <p:cNvPr id="12" name="TextBox 11"/>
          <p:cNvSpPr txBox="1"/>
          <p:nvPr/>
        </p:nvSpPr>
        <p:spPr>
          <a:xfrm>
            <a:off x="7680960" y="6501384"/>
            <a:ext cx="1005840" cy="310896"/>
          </a:xfrm>
          <a:prstGeom prst="rect">
            <a:avLst/>
          </a:prstGeom>
          <a:noFill/>
        </p:spPr>
        <p:txBody>
          <a:bodyPr wrap="square" lIns="0" tIns="0" rIns="0" bIns="0" anchor="ctr">
            <a:spAutoFit/>
          </a:bodyPr>
          <a:lstStyle/>
          <a:p>
            <a:pPr algn="r">
              <a:spcBef>
                <a:spcPts val="0"/>
              </a:spcBef>
              <a:spcAft>
                <a:spcPts val="0"/>
              </a:spcAft>
            </a:pPr>
            <a:r>
              <a:rPr sz="1200" b="0" i="0">
                <a:solidFill>
                  <a:srgbClr val="C00000"/>
                </a:solidFill>
                <a:latin typeface="Be Vietnam Pro ExtraBold"/>
              </a:rPr>
              <a:t>06</a:t>
            </a:r>
            <a:r>
              <a:rPr sz="900" b="0" i="0">
                <a:solidFill>
                  <a:srgbClr val="6B7280"/>
                </a:solidFill>
                <a:latin typeface="Be Vietnam Pro"/>
              </a:rPr>
              <a:t> / 31</a:t>
            </a:r>
          </a:p>
        </p:txBody>
      </p:sp>
      <p:sp>
        <p:nvSpPr>
          <p:cNvPr id="13" name="TextBox 12"/>
          <p:cNvSpPr txBox="1"/>
          <p:nvPr/>
        </p:nvSpPr>
        <p:spPr>
          <a:xfrm>
            <a:off x="502920" y="1572768"/>
            <a:ext cx="8229600" cy="274320"/>
          </a:xfrm>
          <a:prstGeom prst="rect">
            <a:avLst/>
          </a:prstGeom>
          <a:noFill/>
        </p:spPr>
        <p:txBody>
          <a:bodyPr wrap="square" lIns="0" tIns="0" rIns="0" bIns="0" anchor="t">
            <a:spAutoFit/>
          </a:bodyPr>
          <a:lstStyle/>
          <a:p>
            <a:pPr algn="l">
              <a:spcBef>
                <a:spcPts val="0"/>
              </a:spcBef>
              <a:spcAft>
                <a:spcPts val="0"/>
              </a:spcAft>
            </a:pPr>
            <a:r>
              <a:rPr sz="1300" b="1" i="0">
                <a:solidFill>
                  <a:srgbClr val="C00000"/>
                </a:solidFill>
                <a:latin typeface="Be Vietnam Pro"/>
              </a:rPr>
              <a:t>Cá nhân</a:t>
            </a:r>
            <a:r>
              <a:rPr sz="1000" b="0" i="1">
                <a:solidFill>
                  <a:srgbClr val="6B7280"/>
                </a:solidFill>
                <a:latin typeface="Be Vietnam Pro"/>
              </a:rPr>
              <a:t>   CSTĐCS + NCKH liên tục mỗi năm là nền tảng; việc xét mỗi cấp dựa trên số năm liên tục trước đó</a:t>
            </a:r>
          </a:p>
        </p:txBody>
      </p:sp>
      <p:sp>
        <p:nvSpPr>
          <p:cNvPr id="14" name="Rectangle 13"/>
          <p:cNvSpPr/>
          <p:nvPr/>
        </p:nvSpPr>
        <p:spPr>
          <a:xfrm>
            <a:off x="777240" y="2670048"/>
            <a:ext cx="7589520" cy="32004"/>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699516" y="2607868"/>
            <a:ext cx="155448" cy="155448"/>
          </a:xfrm>
          <a:prstGeom prst="ellipse">
            <a:avLst/>
          </a:prstGeom>
          <a:solidFill>
            <a:srgbClr val="C0000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65759" y="2816352"/>
            <a:ext cx="822960" cy="420624"/>
          </a:xfrm>
          <a:prstGeom prst="rect">
            <a:avLst/>
          </a:prstGeom>
          <a:noFill/>
        </p:spPr>
        <p:txBody>
          <a:bodyPr wrap="square" lIns="0" tIns="0" rIns="0" bIns="0" anchor="t">
            <a:spAutoFit/>
          </a:bodyPr>
          <a:lstStyle/>
          <a:p>
            <a:pPr algn="ctr">
              <a:lnSpc>
                <a:spcPct val="95000"/>
              </a:lnSpc>
              <a:spcBef>
                <a:spcPts val="0"/>
              </a:spcBef>
              <a:spcAft>
                <a:spcPts val="0"/>
              </a:spcAft>
            </a:pPr>
            <a:r>
              <a:rPr sz="850" b="0" i="0">
                <a:solidFill>
                  <a:srgbClr val="6B7280"/>
                </a:solidFill>
                <a:latin typeface="Be Vietnam Pro"/>
              </a:rPr>
              <a:t>Năm 1</a:t>
            </a:r>
          </a:p>
          <a:p>
            <a:pPr algn="ctr">
              <a:lnSpc>
                <a:spcPct val="95000"/>
              </a:lnSpc>
              <a:spcBef>
                <a:spcPts val="0"/>
              </a:spcBef>
              <a:spcAft>
                <a:spcPts val="0"/>
              </a:spcAft>
            </a:pPr>
            <a:r>
              <a:rPr sz="850" b="1" i="0">
                <a:solidFill>
                  <a:srgbClr val="1F2937"/>
                </a:solidFill>
                <a:latin typeface="Be Vietnam Pro"/>
              </a:rPr>
              <a:t>CSTĐCS</a:t>
            </a:r>
          </a:p>
        </p:txBody>
      </p:sp>
      <p:sp>
        <p:nvSpPr>
          <p:cNvPr id="17" name="Oval 16"/>
          <p:cNvSpPr/>
          <p:nvPr/>
        </p:nvSpPr>
        <p:spPr>
          <a:xfrm>
            <a:off x="1783733" y="2607868"/>
            <a:ext cx="155448" cy="155448"/>
          </a:xfrm>
          <a:prstGeom prst="ellipse">
            <a:avLst/>
          </a:prstGeom>
          <a:solidFill>
            <a:srgbClr val="C0000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449977" y="2816352"/>
            <a:ext cx="822960" cy="420624"/>
          </a:xfrm>
          <a:prstGeom prst="rect">
            <a:avLst/>
          </a:prstGeom>
          <a:noFill/>
        </p:spPr>
        <p:txBody>
          <a:bodyPr wrap="square" lIns="0" tIns="0" rIns="0" bIns="0" anchor="t">
            <a:spAutoFit/>
          </a:bodyPr>
          <a:lstStyle/>
          <a:p>
            <a:pPr algn="ctr">
              <a:lnSpc>
                <a:spcPct val="95000"/>
              </a:lnSpc>
              <a:spcBef>
                <a:spcPts val="0"/>
              </a:spcBef>
              <a:spcAft>
                <a:spcPts val="0"/>
              </a:spcAft>
            </a:pPr>
            <a:r>
              <a:rPr sz="850" b="0" i="0">
                <a:solidFill>
                  <a:srgbClr val="6B7280"/>
                </a:solidFill>
                <a:latin typeface="Be Vietnam Pro"/>
              </a:rPr>
              <a:t>Năm 2</a:t>
            </a:r>
          </a:p>
          <a:p>
            <a:pPr algn="ctr">
              <a:lnSpc>
                <a:spcPct val="95000"/>
              </a:lnSpc>
              <a:spcBef>
                <a:spcPts val="0"/>
              </a:spcBef>
              <a:spcAft>
                <a:spcPts val="0"/>
              </a:spcAft>
            </a:pPr>
            <a:r>
              <a:rPr sz="850" b="1" i="0">
                <a:solidFill>
                  <a:srgbClr val="1F2937"/>
                </a:solidFill>
                <a:latin typeface="Be Vietnam Pro"/>
              </a:rPr>
              <a:t>CSTĐCS</a:t>
            </a:r>
          </a:p>
        </p:txBody>
      </p:sp>
      <p:sp>
        <p:nvSpPr>
          <p:cNvPr id="19" name="Oval 18"/>
          <p:cNvSpPr/>
          <p:nvPr/>
        </p:nvSpPr>
        <p:spPr>
          <a:xfrm>
            <a:off x="2867950" y="2607868"/>
            <a:ext cx="155448" cy="155448"/>
          </a:xfrm>
          <a:prstGeom prst="ellipse">
            <a:avLst/>
          </a:prstGeom>
          <a:solidFill>
            <a:srgbClr val="C0000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534194" y="2816352"/>
            <a:ext cx="822960" cy="420624"/>
          </a:xfrm>
          <a:prstGeom prst="rect">
            <a:avLst/>
          </a:prstGeom>
          <a:noFill/>
        </p:spPr>
        <p:txBody>
          <a:bodyPr wrap="square" lIns="0" tIns="0" rIns="0" bIns="0" anchor="t">
            <a:spAutoFit/>
          </a:bodyPr>
          <a:lstStyle/>
          <a:p>
            <a:pPr algn="ctr">
              <a:lnSpc>
                <a:spcPct val="95000"/>
              </a:lnSpc>
              <a:spcBef>
                <a:spcPts val="0"/>
              </a:spcBef>
              <a:spcAft>
                <a:spcPts val="0"/>
              </a:spcAft>
            </a:pPr>
            <a:r>
              <a:rPr sz="850" b="0" i="0">
                <a:solidFill>
                  <a:srgbClr val="6B7280"/>
                </a:solidFill>
                <a:latin typeface="Be Vietnam Pro"/>
              </a:rPr>
              <a:t>Năm 3</a:t>
            </a:r>
          </a:p>
          <a:p>
            <a:pPr algn="ctr">
              <a:lnSpc>
                <a:spcPct val="95000"/>
              </a:lnSpc>
              <a:spcBef>
                <a:spcPts val="0"/>
              </a:spcBef>
              <a:spcAft>
                <a:spcPts val="0"/>
              </a:spcAft>
            </a:pPr>
            <a:r>
              <a:rPr sz="850" b="1" i="0">
                <a:solidFill>
                  <a:srgbClr val="1F2937"/>
                </a:solidFill>
                <a:latin typeface="Be Vietnam Pro"/>
              </a:rPr>
              <a:t>CSTĐCS</a:t>
            </a:r>
          </a:p>
        </p:txBody>
      </p:sp>
      <p:sp>
        <p:nvSpPr>
          <p:cNvPr id="21" name="Oval 20"/>
          <p:cNvSpPr/>
          <p:nvPr/>
        </p:nvSpPr>
        <p:spPr>
          <a:xfrm>
            <a:off x="3952167" y="2607868"/>
            <a:ext cx="155448" cy="155448"/>
          </a:xfrm>
          <a:prstGeom prst="ellipse">
            <a:avLst/>
          </a:prstGeom>
          <a:solidFill>
            <a:srgbClr val="C0000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618411" y="2816352"/>
            <a:ext cx="822960" cy="420624"/>
          </a:xfrm>
          <a:prstGeom prst="rect">
            <a:avLst/>
          </a:prstGeom>
          <a:noFill/>
        </p:spPr>
        <p:txBody>
          <a:bodyPr wrap="square" lIns="0" tIns="0" rIns="0" bIns="0" anchor="t">
            <a:spAutoFit/>
          </a:bodyPr>
          <a:lstStyle/>
          <a:p>
            <a:pPr algn="ctr">
              <a:lnSpc>
                <a:spcPct val="95000"/>
              </a:lnSpc>
              <a:spcBef>
                <a:spcPts val="0"/>
              </a:spcBef>
              <a:spcAft>
                <a:spcPts val="0"/>
              </a:spcAft>
            </a:pPr>
            <a:r>
              <a:rPr sz="850" b="0" i="0">
                <a:solidFill>
                  <a:srgbClr val="6B7280"/>
                </a:solidFill>
                <a:latin typeface="Be Vietnam Pro"/>
              </a:rPr>
              <a:t>Năm 4</a:t>
            </a:r>
          </a:p>
          <a:p>
            <a:pPr algn="ctr">
              <a:lnSpc>
                <a:spcPct val="95000"/>
              </a:lnSpc>
              <a:spcBef>
                <a:spcPts val="0"/>
              </a:spcBef>
              <a:spcAft>
                <a:spcPts val="0"/>
              </a:spcAft>
            </a:pPr>
            <a:r>
              <a:rPr sz="850" b="1" i="0">
                <a:solidFill>
                  <a:srgbClr val="1F2937"/>
                </a:solidFill>
                <a:latin typeface="Be Vietnam Pro"/>
              </a:rPr>
              <a:t>CSTĐCS</a:t>
            </a:r>
          </a:p>
        </p:txBody>
      </p:sp>
      <p:sp>
        <p:nvSpPr>
          <p:cNvPr id="23" name="Oval 22"/>
          <p:cNvSpPr/>
          <p:nvPr/>
        </p:nvSpPr>
        <p:spPr>
          <a:xfrm>
            <a:off x="5036384" y="2607868"/>
            <a:ext cx="155448" cy="155448"/>
          </a:xfrm>
          <a:prstGeom prst="ellipse">
            <a:avLst/>
          </a:prstGeom>
          <a:solidFill>
            <a:srgbClr val="C0000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702628" y="2816352"/>
            <a:ext cx="822960" cy="420624"/>
          </a:xfrm>
          <a:prstGeom prst="rect">
            <a:avLst/>
          </a:prstGeom>
          <a:noFill/>
        </p:spPr>
        <p:txBody>
          <a:bodyPr wrap="square" lIns="0" tIns="0" rIns="0" bIns="0" anchor="t">
            <a:spAutoFit/>
          </a:bodyPr>
          <a:lstStyle/>
          <a:p>
            <a:pPr algn="ctr">
              <a:lnSpc>
                <a:spcPct val="95000"/>
              </a:lnSpc>
              <a:spcBef>
                <a:spcPts val="0"/>
              </a:spcBef>
              <a:spcAft>
                <a:spcPts val="0"/>
              </a:spcAft>
            </a:pPr>
            <a:r>
              <a:rPr sz="850" b="0" i="0">
                <a:solidFill>
                  <a:srgbClr val="6B7280"/>
                </a:solidFill>
                <a:latin typeface="Be Vietnam Pro"/>
              </a:rPr>
              <a:t>Năm 5</a:t>
            </a:r>
          </a:p>
          <a:p>
            <a:pPr algn="ctr">
              <a:lnSpc>
                <a:spcPct val="95000"/>
              </a:lnSpc>
              <a:spcBef>
                <a:spcPts val="0"/>
              </a:spcBef>
              <a:spcAft>
                <a:spcPts val="0"/>
              </a:spcAft>
            </a:pPr>
            <a:r>
              <a:rPr sz="850" b="1" i="0">
                <a:solidFill>
                  <a:srgbClr val="1F2937"/>
                </a:solidFill>
                <a:latin typeface="Be Vietnam Pro"/>
              </a:rPr>
              <a:t>CSTĐCS</a:t>
            </a:r>
          </a:p>
        </p:txBody>
      </p:sp>
      <p:sp>
        <p:nvSpPr>
          <p:cNvPr id="25" name="Oval 24"/>
          <p:cNvSpPr/>
          <p:nvPr/>
        </p:nvSpPr>
        <p:spPr>
          <a:xfrm>
            <a:off x="6120601" y="2607868"/>
            <a:ext cx="155448" cy="155448"/>
          </a:xfrm>
          <a:prstGeom prst="ellipse">
            <a:avLst/>
          </a:prstGeom>
          <a:solidFill>
            <a:srgbClr val="C0000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786845" y="2816352"/>
            <a:ext cx="822960" cy="420624"/>
          </a:xfrm>
          <a:prstGeom prst="rect">
            <a:avLst/>
          </a:prstGeom>
          <a:noFill/>
        </p:spPr>
        <p:txBody>
          <a:bodyPr wrap="square" lIns="0" tIns="0" rIns="0" bIns="0" anchor="t">
            <a:spAutoFit/>
          </a:bodyPr>
          <a:lstStyle/>
          <a:p>
            <a:pPr algn="ctr">
              <a:lnSpc>
                <a:spcPct val="95000"/>
              </a:lnSpc>
              <a:spcBef>
                <a:spcPts val="0"/>
              </a:spcBef>
              <a:spcAft>
                <a:spcPts val="0"/>
              </a:spcAft>
            </a:pPr>
            <a:r>
              <a:rPr sz="850" b="0" i="0">
                <a:solidFill>
                  <a:srgbClr val="6B7280"/>
                </a:solidFill>
                <a:latin typeface="Be Vietnam Pro"/>
              </a:rPr>
              <a:t>Năm 6</a:t>
            </a:r>
          </a:p>
          <a:p>
            <a:pPr algn="ctr">
              <a:lnSpc>
                <a:spcPct val="95000"/>
              </a:lnSpc>
              <a:spcBef>
                <a:spcPts val="0"/>
              </a:spcBef>
              <a:spcAft>
                <a:spcPts val="0"/>
              </a:spcAft>
            </a:pPr>
            <a:r>
              <a:rPr sz="850" b="1" i="0">
                <a:solidFill>
                  <a:srgbClr val="1F2937"/>
                </a:solidFill>
                <a:latin typeface="Be Vietnam Pro"/>
              </a:rPr>
              <a:t>CSTĐCS</a:t>
            </a:r>
          </a:p>
        </p:txBody>
      </p:sp>
      <p:sp>
        <p:nvSpPr>
          <p:cNvPr id="27" name="Oval 26"/>
          <p:cNvSpPr/>
          <p:nvPr/>
        </p:nvSpPr>
        <p:spPr>
          <a:xfrm>
            <a:off x="7204818" y="2607868"/>
            <a:ext cx="155448" cy="155448"/>
          </a:xfrm>
          <a:prstGeom prst="ellipse">
            <a:avLst/>
          </a:prstGeom>
          <a:solidFill>
            <a:srgbClr val="C0000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871062" y="2816352"/>
            <a:ext cx="822960" cy="420624"/>
          </a:xfrm>
          <a:prstGeom prst="rect">
            <a:avLst/>
          </a:prstGeom>
          <a:noFill/>
        </p:spPr>
        <p:txBody>
          <a:bodyPr wrap="square" lIns="0" tIns="0" rIns="0" bIns="0" anchor="t">
            <a:spAutoFit/>
          </a:bodyPr>
          <a:lstStyle/>
          <a:p>
            <a:pPr algn="ctr">
              <a:lnSpc>
                <a:spcPct val="95000"/>
              </a:lnSpc>
              <a:spcBef>
                <a:spcPts val="0"/>
              </a:spcBef>
              <a:spcAft>
                <a:spcPts val="0"/>
              </a:spcAft>
            </a:pPr>
            <a:r>
              <a:rPr sz="850" b="0" i="0">
                <a:solidFill>
                  <a:srgbClr val="6B7280"/>
                </a:solidFill>
                <a:latin typeface="Be Vietnam Pro"/>
              </a:rPr>
              <a:t>Năm 7</a:t>
            </a:r>
          </a:p>
          <a:p>
            <a:pPr algn="ctr">
              <a:lnSpc>
                <a:spcPct val="95000"/>
              </a:lnSpc>
              <a:spcBef>
                <a:spcPts val="0"/>
              </a:spcBef>
              <a:spcAft>
                <a:spcPts val="0"/>
              </a:spcAft>
            </a:pPr>
            <a:r>
              <a:rPr sz="850" b="1" i="0">
                <a:solidFill>
                  <a:srgbClr val="1F2937"/>
                </a:solidFill>
                <a:latin typeface="Be Vietnam Pro"/>
              </a:rPr>
              <a:t>CSTĐCS</a:t>
            </a:r>
          </a:p>
        </p:txBody>
      </p:sp>
      <p:sp>
        <p:nvSpPr>
          <p:cNvPr id="29" name="Oval 28"/>
          <p:cNvSpPr/>
          <p:nvPr/>
        </p:nvSpPr>
        <p:spPr>
          <a:xfrm>
            <a:off x="8289036" y="2607868"/>
            <a:ext cx="155448" cy="155448"/>
          </a:xfrm>
          <a:prstGeom prst="ellipse">
            <a:avLst/>
          </a:prstGeom>
          <a:solidFill>
            <a:srgbClr val="C0000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955280" y="2816352"/>
            <a:ext cx="822960" cy="420624"/>
          </a:xfrm>
          <a:prstGeom prst="rect">
            <a:avLst/>
          </a:prstGeom>
          <a:noFill/>
        </p:spPr>
        <p:txBody>
          <a:bodyPr wrap="square" lIns="0" tIns="0" rIns="0" bIns="0" anchor="t">
            <a:spAutoFit/>
          </a:bodyPr>
          <a:lstStyle/>
          <a:p>
            <a:pPr algn="ctr">
              <a:lnSpc>
                <a:spcPct val="95000"/>
              </a:lnSpc>
              <a:spcBef>
                <a:spcPts val="0"/>
              </a:spcBef>
              <a:spcAft>
                <a:spcPts val="0"/>
              </a:spcAft>
            </a:pPr>
            <a:r>
              <a:rPr sz="850" b="0" i="0">
                <a:solidFill>
                  <a:srgbClr val="6B7280"/>
                </a:solidFill>
                <a:latin typeface="Be Vietnam Pro"/>
              </a:rPr>
              <a:t>Năm 8</a:t>
            </a:r>
          </a:p>
          <a:p>
            <a:pPr algn="ctr">
              <a:lnSpc>
                <a:spcPct val="95000"/>
              </a:lnSpc>
              <a:spcBef>
                <a:spcPts val="0"/>
              </a:spcBef>
              <a:spcAft>
                <a:spcPts val="0"/>
              </a:spcAft>
            </a:pPr>
            <a:r>
              <a:rPr sz="850" b="1" i="0">
                <a:solidFill>
                  <a:srgbClr val="1F2937"/>
                </a:solidFill>
                <a:latin typeface="Be Vietnam Pro"/>
              </a:rPr>
              <a:t>CSTĐCS</a:t>
            </a:r>
          </a:p>
        </p:txBody>
      </p:sp>
      <p:sp>
        <p:nvSpPr>
          <p:cNvPr id="31" name="Rounded Rectangle 30"/>
          <p:cNvSpPr/>
          <p:nvPr/>
        </p:nvSpPr>
        <p:spPr>
          <a:xfrm>
            <a:off x="1493868" y="2194560"/>
            <a:ext cx="735177" cy="310896"/>
          </a:xfrm>
          <a:prstGeom prst="roundRect">
            <a:avLst>
              <a:gd name="adj" fmla="val 50000"/>
            </a:avLst>
          </a:prstGeom>
          <a:solidFill>
            <a:srgbClr val="8A0C20"/>
          </a:solidFill>
          <a:ln>
            <a:noFill/>
          </a:ln>
          <a:effectLst>
            <a:outerShdw blurRad="90000" dist="42000" dir="5400000" rotWithShape="0">
              <a:srgbClr val="98A2B3">
                <a:alpha val="20000"/>
              </a:srgbClr>
            </a:outerShdw>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spcBef>
                <a:spcPts val="0"/>
              </a:spcBef>
              <a:spcAft>
                <a:spcPts val="0"/>
              </a:spcAft>
            </a:pPr>
            <a:r>
              <a:rPr sz="850" b="1" i="0">
                <a:solidFill>
                  <a:srgbClr val="FFFFFF"/>
                </a:solidFill>
                <a:latin typeface="Be Vietnam Pro"/>
              </a:rPr>
              <a:t>BKBQP</a:t>
            </a:r>
          </a:p>
        </p:txBody>
      </p:sp>
      <p:sp>
        <p:nvSpPr>
          <p:cNvPr id="32" name="Rectangle 31"/>
          <p:cNvSpPr/>
          <p:nvPr/>
        </p:nvSpPr>
        <p:spPr>
          <a:xfrm>
            <a:off x="1855970" y="2505456"/>
            <a:ext cx="10972" cy="164592"/>
          </a:xfrm>
          <a:prstGeom prst="rect">
            <a:avLst/>
          </a:prstGeom>
          <a:solidFill>
            <a:srgbClr val="8A0C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ounded Rectangle 32"/>
          <p:cNvSpPr/>
          <p:nvPr/>
        </p:nvSpPr>
        <p:spPr>
          <a:xfrm>
            <a:off x="3695221" y="2194560"/>
            <a:ext cx="669340" cy="310896"/>
          </a:xfrm>
          <a:prstGeom prst="roundRect">
            <a:avLst>
              <a:gd name="adj" fmla="val 50000"/>
            </a:avLst>
          </a:prstGeom>
          <a:solidFill>
            <a:srgbClr val="ECA72C"/>
          </a:solidFill>
          <a:ln>
            <a:noFill/>
          </a:ln>
          <a:effectLst>
            <a:outerShdw blurRad="90000" dist="42000" dir="5400000" rotWithShape="0">
              <a:srgbClr val="98A2B3">
                <a:alpha val="20000"/>
              </a:srgbClr>
            </a:outerShdw>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spcBef>
                <a:spcPts val="0"/>
              </a:spcBef>
              <a:spcAft>
                <a:spcPts val="0"/>
              </a:spcAft>
            </a:pPr>
            <a:r>
              <a:rPr sz="850" b="1" i="0">
                <a:solidFill>
                  <a:srgbClr val="FFFFFF"/>
                </a:solidFill>
                <a:latin typeface="Be Vietnam Pro"/>
              </a:rPr>
              <a:t>CSTĐTQ</a:t>
            </a:r>
          </a:p>
        </p:txBody>
      </p:sp>
      <p:sp>
        <p:nvSpPr>
          <p:cNvPr id="34" name="Rectangle 33"/>
          <p:cNvSpPr/>
          <p:nvPr/>
        </p:nvSpPr>
        <p:spPr>
          <a:xfrm>
            <a:off x="4024405" y="2505456"/>
            <a:ext cx="10972" cy="164592"/>
          </a:xfrm>
          <a:prstGeom prst="rect">
            <a:avLst/>
          </a:prstGeom>
          <a:solidFill>
            <a:srgbClr val="ECA7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p:cNvSpPr/>
          <p:nvPr/>
        </p:nvSpPr>
        <p:spPr>
          <a:xfrm>
            <a:off x="4746519" y="2194560"/>
            <a:ext cx="735177" cy="310896"/>
          </a:xfrm>
          <a:prstGeom prst="roundRect">
            <a:avLst>
              <a:gd name="adj" fmla="val 50000"/>
            </a:avLst>
          </a:prstGeom>
          <a:solidFill>
            <a:srgbClr val="8A0C20"/>
          </a:solidFill>
          <a:ln>
            <a:noFill/>
          </a:ln>
          <a:effectLst>
            <a:outerShdw blurRad="90000" dist="42000" dir="5400000" rotWithShape="0">
              <a:srgbClr val="98A2B3">
                <a:alpha val="20000"/>
              </a:srgbClr>
            </a:outerShdw>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spcBef>
                <a:spcPts val="0"/>
              </a:spcBef>
              <a:spcAft>
                <a:spcPts val="0"/>
              </a:spcAft>
            </a:pPr>
            <a:r>
              <a:rPr sz="850" b="1" i="0">
                <a:solidFill>
                  <a:srgbClr val="FFFFFF"/>
                </a:solidFill>
                <a:latin typeface="Be Vietnam Pro"/>
              </a:rPr>
              <a:t>BKBQP</a:t>
            </a:r>
          </a:p>
        </p:txBody>
      </p:sp>
      <p:sp>
        <p:nvSpPr>
          <p:cNvPr id="36" name="Rectangle 35"/>
          <p:cNvSpPr/>
          <p:nvPr/>
        </p:nvSpPr>
        <p:spPr>
          <a:xfrm>
            <a:off x="5108622" y="2505456"/>
            <a:ext cx="10972" cy="164592"/>
          </a:xfrm>
          <a:prstGeom prst="rect">
            <a:avLst/>
          </a:prstGeom>
          <a:solidFill>
            <a:srgbClr val="8A0C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ounded Rectangle 36"/>
          <p:cNvSpPr/>
          <p:nvPr/>
        </p:nvSpPr>
        <p:spPr>
          <a:xfrm>
            <a:off x="6947872" y="2194560"/>
            <a:ext cx="669340" cy="310896"/>
          </a:xfrm>
          <a:prstGeom prst="roundRect">
            <a:avLst>
              <a:gd name="adj" fmla="val 50000"/>
            </a:avLst>
          </a:prstGeom>
          <a:solidFill>
            <a:srgbClr val="ECA72C"/>
          </a:solidFill>
          <a:ln>
            <a:noFill/>
          </a:ln>
          <a:effectLst>
            <a:outerShdw blurRad="90000" dist="42000" dir="5400000" rotWithShape="0">
              <a:srgbClr val="98A2B3">
                <a:alpha val="20000"/>
              </a:srgbClr>
            </a:outerShdw>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spcBef>
                <a:spcPts val="0"/>
              </a:spcBef>
              <a:spcAft>
                <a:spcPts val="0"/>
              </a:spcAft>
            </a:pPr>
            <a:r>
              <a:rPr sz="850" b="1" i="0">
                <a:solidFill>
                  <a:srgbClr val="FFFFFF"/>
                </a:solidFill>
                <a:latin typeface="Be Vietnam Pro"/>
              </a:rPr>
              <a:t>CSTĐTQ</a:t>
            </a:r>
          </a:p>
        </p:txBody>
      </p:sp>
      <p:sp>
        <p:nvSpPr>
          <p:cNvPr id="38" name="Rectangle 37"/>
          <p:cNvSpPr/>
          <p:nvPr/>
        </p:nvSpPr>
        <p:spPr>
          <a:xfrm>
            <a:off x="7277056" y="2505456"/>
            <a:ext cx="10972" cy="164592"/>
          </a:xfrm>
          <a:prstGeom prst="rect">
            <a:avLst/>
          </a:prstGeom>
          <a:solidFill>
            <a:srgbClr val="ECA7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ounded Rectangle 38"/>
          <p:cNvSpPr/>
          <p:nvPr/>
        </p:nvSpPr>
        <p:spPr>
          <a:xfrm>
            <a:off x="7966252" y="2194560"/>
            <a:ext cx="801014" cy="310896"/>
          </a:xfrm>
          <a:prstGeom prst="roundRect">
            <a:avLst>
              <a:gd name="adj" fmla="val 50000"/>
            </a:avLst>
          </a:prstGeom>
          <a:solidFill>
            <a:srgbClr val="C00000"/>
          </a:solidFill>
          <a:ln>
            <a:noFill/>
          </a:ln>
          <a:effectLst>
            <a:outerShdw blurRad="90000" dist="42000" dir="5400000" rotWithShape="0">
              <a:srgbClr val="98A2B3">
                <a:alpha val="20000"/>
              </a:srgbClr>
            </a:outerShdw>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spcBef>
                <a:spcPts val="0"/>
              </a:spcBef>
              <a:spcAft>
                <a:spcPts val="0"/>
              </a:spcAft>
            </a:pPr>
            <a:r>
              <a:rPr sz="850" b="1" i="0">
                <a:solidFill>
                  <a:srgbClr val="FFFFFF"/>
                </a:solidFill>
                <a:latin typeface="Be Vietnam Pro"/>
              </a:rPr>
              <a:t>★ BKTTCP</a:t>
            </a:r>
          </a:p>
        </p:txBody>
      </p:sp>
      <p:sp>
        <p:nvSpPr>
          <p:cNvPr id="40" name="Rectangle 39"/>
          <p:cNvSpPr/>
          <p:nvPr/>
        </p:nvSpPr>
        <p:spPr>
          <a:xfrm>
            <a:off x="8361273" y="2505456"/>
            <a:ext cx="10972" cy="164592"/>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502920" y="3895344"/>
            <a:ext cx="8229600" cy="274320"/>
          </a:xfrm>
          <a:prstGeom prst="rect">
            <a:avLst/>
          </a:prstGeom>
          <a:noFill/>
        </p:spPr>
        <p:txBody>
          <a:bodyPr wrap="square" lIns="0" tIns="0" rIns="0" bIns="0" anchor="t">
            <a:spAutoFit/>
          </a:bodyPr>
          <a:lstStyle/>
          <a:p>
            <a:pPr algn="l">
              <a:spcBef>
                <a:spcPts val="0"/>
              </a:spcBef>
              <a:spcAft>
                <a:spcPts val="0"/>
              </a:spcAft>
            </a:pPr>
            <a:r>
              <a:rPr sz="1300" b="1" i="0">
                <a:solidFill>
                  <a:srgbClr val="1E5588"/>
                </a:solidFill>
                <a:latin typeface="Be Vietnam Pro"/>
              </a:rPr>
              <a:t>Đơn vị</a:t>
            </a:r>
            <a:r>
              <a:rPr sz="1000" b="0" i="1">
                <a:solidFill>
                  <a:srgbClr val="6B7280"/>
                </a:solidFill>
                <a:latin typeface="Be Vietnam Pro"/>
              </a:rPr>
              <a:t>   ĐVQT liên tục; không CSTĐTQ, không bắt buộc NCKH, BKTTCP lặp lại</a:t>
            </a:r>
          </a:p>
        </p:txBody>
      </p:sp>
      <p:sp>
        <p:nvSpPr>
          <p:cNvPr id="42" name="Rectangle 41"/>
          <p:cNvSpPr/>
          <p:nvPr/>
        </p:nvSpPr>
        <p:spPr>
          <a:xfrm>
            <a:off x="777240" y="4992624"/>
            <a:ext cx="7589520" cy="32004"/>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699516" y="4930444"/>
            <a:ext cx="155448" cy="155448"/>
          </a:xfrm>
          <a:prstGeom prst="ellipse">
            <a:avLst/>
          </a:prstGeom>
          <a:solidFill>
            <a:srgbClr val="1E5588"/>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365759" y="5138928"/>
            <a:ext cx="822960" cy="420624"/>
          </a:xfrm>
          <a:prstGeom prst="rect">
            <a:avLst/>
          </a:prstGeom>
          <a:noFill/>
        </p:spPr>
        <p:txBody>
          <a:bodyPr wrap="square" lIns="0" tIns="0" rIns="0" bIns="0" anchor="t">
            <a:spAutoFit/>
          </a:bodyPr>
          <a:lstStyle/>
          <a:p>
            <a:pPr algn="ctr">
              <a:lnSpc>
                <a:spcPct val="95000"/>
              </a:lnSpc>
              <a:spcBef>
                <a:spcPts val="0"/>
              </a:spcBef>
              <a:spcAft>
                <a:spcPts val="0"/>
              </a:spcAft>
            </a:pPr>
            <a:r>
              <a:rPr sz="850" b="0" i="0">
                <a:solidFill>
                  <a:srgbClr val="6B7280"/>
                </a:solidFill>
                <a:latin typeface="Be Vietnam Pro"/>
              </a:rPr>
              <a:t>Năm 1</a:t>
            </a:r>
          </a:p>
          <a:p>
            <a:pPr algn="ctr">
              <a:lnSpc>
                <a:spcPct val="95000"/>
              </a:lnSpc>
              <a:spcBef>
                <a:spcPts val="0"/>
              </a:spcBef>
              <a:spcAft>
                <a:spcPts val="0"/>
              </a:spcAft>
            </a:pPr>
            <a:r>
              <a:rPr sz="850" b="1" i="0">
                <a:solidFill>
                  <a:srgbClr val="1F2937"/>
                </a:solidFill>
                <a:latin typeface="Be Vietnam Pro"/>
              </a:rPr>
              <a:t>ĐVQT</a:t>
            </a:r>
          </a:p>
        </p:txBody>
      </p:sp>
      <p:sp>
        <p:nvSpPr>
          <p:cNvPr id="45" name="Oval 44"/>
          <p:cNvSpPr/>
          <p:nvPr/>
        </p:nvSpPr>
        <p:spPr>
          <a:xfrm>
            <a:off x="1783733" y="4930444"/>
            <a:ext cx="155448" cy="155448"/>
          </a:xfrm>
          <a:prstGeom prst="ellipse">
            <a:avLst/>
          </a:prstGeom>
          <a:solidFill>
            <a:srgbClr val="1E5588"/>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1449977" y="5138928"/>
            <a:ext cx="822960" cy="420624"/>
          </a:xfrm>
          <a:prstGeom prst="rect">
            <a:avLst/>
          </a:prstGeom>
          <a:noFill/>
        </p:spPr>
        <p:txBody>
          <a:bodyPr wrap="square" lIns="0" tIns="0" rIns="0" bIns="0" anchor="t">
            <a:spAutoFit/>
          </a:bodyPr>
          <a:lstStyle/>
          <a:p>
            <a:pPr algn="ctr">
              <a:lnSpc>
                <a:spcPct val="95000"/>
              </a:lnSpc>
              <a:spcBef>
                <a:spcPts val="0"/>
              </a:spcBef>
              <a:spcAft>
                <a:spcPts val="0"/>
              </a:spcAft>
            </a:pPr>
            <a:r>
              <a:rPr sz="850" b="0" i="0">
                <a:solidFill>
                  <a:srgbClr val="6B7280"/>
                </a:solidFill>
                <a:latin typeface="Be Vietnam Pro"/>
              </a:rPr>
              <a:t>Năm 2</a:t>
            </a:r>
          </a:p>
          <a:p>
            <a:pPr algn="ctr">
              <a:lnSpc>
                <a:spcPct val="95000"/>
              </a:lnSpc>
              <a:spcBef>
                <a:spcPts val="0"/>
              </a:spcBef>
              <a:spcAft>
                <a:spcPts val="0"/>
              </a:spcAft>
            </a:pPr>
            <a:r>
              <a:rPr sz="850" b="1" i="0">
                <a:solidFill>
                  <a:srgbClr val="1F2937"/>
                </a:solidFill>
                <a:latin typeface="Be Vietnam Pro"/>
              </a:rPr>
              <a:t>ĐVQT</a:t>
            </a:r>
          </a:p>
        </p:txBody>
      </p:sp>
      <p:sp>
        <p:nvSpPr>
          <p:cNvPr id="47" name="Oval 46"/>
          <p:cNvSpPr/>
          <p:nvPr/>
        </p:nvSpPr>
        <p:spPr>
          <a:xfrm>
            <a:off x="2867950" y="4930444"/>
            <a:ext cx="155448" cy="155448"/>
          </a:xfrm>
          <a:prstGeom prst="ellipse">
            <a:avLst/>
          </a:prstGeom>
          <a:solidFill>
            <a:srgbClr val="1E5588"/>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2534194" y="5138928"/>
            <a:ext cx="822960" cy="420624"/>
          </a:xfrm>
          <a:prstGeom prst="rect">
            <a:avLst/>
          </a:prstGeom>
          <a:noFill/>
        </p:spPr>
        <p:txBody>
          <a:bodyPr wrap="square" lIns="0" tIns="0" rIns="0" bIns="0" anchor="t">
            <a:spAutoFit/>
          </a:bodyPr>
          <a:lstStyle/>
          <a:p>
            <a:pPr algn="ctr">
              <a:lnSpc>
                <a:spcPct val="95000"/>
              </a:lnSpc>
              <a:spcBef>
                <a:spcPts val="0"/>
              </a:spcBef>
              <a:spcAft>
                <a:spcPts val="0"/>
              </a:spcAft>
            </a:pPr>
            <a:r>
              <a:rPr sz="850" b="0" i="0">
                <a:solidFill>
                  <a:srgbClr val="6B7280"/>
                </a:solidFill>
                <a:latin typeface="Be Vietnam Pro"/>
              </a:rPr>
              <a:t>Năm 3</a:t>
            </a:r>
          </a:p>
          <a:p>
            <a:pPr algn="ctr">
              <a:lnSpc>
                <a:spcPct val="95000"/>
              </a:lnSpc>
              <a:spcBef>
                <a:spcPts val="0"/>
              </a:spcBef>
              <a:spcAft>
                <a:spcPts val="0"/>
              </a:spcAft>
            </a:pPr>
            <a:r>
              <a:rPr sz="850" b="1" i="0">
                <a:solidFill>
                  <a:srgbClr val="1F2937"/>
                </a:solidFill>
                <a:latin typeface="Be Vietnam Pro"/>
              </a:rPr>
              <a:t>ĐVQT</a:t>
            </a:r>
          </a:p>
        </p:txBody>
      </p:sp>
      <p:sp>
        <p:nvSpPr>
          <p:cNvPr id="49" name="Oval 48"/>
          <p:cNvSpPr/>
          <p:nvPr/>
        </p:nvSpPr>
        <p:spPr>
          <a:xfrm>
            <a:off x="3952167" y="4930444"/>
            <a:ext cx="155448" cy="155448"/>
          </a:xfrm>
          <a:prstGeom prst="ellipse">
            <a:avLst/>
          </a:prstGeom>
          <a:solidFill>
            <a:srgbClr val="1E5588"/>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3618411" y="5138928"/>
            <a:ext cx="822960" cy="420624"/>
          </a:xfrm>
          <a:prstGeom prst="rect">
            <a:avLst/>
          </a:prstGeom>
          <a:noFill/>
        </p:spPr>
        <p:txBody>
          <a:bodyPr wrap="square" lIns="0" tIns="0" rIns="0" bIns="0" anchor="t">
            <a:spAutoFit/>
          </a:bodyPr>
          <a:lstStyle/>
          <a:p>
            <a:pPr algn="ctr">
              <a:lnSpc>
                <a:spcPct val="95000"/>
              </a:lnSpc>
              <a:spcBef>
                <a:spcPts val="0"/>
              </a:spcBef>
              <a:spcAft>
                <a:spcPts val="0"/>
              </a:spcAft>
            </a:pPr>
            <a:r>
              <a:rPr sz="850" b="0" i="0">
                <a:solidFill>
                  <a:srgbClr val="6B7280"/>
                </a:solidFill>
                <a:latin typeface="Be Vietnam Pro"/>
              </a:rPr>
              <a:t>Năm 4</a:t>
            </a:r>
          </a:p>
          <a:p>
            <a:pPr algn="ctr">
              <a:lnSpc>
                <a:spcPct val="95000"/>
              </a:lnSpc>
              <a:spcBef>
                <a:spcPts val="0"/>
              </a:spcBef>
              <a:spcAft>
                <a:spcPts val="0"/>
              </a:spcAft>
            </a:pPr>
            <a:r>
              <a:rPr sz="850" b="1" i="0">
                <a:solidFill>
                  <a:srgbClr val="1F2937"/>
                </a:solidFill>
                <a:latin typeface="Be Vietnam Pro"/>
              </a:rPr>
              <a:t>ĐVQT</a:t>
            </a:r>
          </a:p>
        </p:txBody>
      </p:sp>
      <p:sp>
        <p:nvSpPr>
          <p:cNvPr id="51" name="Oval 50"/>
          <p:cNvSpPr/>
          <p:nvPr/>
        </p:nvSpPr>
        <p:spPr>
          <a:xfrm>
            <a:off x="5036384" y="4930444"/>
            <a:ext cx="155448" cy="155448"/>
          </a:xfrm>
          <a:prstGeom prst="ellipse">
            <a:avLst/>
          </a:prstGeom>
          <a:solidFill>
            <a:srgbClr val="1E5588"/>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4702628" y="5138928"/>
            <a:ext cx="822960" cy="420624"/>
          </a:xfrm>
          <a:prstGeom prst="rect">
            <a:avLst/>
          </a:prstGeom>
          <a:noFill/>
        </p:spPr>
        <p:txBody>
          <a:bodyPr wrap="square" lIns="0" tIns="0" rIns="0" bIns="0" anchor="t">
            <a:spAutoFit/>
          </a:bodyPr>
          <a:lstStyle/>
          <a:p>
            <a:pPr algn="ctr">
              <a:lnSpc>
                <a:spcPct val="95000"/>
              </a:lnSpc>
              <a:spcBef>
                <a:spcPts val="0"/>
              </a:spcBef>
              <a:spcAft>
                <a:spcPts val="0"/>
              </a:spcAft>
            </a:pPr>
            <a:r>
              <a:rPr sz="850" b="0" i="0">
                <a:solidFill>
                  <a:srgbClr val="6B7280"/>
                </a:solidFill>
                <a:latin typeface="Be Vietnam Pro"/>
              </a:rPr>
              <a:t>Năm 5</a:t>
            </a:r>
          </a:p>
          <a:p>
            <a:pPr algn="ctr">
              <a:lnSpc>
                <a:spcPct val="95000"/>
              </a:lnSpc>
              <a:spcBef>
                <a:spcPts val="0"/>
              </a:spcBef>
              <a:spcAft>
                <a:spcPts val="0"/>
              </a:spcAft>
            </a:pPr>
            <a:r>
              <a:rPr sz="850" b="1" i="0">
                <a:solidFill>
                  <a:srgbClr val="1F2937"/>
                </a:solidFill>
                <a:latin typeface="Be Vietnam Pro"/>
              </a:rPr>
              <a:t>ĐVQT</a:t>
            </a:r>
          </a:p>
        </p:txBody>
      </p:sp>
      <p:sp>
        <p:nvSpPr>
          <p:cNvPr id="53" name="Oval 52"/>
          <p:cNvSpPr/>
          <p:nvPr/>
        </p:nvSpPr>
        <p:spPr>
          <a:xfrm>
            <a:off x="6120601" y="4930444"/>
            <a:ext cx="155448" cy="155448"/>
          </a:xfrm>
          <a:prstGeom prst="ellipse">
            <a:avLst/>
          </a:prstGeom>
          <a:solidFill>
            <a:srgbClr val="1E5588"/>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5786845" y="5138928"/>
            <a:ext cx="822960" cy="420624"/>
          </a:xfrm>
          <a:prstGeom prst="rect">
            <a:avLst/>
          </a:prstGeom>
          <a:noFill/>
        </p:spPr>
        <p:txBody>
          <a:bodyPr wrap="square" lIns="0" tIns="0" rIns="0" bIns="0" anchor="t">
            <a:spAutoFit/>
          </a:bodyPr>
          <a:lstStyle/>
          <a:p>
            <a:pPr algn="ctr">
              <a:lnSpc>
                <a:spcPct val="95000"/>
              </a:lnSpc>
              <a:spcBef>
                <a:spcPts val="0"/>
              </a:spcBef>
              <a:spcAft>
                <a:spcPts val="0"/>
              </a:spcAft>
            </a:pPr>
            <a:r>
              <a:rPr sz="850" b="0" i="0">
                <a:solidFill>
                  <a:srgbClr val="6B7280"/>
                </a:solidFill>
                <a:latin typeface="Be Vietnam Pro"/>
              </a:rPr>
              <a:t>Năm 6</a:t>
            </a:r>
          </a:p>
          <a:p>
            <a:pPr algn="ctr">
              <a:lnSpc>
                <a:spcPct val="95000"/>
              </a:lnSpc>
              <a:spcBef>
                <a:spcPts val="0"/>
              </a:spcBef>
              <a:spcAft>
                <a:spcPts val="0"/>
              </a:spcAft>
            </a:pPr>
            <a:r>
              <a:rPr sz="850" b="1" i="0">
                <a:solidFill>
                  <a:srgbClr val="1F2937"/>
                </a:solidFill>
                <a:latin typeface="Be Vietnam Pro"/>
              </a:rPr>
              <a:t>ĐVQT</a:t>
            </a:r>
          </a:p>
        </p:txBody>
      </p:sp>
      <p:sp>
        <p:nvSpPr>
          <p:cNvPr id="55" name="Oval 54"/>
          <p:cNvSpPr/>
          <p:nvPr/>
        </p:nvSpPr>
        <p:spPr>
          <a:xfrm>
            <a:off x="7204818" y="4930444"/>
            <a:ext cx="155448" cy="155448"/>
          </a:xfrm>
          <a:prstGeom prst="ellipse">
            <a:avLst/>
          </a:prstGeom>
          <a:solidFill>
            <a:srgbClr val="1E5588"/>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6871062" y="5138928"/>
            <a:ext cx="822960" cy="420624"/>
          </a:xfrm>
          <a:prstGeom prst="rect">
            <a:avLst/>
          </a:prstGeom>
          <a:noFill/>
        </p:spPr>
        <p:txBody>
          <a:bodyPr wrap="square" lIns="0" tIns="0" rIns="0" bIns="0" anchor="t">
            <a:spAutoFit/>
          </a:bodyPr>
          <a:lstStyle/>
          <a:p>
            <a:pPr algn="ctr">
              <a:lnSpc>
                <a:spcPct val="95000"/>
              </a:lnSpc>
              <a:spcBef>
                <a:spcPts val="0"/>
              </a:spcBef>
              <a:spcAft>
                <a:spcPts val="0"/>
              </a:spcAft>
            </a:pPr>
            <a:r>
              <a:rPr sz="850" b="0" i="0">
                <a:solidFill>
                  <a:srgbClr val="6B7280"/>
                </a:solidFill>
                <a:latin typeface="Be Vietnam Pro"/>
              </a:rPr>
              <a:t>Năm 7</a:t>
            </a:r>
          </a:p>
          <a:p>
            <a:pPr algn="ctr">
              <a:lnSpc>
                <a:spcPct val="95000"/>
              </a:lnSpc>
              <a:spcBef>
                <a:spcPts val="0"/>
              </a:spcBef>
              <a:spcAft>
                <a:spcPts val="0"/>
              </a:spcAft>
            </a:pPr>
            <a:r>
              <a:rPr sz="850" b="1" i="0">
                <a:solidFill>
                  <a:srgbClr val="1F2937"/>
                </a:solidFill>
                <a:latin typeface="Be Vietnam Pro"/>
              </a:rPr>
              <a:t>ĐVQT</a:t>
            </a:r>
          </a:p>
        </p:txBody>
      </p:sp>
      <p:sp>
        <p:nvSpPr>
          <p:cNvPr id="57" name="Oval 56"/>
          <p:cNvSpPr/>
          <p:nvPr/>
        </p:nvSpPr>
        <p:spPr>
          <a:xfrm>
            <a:off x="8289036" y="4930444"/>
            <a:ext cx="155448" cy="155448"/>
          </a:xfrm>
          <a:prstGeom prst="ellipse">
            <a:avLst/>
          </a:prstGeom>
          <a:solidFill>
            <a:srgbClr val="1E5588"/>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7955280" y="5138928"/>
            <a:ext cx="822960" cy="420624"/>
          </a:xfrm>
          <a:prstGeom prst="rect">
            <a:avLst/>
          </a:prstGeom>
          <a:noFill/>
        </p:spPr>
        <p:txBody>
          <a:bodyPr wrap="square" lIns="0" tIns="0" rIns="0" bIns="0" anchor="t">
            <a:spAutoFit/>
          </a:bodyPr>
          <a:lstStyle/>
          <a:p>
            <a:pPr algn="ctr">
              <a:lnSpc>
                <a:spcPct val="95000"/>
              </a:lnSpc>
              <a:spcBef>
                <a:spcPts val="0"/>
              </a:spcBef>
              <a:spcAft>
                <a:spcPts val="0"/>
              </a:spcAft>
            </a:pPr>
            <a:r>
              <a:rPr sz="850" b="0" i="0">
                <a:solidFill>
                  <a:srgbClr val="6B7280"/>
                </a:solidFill>
                <a:latin typeface="Be Vietnam Pro"/>
              </a:rPr>
              <a:t>Năm 8</a:t>
            </a:r>
          </a:p>
          <a:p>
            <a:pPr algn="ctr">
              <a:lnSpc>
                <a:spcPct val="95000"/>
              </a:lnSpc>
              <a:spcBef>
                <a:spcPts val="0"/>
              </a:spcBef>
              <a:spcAft>
                <a:spcPts val="0"/>
              </a:spcAft>
            </a:pPr>
            <a:r>
              <a:rPr sz="850" b="1" i="0">
                <a:solidFill>
                  <a:srgbClr val="1F2937"/>
                </a:solidFill>
                <a:latin typeface="Be Vietnam Pro"/>
              </a:rPr>
              <a:t>ĐVQT</a:t>
            </a:r>
          </a:p>
        </p:txBody>
      </p:sp>
      <p:sp>
        <p:nvSpPr>
          <p:cNvPr id="59" name="Rounded Rectangle 58"/>
          <p:cNvSpPr/>
          <p:nvPr/>
        </p:nvSpPr>
        <p:spPr>
          <a:xfrm>
            <a:off x="2479330" y="4517136"/>
            <a:ext cx="932688" cy="310896"/>
          </a:xfrm>
          <a:prstGeom prst="roundRect">
            <a:avLst>
              <a:gd name="adj" fmla="val 50000"/>
            </a:avLst>
          </a:prstGeom>
          <a:solidFill>
            <a:srgbClr val="8A0C20"/>
          </a:solidFill>
          <a:ln>
            <a:noFill/>
          </a:ln>
          <a:effectLst>
            <a:outerShdw blurRad="90000" dist="42000" dir="5400000" rotWithShape="0">
              <a:srgbClr val="98A2B3">
                <a:alpha val="20000"/>
              </a:srgbClr>
            </a:outerShdw>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spcBef>
                <a:spcPts val="0"/>
              </a:spcBef>
              <a:spcAft>
                <a:spcPts val="0"/>
              </a:spcAft>
            </a:pPr>
            <a:r>
              <a:rPr sz="850" b="1" i="0">
                <a:solidFill>
                  <a:srgbClr val="FFFFFF"/>
                </a:solidFill>
                <a:latin typeface="Be Vietnam Pro"/>
              </a:rPr>
              <a:t>BKBQP đv</a:t>
            </a:r>
          </a:p>
        </p:txBody>
      </p:sp>
      <p:sp>
        <p:nvSpPr>
          <p:cNvPr id="60" name="Rectangle 59"/>
          <p:cNvSpPr/>
          <p:nvPr/>
        </p:nvSpPr>
        <p:spPr>
          <a:xfrm>
            <a:off x="2940187" y="4828032"/>
            <a:ext cx="10972" cy="164592"/>
          </a:xfrm>
          <a:prstGeom prst="rect">
            <a:avLst/>
          </a:prstGeom>
          <a:solidFill>
            <a:srgbClr val="8A0C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Rounded Rectangle 60"/>
          <p:cNvSpPr/>
          <p:nvPr/>
        </p:nvSpPr>
        <p:spPr>
          <a:xfrm>
            <a:off x="4647764" y="4517136"/>
            <a:ext cx="932688" cy="310896"/>
          </a:xfrm>
          <a:prstGeom prst="roundRect">
            <a:avLst>
              <a:gd name="adj" fmla="val 50000"/>
            </a:avLst>
          </a:prstGeom>
          <a:solidFill>
            <a:srgbClr val="8A0C20"/>
          </a:solidFill>
          <a:ln>
            <a:noFill/>
          </a:ln>
          <a:effectLst>
            <a:outerShdw blurRad="90000" dist="42000" dir="5400000" rotWithShape="0">
              <a:srgbClr val="98A2B3">
                <a:alpha val="20000"/>
              </a:srgbClr>
            </a:outerShdw>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spcBef>
                <a:spcPts val="0"/>
              </a:spcBef>
              <a:spcAft>
                <a:spcPts val="0"/>
              </a:spcAft>
            </a:pPr>
            <a:r>
              <a:rPr sz="850" b="1" i="0">
                <a:solidFill>
                  <a:srgbClr val="FFFFFF"/>
                </a:solidFill>
                <a:latin typeface="Be Vietnam Pro"/>
              </a:rPr>
              <a:t>BKBQP đv</a:t>
            </a:r>
          </a:p>
        </p:txBody>
      </p:sp>
      <p:sp>
        <p:nvSpPr>
          <p:cNvPr id="62" name="Rectangle 61"/>
          <p:cNvSpPr/>
          <p:nvPr/>
        </p:nvSpPr>
        <p:spPr>
          <a:xfrm>
            <a:off x="5108622" y="4828032"/>
            <a:ext cx="10972" cy="164592"/>
          </a:xfrm>
          <a:prstGeom prst="rect">
            <a:avLst/>
          </a:prstGeom>
          <a:solidFill>
            <a:srgbClr val="8A0C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Rounded Rectangle 62"/>
          <p:cNvSpPr/>
          <p:nvPr/>
        </p:nvSpPr>
        <p:spPr>
          <a:xfrm>
            <a:off x="6816198" y="4517136"/>
            <a:ext cx="932688" cy="310896"/>
          </a:xfrm>
          <a:prstGeom prst="roundRect">
            <a:avLst>
              <a:gd name="adj" fmla="val 50000"/>
            </a:avLst>
          </a:prstGeom>
          <a:solidFill>
            <a:srgbClr val="8A0C20"/>
          </a:solidFill>
          <a:ln>
            <a:noFill/>
          </a:ln>
          <a:effectLst>
            <a:outerShdw blurRad="90000" dist="42000" dir="5400000" rotWithShape="0">
              <a:srgbClr val="98A2B3">
                <a:alpha val="20000"/>
              </a:srgbClr>
            </a:outerShdw>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spcBef>
                <a:spcPts val="0"/>
              </a:spcBef>
              <a:spcAft>
                <a:spcPts val="0"/>
              </a:spcAft>
            </a:pPr>
            <a:r>
              <a:rPr sz="850" b="1" i="0">
                <a:solidFill>
                  <a:srgbClr val="FFFFFF"/>
                </a:solidFill>
                <a:latin typeface="Be Vietnam Pro"/>
              </a:rPr>
              <a:t>BKBQP đv</a:t>
            </a:r>
          </a:p>
        </p:txBody>
      </p:sp>
      <p:sp>
        <p:nvSpPr>
          <p:cNvPr id="64" name="Rectangle 63"/>
          <p:cNvSpPr/>
          <p:nvPr/>
        </p:nvSpPr>
        <p:spPr>
          <a:xfrm>
            <a:off x="7277056" y="4828032"/>
            <a:ext cx="10972" cy="164592"/>
          </a:xfrm>
          <a:prstGeom prst="rect">
            <a:avLst/>
          </a:prstGeom>
          <a:solidFill>
            <a:srgbClr val="8A0C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Rounded Rectangle 64"/>
          <p:cNvSpPr/>
          <p:nvPr/>
        </p:nvSpPr>
        <p:spPr>
          <a:xfrm>
            <a:off x="7867497" y="4517136"/>
            <a:ext cx="998524" cy="310896"/>
          </a:xfrm>
          <a:prstGeom prst="roundRect">
            <a:avLst>
              <a:gd name="adj" fmla="val 50000"/>
            </a:avLst>
          </a:prstGeom>
          <a:solidFill>
            <a:srgbClr val="C00000"/>
          </a:solidFill>
          <a:ln>
            <a:noFill/>
          </a:ln>
          <a:effectLst>
            <a:outerShdw blurRad="90000" dist="42000" dir="5400000" rotWithShape="0">
              <a:srgbClr val="98A2B3">
                <a:alpha val="20000"/>
              </a:srgbClr>
            </a:outerShdw>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spcBef>
                <a:spcPts val="0"/>
              </a:spcBef>
              <a:spcAft>
                <a:spcPts val="0"/>
              </a:spcAft>
            </a:pPr>
            <a:r>
              <a:rPr sz="850" b="1" i="0">
                <a:solidFill>
                  <a:srgbClr val="FFFFFF"/>
                </a:solidFill>
                <a:latin typeface="Be Vietnam Pro"/>
              </a:rPr>
              <a:t>★ BKTTCP đv</a:t>
            </a:r>
          </a:p>
        </p:txBody>
      </p:sp>
      <p:sp>
        <p:nvSpPr>
          <p:cNvPr id="66" name="Rectangle 65"/>
          <p:cNvSpPr/>
          <p:nvPr/>
        </p:nvSpPr>
        <p:spPr>
          <a:xfrm>
            <a:off x="8361273" y="4828032"/>
            <a:ext cx="10972" cy="164592"/>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Rounded Rectangle 66"/>
          <p:cNvSpPr/>
          <p:nvPr/>
        </p:nvSpPr>
        <p:spPr>
          <a:xfrm>
            <a:off x="502920" y="5650992"/>
            <a:ext cx="8138160" cy="512064"/>
          </a:xfrm>
          <a:prstGeom prst="roundRect">
            <a:avLst>
              <a:gd name="adj" fmla="val 10000"/>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l">
              <a:lnSpc>
                <a:spcPct val="102000"/>
              </a:lnSpc>
              <a:spcBef>
                <a:spcPts val="0"/>
              </a:spcBef>
              <a:spcAft>
                <a:spcPts val="0"/>
              </a:spcAft>
            </a:pPr>
            <a:r>
              <a:rPr sz="1050" b="1" i="0">
                <a:solidFill>
                  <a:srgbClr val="C00000"/>
                </a:solidFill>
                <a:latin typeface="Be Vietnam Pro"/>
              </a:rPr>
              <a:t>Lỡ đợt: </a:t>
            </a:r>
            <a:r>
              <a:rPr sz="1050" b="0" i="0">
                <a:solidFill>
                  <a:srgbClr val="1F2937"/>
                </a:solidFill>
                <a:latin typeface="Be Vietnam Pro"/>
              </a:rPr>
              <a:t>bỏ lỡ năm đến mốc thì chu kỳ vẫn đếm tiếp, chu kỳ sau vẫn được xét.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 y="-45720"/>
            <a:ext cx="9235440" cy="6949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 y="-45720"/>
            <a:ext cx="9235440" cy="886968"/>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motif_white.png"/>
          <p:cNvPicPr>
            <a:picLocks noChangeAspect="1"/>
          </p:cNvPicPr>
          <p:nvPr/>
        </p:nvPicPr>
        <p:blipFill>
          <a:blip r:embed="rId2">
            <a:alphaModFix amt="34000"/>
          </a:blip>
          <a:stretch>
            <a:fillRect/>
          </a:stretch>
        </p:blipFill>
        <p:spPr>
          <a:xfrm>
            <a:off x="5989320" y="-1874519"/>
            <a:ext cx="4206240" cy="3154680"/>
          </a:xfrm>
          <a:prstGeom prst="rect">
            <a:avLst/>
          </a:prstGeom>
        </p:spPr>
      </p:pic>
      <p:sp>
        <p:nvSpPr>
          <p:cNvPr id="5" name="Rectangle 4"/>
          <p:cNvSpPr/>
          <p:nvPr/>
        </p:nvSpPr>
        <p:spPr>
          <a:xfrm>
            <a:off x="-45720" y="841248"/>
            <a:ext cx="9235440" cy="96012"/>
          </a:xfrm>
          <a:prstGeom prst="rect">
            <a:avLst/>
          </a:prstGeom>
          <a:solidFill>
            <a:srgbClr val="ECA7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 y="937260"/>
            <a:ext cx="9235440" cy="20116"/>
          </a:xfrm>
          <a:prstGeom prst="rect">
            <a:avLst/>
          </a:prstGeom>
          <a:solidFill>
            <a:srgbClr val="8A0C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8288"/>
            <a:ext cx="5897880" cy="822960"/>
          </a:xfrm>
          <a:prstGeom prst="rect">
            <a:avLst/>
          </a:prstGeom>
          <a:noFill/>
        </p:spPr>
        <p:txBody>
          <a:bodyPr wrap="square" lIns="0" tIns="0" rIns="0" bIns="0" anchor="ctr">
            <a:spAutoFit/>
          </a:bodyPr>
          <a:lstStyle/>
          <a:p>
            <a:pPr algn="l">
              <a:lnSpc>
                <a:spcPct val="96000"/>
              </a:lnSpc>
              <a:spcBef>
                <a:spcPts val="0"/>
              </a:spcBef>
              <a:spcAft>
                <a:spcPts val="0"/>
              </a:spcAft>
            </a:pPr>
            <a:r>
              <a:rPr sz="2300" b="0" i="0">
                <a:solidFill>
                  <a:srgbClr val="FFFFFF"/>
                </a:solidFill>
                <a:latin typeface="Be Vietnam Pro ExtraBold"/>
              </a:rPr>
              <a:t>Các danh hiệu dài hạn</a:t>
            </a:r>
          </a:p>
        </p:txBody>
      </p:sp>
      <p:sp>
        <p:nvSpPr>
          <p:cNvPr id="8" name="Rounded Rectangle 7"/>
          <p:cNvSpPr/>
          <p:nvPr/>
        </p:nvSpPr>
        <p:spPr>
          <a:xfrm>
            <a:off x="7677302" y="256032"/>
            <a:ext cx="936345" cy="329184"/>
          </a:xfrm>
          <a:prstGeom prst="roundRect">
            <a:avLst>
              <a:gd name="adj" fmla="val 50000"/>
            </a:avLst>
          </a:prstGeom>
          <a:noFill/>
          <a:ln w="15875">
            <a:solidFill>
              <a:srgbClr val="F2C255"/>
            </a:solid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spcBef>
                <a:spcPts val="0"/>
              </a:spcBef>
              <a:spcAft>
                <a:spcPts val="0"/>
              </a:spcAft>
            </a:pPr>
            <a:r>
              <a:rPr sz="950" b="0" i="0" spc="80">
                <a:solidFill>
                  <a:srgbClr val="FFFFFF"/>
                </a:solidFill>
                <a:latin typeface="Be Vietnam Pro SemiBold"/>
              </a:rPr>
              <a:t>MỞ ĐẦU</a:t>
            </a:r>
          </a:p>
        </p:txBody>
      </p:sp>
      <p:sp>
        <p:nvSpPr>
          <p:cNvPr id="9" name="Rectangle 8"/>
          <p:cNvSpPr/>
          <p:nvPr/>
        </p:nvSpPr>
        <p:spPr>
          <a:xfrm>
            <a:off x="457200" y="6446520"/>
            <a:ext cx="8229600" cy="9144"/>
          </a:xfrm>
          <a:prstGeom prst="rect">
            <a:avLst/>
          </a:prstGeom>
          <a:solidFill>
            <a:srgbClr val="E3C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hust_shield.png"/>
          <p:cNvPicPr>
            <a:picLocks noChangeAspect="1"/>
          </p:cNvPicPr>
          <p:nvPr/>
        </p:nvPicPr>
        <p:blipFill>
          <a:blip r:embed="rId3"/>
          <a:stretch>
            <a:fillRect/>
          </a:stretch>
        </p:blipFill>
        <p:spPr>
          <a:xfrm>
            <a:off x="457200" y="6519672"/>
            <a:ext cx="164822" cy="246888"/>
          </a:xfrm>
          <a:prstGeom prst="rect">
            <a:avLst/>
          </a:prstGeom>
        </p:spPr>
      </p:pic>
      <p:sp>
        <p:nvSpPr>
          <p:cNvPr id="11" name="TextBox 10"/>
          <p:cNvSpPr txBox="1"/>
          <p:nvPr/>
        </p:nvSpPr>
        <p:spPr>
          <a:xfrm>
            <a:off x="713232" y="6501384"/>
            <a:ext cx="4206240" cy="310896"/>
          </a:xfrm>
          <a:prstGeom prst="rect">
            <a:avLst/>
          </a:prstGeom>
          <a:noFill/>
        </p:spPr>
        <p:txBody>
          <a:bodyPr wrap="square" lIns="0" tIns="0" rIns="0" bIns="0" anchor="ctr">
            <a:spAutoFit/>
          </a:bodyPr>
          <a:lstStyle/>
          <a:p>
            <a:pPr algn="l">
              <a:lnSpc>
                <a:spcPct val="94000"/>
              </a:lnSpc>
              <a:spcBef>
                <a:spcPts val="0"/>
              </a:spcBef>
              <a:spcAft>
                <a:spcPts val="0"/>
              </a:spcAft>
            </a:pPr>
            <a:r>
              <a:rPr sz="800" b="0" i="0">
                <a:solidFill>
                  <a:srgbClr val="8A0C20"/>
                </a:solidFill>
                <a:latin typeface="Be Vietnam Pro SemiBold"/>
              </a:rPr>
              <a:t>ĐẠI HỌC BÁCH KHOA HÀ NỘI</a:t>
            </a:r>
          </a:p>
          <a:p>
            <a:pPr algn="l">
              <a:lnSpc>
                <a:spcPct val="94000"/>
              </a:lnSpc>
              <a:spcBef>
                <a:spcPts val="0"/>
              </a:spcBef>
              <a:spcAft>
                <a:spcPts val="0"/>
              </a:spcAft>
            </a:pPr>
            <a:r>
              <a:rPr sz="750" b="0" i="0">
                <a:solidFill>
                  <a:srgbClr val="6B7280"/>
                </a:solidFill>
                <a:latin typeface="Be Vietnam Pro"/>
              </a:rPr>
              <a:t>Phần mềm Quản lý Khen thưởng  ·  Trần Anh Đức</a:t>
            </a:r>
          </a:p>
        </p:txBody>
      </p:sp>
      <p:sp>
        <p:nvSpPr>
          <p:cNvPr id="12" name="TextBox 11"/>
          <p:cNvSpPr txBox="1"/>
          <p:nvPr/>
        </p:nvSpPr>
        <p:spPr>
          <a:xfrm>
            <a:off x="7680960" y="6501384"/>
            <a:ext cx="1005840" cy="310896"/>
          </a:xfrm>
          <a:prstGeom prst="rect">
            <a:avLst/>
          </a:prstGeom>
          <a:noFill/>
        </p:spPr>
        <p:txBody>
          <a:bodyPr wrap="square" lIns="0" tIns="0" rIns="0" bIns="0" anchor="ctr">
            <a:spAutoFit/>
          </a:bodyPr>
          <a:lstStyle/>
          <a:p>
            <a:pPr algn="r">
              <a:spcBef>
                <a:spcPts val="0"/>
              </a:spcBef>
              <a:spcAft>
                <a:spcPts val="0"/>
              </a:spcAft>
            </a:pPr>
            <a:r>
              <a:rPr sz="1200" b="0" i="0">
                <a:solidFill>
                  <a:srgbClr val="C00000"/>
                </a:solidFill>
                <a:latin typeface="Be Vietnam Pro ExtraBold"/>
              </a:rPr>
              <a:t>07</a:t>
            </a:r>
            <a:r>
              <a:rPr sz="900" b="0" i="0">
                <a:solidFill>
                  <a:srgbClr val="6B7280"/>
                </a:solidFill>
                <a:latin typeface="Be Vietnam Pro"/>
              </a:rPr>
              <a:t> / 31</a:t>
            </a:r>
          </a:p>
        </p:txBody>
      </p:sp>
      <p:sp>
        <p:nvSpPr>
          <p:cNvPr id="13" name="TextBox 12"/>
          <p:cNvSpPr txBox="1"/>
          <p:nvPr/>
        </p:nvSpPr>
        <p:spPr>
          <a:xfrm>
            <a:off x="502920" y="1554480"/>
            <a:ext cx="8229600" cy="274320"/>
          </a:xfrm>
          <a:prstGeom prst="rect">
            <a:avLst/>
          </a:prstGeom>
          <a:noFill/>
        </p:spPr>
        <p:txBody>
          <a:bodyPr wrap="square" lIns="0" tIns="0" rIns="0" bIns="0" anchor="t">
            <a:spAutoFit/>
          </a:bodyPr>
          <a:lstStyle/>
          <a:p>
            <a:pPr algn="l">
              <a:spcBef>
                <a:spcPts val="0"/>
              </a:spcBef>
              <a:spcAft>
                <a:spcPts val="0"/>
              </a:spcAft>
            </a:pPr>
            <a:r>
              <a:rPr sz="1300" b="1" i="0">
                <a:solidFill>
                  <a:srgbClr val="C00000"/>
                </a:solidFill>
                <a:latin typeface="Be Vietnam Pro"/>
              </a:rPr>
              <a:t>Niên hạn — theo năm phục vụ</a:t>
            </a:r>
          </a:p>
        </p:txBody>
      </p:sp>
      <p:sp>
        <p:nvSpPr>
          <p:cNvPr id="14" name="Rectangle 13"/>
          <p:cNvSpPr/>
          <p:nvPr/>
        </p:nvSpPr>
        <p:spPr>
          <a:xfrm>
            <a:off x="914400" y="2331720"/>
            <a:ext cx="7315200" cy="32004"/>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822960" y="2255824"/>
            <a:ext cx="182880" cy="182880"/>
          </a:xfrm>
          <a:prstGeom prst="ellipse">
            <a:avLst/>
          </a:prstGeom>
          <a:solidFill>
            <a:srgbClr val="C0000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502920" y="1764791"/>
            <a:ext cx="822960" cy="310896"/>
          </a:xfrm>
          <a:prstGeom prst="roundRect">
            <a:avLst>
              <a:gd name="adj" fmla="val 50000"/>
            </a:avLst>
          </a:prstGeom>
          <a:solidFill>
            <a:srgbClr val="8A0C20"/>
          </a:solidFill>
          <a:ln>
            <a:noFill/>
          </a:ln>
          <a:effectLst>
            <a:outerShdw blurRad="90000" dist="42000" dir="5400000" rotWithShape="0">
              <a:srgbClr val="98A2B3">
                <a:alpha val="20000"/>
              </a:srgbClr>
            </a:outerShdw>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spcBef>
                <a:spcPts val="0"/>
              </a:spcBef>
              <a:spcAft>
                <a:spcPts val="0"/>
              </a:spcAft>
            </a:pPr>
            <a:r>
              <a:rPr sz="1000" b="1" i="0">
                <a:solidFill>
                  <a:srgbClr val="FFFFFF"/>
                </a:solidFill>
                <a:latin typeface="Be Vietnam Pro"/>
              </a:rPr>
              <a:t>10 năm</a:t>
            </a:r>
          </a:p>
        </p:txBody>
      </p:sp>
      <p:sp>
        <p:nvSpPr>
          <p:cNvPr id="17" name="Rectangle 16"/>
          <p:cNvSpPr/>
          <p:nvPr/>
        </p:nvSpPr>
        <p:spPr>
          <a:xfrm>
            <a:off x="908913" y="2075687"/>
            <a:ext cx="10972" cy="256032"/>
          </a:xfrm>
          <a:prstGeom prst="rect">
            <a:avLst/>
          </a:prstGeom>
          <a:solidFill>
            <a:srgbClr val="8A0C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347472" y="2532888"/>
            <a:ext cx="1133856" cy="475488"/>
          </a:xfrm>
          <a:prstGeom prst="roundRect">
            <a:avLst>
              <a:gd name="adj" fmla="val 12000"/>
            </a:avLst>
          </a:prstGeom>
          <a:solidFill>
            <a:srgbClr val="FAFAFA"/>
          </a:solidFill>
          <a:ln w="12700">
            <a:solidFill>
              <a:srgbClr val="ECA72C"/>
            </a:solid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spcBef>
                <a:spcPts val="0"/>
              </a:spcBef>
              <a:spcAft>
                <a:spcPts val="0"/>
              </a:spcAft>
            </a:pPr>
            <a:r>
              <a:rPr sz="750" b="0" i="1">
                <a:solidFill>
                  <a:srgbClr val="ECA72C"/>
                </a:solidFill>
                <a:latin typeface="Be Vietnam Pro"/>
              </a:rPr>
              <a:t>[ảnh huy chương]</a:t>
            </a:r>
          </a:p>
        </p:txBody>
      </p:sp>
      <p:sp>
        <p:nvSpPr>
          <p:cNvPr id="19" name="TextBox 18"/>
          <p:cNvSpPr txBox="1"/>
          <p:nvPr/>
        </p:nvSpPr>
        <p:spPr>
          <a:xfrm>
            <a:off x="228600" y="3063239"/>
            <a:ext cx="1371600" cy="457200"/>
          </a:xfrm>
          <a:prstGeom prst="rect">
            <a:avLst/>
          </a:prstGeom>
          <a:noFill/>
        </p:spPr>
        <p:txBody>
          <a:bodyPr wrap="square" lIns="0" tIns="0" rIns="0" bIns="0" anchor="t">
            <a:spAutoFit/>
          </a:bodyPr>
          <a:lstStyle/>
          <a:p>
            <a:pPr algn="ctr">
              <a:lnSpc>
                <a:spcPct val="98000"/>
              </a:lnSpc>
              <a:spcBef>
                <a:spcPts val="0"/>
              </a:spcBef>
              <a:spcAft>
                <a:spcPts val="0"/>
              </a:spcAft>
            </a:pPr>
            <a:r>
              <a:rPr sz="900" b="1" i="0">
                <a:solidFill>
                  <a:srgbClr val="1F2937"/>
                </a:solidFill>
                <a:latin typeface="Be Vietnam Pro"/>
              </a:rPr>
              <a:t>HCCSVV Hạng Ba</a:t>
            </a:r>
          </a:p>
        </p:txBody>
      </p:sp>
      <p:sp>
        <p:nvSpPr>
          <p:cNvPr id="20" name="Oval 19"/>
          <p:cNvSpPr/>
          <p:nvPr/>
        </p:nvSpPr>
        <p:spPr>
          <a:xfrm>
            <a:off x="3258921" y="2255824"/>
            <a:ext cx="182880" cy="182880"/>
          </a:xfrm>
          <a:prstGeom prst="ellipse">
            <a:avLst/>
          </a:prstGeom>
          <a:solidFill>
            <a:srgbClr val="C0000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2938881" y="1764791"/>
            <a:ext cx="822960" cy="310896"/>
          </a:xfrm>
          <a:prstGeom prst="roundRect">
            <a:avLst>
              <a:gd name="adj" fmla="val 50000"/>
            </a:avLst>
          </a:prstGeom>
          <a:solidFill>
            <a:srgbClr val="8A0C20"/>
          </a:solidFill>
          <a:ln>
            <a:noFill/>
          </a:ln>
          <a:effectLst>
            <a:outerShdw blurRad="90000" dist="42000" dir="5400000" rotWithShape="0">
              <a:srgbClr val="98A2B3">
                <a:alpha val="20000"/>
              </a:srgbClr>
            </a:outerShdw>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spcBef>
                <a:spcPts val="0"/>
              </a:spcBef>
              <a:spcAft>
                <a:spcPts val="0"/>
              </a:spcAft>
            </a:pPr>
            <a:r>
              <a:rPr sz="1000" b="1" i="0">
                <a:solidFill>
                  <a:srgbClr val="FFFFFF"/>
                </a:solidFill>
                <a:latin typeface="Be Vietnam Pro"/>
              </a:rPr>
              <a:t>15 năm</a:t>
            </a:r>
          </a:p>
        </p:txBody>
      </p:sp>
      <p:sp>
        <p:nvSpPr>
          <p:cNvPr id="22" name="Rectangle 21"/>
          <p:cNvSpPr/>
          <p:nvPr/>
        </p:nvSpPr>
        <p:spPr>
          <a:xfrm>
            <a:off x="3344875" y="2075687"/>
            <a:ext cx="10972" cy="256032"/>
          </a:xfrm>
          <a:prstGeom prst="rect">
            <a:avLst/>
          </a:prstGeom>
          <a:solidFill>
            <a:srgbClr val="8A0C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2783433" y="2532888"/>
            <a:ext cx="1133856" cy="475488"/>
          </a:xfrm>
          <a:prstGeom prst="roundRect">
            <a:avLst>
              <a:gd name="adj" fmla="val 12000"/>
            </a:avLst>
          </a:prstGeom>
          <a:solidFill>
            <a:srgbClr val="FAFAFA"/>
          </a:solidFill>
          <a:ln w="12700">
            <a:solidFill>
              <a:srgbClr val="ECA72C"/>
            </a:solid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spcBef>
                <a:spcPts val="0"/>
              </a:spcBef>
              <a:spcAft>
                <a:spcPts val="0"/>
              </a:spcAft>
            </a:pPr>
            <a:r>
              <a:rPr sz="750" b="0" i="1">
                <a:solidFill>
                  <a:srgbClr val="ECA72C"/>
                </a:solidFill>
                <a:latin typeface="Be Vietnam Pro"/>
              </a:rPr>
              <a:t>[ảnh huy chương]</a:t>
            </a:r>
          </a:p>
        </p:txBody>
      </p:sp>
      <p:sp>
        <p:nvSpPr>
          <p:cNvPr id="24" name="TextBox 23"/>
          <p:cNvSpPr txBox="1"/>
          <p:nvPr/>
        </p:nvSpPr>
        <p:spPr>
          <a:xfrm>
            <a:off x="2664561" y="3063239"/>
            <a:ext cx="1371600" cy="457200"/>
          </a:xfrm>
          <a:prstGeom prst="rect">
            <a:avLst/>
          </a:prstGeom>
          <a:noFill/>
        </p:spPr>
        <p:txBody>
          <a:bodyPr wrap="square" lIns="0" tIns="0" rIns="0" bIns="0" anchor="t">
            <a:spAutoFit/>
          </a:bodyPr>
          <a:lstStyle/>
          <a:p>
            <a:pPr algn="ctr">
              <a:lnSpc>
                <a:spcPct val="98000"/>
              </a:lnSpc>
              <a:spcBef>
                <a:spcPts val="0"/>
              </a:spcBef>
              <a:spcAft>
                <a:spcPts val="0"/>
              </a:spcAft>
            </a:pPr>
            <a:r>
              <a:rPr sz="900" b="1" i="0">
                <a:solidFill>
                  <a:srgbClr val="1F2937"/>
                </a:solidFill>
                <a:latin typeface="Be Vietnam Pro"/>
              </a:rPr>
              <a:t>HCCSVV Hạng Nhì</a:t>
            </a:r>
          </a:p>
        </p:txBody>
      </p:sp>
      <p:sp>
        <p:nvSpPr>
          <p:cNvPr id="25" name="Oval 24"/>
          <p:cNvSpPr/>
          <p:nvPr/>
        </p:nvSpPr>
        <p:spPr>
          <a:xfrm>
            <a:off x="5694883" y="2255824"/>
            <a:ext cx="182880" cy="182880"/>
          </a:xfrm>
          <a:prstGeom prst="ellipse">
            <a:avLst/>
          </a:prstGeom>
          <a:solidFill>
            <a:srgbClr val="C0000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5374843" y="1764791"/>
            <a:ext cx="822960" cy="310896"/>
          </a:xfrm>
          <a:prstGeom prst="roundRect">
            <a:avLst>
              <a:gd name="adj" fmla="val 50000"/>
            </a:avLst>
          </a:prstGeom>
          <a:solidFill>
            <a:srgbClr val="8A0C20"/>
          </a:solidFill>
          <a:ln>
            <a:noFill/>
          </a:ln>
          <a:effectLst>
            <a:outerShdw blurRad="90000" dist="42000" dir="5400000" rotWithShape="0">
              <a:srgbClr val="98A2B3">
                <a:alpha val="20000"/>
              </a:srgbClr>
            </a:outerShdw>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spcBef>
                <a:spcPts val="0"/>
              </a:spcBef>
              <a:spcAft>
                <a:spcPts val="0"/>
              </a:spcAft>
            </a:pPr>
            <a:r>
              <a:rPr sz="1000" b="1" i="0">
                <a:solidFill>
                  <a:srgbClr val="FFFFFF"/>
                </a:solidFill>
                <a:latin typeface="Be Vietnam Pro"/>
              </a:rPr>
              <a:t>20 năm</a:t>
            </a:r>
          </a:p>
        </p:txBody>
      </p:sp>
      <p:sp>
        <p:nvSpPr>
          <p:cNvPr id="27" name="Rectangle 26"/>
          <p:cNvSpPr/>
          <p:nvPr/>
        </p:nvSpPr>
        <p:spPr>
          <a:xfrm>
            <a:off x="5780836" y="2075687"/>
            <a:ext cx="10972" cy="256032"/>
          </a:xfrm>
          <a:prstGeom prst="rect">
            <a:avLst/>
          </a:prstGeom>
          <a:solidFill>
            <a:srgbClr val="8A0C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5219395" y="2532888"/>
            <a:ext cx="1133856" cy="475488"/>
          </a:xfrm>
          <a:prstGeom prst="roundRect">
            <a:avLst>
              <a:gd name="adj" fmla="val 12000"/>
            </a:avLst>
          </a:prstGeom>
          <a:solidFill>
            <a:srgbClr val="FAFAFA"/>
          </a:solidFill>
          <a:ln w="12700">
            <a:solidFill>
              <a:srgbClr val="ECA72C"/>
            </a:solid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spcBef>
                <a:spcPts val="0"/>
              </a:spcBef>
              <a:spcAft>
                <a:spcPts val="0"/>
              </a:spcAft>
            </a:pPr>
            <a:r>
              <a:rPr sz="750" b="0" i="1">
                <a:solidFill>
                  <a:srgbClr val="ECA72C"/>
                </a:solidFill>
                <a:latin typeface="Be Vietnam Pro"/>
              </a:rPr>
              <a:t>[ảnh huy chương]</a:t>
            </a:r>
          </a:p>
        </p:txBody>
      </p:sp>
      <p:sp>
        <p:nvSpPr>
          <p:cNvPr id="29" name="TextBox 28"/>
          <p:cNvSpPr txBox="1"/>
          <p:nvPr/>
        </p:nvSpPr>
        <p:spPr>
          <a:xfrm>
            <a:off x="5100523" y="3063239"/>
            <a:ext cx="1371600" cy="457200"/>
          </a:xfrm>
          <a:prstGeom prst="rect">
            <a:avLst/>
          </a:prstGeom>
          <a:noFill/>
        </p:spPr>
        <p:txBody>
          <a:bodyPr wrap="square" lIns="0" tIns="0" rIns="0" bIns="0" anchor="t">
            <a:spAutoFit/>
          </a:bodyPr>
          <a:lstStyle/>
          <a:p>
            <a:pPr algn="ctr">
              <a:lnSpc>
                <a:spcPct val="98000"/>
              </a:lnSpc>
              <a:spcBef>
                <a:spcPts val="0"/>
              </a:spcBef>
              <a:spcAft>
                <a:spcPts val="0"/>
              </a:spcAft>
            </a:pPr>
            <a:r>
              <a:rPr sz="900" b="1" i="0">
                <a:solidFill>
                  <a:srgbClr val="1F2937"/>
                </a:solidFill>
                <a:latin typeface="Be Vietnam Pro"/>
              </a:rPr>
              <a:t>HCCSVV Hạng Nhất · KNC (nữ)</a:t>
            </a:r>
          </a:p>
        </p:txBody>
      </p:sp>
      <p:sp>
        <p:nvSpPr>
          <p:cNvPr id="30" name="Oval 29"/>
          <p:cNvSpPr/>
          <p:nvPr/>
        </p:nvSpPr>
        <p:spPr>
          <a:xfrm>
            <a:off x="8138160" y="2255824"/>
            <a:ext cx="182880" cy="182880"/>
          </a:xfrm>
          <a:prstGeom prst="ellipse">
            <a:avLst/>
          </a:prstGeom>
          <a:solidFill>
            <a:srgbClr val="C0000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0"/>
          <p:cNvSpPr/>
          <p:nvPr/>
        </p:nvSpPr>
        <p:spPr>
          <a:xfrm>
            <a:off x="7818120" y="1764791"/>
            <a:ext cx="822960" cy="310896"/>
          </a:xfrm>
          <a:prstGeom prst="roundRect">
            <a:avLst>
              <a:gd name="adj" fmla="val 50000"/>
            </a:avLst>
          </a:prstGeom>
          <a:solidFill>
            <a:srgbClr val="8A0C20"/>
          </a:solidFill>
          <a:ln>
            <a:noFill/>
          </a:ln>
          <a:effectLst>
            <a:outerShdw blurRad="90000" dist="42000" dir="5400000" rotWithShape="0">
              <a:srgbClr val="98A2B3">
                <a:alpha val="20000"/>
              </a:srgbClr>
            </a:outerShdw>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spcBef>
                <a:spcPts val="0"/>
              </a:spcBef>
              <a:spcAft>
                <a:spcPts val="0"/>
              </a:spcAft>
            </a:pPr>
            <a:r>
              <a:rPr sz="1000" b="1" i="0">
                <a:solidFill>
                  <a:srgbClr val="FFFFFF"/>
                </a:solidFill>
                <a:latin typeface="Be Vietnam Pro"/>
              </a:rPr>
              <a:t>25 năm</a:t>
            </a:r>
          </a:p>
        </p:txBody>
      </p:sp>
      <p:sp>
        <p:nvSpPr>
          <p:cNvPr id="32" name="Rectangle 31"/>
          <p:cNvSpPr/>
          <p:nvPr/>
        </p:nvSpPr>
        <p:spPr>
          <a:xfrm>
            <a:off x="8224113" y="2075687"/>
            <a:ext cx="10972" cy="256032"/>
          </a:xfrm>
          <a:prstGeom prst="rect">
            <a:avLst/>
          </a:prstGeom>
          <a:solidFill>
            <a:srgbClr val="8A0C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ounded Rectangle 32"/>
          <p:cNvSpPr/>
          <p:nvPr/>
        </p:nvSpPr>
        <p:spPr>
          <a:xfrm>
            <a:off x="7662672" y="2532888"/>
            <a:ext cx="1133856" cy="475488"/>
          </a:xfrm>
          <a:prstGeom prst="roundRect">
            <a:avLst>
              <a:gd name="adj" fmla="val 12000"/>
            </a:avLst>
          </a:prstGeom>
          <a:solidFill>
            <a:srgbClr val="FAFAFA"/>
          </a:solidFill>
          <a:ln w="12700">
            <a:solidFill>
              <a:srgbClr val="ECA72C"/>
            </a:solid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spcBef>
                <a:spcPts val="0"/>
              </a:spcBef>
              <a:spcAft>
                <a:spcPts val="0"/>
              </a:spcAft>
            </a:pPr>
            <a:r>
              <a:rPr sz="750" b="0" i="1">
                <a:solidFill>
                  <a:srgbClr val="ECA72C"/>
                </a:solidFill>
                <a:latin typeface="Be Vietnam Pro"/>
              </a:rPr>
              <a:t>[ảnh huy chương]</a:t>
            </a:r>
          </a:p>
        </p:txBody>
      </p:sp>
      <p:sp>
        <p:nvSpPr>
          <p:cNvPr id="34" name="TextBox 33"/>
          <p:cNvSpPr txBox="1"/>
          <p:nvPr/>
        </p:nvSpPr>
        <p:spPr>
          <a:xfrm>
            <a:off x="7543800" y="3063239"/>
            <a:ext cx="1371600" cy="457200"/>
          </a:xfrm>
          <a:prstGeom prst="rect">
            <a:avLst/>
          </a:prstGeom>
          <a:noFill/>
        </p:spPr>
        <p:txBody>
          <a:bodyPr wrap="square" lIns="0" tIns="0" rIns="0" bIns="0" anchor="t">
            <a:spAutoFit/>
          </a:bodyPr>
          <a:lstStyle/>
          <a:p>
            <a:pPr algn="ctr">
              <a:lnSpc>
                <a:spcPct val="98000"/>
              </a:lnSpc>
              <a:spcBef>
                <a:spcPts val="0"/>
              </a:spcBef>
              <a:spcAft>
                <a:spcPts val="0"/>
              </a:spcAft>
            </a:pPr>
            <a:r>
              <a:rPr sz="900" b="1" i="0">
                <a:solidFill>
                  <a:srgbClr val="1F2937"/>
                </a:solidFill>
                <a:latin typeface="Be Vietnam Pro"/>
              </a:rPr>
              <a:t>HCQKQT · KNC (nam)</a:t>
            </a:r>
          </a:p>
        </p:txBody>
      </p:sp>
      <p:sp>
        <p:nvSpPr>
          <p:cNvPr id="35" name="TextBox 34"/>
          <p:cNvSpPr txBox="1"/>
          <p:nvPr/>
        </p:nvSpPr>
        <p:spPr>
          <a:xfrm>
            <a:off x="502920" y="3584448"/>
            <a:ext cx="8229600" cy="274320"/>
          </a:xfrm>
          <a:prstGeom prst="rect">
            <a:avLst/>
          </a:prstGeom>
          <a:noFill/>
        </p:spPr>
        <p:txBody>
          <a:bodyPr wrap="square" lIns="0" tIns="0" rIns="0" bIns="0" anchor="t">
            <a:spAutoFit/>
          </a:bodyPr>
          <a:lstStyle/>
          <a:p>
            <a:pPr algn="l">
              <a:spcBef>
                <a:spcPts val="0"/>
              </a:spcBef>
              <a:spcAft>
                <a:spcPts val="0"/>
              </a:spcAft>
            </a:pPr>
            <a:r>
              <a:rPr sz="1000" b="0" i="1">
                <a:solidFill>
                  <a:srgbClr val="6B7280"/>
                </a:solidFill>
                <a:latin typeface="Be Vietnam Pro"/>
              </a:rPr>
              <a:t>HCQKQT (25 năm) và KNC VSNXD QĐNDVN (nam 25 năm / nữ 20 năm) — nhận một lần duy nhất.</a:t>
            </a:r>
          </a:p>
        </p:txBody>
      </p:sp>
      <p:sp>
        <p:nvSpPr>
          <p:cNvPr id="36" name="TextBox 35"/>
          <p:cNvSpPr txBox="1"/>
          <p:nvPr/>
        </p:nvSpPr>
        <p:spPr>
          <a:xfrm>
            <a:off x="502920" y="3968496"/>
            <a:ext cx="8229600" cy="274320"/>
          </a:xfrm>
          <a:prstGeom prst="rect">
            <a:avLst/>
          </a:prstGeom>
          <a:noFill/>
        </p:spPr>
        <p:txBody>
          <a:bodyPr wrap="square" lIns="0" tIns="0" rIns="0" bIns="0" anchor="t">
            <a:spAutoFit/>
          </a:bodyPr>
          <a:lstStyle/>
          <a:p>
            <a:pPr algn="l">
              <a:spcBef>
                <a:spcPts val="0"/>
              </a:spcBef>
              <a:spcAft>
                <a:spcPts val="0"/>
              </a:spcAft>
            </a:pPr>
            <a:r>
              <a:rPr sz="1300" b="1" i="0">
                <a:solidFill>
                  <a:srgbClr val="C00000"/>
                </a:solidFill>
                <a:latin typeface="Be Vietnam Pro"/>
              </a:rPr>
              <a:t>Cống hiến — Huân chương Bảo vệ Tổ quốc (HCBVTQ)</a:t>
            </a:r>
          </a:p>
        </p:txBody>
      </p:sp>
      <p:sp>
        <p:nvSpPr>
          <p:cNvPr id="37" name="Rounded Rectangle 36"/>
          <p:cNvSpPr/>
          <p:nvPr/>
        </p:nvSpPr>
        <p:spPr>
          <a:xfrm>
            <a:off x="502920" y="4334256"/>
            <a:ext cx="2615184" cy="1188720"/>
          </a:xfrm>
          <a:prstGeom prst="roundRect">
            <a:avLst>
              <a:gd name="adj" fmla="val 6000"/>
            </a:avLst>
          </a:prstGeom>
          <a:solidFill>
            <a:srgbClr val="FFFFFF"/>
          </a:solidFill>
          <a:ln w="12700">
            <a:solidFill>
              <a:srgbClr val="E5E7EB"/>
            </a:solidFill>
          </a:ln>
          <a:effectLst>
            <a:outerShdw blurRad="90000" dist="42000" dir="5400000" rotWithShape="0">
              <a:srgbClr val="98A2B3">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ounded Rectangle 37"/>
          <p:cNvSpPr/>
          <p:nvPr/>
        </p:nvSpPr>
        <p:spPr>
          <a:xfrm>
            <a:off x="667512" y="4498848"/>
            <a:ext cx="2286000" cy="329184"/>
          </a:xfrm>
          <a:prstGeom prst="roundRect">
            <a:avLst>
              <a:gd name="adj" fmla="val 50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spcBef>
                <a:spcPts val="0"/>
              </a:spcBef>
              <a:spcAft>
                <a:spcPts val="0"/>
              </a:spcAft>
            </a:pPr>
            <a:r>
              <a:rPr sz="1100" b="1" i="0">
                <a:solidFill>
                  <a:srgbClr val="FFFFFF"/>
                </a:solidFill>
                <a:latin typeface="Be Vietnam Pro"/>
              </a:rPr>
              <a:t>Nhóm hệ số 0.7</a:t>
            </a:r>
          </a:p>
        </p:txBody>
      </p:sp>
      <p:sp>
        <p:nvSpPr>
          <p:cNvPr id="39" name="TextBox 38"/>
          <p:cNvSpPr txBox="1"/>
          <p:nvPr/>
        </p:nvSpPr>
        <p:spPr>
          <a:xfrm>
            <a:off x="667512" y="4901184"/>
            <a:ext cx="2286000" cy="566928"/>
          </a:xfrm>
          <a:prstGeom prst="rect">
            <a:avLst/>
          </a:prstGeom>
          <a:noFill/>
        </p:spPr>
        <p:txBody>
          <a:bodyPr wrap="square" lIns="0" tIns="0" rIns="0" bIns="0" anchor="t">
            <a:spAutoFit/>
          </a:bodyPr>
          <a:lstStyle/>
          <a:p>
            <a:pPr algn="ctr">
              <a:spcBef>
                <a:spcPts val="0"/>
              </a:spcBef>
              <a:spcAft>
                <a:spcPts val="100"/>
              </a:spcAft>
            </a:pPr>
            <a:r>
              <a:rPr sz="1400" b="1" i="0">
                <a:solidFill>
                  <a:srgbClr val="1F2937"/>
                </a:solidFill>
                <a:latin typeface="Be Vietnam Pro"/>
              </a:rPr>
              <a:t>HCBVTQ Hạng Ba</a:t>
            </a:r>
          </a:p>
          <a:p>
            <a:pPr algn="ctr">
              <a:spcBef>
                <a:spcPts val="0"/>
              </a:spcBef>
              <a:spcAft>
                <a:spcPts val="0"/>
              </a:spcAft>
            </a:pPr>
            <a:r>
              <a:rPr sz="950" b="0" i="0">
                <a:solidFill>
                  <a:srgbClr val="6B7280"/>
                </a:solidFill>
                <a:latin typeface="Be Vietnam Pro"/>
              </a:rPr>
              <a:t>120 tháng giữ chức vụ</a:t>
            </a:r>
          </a:p>
        </p:txBody>
      </p:sp>
      <p:sp>
        <p:nvSpPr>
          <p:cNvPr id="40" name="Rounded Rectangle 39"/>
          <p:cNvSpPr/>
          <p:nvPr/>
        </p:nvSpPr>
        <p:spPr>
          <a:xfrm>
            <a:off x="3264408" y="4334256"/>
            <a:ext cx="2615184" cy="1188720"/>
          </a:xfrm>
          <a:prstGeom prst="roundRect">
            <a:avLst>
              <a:gd name="adj" fmla="val 6000"/>
            </a:avLst>
          </a:prstGeom>
          <a:solidFill>
            <a:srgbClr val="FFFFFF"/>
          </a:solidFill>
          <a:ln w="12700">
            <a:solidFill>
              <a:srgbClr val="E5E7EB"/>
            </a:solidFill>
          </a:ln>
          <a:effectLst>
            <a:outerShdw blurRad="90000" dist="42000" dir="5400000" rotWithShape="0">
              <a:srgbClr val="98A2B3">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ounded Rectangle 40"/>
          <p:cNvSpPr/>
          <p:nvPr/>
        </p:nvSpPr>
        <p:spPr>
          <a:xfrm>
            <a:off x="3429000" y="4498848"/>
            <a:ext cx="2286000" cy="329184"/>
          </a:xfrm>
          <a:prstGeom prst="roundRect">
            <a:avLst>
              <a:gd name="adj" fmla="val 50000"/>
            </a:avLst>
          </a:prstGeom>
          <a:solidFill>
            <a:srgbClr val="8A0C20"/>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spcBef>
                <a:spcPts val="0"/>
              </a:spcBef>
              <a:spcAft>
                <a:spcPts val="0"/>
              </a:spcAft>
            </a:pPr>
            <a:r>
              <a:rPr sz="1100" b="1" i="0">
                <a:solidFill>
                  <a:srgbClr val="FFFFFF"/>
                </a:solidFill>
                <a:latin typeface="Be Vietnam Pro"/>
              </a:rPr>
              <a:t>Nhóm hệ số 0.8</a:t>
            </a:r>
          </a:p>
        </p:txBody>
      </p:sp>
      <p:sp>
        <p:nvSpPr>
          <p:cNvPr id="42" name="TextBox 41"/>
          <p:cNvSpPr txBox="1"/>
          <p:nvPr/>
        </p:nvSpPr>
        <p:spPr>
          <a:xfrm>
            <a:off x="3429000" y="4901184"/>
            <a:ext cx="2286000" cy="566928"/>
          </a:xfrm>
          <a:prstGeom prst="rect">
            <a:avLst/>
          </a:prstGeom>
          <a:noFill/>
        </p:spPr>
        <p:txBody>
          <a:bodyPr wrap="square" lIns="0" tIns="0" rIns="0" bIns="0" anchor="t">
            <a:spAutoFit/>
          </a:bodyPr>
          <a:lstStyle/>
          <a:p>
            <a:pPr algn="ctr">
              <a:spcBef>
                <a:spcPts val="0"/>
              </a:spcBef>
              <a:spcAft>
                <a:spcPts val="100"/>
              </a:spcAft>
            </a:pPr>
            <a:r>
              <a:rPr sz="1400" b="1" i="0">
                <a:solidFill>
                  <a:srgbClr val="1F2937"/>
                </a:solidFill>
                <a:latin typeface="Be Vietnam Pro"/>
              </a:rPr>
              <a:t>HCBVTQ Hạng Nhì</a:t>
            </a:r>
          </a:p>
          <a:p>
            <a:pPr algn="ctr">
              <a:spcBef>
                <a:spcPts val="0"/>
              </a:spcBef>
              <a:spcAft>
                <a:spcPts val="0"/>
              </a:spcAft>
            </a:pPr>
            <a:r>
              <a:rPr sz="950" b="0" i="0">
                <a:solidFill>
                  <a:srgbClr val="6B7280"/>
                </a:solidFill>
                <a:latin typeface="Be Vietnam Pro"/>
              </a:rPr>
              <a:t>120 tháng giữ chức vụ</a:t>
            </a:r>
          </a:p>
        </p:txBody>
      </p:sp>
      <p:sp>
        <p:nvSpPr>
          <p:cNvPr id="43" name="Rounded Rectangle 42"/>
          <p:cNvSpPr/>
          <p:nvPr/>
        </p:nvSpPr>
        <p:spPr>
          <a:xfrm>
            <a:off x="6025896" y="4334256"/>
            <a:ext cx="2615184" cy="1188720"/>
          </a:xfrm>
          <a:prstGeom prst="roundRect">
            <a:avLst>
              <a:gd name="adj" fmla="val 6000"/>
            </a:avLst>
          </a:prstGeom>
          <a:solidFill>
            <a:srgbClr val="FFFFFF"/>
          </a:solidFill>
          <a:ln w="12700">
            <a:solidFill>
              <a:srgbClr val="E5E7EB"/>
            </a:solidFill>
          </a:ln>
          <a:effectLst>
            <a:outerShdw blurRad="90000" dist="42000" dir="5400000" rotWithShape="0">
              <a:srgbClr val="98A2B3">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ounded Rectangle 43"/>
          <p:cNvSpPr/>
          <p:nvPr/>
        </p:nvSpPr>
        <p:spPr>
          <a:xfrm>
            <a:off x="6190488" y="4498848"/>
            <a:ext cx="2286000" cy="329184"/>
          </a:xfrm>
          <a:prstGeom prst="roundRect">
            <a:avLst>
              <a:gd name="adj" fmla="val 50000"/>
            </a:avLst>
          </a:prstGeom>
          <a:solidFill>
            <a:srgbClr val="6B0716"/>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spcBef>
                <a:spcPts val="0"/>
              </a:spcBef>
              <a:spcAft>
                <a:spcPts val="0"/>
              </a:spcAft>
            </a:pPr>
            <a:r>
              <a:rPr sz="1100" b="1" i="0">
                <a:solidFill>
                  <a:srgbClr val="FFFFFF"/>
                </a:solidFill>
                <a:latin typeface="Be Vietnam Pro"/>
              </a:rPr>
              <a:t>Nhóm hệ số 0.9 – 1.0</a:t>
            </a:r>
          </a:p>
        </p:txBody>
      </p:sp>
      <p:sp>
        <p:nvSpPr>
          <p:cNvPr id="45" name="TextBox 44"/>
          <p:cNvSpPr txBox="1"/>
          <p:nvPr/>
        </p:nvSpPr>
        <p:spPr>
          <a:xfrm>
            <a:off x="6190488" y="4901184"/>
            <a:ext cx="2286000" cy="566928"/>
          </a:xfrm>
          <a:prstGeom prst="rect">
            <a:avLst/>
          </a:prstGeom>
          <a:noFill/>
        </p:spPr>
        <p:txBody>
          <a:bodyPr wrap="square" lIns="0" tIns="0" rIns="0" bIns="0" anchor="t">
            <a:spAutoFit/>
          </a:bodyPr>
          <a:lstStyle/>
          <a:p>
            <a:pPr algn="ctr">
              <a:spcBef>
                <a:spcPts val="0"/>
              </a:spcBef>
              <a:spcAft>
                <a:spcPts val="100"/>
              </a:spcAft>
            </a:pPr>
            <a:r>
              <a:rPr sz="1400" b="1" i="0">
                <a:solidFill>
                  <a:srgbClr val="1F2937"/>
                </a:solidFill>
                <a:latin typeface="Be Vietnam Pro"/>
              </a:rPr>
              <a:t>HCBVTQ Hạng Nhất</a:t>
            </a:r>
          </a:p>
          <a:p>
            <a:pPr algn="ctr">
              <a:spcBef>
                <a:spcPts val="0"/>
              </a:spcBef>
              <a:spcAft>
                <a:spcPts val="0"/>
              </a:spcAft>
            </a:pPr>
            <a:r>
              <a:rPr sz="950" b="0" i="0">
                <a:solidFill>
                  <a:srgbClr val="6B7280"/>
                </a:solidFill>
                <a:latin typeface="Be Vietnam Pro"/>
              </a:rPr>
              <a:t>120 tháng giữ chức vụ</a:t>
            </a:r>
          </a:p>
        </p:txBody>
      </p:sp>
      <p:sp>
        <p:nvSpPr>
          <p:cNvPr id="46" name="TextBox 45"/>
          <p:cNvSpPr txBox="1"/>
          <p:nvPr/>
        </p:nvSpPr>
        <p:spPr>
          <a:xfrm>
            <a:off x="502920" y="5669280"/>
            <a:ext cx="8229600" cy="548640"/>
          </a:xfrm>
          <a:prstGeom prst="rect">
            <a:avLst/>
          </a:prstGeom>
          <a:noFill/>
        </p:spPr>
        <p:txBody>
          <a:bodyPr wrap="square" lIns="0" tIns="0" rIns="0" bIns="0" anchor="t">
            <a:spAutoFit/>
          </a:bodyPr>
          <a:lstStyle/>
          <a:p>
            <a:pPr algn="l">
              <a:lnSpc>
                <a:spcPct val="105000"/>
              </a:lnSpc>
              <a:spcBef>
                <a:spcPts val="0"/>
              </a:spcBef>
              <a:spcAft>
                <a:spcPts val="0"/>
              </a:spcAft>
            </a:pPr>
            <a:r>
              <a:rPr sz="1000" b="0" i="1">
                <a:solidFill>
                  <a:srgbClr val="6B7280"/>
                </a:solidFill>
                <a:latin typeface="Be Vietnam Pro"/>
              </a:rPr>
              <a:t>Tích luỹ 120 tháng (nam) hoặc 80 tháng (nữ, bằng 2/3) giữ chức vụ trong từng nhóm hệ số, không phụ thuộc số năm phục vụ.</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 y="-45720"/>
            <a:ext cx="9235440" cy="6949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 y="-45720"/>
            <a:ext cx="9235440" cy="886968"/>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motif_white.png"/>
          <p:cNvPicPr>
            <a:picLocks noChangeAspect="1"/>
          </p:cNvPicPr>
          <p:nvPr/>
        </p:nvPicPr>
        <p:blipFill>
          <a:blip r:embed="rId2">
            <a:alphaModFix amt="34000"/>
          </a:blip>
          <a:stretch>
            <a:fillRect/>
          </a:stretch>
        </p:blipFill>
        <p:spPr>
          <a:xfrm>
            <a:off x="5989320" y="-1874519"/>
            <a:ext cx="4206240" cy="3154680"/>
          </a:xfrm>
          <a:prstGeom prst="rect">
            <a:avLst/>
          </a:prstGeom>
        </p:spPr>
      </p:pic>
      <p:sp>
        <p:nvSpPr>
          <p:cNvPr id="5" name="Rectangle 4"/>
          <p:cNvSpPr/>
          <p:nvPr/>
        </p:nvSpPr>
        <p:spPr>
          <a:xfrm>
            <a:off x="-45720" y="841248"/>
            <a:ext cx="9235440" cy="96012"/>
          </a:xfrm>
          <a:prstGeom prst="rect">
            <a:avLst/>
          </a:prstGeom>
          <a:solidFill>
            <a:srgbClr val="ECA7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 y="937260"/>
            <a:ext cx="9235440" cy="20116"/>
          </a:xfrm>
          <a:prstGeom prst="rect">
            <a:avLst/>
          </a:prstGeom>
          <a:solidFill>
            <a:srgbClr val="8A0C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8288"/>
            <a:ext cx="5897880" cy="822960"/>
          </a:xfrm>
          <a:prstGeom prst="rect">
            <a:avLst/>
          </a:prstGeom>
          <a:noFill/>
        </p:spPr>
        <p:txBody>
          <a:bodyPr wrap="square" lIns="0" tIns="0" rIns="0" bIns="0" anchor="ctr">
            <a:spAutoFit/>
          </a:bodyPr>
          <a:lstStyle/>
          <a:p>
            <a:pPr algn="l">
              <a:lnSpc>
                <a:spcPct val="96000"/>
              </a:lnSpc>
              <a:spcBef>
                <a:spcPts val="0"/>
              </a:spcBef>
              <a:spcAft>
                <a:spcPts val="0"/>
              </a:spcAft>
            </a:pPr>
            <a:r>
              <a:rPr sz="2300" b="0" i="0">
                <a:solidFill>
                  <a:srgbClr val="FFFFFF"/>
                </a:solidFill>
                <a:latin typeface="Be Vietnam Pro ExtraBold"/>
              </a:rPr>
              <a:t>Bốn thách thức cốt lõi</a:t>
            </a:r>
          </a:p>
        </p:txBody>
      </p:sp>
      <p:sp>
        <p:nvSpPr>
          <p:cNvPr id="8" name="Rounded Rectangle 7"/>
          <p:cNvSpPr/>
          <p:nvPr/>
        </p:nvSpPr>
        <p:spPr>
          <a:xfrm>
            <a:off x="7677302" y="256032"/>
            <a:ext cx="936345" cy="329184"/>
          </a:xfrm>
          <a:prstGeom prst="roundRect">
            <a:avLst>
              <a:gd name="adj" fmla="val 50000"/>
            </a:avLst>
          </a:prstGeom>
          <a:noFill/>
          <a:ln w="15875">
            <a:solidFill>
              <a:srgbClr val="F2C255"/>
            </a:solid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spcBef>
                <a:spcPts val="0"/>
              </a:spcBef>
              <a:spcAft>
                <a:spcPts val="0"/>
              </a:spcAft>
            </a:pPr>
            <a:r>
              <a:rPr sz="950" b="0" i="0" spc="80">
                <a:solidFill>
                  <a:srgbClr val="FFFFFF"/>
                </a:solidFill>
                <a:latin typeface="Be Vietnam Pro SemiBold"/>
              </a:rPr>
              <a:t>MỞ ĐẦU</a:t>
            </a:r>
          </a:p>
        </p:txBody>
      </p:sp>
      <p:sp>
        <p:nvSpPr>
          <p:cNvPr id="9" name="Rectangle 8"/>
          <p:cNvSpPr/>
          <p:nvPr/>
        </p:nvSpPr>
        <p:spPr>
          <a:xfrm>
            <a:off x="457200" y="6446520"/>
            <a:ext cx="8229600" cy="9144"/>
          </a:xfrm>
          <a:prstGeom prst="rect">
            <a:avLst/>
          </a:prstGeom>
          <a:solidFill>
            <a:srgbClr val="E3C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hust_shield.png"/>
          <p:cNvPicPr>
            <a:picLocks noChangeAspect="1"/>
          </p:cNvPicPr>
          <p:nvPr/>
        </p:nvPicPr>
        <p:blipFill>
          <a:blip r:embed="rId3"/>
          <a:stretch>
            <a:fillRect/>
          </a:stretch>
        </p:blipFill>
        <p:spPr>
          <a:xfrm>
            <a:off x="457200" y="6519672"/>
            <a:ext cx="164822" cy="246888"/>
          </a:xfrm>
          <a:prstGeom prst="rect">
            <a:avLst/>
          </a:prstGeom>
        </p:spPr>
      </p:pic>
      <p:sp>
        <p:nvSpPr>
          <p:cNvPr id="11" name="TextBox 10"/>
          <p:cNvSpPr txBox="1"/>
          <p:nvPr/>
        </p:nvSpPr>
        <p:spPr>
          <a:xfrm>
            <a:off x="713232" y="6501384"/>
            <a:ext cx="4206240" cy="310896"/>
          </a:xfrm>
          <a:prstGeom prst="rect">
            <a:avLst/>
          </a:prstGeom>
          <a:noFill/>
        </p:spPr>
        <p:txBody>
          <a:bodyPr wrap="square" lIns="0" tIns="0" rIns="0" bIns="0" anchor="ctr">
            <a:spAutoFit/>
          </a:bodyPr>
          <a:lstStyle/>
          <a:p>
            <a:pPr algn="l">
              <a:lnSpc>
                <a:spcPct val="94000"/>
              </a:lnSpc>
              <a:spcBef>
                <a:spcPts val="0"/>
              </a:spcBef>
              <a:spcAft>
                <a:spcPts val="0"/>
              </a:spcAft>
            </a:pPr>
            <a:r>
              <a:rPr sz="800" b="0" i="0">
                <a:solidFill>
                  <a:srgbClr val="8A0C20"/>
                </a:solidFill>
                <a:latin typeface="Be Vietnam Pro SemiBold"/>
              </a:rPr>
              <a:t>ĐẠI HỌC BÁCH KHOA HÀ NỘI</a:t>
            </a:r>
          </a:p>
          <a:p>
            <a:pPr algn="l">
              <a:lnSpc>
                <a:spcPct val="94000"/>
              </a:lnSpc>
              <a:spcBef>
                <a:spcPts val="0"/>
              </a:spcBef>
              <a:spcAft>
                <a:spcPts val="0"/>
              </a:spcAft>
            </a:pPr>
            <a:r>
              <a:rPr sz="750" b="0" i="0">
                <a:solidFill>
                  <a:srgbClr val="6B7280"/>
                </a:solidFill>
                <a:latin typeface="Be Vietnam Pro"/>
              </a:rPr>
              <a:t>Phần mềm Quản lý Khen thưởng  ·  Trần Anh Đức</a:t>
            </a:r>
          </a:p>
        </p:txBody>
      </p:sp>
      <p:sp>
        <p:nvSpPr>
          <p:cNvPr id="12" name="TextBox 11"/>
          <p:cNvSpPr txBox="1"/>
          <p:nvPr/>
        </p:nvSpPr>
        <p:spPr>
          <a:xfrm>
            <a:off x="7680960" y="6501384"/>
            <a:ext cx="1005840" cy="310896"/>
          </a:xfrm>
          <a:prstGeom prst="rect">
            <a:avLst/>
          </a:prstGeom>
          <a:noFill/>
        </p:spPr>
        <p:txBody>
          <a:bodyPr wrap="square" lIns="0" tIns="0" rIns="0" bIns="0" anchor="ctr">
            <a:spAutoFit/>
          </a:bodyPr>
          <a:lstStyle/>
          <a:p>
            <a:pPr algn="r">
              <a:spcBef>
                <a:spcPts val="0"/>
              </a:spcBef>
              <a:spcAft>
                <a:spcPts val="0"/>
              </a:spcAft>
            </a:pPr>
            <a:r>
              <a:rPr sz="1200" b="0" i="0">
                <a:solidFill>
                  <a:srgbClr val="C00000"/>
                </a:solidFill>
                <a:latin typeface="Be Vietnam Pro ExtraBold"/>
              </a:rPr>
              <a:t>08</a:t>
            </a:r>
            <a:r>
              <a:rPr sz="900" b="0" i="0">
                <a:solidFill>
                  <a:srgbClr val="6B7280"/>
                </a:solidFill>
                <a:latin typeface="Be Vietnam Pro"/>
              </a:rPr>
              <a:t> / 31</a:t>
            </a:r>
          </a:p>
        </p:txBody>
      </p:sp>
      <p:sp>
        <p:nvSpPr>
          <p:cNvPr id="13" name="Rounded Rectangle 12"/>
          <p:cNvSpPr/>
          <p:nvPr/>
        </p:nvSpPr>
        <p:spPr>
          <a:xfrm>
            <a:off x="502920" y="1600200"/>
            <a:ext cx="3968496" cy="1755648"/>
          </a:xfrm>
          <a:prstGeom prst="roundRect">
            <a:avLst>
              <a:gd name="adj" fmla="val 5000"/>
            </a:avLst>
          </a:prstGeom>
          <a:solidFill>
            <a:srgbClr val="FBEAEA"/>
          </a:solidFill>
          <a:ln>
            <a:noFill/>
          </a:ln>
          <a:effectLst>
            <a:outerShdw blurRad="90000" dist="42000" dir="5400000" rotWithShape="0">
              <a:srgbClr val="98A2B3">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740664" y="1837943"/>
            <a:ext cx="512064" cy="512064"/>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spcBef>
                <a:spcPts val="0"/>
              </a:spcBef>
              <a:spcAft>
                <a:spcPts val="0"/>
              </a:spcAft>
            </a:pPr>
            <a:r>
              <a:rPr sz="2200" b="1" i="0">
                <a:solidFill>
                  <a:srgbClr val="FFFFFF"/>
                </a:solidFill>
                <a:latin typeface="Be Vietnam Pro"/>
              </a:rPr>
              <a:t>1</a:t>
            </a:r>
          </a:p>
        </p:txBody>
      </p:sp>
      <p:sp>
        <p:nvSpPr>
          <p:cNvPr id="15" name="TextBox 14"/>
          <p:cNvSpPr txBox="1"/>
          <p:nvPr/>
        </p:nvSpPr>
        <p:spPr>
          <a:xfrm>
            <a:off x="1435608" y="1837943"/>
            <a:ext cx="2825496" cy="548640"/>
          </a:xfrm>
          <a:prstGeom prst="rect">
            <a:avLst/>
          </a:prstGeom>
          <a:noFill/>
        </p:spPr>
        <p:txBody>
          <a:bodyPr wrap="square" lIns="0" tIns="0" rIns="0" bIns="0" anchor="ctr">
            <a:spAutoFit/>
          </a:bodyPr>
          <a:lstStyle/>
          <a:p>
            <a:pPr algn="l">
              <a:lnSpc>
                <a:spcPct val="100000"/>
              </a:lnSpc>
              <a:spcBef>
                <a:spcPts val="0"/>
              </a:spcBef>
              <a:spcAft>
                <a:spcPts val="0"/>
              </a:spcAft>
            </a:pPr>
            <a:r>
              <a:rPr sz="1350" b="1" i="0">
                <a:solidFill>
                  <a:srgbClr val="C00000"/>
                </a:solidFill>
                <a:latin typeface="Be Vietnam Pro"/>
              </a:rPr>
              <a:t>Logic chuỗi danh hiệu nhiều năm</a:t>
            </a:r>
          </a:p>
        </p:txBody>
      </p:sp>
      <p:sp>
        <p:nvSpPr>
          <p:cNvPr id="16" name="TextBox 15"/>
          <p:cNvSpPr txBox="1"/>
          <p:nvPr/>
        </p:nvSpPr>
        <p:spPr>
          <a:xfrm>
            <a:off x="777240" y="2478024"/>
            <a:ext cx="3438144" cy="749807"/>
          </a:xfrm>
          <a:prstGeom prst="rect">
            <a:avLst/>
          </a:prstGeom>
          <a:noFill/>
        </p:spPr>
        <p:txBody>
          <a:bodyPr wrap="square" lIns="0" tIns="0" rIns="0" bIns="0" anchor="t">
            <a:spAutoFit/>
          </a:bodyPr>
          <a:lstStyle/>
          <a:p>
            <a:pPr algn="l">
              <a:lnSpc>
                <a:spcPct val="106000"/>
              </a:lnSpc>
              <a:spcBef>
                <a:spcPts val="0"/>
              </a:spcBef>
              <a:spcAft>
                <a:spcPts val="0"/>
              </a:spcAft>
            </a:pPr>
            <a:r>
              <a:rPr sz="1050" b="0" i="0">
                <a:solidFill>
                  <a:srgbClr val="1F2937"/>
                </a:solidFill>
                <a:latin typeface="Be Vietnam Pro"/>
              </a:rPr>
              <a:t>Cửa sổ trượt 3 năm và 7 năm, ràng buộc nhận một lần duy nhất và tình huống lỡ đợt khiến không thể xét bằng một truy vấn đơn lẻ; phải xét trên toàn dòng thời gian của quân nhân.</a:t>
            </a:r>
          </a:p>
        </p:txBody>
      </p:sp>
      <p:sp>
        <p:nvSpPr>
          <p:cNvPr id="17" name="TextBox 16"/>
          <p:cNvSpPr txBox="1"/>
          <p:nvPr/>
        </p:nvSpPr>
        <p:spPr>
          <a:xfrm>
            <a:off x="4014215" y="1746504"/>
            <a:ext cx="365760" cy="274320"/>
          </a:xfrm>
          <a:prstGeom prst="rect">
            <a:avLst/>
          </a:prstGeom>
          <a:noFill/>
        </p:spPr>
        <p:txBody>
          <a:bodyPr wrap="square" lIns="0" tIns="0" rIns="0" bIns="0" anchor="t">
            <a:spAutoFit/>
          </a:bodyPr>
          <a:lstStyle/>
          <a:p>
            <a:pPr algn="r">
              <a:spcBef>
                <a:spcPts val="0"/>
              </a:spcBef>
              <a:spcAft>
                <a:spcPts val="0"/>
              </a:spcAft>
            </a:pPr>
            <a:r>
              <a:rPr sz="800" b="1" i="0">
                <a:solidFill>
                  <a:srgbClr val="C00000"/>
                </a:solidFill>
                <a:latin typeface="Be Vietnam Pro"/>
              </a:rPr>
              <a:t>Trọng tâm</a:t>
            </a:r>
          </a:p>
        </p:txBody>
      </p:sp>
      <p:sp>
        <p:nvSpPr>
          <p:cNvPr id="18" name="Rounded Rectangle 17"/>
          <p:cNvSpPr/>
          <p:nvPr/>
        </p:nvSpPr>
        <p:spPr>
          <a:xfrm>
            <a:off x="4672583" y="1600200"/>
            <a:ext cx="3968496" cy="1755648"/>
          </a:xfrm>
          <a:prstGeom prst="roundRect">
            <a:avLst>
              <a:gd name="adj" fmla="val 5000"/>
            </a:avLst>
          </a:prstGeom>
          <a:solidFill>
            <a:srgbClr val="FBEAEA"/>
          </a:solidFill>
          <a:ln>
            <a:noFill/>
          </a:ln>
          <a:effectLst>
            <a:outerShdw blurRad="90000" dist="42000" dir="5400000" rotWithShape="0">
              <a:srgbClr val="98A2B3">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4910327" y="1837943"/>
            <a:ext cx="512064" cy="512064"/>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spcBef>
                <a:spcPts val="0"/>
              </a:spcBef>
              <a:spcAft>
                <a:spcPts val="0"/>
              </a:spcAft>
            </a:pPr>
            <a:r>
              <a:rPr sz="2200" b="1" i="0">
                <a:solidFill>
                  <a:srgbClr val="FFFFFF"/>
                </a:solidFill>
                <a:latin typeface="Be Vietnam Pro"/>
              </a:rPr>
              <a:t>2</a:t>
            </a:r>
          </a:p>
        </p:txBody>
      </p:sp>
      <p:sp>
        <p:nvSpPr>
          <p:cNvPr id="20" name="TextBox 19"/>
          <p:cNvSpPr txBox="1"/>
          <p:nvPr/>
        </p:nvSpPr>
        <p:spPr>
          <a:xfrm>
            <a:off x="5605271" y="1837943"/>
            <a:ext cx="2825496" cy="548640"/>
          </a:xfrm>
          <a:prstGeom prst="rect">
            <a:avLst/>
          </a:prstGeom>
          <a:noFill/>
        </p:spPr>
        <p:txBody>
          <a:bodyPr wrap="square" lIns="0" tIns="0" rIns="0" bIns="0" anchor="ctr">
            <a:spAutoFit/>
          </a:bodyPr>
          <a:lstStyle/>
          <a:p>
            <a:pPr algn="l">
              <a:lnSpc>
                <a:spcPct val="100000"/>
              </a:lnSpc>
              <a:spcBef>
                <a:spcPts val="0"/>
              </a:spcBef>
              <a:spcAft>
                <a:spcPts val="0"/>
              </a:spcAft>
            </a:pPr>
            <a:r>
              <a:rPr sz="1350" b="1" i="0">
                <a:solidFill>
                  <a:srgbClr val="C00000"/>
                </a:solidFill>
                <a:latin typeface="Be Vietnam Pro"/>
              </a:rPr>
              <a:t>Tính nhất quán đa bảng</a:t>
            </a:r>
          </a:p>
        </p:txBody>
      </p:sp>
      <p:sp>
        <p:nvSpPr>
          <p:cNvPr id="21" name="TextBox 20"/>
          <p:cNvSpPr txBox="1"/>
          <p:nvPr/>
        </p:nvSpPr>
        <p:spPr>
          <a:xfrm>
            <a:off x="4946903" y="2478024"/>
            <a:ext cx="3438144" cy="749807"/>
          </a:xfrm>
          <a:prstGeom prst="rect">
            <a:avLst/>
          </a:prstGeom>
          <a:noFill/>
        </p:spPr>
        <p:txBody>
          <a:bodyPr wrap="square" lIns="0" tIns="0" rIns="0" bIns="0" anchor="t">
            <a:spAutoFit/>
          </a:bodyPr>
          <a:lstStyle/>
          <a:p>
            <a:pPr algn="l">
              <a:lnSpc>
                <a:spcPct val="106000"/>
              </a:lnSpc>
              <a:spcBef>
                <a:spcPts val="0"/>
              </a:spcBef>
              <a:spcAft>
                <a:spcPts val="0"/>
              </a:spcAft>
            </a:pPr>
            <a:r>
              <a:rPr sz="1050" b="0" i="0">
                <a:solidFill>
                  <a:srgbClr val="1F2937"/>
                </a:solidFill>
                <a:latin typeface="Be Vietnam Pro"/>
              </a:rPr>
              <a:t>Mỗi lần duyệt cập nhật nhiều bảng cùng lúc (đề xuất, hồ sơ, quyết định, thông báo, nhật ký), nên bắt buộc dùng giao dịch và chống tranh chấp ghi khi hai cán bộ duyệt cùng lúc.</a:t>
            </a:r>
          </a:p>
        </p:txBody>
      </p:sp>
      <p:sp>
        <p:nvSpPr>
          <p:cNvPr id="22" name="TextBox 21"/>
          <p:cNvSpPr txBox="1"/>
          <p:nvPr/>
        </p:nvSpPr>
        <p:spPr>
          <a:xfrm>
            <a:off x="8183879" y="1746504"/>
            <a:ext cx="365760" cy="274320"/>
          </a:xfrm>
          <a:prstGeom prst="rect">
            <a:avLst/>
          </a:prstGeom>
          <a:noFill/>
        </p:spPr>
        <p:txBody>
          <a:bodyPr wrap="square" lIns="0" tIns="0" rIns="0" bIns="0" anchor="t">
            <a:spAutoFit/>
          </a:bodyPr>
          <a:lstStyle/>
          <a:p>
            <a:pPr algn="r">
              <a:spcBef>
                <a:spcPts val="0"/>
              </a:spcBef>
              <a:spcAft>
                <a:spcPts val="0"/>
              </a:spcAft>
            </a:pPr>
            <a:r>
              <a:rPr sz="800" b="1" i="0">
                <a:solidFill>
                  <a:srgbClr val="C00000"/>
                </a:solidFill>
                <a:latin typeface="Be Vietnam Pro"/>
              </a:rPr>
              <a:t>Trọng tâm</a:t>
            </a:r>
          </a:p>
        </p:txBody>
      </p:sp>
      <p:sp>
        <p:nvSpPr>
          <p:cNvPr id="23" name="Rounded Rectangle 22"/>
          <p:cNvSpPr/>
          <p:nvPr/>
        </p:nvSpPr>
        <p:spPr>
          <a:xfrm>
            <a:off x="502920" y="3520440"/>
            <a:ext cx="3968496" cy="1755648"/>
          </a:xfrm>
          <a:prstGeom prst="roundRect">
            <a:avLst>
              <a:gd name="adj" fmla="val 5000"/>
            </a:avLst>
          </a:prstGeom>
          <a:solidFill>
            <a:srgbClr val="FFFFFF"/>
          </a:solidFill>
          <a:ln w="12700">
            <a:solidFill>
              <a:srgbClr val="E5E7EB"/>
            </a:solidFill>
          </a:ln>
          <a:effectLst>
            <a:outerShdw blurRad="90000" dist="42000" dir="5400000" rotWithShape="0">
              <a:srgbClr val="98A2B3">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740664" y="3758184"/>
            <a:ext cx="512064" cy="512064"/>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spcBef>
                <a:spcPts val="0"/>
              </a:spcBef>
              <a:spcAft>
                <a:spcPts val="0"/>
              </a:spcAft>
            </a:pPr>
            <a:r>
              <a:rPr sz="2200" b="1" i="0">
                <a:solidFill>
                  <a:srgbClr val="FFFFFF"/>
                </a:solidFill>
                <a:latin typeface="Be Vietnam Pro"/>
              </a:rPr>
              <a:t>3</a:t>
            </a:r>
          </a:p>
        </p:txBody>
      </p:sp>
      <p:sp>
        <p:nvSpPr>
          <p:cNvPr id="25" name="TextBox 24"/>
          <p:cNvSpPr txBox="1"/>
          <p:nvPr/>
        </p:nvSpPr>
        <p:spPr>
          <a:xfrm>
            <a:off x="1435608" y="3758184"/>
            <a:ext cx="2825496" cy="548640"/>
          </a:xfrm>
          <a:prstGeom prst="rect">
            <a:avLst/>
          </a:prstGeom>
          <a:noFill/>
        </p:spPr>
        <p:txBody>
          <a:bodyPr wrap="square" lIns="0" tIns="0" rIns="0" bIns="0" anchor="ctr">
            <a:spAutoFit/>
          </a:bodyPr>
          <a:lstStyle/>
          <a:p>
            <a:pPr algn="l">
              <a:lnSpc>
                <a:spcPct val="100000"/>
              </a:lnSpc>
              <a:spcBef>
                <a:spcPts val="0"/>
              </a:spcBef>
              <a:spcAft>
                <a:spcPts val="0"/>
              </a:spcAft>
            </a:pPr>
            <a:r>
              <a:rPr sz="1350" b="1" i="0">
                <a:solidFill>
                  <a:srgbClr val="1F2937"/>
                </a:solidFill>
                <a:latin typeface="Be Vietnam Pro"/>
              </a:rPr>
              <a:t>Phân quyền theo cây tổ chức</a:t>
            </a:r>
          </a:p>
        </p:txBody>
      </p:sp>
      <p:sp>
        <p:nvSpPr>
          <p:cNvPr id="26" name="TextBox 25"/>
          <p:cNvSpPr txBox="1"/>
          <p:nvPr/>
        </p:nvSpPr>
        <p:spPr>
          <a:xfrm>
            <a:off x="777240" y="4398264"/>
            <a:ext cx="3438144" cy="749807"/>
          </a:xfrm>
          <a:prstGeom prst="rect">
            <a:avLst/>
          </a:prstGeom>
          <a:noFill/>
        </p:spPr>
        <p:txBody>
          <a:bodyPr wrap="square" lIns="0" tIns="0" rIns="0" bIns="0" anchor="t">
            <a:spAutoFit/>
          </a:bodyPr>
          <a:lstStyle/>
          <a:p>
            <a:pPr algn="l">
              <a:lnSpc>
                <a:spcPct val="106000"/>
              </a:lnSpc>
              <a:spcBef>
                <a:spcPts val="0"/>
              </a:spcBef>
              <a:spcAft>
                <a:spcPts val="0"/>
              </a:spcAft>
            </a:pPr>
            <a:r>
              <a:rPr sz="1050" b="0" i="0">
                <a:solidFill>
                  <a:srgbClr val="1F2937"/>
                </a:solidFill>
                <a:latin typeface="Be Vietnam Pro"/>
              </a:rPr>
              <a:t>Bốn vai trò trên cây đơn vị nhiều cấp đòi hỏi hai lớp middleware độc lập (kiểm tra vai trò và lọc theo đơn vị); vượt được lớp này thì lớp kia vẫn chặn.</a:t>
            </a:r>
          </a:p>
        </p:txBody>
      </p:sp>
      <p:sp>
        <p:nvSpPr>
          <p:cNvPr id="27" name="Rounded Rectangle 26"/>
          <p:cNvSpPr/>
          <p:nvPr/>
        </p:nvSpPr>
        <p:spPr>
          <a:xfrm>
            <a:off x="4672583" y="3520440"/>
            <a:ext cx="3968496" cy="1755648"/>
          </a:xfrm>
          <a:prstGeom prst="roundRect">
            <a:avLst>
              <a:gd name="adj" fmla="val 5000"/>
            </a:avLst>
          </a:prstGeom>
          <a:solidFill>
            <a:srgbClr val="FFFFFF"/>
          </a:solidFill>
          <a:ln w="12700">
            <a:solidFill>
              <a:srgbClr val="E5E7EB"/>
            </a:solidFill>
          </a:ln>
          <a:effectLst>
            <a:outerShdw blurRad="90000" dist="42000" dir="5400000" rotWithShape="0">
              <a:srgbClr val="98A2B3">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4910327" y="3758184"/>
            <a:ext cx="512064" cy="512064"/>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spcBef>
                <a:spcPts val="0"/>
              </a:spcBef>
              <a:spcAft>
                <a:spcPts val="0"/>
              </a:spcAft>
            </a:pPr>
            <a:r>
              <a:rPr sz="2200" b="1" i="0">
                <a:solidFill>
                  <a:srgbClr val="FFFFFF"/>
                </a:solidFill>
                <a:latin typeface="Be Vietnam Pro"/>
              </a:rPr>
              <a:t>4</a:t>
            </a:r>
          </a:p>
        </p:txBody>
      </p:sp>
      <p:sp>
        <p:nvSpPr>
          <p:cNvPr id="29" name="TextBox 28"/>
          <p:cNvSpPr txBox="1"/>
          <p:nvPr/>
        </p:nvSpPr>
        <p:spPr>
          <a:xfrm>
            <a:off x="5605271" y="3758184"/>
            <a:ext cx="2825496" cy="548640"/>
          </a:xfrm>
          <a:prstGeom prst="rect">
            <a:avLst/>
          </a:prstGeom>
          <a:noFill/>
        </p:spPr>
        <p:txBody>
          <a:bodyPr wrap="square" lIns="0" tIns="0" rIns="0" bIns="0" anchor="ctr">
            <a:spAutoFit/>
          </a:bodyPr>
          <a:lstStyle/>
          <a:p>
            <a:pPr algn="l">
              <a:lnSpc>
                <a:spcPct val="100000"/>
              </a:lnSpc>
              <a:spcBef>
                <a:spcPts val="0"/>
              </a:spcBef>
              <a:spcAft>
                <a:spcPts val="0"/>
              </a:spcAft>
            </a:pPr>
            <a:r>
              <a:rPr sz="1350" b="1" i="0">
                <a:solidFill>
                  <a:srgbClr val="1F2937"/>
                </a:solidFill>
                <a:latin typeface="Be Vietnam Pro"/>
              </a:rPr>
              <a:t>Vận hành trong mạng nội bộ</a:t>
            </a:r>
          </a:p>
        </p:txBody>
      </p:sp>
      <p:sp>
        <p:nvSpPr>
          <p:cNvPr id="30" name="TextBox 29"/>
          <p:cNvSpPr txBox="1"/>
          <p:nvPr/>
        </p:nvSpPr>
        <p:spPr>
          <a:xfrm>
            <a:off x="4946903" y="4398264"/>
            <a:ext cx="3438144" cy="749807"/>
          </a:xfrm>
          <a:prstGeom prst="rect">
            <a:avLst/>
          </a:prstGeom>
          <a:noFill/>
        </p:spPr>
        <p:txBody>
          <a:bodyPr wrap="square" lIns="0" tIns="0" rIns="0" bIns="0" anchor="t">
            <a:spAutoFit/>
          </a:bodyPr>
          <a:lstStyle/>
          <a:p>
            <a:pPr algn="l">
              <a:lnSpc>
                <a:spcPct val="106000"/>
              </a:lnSpc>
              <a:spcBef>
                <a:spcPts val="0"/>
              </a:spcBef>
              <a:spcAft>
                <a:spcPts val="0"/>
              </a:spcAft>
            </a:pPr>
            <a:r>
              <a:rPr sz="1050" b="0" i="0">
                <a:solidFill>
                  <a:srgbClr val="1F2937"/>
                </a:solidFill>
                <a:latin typeface="Be Vietnam Pro"/>
              </a:rPr>
              <a:t>Không có Internet hay dịch vụ ngoài, nên hệ thống tự lưu trữ phông chữ, tự sao lưu theo lịch và tự khởi động lại bằng PM2.</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 y="-45720"/>
            <a:ext cx="9235440" cy="694944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 y="-45720"/>
            <a:ext cx="9235440" cy="694944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motif_white.png"/>
          <p:cNvPicPr>
            <a:picLocks noChangeAspect="1"/>
          </p:cNvPicPr>
          <p:nvPr/>
        </p:nvPicPr>
        <p:blipFill>
          <a:blip r:embed="rId2">
            <a:alphaModFix amt="30000"/>
          </a:blip>
          <a:stretch>
            <a:fillRect/>
          </a:stretch>
        </p:blipFill>
        <p:spPr>
          <a:xfrm>
            <a:off x="4297680" y="-1097280"/>
            <a:ext cx="6766560" cy="5074920"/>
          </a:xfrm>
          <a:prstGeom prst="rect">
            <a:avLst/>
          </a:prstGeom>
        </p:spPr>
      </p:pic>
      <p:sp>
        <p:nvSpPr>
          <p:cNvPr id="5" name="TextBox 4"/>
          <p:cNvSpPr txBox="1"/>
          <p:nvPr/>
        </p:nvSpPr>
        <p:spPr>
          <a:xfrm>
            <a:off x="640080" y="1371600"/>
            <a:ext cx="2926080" cy="2377440"/>
          </a:xfrm>
          <a:prstGeom prst="rect">
            <a:avLst/>
          </a:prstGeom>
          <a:noFill/>
        </p:spPr>
        <p:txBody>
          <a:bodyPr wrap="square" lIns="0" tIns="0" rIns="0" bIns="0" anchor="t">
            <a:spAutoFit/>
          </a:bodyPr>
          <a:lstStyle/>
          <a:p>
            <a:pPr algn="l">
              <a:lnSpc>
                <a:spcPct val="85000"/>
              </a:lnSpc>
              <a:spcBef>
                <a:spcPts val="0"/>
              </a:spcBef>
              <a:spcAft>
                <a:spcPts val="0"/>
              </a:spcAft>
            </a:pPr>
            <a:r>
              <a:rPr sz="15000" b="0" i="0">
                <a:solidFill>
                  <a:srgbClr val="F2C255"/>
                </a:solidFill>
                <a:latin typeface="Be Vietnam Pro Black"/>
              </a:rPr>
              <a:t>II</a:t>
            </a:r>
          </a:p>
        </p:txBody>
      </p:sp>
      <p:sp>
        <p:nvSpPr>
          <p:cNvPr id="6" name="TextBox 5"/>
          <p:cNvSpPr txBox="1"/>
          <p:nvPr/>
        </p:nvSpPr>
        <p:spPr>
          <a:xfrm>
            <a:off x="3246120" y="2331720"/>
            <a:ext cx="5303520" cy="457200"/>
          </a:xfrm>
          <a:prstGeom prst="rect">
            <a:avLst/>
          </a:prstGeom>
          <a:noFill/>
        </p:spPr>
        <p:txBody>
          <a:bodyPr wrap="square" lIns="0" tIns="0" rIns="0" bIns="0" anchor="t">
            <a:spAutoFit/>
          </a:bodyPr>
          <a:lstStyle/>
          <a:p>
            <a:pPr algn="l">
              <a:spcBef>
                <a:spcPts val="0"/>
              </a:spcBef>
              <a:spcAft>
                <a:spcPts val="0"/>
              </a:spcAft>
            </a:pPr>
            <a:r>
              <a:rPr sz="1400" b="0" i="0" spc="200">
                <a:solidFill>
                  <a:srgbClr val="F7D99B"/>
                </a:solidFill>
                <a:latin typeface="Be Vietnam Pro SemiBold"/>
              </a:rPr>
              <a:t>PHẦN II</a:t>
            </a:r>
          </a:p>
        </p:txBody>
      </p:sp>
      <p:sp>
        <p:nvSpPr>
          <p:cNvPr id="7" name="TextBox 6"/>
          <p:cNvSpPr txBox="1"/>
          <p:nvPr/>
        </p:nvSpPr>
        <p:spPr>
          <a:xfrm>
            <a:off x="3200400" y="2697480"/>
            <a:ext cx="5486400" cy="1188720"/>
          </a:xfrm>
          <a:prstGeom prst="rect">
            <a:avLst/>
          </a:prstGeom>
          <a:noFill/>
        </p:spPr>
        <p:txBody>
          <a:bodyPr wrap="square" lIns="0" tIns="0" rIns="0" bIns="0" anchor="t">
            <a:spAutoFit/>
          </a:bodyPr>
          <a:lstStyle/>
          <a:p>
            <a:pPr algn="l">
              <a:lnSpc>
                <a:spcPct val="100000"/>
              </a:lnSpc>
              <a:spcBef>
                <a:spcPts val="0"/>
              </a:spcBef>
              <a:spcAft>
                <a:spcPts val="0"/>
              </a:spcAft>
            </a:pPr>
            <a:r>
              <a:rPr sz="3300" b="0" i="0">
                <a:solidFill>
                  <a:srgbClr val="FFFFFF"/>
                </a:solidFill>
                <a:latin typeface="Be Vietnam Pro ExtraBold"/>
              </a:rPr>
              <a:t>Công nghệ &amp; Thiết kế</a:t>
            </a:r>
          </a:p>
        </p:txBody>
      </p:sp>
      <p:sp>
        <p:nvSpPr>
          <p:cNvPr id="8" name="Rectangle 7"/>
          <p:cNvSpPr/>
          <p:nvPr/>
        </p:nvSpPr>
        <p:spPr>
          <a:xfrm>
            <a:off x="3264408" y="3913632"/>
            <a:ext cx="1554480" cy="36576"/>
          </a:xfrm>
          <a:prstGeom prst="rect">
            <a:avLst/>
          </a:prstGeom>
          <a:solidFill>
            <a:srgbClr val="F2C2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246120" y="4160520"/>
            <a:ext cx="5394960" cy="1828800"/>
          </a:xfrm>
          <a:prstGeom prst="rect">
            <a:avLst/>
          </a:prstGeom>
          <a:noFill/>
        </p:spPr>
        <p:txBody>
          <a:bodyPr wrap="square" lIns="0" tIns="0" rIns="0" bIns="0" anchor="t">
            <a:spAutoFit/>
          </a:bodyPr>
          <a:lstStyle/>
          <a:p>
            <a:pPr marL="237744" indent="-237744" algn="l">
              <a:lnSpc>
                <a:spcPct val="105000"/>
              </a:lnSpc>
              <a:spcBef>
                <a:spcPts val="0"/>
              </a:spcBef>
              <a:spcAft>
                <a:spcPts val="600"/>
              </a:spcAft>
            </a:pPr>
            <a:r>
              <a:rPr sz="1200">
                <a:solidFill>
                  <a:srgbClr val="F2C255"/>
                </a:solidFill>
                <a:latin typeface="Be Vietnam Pro SemiBold"/>
              </a:rPr>
              <a:t>—  </a:t>
            </a:r>
            <a:r>
              <a:rPr sz="1250" b="0" i="0">
                <a:solidFill>
                  <a:srgbClr val="FBECEC"/>
                </a:solidFill>
                <a:latin typeface="Be Vietnam Pro"/>
              </a:rPr>
              <a:t>Công nghệ và kiến trúc hệ thống</a:t>
            </a:r>
          </a:p>
          <a:p>
            <a:pPr marL="237744" indent="-237744" algn="l">
              <a:lnSpc>
                <a:spcPct val="105000"/>
              </a:lnSpc>
              <a:spcBef>
                <a:spcPts val="0"/>
              </a:spcBef>
              <a:spcAft>
                <a:spcPts val="600"/>
              </a:spcAft>
            </a:pPr>
            <a:r>
              <a:rPr sz="1200">
                <a:solidFill>
                  <a:srgbClr val="F2C255"/>
                </a:solidFill>
                <a:latin typeface="Be Vietnam Pro SemiBold"/>
              </a:rPr>
              <a:t>—  </a:t>
            </a:r>
            <a:r>
              <a:rPr sz="1250" b="0" i="0">
                <a:solidFill>
                  <a:srgbClr val="FBECEC"/>
                </a:solidFill>
                <a:latin typeface="Be Vietnam Pro"/>
              </a:rPr>
              <a:t>Thiết kế cơ sở dữ liệu (ERD)</a:t>
            </a:r>
          </a:p>
          <a:p>
            <a:pPr marL="237744" indent="-237744" algn="l">
              <a:lnSpc>
                <a:spcPct val="105000"/>
              </a:lnSpc>
              <a:spcBef>
                <a:spcPts val="0"/>
              </a:spcBef>
              <a:spcAft>
                <a:spcPts val="600"/>
              </a:spcAft>
            </a:pPr>
            <a:r>
              <a:rPr sz="1200">
                <a:solidFill>
                  <a:srgbClr val="F2C255"/>
                </a:solidFill>
                <a:latin typeface="Be Vietnam Pro SemiBold"/>
              </a:rPr>
              <a:t>—  </a:t>
            </a:r>
            <a:r>
              <a:rPr sz="1250" b="0" i="0">
                <a:solidFill>
                  <a:srgbClr val="FBECEC"/>
                </a:solidFill>
                <a:latin typeface="Be Vietnam Pro"/>
              </a:rPr>
              <a:t>Use-case, quy trình duyệt và Strategy pattern</a:t>
            </a:r>
          </a:p>
        </p:txBody>
      </p:sp>
      <p:sp>
        <p:nvSpPr>
          <p:cNvPr id="10" name="TextBox 9"/>
          <p:cNvSpPr txBox="1"/>
          <p:nvPr/>
        </p:nvSpPr>
        <p:spPr>
          <a:xfrm>
            <a:off x="7680960" y="6455664"/>
            <a:ext cx="1005840" cy="310896"/>
          </a:xfrm>
          <a:prstGeom prst="rect">
            <a:avLst/>
          </a:prstGeom>
          <a:noFill/>
        </p:spPr>
        <p:txBody>
          <a:bodyPr wrap="square" lIns="0" tIns="0" rIns="0" bIns="0" anchor="ctr">
            <a:spAutoFit/>
          </a:bodyPr>
          <a:lstStyle/>
          <a:p>
            <a:pPr algn="r">
              <a:spcBef>
                <a:spcPts val="0"/>
              </a:spcBef>
              <a:spcAft>
                <a:spcPts val="0"/>
              </a:spcAft>
            </a:pPr>
            <a:r>
              <a:rPr sz="1200" b="0" i="0">
                <a:solidFill>
                  <a:srgbClr val="FFFFFF"/>
                </a:solidFill>
                <a:latin typeface="Be Vietnam Pro ExtraBold"/>
              </a:rPr>
              <a:t>09</a:t>
            </a:r>
            <a:r>
              <a:rPr sz="900" b="0" i="0">
                <a:solidFill>
                  <a:srgbClr val="F2C9C9"/>
                </a:solidFill>
                <a:latin typeface="Be Vietnam Pro"/>
              </a:rPr>
              <a:t> / 31</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 y="-45720"/>
            <a:ext cx="9235440" cy="6949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 y="-45720"/>
            <a:ext cx="9235440" cy="886968"/>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motif_white.png"/>
          <p:cNvPicPr>
            <a:picLocks noChangeAspect="1"/>
          </p:cNvPicPr>
          <p:nvPr/>
        </p:nvPicPr>
        <p:blipFill>
          <a:blip r:embed="rId2">
            <a:alphaModFix amt="34000"/>
          </a:blip>
          <a:stretch>
            <a:fillRect/>
          </a:stretch>
        </p:blipFill>
        <p:spPr>
          <a:xfrm>
            <a:off x="5989320" y="-1874519"/>
            <a:ext cx="4206240" cy="3154680"/>
          </a:xfrm>
          <a:prstGeom prst="rect">
            <a:avLst/>
          </a:prstGeom>
        </p:spPr>
      </p:pic>
      <p:sp>
        <p:nvSpPr>
          <p:cNvPr id="5" name="Rectangle 4"/>
          <p:cNvSpPr/>
          <p:nvPr/>
        </p:nvSpPr>
        <p:spPr>
          <a:xfrm>
            <a:off x="-45720" y="841248"/>
            <a:ext cx="9235440" cy="96012"/>
          </a:xfrm>
          <a:prstGeom prst="rect">
            <a:avLst/>
          </a:prstGeom>
          <a:solidFill>
            <a:srgbClr val="ECA7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 y="937260"/>
            <a:ext cx="9235440" cy="20116"/>
          </a:xfrm>
          <a:prstGeom prst="rect">
            <a:avLst/>
          </a:prstGeom>
          <a:solidFill>
            <a:srgbClr val="8A0C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8288"/>
            <a:ext cx="5897880" cy="822960"/>
          </a:xfrm>
          <a:prstGeom prst="rect">
            <a:avLst/>
          </a:prstGeom>
          <a:noFill/>
        </p:spPr>
        <p:txBody>
          <a:bodyPr wrap="square" lIns="0" tIns="0" rIns="0" bIns="0" anchor="ctr">
            <a:spAutoFit/>
          </a:bodyPr>
          <a:lstStyle/>
          <a:p>
            <a:pPr algn="l">
              <a:lnSpc>
                <a:spcPct val="96000"/>
              </a:lnSpc>
              <a:spcBef>
                <a:spcPts val="0"/>
              </a:spcBef>
              <a:spcAft>
                <a:spcPts val="0"/>
              </a:spcAft>
            </a:pPr>
            <a:r>
              <a:rPr sz="2300" b="0" i="0">
                <a:solidFill>
                  <a:srgbClr val="FFFFFF"/>
                </a:solidFill>
                <a:latin typeface="Be Vietnam Pro ExtraBold"/>
              </a:rPr>
              <a:t>Công nghệ sử dụng (Tech Stack)</a:t>
            </a:r>
          </a:p>
        </p:txBody>
      </p:sp>
      <p:sp>
        <p:nvSpPr>
          <p:cNvPr id="8" name="Rounded Rectangle 7"/>
          <p:cNvSpPr/>
          <p:nvPr/>
        </p:nvSpPr>
        <p:spPr>
          <a:xfrm>
            <a:off x="6473952" y="256032"/>
            <a:ext cx="2139696" cy="329184"/>
          </a:xfrm>
          <a:prstGeom prst="roundRect">
            <a:avLst>
              <a:gd name="adj" fmla="val 50000"/>
            </a:avLst>
          </a:prstGeom>
          <a:noFill/>
          <a:ln w="15875">
            <a:solidFill>
              <a:srgbClr val="F2C255"/>
            </a:solid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spcBef>
                <a:spcPts val="0"/>
              </a:spcBef>
              <a:spcAft>
                <a:spcPts val="0"/>
              </a:spcAft>
            </a:pPr>
            <a:r>
              <a:rPr sz="950" b="0" i="0" spc="80">
                <a:solidFill>
                  <a:srgbClr val="FFFFFF"/>
                </a:solidFill>
                <a:latin typeface="Be Vietnam Pro SemiBold"/>
              </a:rPr>
              <a:t>CÔNG NGHỆ &amp; THIẾT KẾ</a:t>
            </a:r>
          </a:p>
        </p:txBody>
      </p:sp>
      <p:sp>
        <p:nvSpPr>
          <p:cNvPr id="9" name="Rectangle 8"/>
          <p:cNvSpPr/>
          <p:nvPr/>
        </p:nvSpPr>
        <p:spPr>
          <a:xfrm>
            <a:off x="457200" y="6446520"/>
            <a:ext cx="8229600" cy="9144"/>
          </a:xfrm>
          <a:prstGeom prst="rect">
            <a:avLst/>
          </a:prstGeom>
          <a:solidFill>
            <a:srgbClr val="E3C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hust_shield.png"/>
          <p:cNvPicPr>
            <a:picLocks noChangeAspect="1"/>
          </p:cNvPicPr>
          <p:nvPr/>
        </p:nvPicPr>
        <p:blipFill>
          <a:blip r:embed="rId3"/>
          <a:stretch>
            <a:fillRect/>
          </a:stretch>
        </p:blipFill>
        <p:spPr>
          <a:xfrm>
            <a:off x="457200" y="6519672"/>
            <a:ext cx="164822" cy="246888"/>
          </a:xfrm>
          <a:prstGeom prst="rect">
            <a:avLst/>
          </a:prstGeom>
        </p:spPr>
      </p:pic>
      <p:sp>
        <p:nvSpPr>
          <p:cNvPr id="11" name="TextBox 10"/>
          <p:cNvSpPr txBox="1"/>
          <p:nvPr/>
        </p:nvSpPr>
        <p:spPr>
          <a:xfrm>
            <a:off x="713232" y="6501384"/>
            <a:ext cx="4206240" cy="310896"/>
          </a:xfrm>
          <a:prstGeom prst="rect">
            <a:avLst/>
          </a:prstGeom>
          <a:noFill/>
        </p:spPr>
        <p:txBody>
          <a:bodyPr wrap="square" lIns="0" tIns="0" rIns="0" bIns="0" anchor="ctr">
            <a:spAutoFit/>
          </a:bodyPr>
          <a:lstStyle/>
          <a:p>
            <a:pPr algn="l">
              <a:lnSpc>
                <a:spcPct val="94000"/>
              </a:lnSpc>
              <a:spcBef>
                <a:spcPts val="0"/>
              </a:spcBef>
              <a:spcAft>
                <a:spcPts val="0"/>
              </a:spcAft>
            </a:pPr>
            <a:r>
              <a:rPr sz="800" b="0" i="0">
                <a:solidFill>
                  <a:srgbClr val="8A0C20"/>
                </a:solidFill>
                <a:latin typeface="Be Vietnam Pro SemiBold"/>
              </a:rPr>
              <a:t>ĐẠI HỌC BÁCH KHOA HÀ NỘI</a:t>
            </a:r>
          </a:p>
          <a:p>
            <a:pPr algn="l">
              <a:lnSpc>
                <a:spcPct val="94000"/>
              </a:lnSpc>
              <a:spcBef>
                <a:spcPts val="0"/>
              </a:spcBef>
              <a:spcAft>
                <a:spcPts val="0"/>
              </a:spcAft>
            </a:pPr>
            <a:r>
              <a:rPr sz="750" b="0" i="0">
                <a:solidFill>
                  <a:srgbClr val="6B7280"/>
                </a:solidFill>
                <a:latin typeface="Be Vietnam Pro"/>
              </a:rPr>
              <a:t>Phần mềm Quản lý Khen thưởng  ·  Trần Anh Đức</a:t>
            </a:r>
          </a:p>
        </p:txBody>
      </p:sp>
      <p:sp>
        <p:nvSpPr>
          <p:cNvPr id="12" name="TextBox 11"/>
          <p:cNvSpPr txBox="1"/>
          <p:nvPr/>
        </p:nvSpPr>
        <p:spPr>
          <a:xfrm>
            <a:off x="7680960" y="6501384"/>
            <a:ext cx="1005840" cy="310896"/>
          </a:xfrm>
          <a:prstGeom prst="rect">
            <a:avLst/>
          </a:prstGeom>
          <a:noFill/>
        </p:spPr>
        <p:txBody>
          <a:bodyPr wrap="square" lIns="0" tIns="0" rIns="0" bIns="0" anchor="ctr">
            <a:spAutoFit/>
          </a:bodyPr>
          <a:lstStyle/>
          <a:p>
            <a:pPr algn="r">
              <a:spcBef>
                <a:spcPts val="0"/>
              </a:spcBef>
              <a:spcAft>
                <a:spcPts val="0"/>
              </a:spcAft>
            </a:pPr>
            <a:r>
              <a:rPr sz="1200" b="0" i="0">
                <a:solidFill>
                  <a:srgbClr val="C00000"/>
                </a:solidFill>
                <a:latin typeface="Be Vietnam Pro ExtraBold"/>
              </a:rPr>
              <a:t>10</a:t>
            </a:r>
            <a:r>
              <a:rPr sz="900" b="0" i="0">
                <a:solidFill>
                  <a:srgbClr val="6B7280"/>
                </a:solidFill>
                <a:latin typeface="Be Vietnam Pro"/>
              </a:rPr>
              <a:t> / 31</a:t>
            </a:r>
          </a:p>
        </p:txBody>
      </p:sp>
      <p:sp>
        <p:nvSpPr>
          <p:cNvPr id="13" name="Rounded Rectangle 12"/>
          <p:cNvSpPr/>
          <p:nvPr/>
        </p:nvSpPr>
        <p:spPr>
          <a:xfrm>
            <a:off x="502920" y="1591056"/>
            <a:ext cx="3968496" cy="3529584"/>
          </a:xfrm>
          <a:prstGeom prst="roundRect">
            <a:avLst>
              <a:gd name="adj" fmla="val 5000"/>
            </a:avLst>
          </a:prstGeom>
          <a:solidFill>
            <a:srgbClr val="FFFFFF"/>
          </a:solidFill>
          <a:ln w="12700">
            <a:solidFill>
              <a:srgbClr val="E5E7EB"/>
            </a:solidFill>
          </a:ln>
          <a:effectLst>
            <a:outerShdw blurRad="90000" dist="42000" dir="5400000" rotWithShape="0">
              <a:srgbClr val="98A2B3">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 Same Side Corner Rectangle 13"/>
          <p:cNvSpPr/>
          <p:nvPr/>
        </p:nvSpPr>
        <p:spPr>
          <a:xfrm>
            <a:off x="502920" y="1591056"/>
            <a:ext cx="3968496" cy="457200"/>
          </a:xfrm>
          <a:prstGeom prst="round2SameRect">
            <a:avLst>
              <a:gd name="adj1" fmla="val 12000"/>
              <a:gd name="adj2" fmla="val 0"/>
            </a:avLst>
          </a:prstGeom>
          <a:solidFill>
            <a:srgbClr val="1E5588"/>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spcBef>
                <a:spcPts val="0"/>
              </a:spcBef>
              <a:spcAft>
                <a:spcPts val="0"/>
              </a:spcAft>
            </a:pPr>
            <a:r>
              <a:rPr sz="1500" b="1" i="0">
                <a:solidFill>
                  <a:srgbClr val="FFFFFF"/>
                </a:solidFill>
                <a:latin typeface="Be Vietnam Pro"/>
              </a:rPr>
              <a:t>Frontend</a:t>
            </a:r>
          </a:p>
        </p:txBody>
      </p:sp>
      <p:sp>
        <p:nvSpPr>
          <p:cNvPr id="15" name="TextBox 14"/>
          <p:cNvSpPr txBox="1"/>
          <p:nvPr/>
        </p:nvSpPr>
        <p:spPr>
          <a:xfrm>
            <a:off x="777240" y="2212848"/>
            <a:ext cx="3438144" cy="2788920"/>
          </a:xfrm>
          <a:prstGeom prst="rect">
            <a:avLst/>
          </a:prstGeom>
          <a:noFill/>
        </p:spPr>
        <p:txBody>
          <a:bodyPr wrap="square" lIns="0" tIns="0" rIns="0" bIns="0" anchor="t">
            <a:spAutoFit/>
          </a:bodyPr>
          <a:lstStyle/>
          <a:p>
            <a:pPr marL="201168" indent="-201168" algn="l">
              <a:lnSpc>
                <a:spcPct val="102000"/>
              </a:lnSpc>
              <a:spcBef>
                <a:spcPts val="0"/>
              </a:spcBef>
              <a:spcAft>
                <a:spcPts val="600"/>
              </a:spcAft>
            </a:pPr>
            <a:r>
              <a:rPr sz="1100" b="1">
                <a:solidFill>
                  <a:srgbClr val="1E5588"/>
                </a:solidFill>
                <a:latin typeface="Arial"/>
              </a:rPr>
              <a:t>▪  </a:t>
            </a:r>
            <a:r>
              <a:rPr sz="1150" b="1" i="0">
                <a:solidFill>
                  <a:srgbClr val="1F2937"/>
                </a:solidFill>
                <a:latin typeface="Be Vietnam Pro"/>
              </a:rPr>
              <a:t>Next.js (App Router)</a:t>
            </a:r>
            <a:r>
              <a:rPr sz="1100" b="0" i="0">
                <a:solidFill>
                  <a:srgbClr val="6B7280"/>
                </a:solidFill>
                <a:latin typeface="Be Vietnam Pro"/>
              </a:rPr>
              <a:t> — server components, file-based routing</a:t>
            </a:r>
          </a:p>
          <a:p>
            <a:pPr marL="201168" indent="-201168" algn="l">
              <a:lnSpc>
                <a:spcPct val="102000"/>
              </a:lnSpc>
              <a:spcBef>
                <a:spcPts val="0"/>
              </a:spcBef>
              <a:spcAft>
                <a:spcPts val="600"/>
              </a:spcAft>
            </a:pPr>
            <a:r>
              <a:rPr sz="1100" b="1">
                <a:solidFill>
                  <a:srgbClr val="1E5588"/>
                </a:solidFill>
                <a:latin typeface="Arial"/>
              </a:rPr>
              <a:t>▪  </a:t>
            </a:r>
            <a:r>
              <a:rPr sz="1150" b="1" i="0">
                <a:solidFill>
                  <a:srgbClr val="1F2937"/>
                </a:solidFill>
                <a:latin typeface="Be Vietnam Pro"/>
              </a:rPr>
              <a:t>TypeScript</a:t>
            </a:r>
            <a:r>
              <a:rPr sz="1100" b="0" i="0">
                <a:solidFill>
                  <a:srgbClr val="6B7280"/>
                </a:solidFill>
                <a:latin typeface="Be Vietnam Pro"/>
              </a:rPr>
              <a:t> — type safety toàn dự án</a:t>
            </a:r>
          </a:p>
          <a:p>
            <a:pPr marL="201168" indent="-201168" algn="l">
              <a:lnSpc>
                <a:spcPct val="102000"/>
              </a:lnSpc>
              <a:spcBef>
                <a:spcPts val="0"/>
              </a:spcBef>
              <a:spcAft>
                <a:spcPts val="600"/>
              </a:spcAft>
            </a:pPr>
            <a:r>
              <a:rPr sz="1100" b="1">
                <a:solidFill>
                  <a:srgbClr val="1E5588"/>
                </a:solidFill>
                <a:latin typeface="Arial"/>
              </a:rPr>
              <a:t>▪  </a:t>
            </a:r>
            <a:r>
              <a:rPr sz="1150" b="1" i="0">
                <a:solidFill>
                  <a:srgbClr val="1F2937"/>
                </a:solidFill>
                <a:latin typeface="Be Vietnam Pro"/>
              </a:rPr>
              <a:t>Ant Design</a:t>
            </a:r>
            <a:r>
              <a:rPr sz="1100" b="0" i="0">
                <a:solidFill>
                  <a:srgbClr val="6B7280"/>
                </a:solidFill>
                <a:latin typeface="Be Vietnam Pro"/>
              </a:rPr>
              <a:t> — component nghiệp vụ: Form, Table, DatePicker, Modal…</a:t>
            </a:r>
          </a:p>
          <a:p>
            <a:pPr marL="201168" indent="-201168" algn="l">
              <a:lnSpc>
                <a:spcPct val="102000"/>
              </a:lnSpc>
              <a:spcBef>
                <a:spcPts val="0"/>
              </a:spcBef>
              <a:spcAft>
                <a:spcPts val="600"/>
              </a:spcAft>
            </a:pPr>
            <a:r>
              <a:rPr sz="1100" b="1">
                <a:solidFill>
                  <a:srgbClr val="1E5588"/>
                </a:solidFill>
                <a:latin typeface="Arial"/>
              </a:rPr>
              <a:t>▪  </a:t>
            </a:r>
            <a:r>
              <a:rPr sz="1150" b="1" i="0">
                <a:solidFill>
                  <a:srgbClr val="1F2937"/>
                </a:solidFill>
                <a:latin typeface="Be Vietnam Pro"/>
              </a:rPr>
              <a:t>Tailwind CSS</a:t>
            </a:r>
            <a:r>
              <a:rPr sz="1100" b="0" i="0">
                <a:solidFill>
                  <a:srgbClr val="6B7280"/>
                </a:solidFill>
                <a:latin typeface="Be Vietnam Pro"/>
              </a:rPr>
              <a:t> — styling tuỳ biến cho layout, spacing</a:t>
            </a:r>
          </a:p>
          <a:p>
            <a:pPr marL="201168" indent="-201168" algn="l">
              <a:lnSpc>
                <a:spcPct val="102000"/>
              </a:lnSpc>
              <a:spcBef>
                <a:spcPts val="0"/>
              </a:spcBef>
              <a:spcAft>
                <a:spcPts val="600"/>
              </a:spcAft>
            </a:pPr>
            <a:r>
              <a:rPr sz="1100" b="1">
                <a:solidFill>
                  <a:srgbClr val="1E5588"/>
                </a:solidFill>
                <a:latin typeface="Arial"/>
              </a:rPr>
              <a:t>▪  </a:t>
            </a:r>
            <a:r>
              <a:rPr sz="1150" b="1" i="0">
                <a:solidFill>
                  <a:srgbClr val="1F2937"/>
                </a:solidFill>
                <a:latin typeface="Be Vietnam Pro"/>
              </a:rPr>
              <a:t>Zod</a:t>
            </a:r>
            <a:r>
              <a:rPr sz="1100" b="0" i="0">
                <a:solidFill>
                  <a:srgbClr val="6B7280"/>
                </a:solidFill>
                <a:latin typeface="Be Vietnam Pro"/>
              </a:rPr>
              <a:t> — schema validation chia sẻ client và server</a:t>
            </a:r>
          </a:p>
          <a:p>
            <a:pPr marL="201168" indent="-201168" algn="l">
              <a:lnSpc>
                <a:spcPct val="102000"/>
              </a:lnSpc>
              <a:spcBef>
                <a:spcPts val="0"/>
              </a:spcBef>
              <a:spcAft>
                <a:spcPts val="600"/>
              </a:spcAft>
            </a:pPr>
            <a:r>
              <a:rPr sz="1100" b="1">
                <a:solidFill>
                  <a:srgbClr val="1E5588"/>
                </a:solidFill>
                <a:latin typeface="Arial"/>
              </a:rPr>
              <a:t>▪  </a:t>
            </a:r>
            <a:r>
              <a:rPr sz="1150" b="1" i="0">
                <a:solidFill>
                  <a:srgbClr val="1F2937"/>
                </a:solidFill>
                <a:latin typeface="Be Vietnam Pro"/>
              </a:rPr>
              <a:t>Socket.IO client</a:t>
            </a:r>
            <a:r>
              <a:rPr sz="1100" b="0" i="0">
                <a:solidFill>
                  <a:srgbClr val="6B7280"/>
                </a:solidFill>
                <a:latin typeface="Be Vietnam Pro"/>
              </a:rPr>
              <a:t> — nhận thông báo real-time</a:t>
            </a:r>
          </a:p>
        </p:txBody>
      </p:sp>
      <p:sp>
        <p:nvSpPr>
          <p:cNvPr id="16" name="Rounded Rectangle 15"/>
          <p:cNvSpPr/>
          <p:nvPr/>
        </p:nvSpPr>
        <p:spPr>
          <a:xfrm>
            <a:off x="4672583" y="1591056"/>
            <a:ext cx="3968496" cy="3529584"/>
          </a:xfrm>
          <a:prstGeom prst="roundRect">
            <a:avLst>
              <a:gd name="adj" fmla="val 5000"/>
            </a:avLst>
          </a:prstGeom>
          <a:solidFill>
            <a:srgbClr val="FFFFFF"/>
          </a:solidFill>
          <a:ln w="12700">
            <a:solidFill>
              <a:srgbClr val="E5E7EB"/>
            </a:solidFill>
          </a:ln>
          <a:effectLst>
            <a:outerShdw blurRad="90000" dist="42000" dir="5400000" rotWithShape="0">
              <a:srgbClr val="98A2B3">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 Same Side Corner Rectangle 16"/>
          <p:cNvSpPr/>
          <p:nvPr/>
        </p:nvSpPr>
        <p:spPr>
          <a:xfrm>
            <a:off x="4672583" y="1591056"/>
            <a:ext cx="3968496" cy="457200"/>
          </a:xfrm>
          <a:prstGeom prst="round2SameRect">
            <a:avLst>
              <a:gd name="adj1" fmla="val 12000"/>
              <a:gd name="adj2" fmla="val 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spcBef>
                <a:spcPts val="0"/>
              </a:spcBef>
              <a:spcAft>
                <a:spcPts val="0"/>
              </a:spcAft>
            </a:pPr>
            <a:r>
              <a:rPr sz="1500" b="1" i="0">
                <a:solidFill>
                  <a:srgbClr val="FFFFFF"/>
                </a:solidFill>
                <a:latin typeface="Be Vietnam Pro"/>
              </a:rPr>
              <a:t>Backend &amp; Cơ sở dữ liệu</a:t>
            </a:r>
          </a:p>
        </p:txBody>
      </p:sp>
      <p:sp>
        <p:nvSpPr>
          <p:cNvPr id="18" name="TextBox 17"/>
          <p:cNvSpPr txBox="1"/>
          <p:nvPr/>
        </p:nvSpPr>
        <p:spPr>
          <a:xfrm>
            <a:off x="4946903" y="2212848"/>
            <a:ext cx="3438144" cy="2788920"/>
          </a:xfrm>
          <a:prstGeom prst="rect">
            <a:avLst/>
          </a:prstGeom>
          <a:noFill/>
        </p:spPr>
        <p:txBody>
          <a:bodyPr wrap="square" lIns="0" tIns="0" rIns="0" bIns="0" anchor="t">
            <a:spAutoFit/>
          </a:bodyPr>
          <a:lstStyle/>
          <a:p>
            <a:pPr marL="201168" indent="-201168" algn="l">
              <a:lnSpc>
                <a:spcPct val="102000"/>
              </a:lnSpc>
              <a:spcBef>
                <a:spcPts val="0"/>
              </a:spcBef>
              <a:spcAft>
                <a:spcPts val="600"/>
              </a:spcAft>
            </a:pPr>
            <a:r>
              <a:rPr sz="1100" b="1">
                <a:solidFill>
                  <a:srgbClr val="C00000"/>
                </a:solidFill>
                <a:latin typeface="Arial"/>
              </a:rPr>
              <a:t>▪  </a:t>
            </a:r>
            <a:r>
              <a:rPr sz="1150" b="1" i="0">
                <a:solidFill>
                  <a:srgbClr val="1F2937"/>
                </a:solidFill>
                <a:latin typeface="Be Vietnam Pro"/>
              </a:rPr>
              <a:t>Express + TypeScript</a:t>
            </a:r>
            <a:r>
              <a:rPr sz="1100" b="0" i="0">
                <a:solidFill>
                  <a:srgbClr val="6B7280"/>
                </a:solidFill>
                <a:latin typeface="Be Vietnam Pro"/>
              </a:rPr>
              <a:t> — REST API</a:t>
            </a:r>
          </a:p>
          <a:p>
            <a:pPr marL="201168" indent="-201168" algn="l">
              <a:lnSpc>
                <a:spcPct val="102000"/>
              </a:lnSpc>
              <a:spcBef>
                <a:spcPts val="0"/>
              </a:spcBef>
              <a:spcAft>
                <a:spcPts val="600"/>
              </a:spcAft>
            </a:pPr>
            <a:r>
              <a:rPr sz="1100" b="1">
                <a:solidFill>
                  <a:srgbClr val="C00000"/>
                </a:solidFill>
                <a:latin typeface="Arial"/>
              </a:rPr>
              <a:t>▪  </a:t>
            </a:r>
            <a:r>
              <a:rPr sz="1150" b="1" i="0">
                <a:solidFill>
                  <a:srgbClr val="1F2937"/>
                </a:solidFill>
                <a:latin typeface="Be Vietnam Pro"/>
              </a:rPr>
              <a:t>Prisma ORM</a:t>
            </a:r>
            <a:r>
              <a:rPr sz="1100" b="0" i="0">
                <a:solidFill>
                  <a:srgbClr val="6B7280"/>
                </a:solidFill>
                <a:latin typeface="Be Vietnam Pro"/>
              </a:rPr>
              <a:t> — type-safe queries, migration tự động</a:t>
            </a:r>
          </a:p>
          <a:p>
            <a:pPr marL="201168" indent="-201168" algn="l">
              <a:lnSpc>
                <a:spcPct val="102000"/>
              </a:lnSpc>
              <a:spcBef>
                <a:spcPts val="0"/>
              </a:spcBef>
              <a:spcAft>
                <a:spcPts val="600"/>
              </a:spcAft>
            </a:pPr>
            <a:r>
              <a:rPr sz="1100" b="1">
                <a:solidFill>
                  <a:srgbClr val="C00000"/>
                </a:solidFill>
                <a:latin typeface="Arial"/>
              </a:rPr>
              <a:t>▪  </a:t>
            </a:r>
            <a:r>
              <a:rPr sz="1150" b="1" i="0">
                <a:solidFill>
                  <a:srgbClr val="1F2937"/>
                </a:solidFill>
                <a:latin typeface="Be Vietnam Pro"/>
              </a:rPr>
              <a:t>PostgreSQL</a:t>
            </a:r>
            <a:r>
              <a:rPr sz="1100" b="0" i="0">
                <a:solidFill>
                  <a:srgbClr val="6B7280"/>
                </a:solidFill>
                <a:latin typeface="Be Vietnam Pro"/>
              </a:rPr>
              <a:t> — RDBMS, giao dịch ACID đa bảng</a:t>
            </a:r>
          </a:p>
          <a:p>
            <a:pPr marL="201168" indent="-201168" algn="l">
              <a:lnSpc>
                <a:spcPct val="102000"/>
              </a:lnSpc>
              <a:spcBef>
                <a:spcPts val="0"/>
              </a:spcBef>
              <a:spcAft>
                <a:spcPts val="600"/>
              </a:spcAft>
            </a:pPr>
            <a:r>
              <a:rPr sz="1100" b="1">
                <a:solidFill>
                  <a:srgbClr val="C00000"/>
                </a:solidFill>
                <a:latin typeface="Arial"/>
              </a:rPr>
              <a:t>▪  </a:t>
            </a:r>
            <a:r>
              <a:rPr sz="1150" b="1" i="0">
                <a:solidFill>
                  <a:srgbClr val="1F2937"/>
                </a:solidFill>
                <a:latin typeface="Be Vietnam Pro"/>
              </a:rPr>
              <a:t>Zod</a:t>
            </a:r>
            <a:r>
              <a:rPr sz="1100" b="0" i="0">
                <a:solidFill>
                  <a:srgbClr val="6B7280"/>
                </a:solidFill>
                <a:latin typeface="Be Vietnam Pro"/>
              </a:rPr>
              <a:t> — validate hai tầng (BE + FE) cùng phong cách schema</a:t>
            </a:r>
          </a:p>
          <a:p>
            <a:pPr marL="201168" indent="-201168" algn="l">
              <a:lnSpc>
                <a:spcPct val="102000"/>
              </a:lnSpc>
              <a:spcBef>
                <a:spcPts val="0"/>
              </a:spcBef>
              <a:spcAft>
                <a:spcPts val="600"/>
              </a:spcAft>
            </a:pPr>
            <a:r>
              <a:rPr sz="1100" b="1">
                <a:solidFill>
                  <a:srgbClr val="C00000"/>
                </a:solidFill>
                <a:latin typeface="Arial"/>
              </a:rPr>
              <a:t>▪  </a:t>
            </a:r>
            <a:r>
              <a:rPr sz="1150" b="1" i="0">
                <a:solidFill>
                  <a:srgbClr val="1F2937"/>
                </a:solidFill>
                <a:latin typeface="Be Vietnam Pro"/>
              </a:rPr>
              <a:t>JWT 2 token</a:t>
            </a:r>
            <a:r>
              <a:rPr sz="1100" b="0" i="0">
                <a:solidFill>
                  <a:srgbClr val="6B7280"/>
                </a:solidFill>
                <a:latin typeface="Be Vietnam Pro"/>
              </a:rPr>
              <a:t> — access + refresh</a:t>
            </a:r>
          </a:p>
          <a:p>
            <a:pPr marL="201168" indent="-201168" algn="l">
              <a:lnSpc>
                <a:spcPct val="102000"/>
              </a:lnSpc>
              <a:spcBef>
                <a:spcPts val="0"/>
              </a:spcBef>
              <a:spcAft>
                <a:spcPts val="600"/>
              </a:spcAft>
            </a:pPr>
            <a:r>
              <a:rPr sz="1100" b="1">
                <a:solidFill>
                  <a:srgbClr val="C00000"/>
                </a:solidFill>
                <a:latin typeface="Arial"/>
              </a:rPr>
              <a:t>▪  </a:t>
            </a:r>
            <a:r>
              <a:rPr sz="1150" b="1" i="0">
                <a:solidFill>
                  <a:srgbClr val="1F2937"/>
                </a:solidFill>
                <a:latin typeface="Be Vietnam Pro"/>
              </a:rPr>
              <a:t>bcrypt</a:t>
            </a:r>
            <a:r>
              <a:rPr sz="1100" b="0" i="0">
                <a:solidFill>
                  <a:srgbClr val="6B7280"/>
                </a:solidFill>
                <a:latin typeface="Be Vietnam Pro"/>
              </a:rPr>
              <a:t> — băm mật khẩu</a:t>
            </a:r>
          </a:p>
        </p:txBody>
      </p:sp>
      <p:sp>
        <p:nvSpPr>
          <p:cNvPr id="19" name="TextBox 18"/>
          <p:cNvSpPr txBox="1"/>
          <p:nvPr/>
        </p:nvSpPr>
        <p:spPr>
          <a:xfrm>
            <a:off x="502920" y="5248656"/>
            <a:ext cx="1371600" cy="274320"/>
          </a:xfrm>
          <a:prstGeom prst="rect">
            <a:avLst/>
          </a:prstGeom>
          <a:noFill/>
        </p:spPr>
        <p:txBody>
          <a:bodyPr wrap="square" lIns="0" tIns="0" rIns="0" bIns="0" anchor="t">
            <a:spAutoFit/>
          </a:bodyPr>
          <a:lstStyle/>
          <a:p>
            <a:pPr algn="l">
              <a:spcBef>
                <a:spcPts val="0"/>
              </a:spcBef>
              <a:spcAft>
                <a:spcPts val="0"/>
              </a:spcAft>
            </a:pPr>
            <a:r>
              <a:rPr sz="1100" b="1" i="0">
                <a:solidFill>
                  <a:srgbClr val="C00000"/>
                </a:solidFill>
                <a:latin typeface="Be Vietnam Pro"/>
              </a:rPr>
              <a:t>Phụ trợ</a:t>
            </a:r>
          </a:p>
        </p:txBody>
      </p:sp>
      <p:sp>
        <p:nvSpPr>
          <p:cNvPr id="20" name="Rounded Rectangle 19"/>
          <p:cNvSpPr/>
          <p:nvPr/>
        </p:nvSpPr>
        <p:spPr>
          <a:xfrm>
            <a:off x="1417320" y="5212080"/>
            <a:ext cx="1138428" cy="365760"/>
          </a:xfrm>
          <a:prstGeom prst="roundRect">
            <a:avLst>
              <a:gd name="adj" fmla="val 50000"/>
            </a:avLst>
          </a:prstGeom>
          <a:solidFill>
            <a:srgbClr val="F7F7F8"/>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spcBef>
                <a:spcPts val="0"/>
              </a:spcBef>
              <a:spcAft>
                <a:spcPts val="0"/>
              </a:spcAft>
            </a:pPr>
            <a:r>
              <a:rPr sz="1000" b="1" i="0">
                <a:solidFill>
                  <a:srgbClr val="1F2937"/>
                </a:solidFill>
                <a:latin typeface="Be Vietnam Pro"/>
              </a:rPr>
              <a:t>Socket.IO</a:t>
            </a:r>
          </a:p>
        </p:txBody>
      </p:sp>
      <p:sp>
        <p:nvSpPr>
          <p:cNvPr id="21" name="Rounded Rectangle 20"/>
          <p:cNvSpPr/>
          <p:nvPr/>
        </p:nvSpPr>
        <p:spPr>
          <a:xfrm>
            <a:off x="2683763" y="5212080"/>
            <a:ext cx="562356" cy="365760"/>
          </a:xfrm>
          <a:prstGeom prst="roundRect">
            <a:avLst>
              <a:gd name="adj" fmla="val 50000"/>
            </a:avLst>
          </a:prstGeom>
          <a:solidFill>
            <a:srgbClr val="F7F7F8"/>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spcBef>
                <a:spcPts val="0"/>
              </a:spcBef>
              <a:spcAft>
                <a:spcPts val="0"/>
              </a:spcAft>
            </a:pPr>
            <a:r>
              <a:rPr sz="1000" b="1" i="0">
                <a:solidFill>
                  <a:srgbClr val="1F2937"/>
                </a:solidFill>
                <a:latin typeface="Be Vietnam Pro"/>
              </a:rPr>
              <a:t>PM2</a:t>
            </a:r>
          </a:p>
        </p:txBody>
      </p:sp>
      <p:sp>
        <p:nvSpPr>
          <p:cNvPr id="22" name="Rounded Rectangle 21"/>
          <p:cNvSpPr/>
          <p:nvPr/>
        </p:nvSpPr>
        <p:spPr>
          <a:xfrm>
            <a:off x="3374135" y="5212080"/>
            <a:ext cx="1138428" cy="365760"/>
          </a:xfrm>
          <a:prstGeom prst="roundRect">
            <a:avLst>
              <a:gd name="adj" fmla="val 50000"/>
            </a:avLst>
          </a:prstGeom>
          <a:solidFill>
            <a:srgbClr val="F7F7F8"/>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spcBef>
                <a:spcPts val="0"/>
              </a:spcBef>
              <a:spcAft>
                <a:spcPts val="0"/>
              </a:spcAft>
            </a:pPr>
            <a:r>
              <a:rPr sz="1000" b="1" i="0">
                <a:solidFill>
                  <a:srgbClr val="1F2937"/>
                </a:solidFill>
                <a:latin typeface="Be Vietnam Pro"/>
              </a:rPr>
              <a:t>node-cron</a:t>
            </a:r>
          </a:p>
        </p:txBody>
      </p:sp>
      <p:sp>
        <p:nvSpPr>
          <p:cNvPr id="23" name="Rounded Rectangle 22"/>
          <p:cNvSpPr/>
          <p:nvPr/>
        </p:nvSpPr>
        <p:spPr>
          <a:xfrm>
            <a:off x="4640579" y="5212080"/>
            <a:ext cx="946403" cy="365760"/>
          </a:xfrm>
          <a:prstGeom prst="roundRect">
            <a:avLst>
              <a:gd name="adj" fmla="val 50000"/>
            </a:avLst>
          </a:prstGeom>
          <a:solidFill>
            <a:srgbClr val="F7F7F8"/>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spcBef>
                <a:spcPts val="0"/>
              </a:spcBef>
              <a:spcAft>
                <a:spcPts val="0"/>
              </a:spcAft>
            </a:pPr>
            <a:r>
              <a:rPr sz="1000" b="1" i="0">
                <a:solidFill>
                  <a:srgbClr val="1F2937"/>
                </a:solidFill>
                <a:latin typeface="Be Vietnam Pro"/>
              </a:rPr>
              <a:t>ExcelJS</a:t>
            </a:r>
          </a:p>
        </p:txBody>
      </p:sp>
      <p:sp>
        <p:nvSpPr>
          <p:cNvPr id="24" name="Rounded Rectangle 23"/>
          <p:cNvSpPr/>
          <p:nvPr/>
        </p:nvSpPr>
        <p:spPr>
          <a:xfrm>
            <a:off x="5714999" y="5212080"/>
            <a:ext cx="850392" cy="365760"/>
          </a:xfrm>
          <a:prstGeom prst="roundRect">
            <a:avLst>
              <a:gd name="adj" fmla="val 50000"/>
            </a:avLst>
          </a:prstGeom>
          <a:solidFill>
            <a:srgbClr val="F7F7F8"/>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spcBef>
                <a:spcPts val="0"/>
              </a:spcBef>
              <a:spcAft>
                <a:spcPts val="0"/>
              </a:spcAft>
            </a:pPr>
            <a:r>
              <a:rPr sz="1000" b="1" i="0">
                <a:solidFill>
                  <a:srgbClr val="1F2937"/>
                </a:solidFill>
                <a:latin typeface="Be Vietnam Pro"/>
              </a:rPr>
              <a:t>Multer</a:t>
            </a:r>
          </a:p>
        </p:txBody>
      </p:sp>
      <p:sp>
        <p:nvSpPr>
          <p:cNvPr id="25" name="Rounded Rectangle 24"/>
          <p:cNvSpPr/>
          <p:nvPr/>
        </p:nvSpPr>
        <p:spPr>
          <a:xfrm>
            <a:off x="6693407" y="5212080"/>
            <a:ext cx="850392" cy="365760"/>
          </a:xfrm>
          <a:prstGeom prst="roundRect">
            <a:avLst>
              <a:gd name="adj" fmla="val 50000"/>
            </a:avLst>
          </a:prstGeom>
          <a:solidFill>
            <a:srgbClr val="F7F7F8"/>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spcBef>
                <a:spcPts val="0"/>
              </a:spcBef>
              <a:spcAft>
                <a:spcPts val="0"/>
              </a:spcAft>
            </a:pPr>
            <a:r>
              <a:rPr sz="1000" b="1" i="0">
                <a:solidFill>
                  <a:srgbClr val="1F2937"/>
                </a:solidFill>
                <a:latin typeface="Be Vietnam Pro"/>
              </a:rPr>
              <a:t>Helmet</a:t>
            </a:r>
          </a:p>
        </p:txBody>
      </p:sp>
      <p:sp>
        <p:nvSpPr>
          <p:cNvPr id="26" name="Rounded Rectangle 25"/>
          <p:cNvSpPr/>
          <p:nvPr/>
        </p:nvSpPr>
        <p:spPr>
          <a:xfrm>
            <a:off x="7671815" y="5212080"/>
            <a:ext cx="1426464" cy="365760"/>
          </a:xfrm>
          <a:prstGeom prst="roundRect">
            <a:avLst>
              <a:gd name="adj" fmla="val 50000"/>
            </a:avLst>
          </a:prstGeom>
          <a:solidFill>
            <a:srgbClr val="F7F7F8"/>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spcBef>
                <a:spcPts val="0"/>
              </a:spcBef>
              <a:spcAft>
                <a:spcPts val="0"/>
              </a:spcAft>
            </a:pPr>
            <a:r>
              <a:rPr sz="1000" b="1" i="0">
                <a:solidFill>
                  <a:srgbClr val="1F2937"/>
                </a:solidFill>
                <a:latin typeface="Be Vietnam Pro"/>
              </a:rPr>
              <a:t>Local deploy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 y="-45720"/>
            <a:ext cx="9235440" cy="6949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 y="-45720"/>
            <a:ext cx="9235440" cy="886968"/>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motif_white.png"/>
          <p:cNvPicPr>
            <a:picLocks noChangeAspect="1"/>
          </p:cNvPicPr>
          <p:nvPr/>
        </p:nvPicPr>
        <p:blipFill>
          <a:blip r:embed="rId2">
            <a:alphaModFix amt="34000"/>
          </a:blip>
          <a:stretch>
            <a:fillRect/>
          </a:stretch>
        </p:blipFill>
        <p:spPr>
          <a:xfrm>
            <a:off x="5989320" y="-1874519"/>
            <a:ext cx="4206240" cy="3154680"/>
          </a:xfrm>
          <a:prstGeom prst="rect">
            <a:avLst/>
          </a:prstGeom>
        </p:spPr>
      </p:pic>
      <p:sp>
        <p:nvSpPr>
          <p:cNvPr id="5" name="Rectangle 4"/>
          <p:cNvSpPr/>
          <p:nvPr/>
        </p:nvSpPr>
        <p:spPr>
          <a:xfrm>
            <a:off x="-45720" y="841248"/>
            <a:ext cx="9235440" cy="96012"/>
          </a:xfrm>
          <a:prstGeom prst="rect">
            <a:avLst/>
          </a:prstGeom>
          <a:solidFill>
            <a:srgbClr val="ECA7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 y="937260"/>
            <a:ext cx="9235440" cy="20116"/>
          </a:xfrm>
          <a:prstGeom prst="rect">
            <a:avLst/>
          </a:prstGeom>
          <a:solidFill>
            <a:srgbClr val="8A0C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8288"/>
            <a:ext cx="5897880" cy="822960"/>
          </a:xfrm>
          <a:prstGeom prst="rect">
            <a:avLst/>
          </a:prstGeom>
          <a:noFill/>
        </p:spPr>
        <p:txBody>
          <a:bodyPr wrap="square" lIns="0" tIns="0" rIns="0" bIns="0" anchor="ctr">
            <a:spAutoFit/>
          </a:bodyPr>
          <a:lstStyle/>
          <a:p>
            <a:pPr algn="l">
              <a:lnSpc>
                <a:spcPct val="96000"/>
              </a:lnSpc>
              <a:spcBef>
                <a:spcPts val="0"/>
              </a:spcBef>
              <a:spcAft>
                <a:spcPts val="0"/>
              </a:spcAft>
            </a:pPr>
            <a:r>
              <a:rPr sz="2300" b="0" i="0">
                <a:solidFill>
                  <a:srgbClr val="FFFFFF"/>
                </a:solidFill>
                <a:latin typeface="Be Vietnam Pro ExtraBold"/>
              </a:rPr>
              <a:t>Kiến trúc tổng quan hệ thống</a:t>
            </a:r>
          </a:p>
        </p:txBody>
      </p:sp>
      <p:sp>
        <p:nvSpPr>
          <p:cNvPr id="8" name="Rounded Rectangle 7"/>
          <p:cNvSpPr/>
          <p:nvPr/>
        </p:nvSpPr>
        <p:spPr>
          <a:xfrm>
            <a:off x="6473952" y="256032"/>
            <a:ext cx="2139696" cy="329184"/>
          </a:xfrm>
          <a:prstGeom prst="roundRect">
            <a:avLst>
              <a:gd name="adj" fmla="val 50000"/>
            </a:avLst>
          </a:prstGeom>
          <a:noFill/>
          <a:ln w="15875">
            <a:solidFill>
              <a:srgbClr val="F2C255"/>
            </a:solid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spcBef>
                <a:spcPts val="0"/>
              </a:spcBef>
              <a:spcAft>
                <a:spcPts val="0"/>
              </a:spcAft>
            </a:pPr>
            <a:r>
              <a:rPr sz="950" b="0" i="0" spc="80">
                <a:solidFill>
                  <a:srgbClr val="FFFFFF"/>
                </a:solidFill>
                <a:latin typeface="Be Vietnam Pro SemiBold"/>
              </a:rPr>
              <a:t>CÔNG NGHỆ &amp; THIẾT KẾ</a:t>
            </a:r>
          </a:p>
        </p:txBody>
      </p:sp>
      <p:sp>
        <p:nvSpPr>
          <p:cNvPr id="9" name="Rectangle 8"/>
          <p:cNvSpPr/>
          <p:nvPr/>
        </p:nvSpPr>
        <p:spPr>
          <a:xfrm>
            <a:off x="457200" y="6446520"/>
            <a:ext cx="8229600" cy="9144"/>
          </a:xfrm>
          <a:prstGeom prst="rect">
            <a:avLst/>
          </a:prstGeom>
          <a:solidFill>
            <a:srgbClr val="E3C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hust_shield.png"/>
          <p:cNvPicPr>
            <a:picLocks noChangeAspect="1"/>
          </p:cNvPicPr>
          <p:nvPr/>
        </p:nvPicPr>
        <p:blipFill>
          <a:blip r:embed="rId3"/>
          <a:stretch>
            <a:fillRect/>
          </a:stretch>
        </p:blipFill>
        <p:spPr>
          <a:xfrm>
            <a:off x="457200" y="6519672"/>
            <a:ext cx="164822" cy="246888"/>
          </a:xfrm>
          <a:prstGeom prst="rect">
            <a:avLst/>
          </a:prstGeom>
        </p:spPr>
      </p:pic>
      <p:sp>
        <p:nvSpPr>
          <p:cNvPr id="11" name="TextBox 10"/>
          <p:cNvSpPr txBox="1"/>
          <p:nvPr/>
        </p:nvSpPr>
        <p:spPr>
          <a:xfrm>
            <a:off x="713232" y="6501384"/>
            <a:ext cx="4206240" cy="310896"/>
          </a:xfrm>
          <a:prstGeom prst="rect">
            <a:avLst/>
          </a:prstGeom>
          <a:noFill/>
        </p:spPr>
        <p:txBody>
          <a:bodyPr wrap="square" lIns="0" tIns="0" rIns="0" bIns="0" anchor="ctr">
            <a:spAutoFit/>
          </a:bodyPr>
          <a:lstStyle/>
          <a:p>
            <a:pPr algn="l">
              <a:lnSpc>
                <a:spcPct val="94000"/>
              </a:lnSpc>
              <a:spcBef>
                <a:spcPts val="0"/>
              </a:spcBef>
              <a:spcAft>
                <a:spcPts val="0"/>
              </a:spcAft>
            </a:pPr>
            <a:r>
              <a:rPr sz="800" b="0" i="0">
                <a:solidFill>
                  <a:srgbClr val="8A0C20"/>
                </a:solidFill>
                <a:latin typeface="Be Vietnam Pro SemiBold"/>
              </a:rPr>
              <a:t>ĐẠI HỌC BÁCH KHOA HÀ NỘI</a:t>
            </a:r>
          </a:p>
          <a:p>
            <a:pPr algn="l">
              <a:lnSpc>
                <a:spcPct val="94000"/>
              </a:lnSpc>
              <a:spcBef>
                <a:spcPts val="0"/>
              </a:spcBef>
              <a:spcAft>
                <a:spcPts val="0"/>
              </a:spcAft>
            </a:pPr>
            <a:r>
              <a:rPr sz="750" b="0" i="0">
                <a:solidFill>
                  <a:srgbClr val="6B7280"/>
                </a:solidFill>
                <a:latin typeface="Be Vietnam Pro"/>
              </a:rPr>
              <a:t>Phần mềm Quản lý Khen thưởng  ·  Trần Anh Đức</a:t>
            </a:r>
          </a:p>
        </p:txBody>
      </p:sp>
      <p:sp>
        <p:nvSpPr>
          <p:cNvPr id="12" name="TextBox 11"/>
          <p:cNvSpPr txBox="1"/>
          <p:nvPr/>
        </p:nvSpPr>
        <p:spPr>
          <a:xfrm>
            <a:off x="7680960" y="6501384"/>
            <a:ext cx="1005840" cy="310896"/>
          </a:xfrm>
          <a:prstGeom prst="rect">
            <a:avLst/>
          </a:prstGeom>
          <a:noFill/>
        </p:spPr>
        <p:txBody>
          <a:bodyPr wrap="square" lIns="0" tIns="0" rIns="0" bIns="0" anchor="ctr">
            <a:spAutoFit/>
          </a:bodyPr>
          <a:lstStyle/>
          <a:p>
            <a:pPr algn="r">
              <a:spcBef>
                <a:spcPts val="0"/>
              </a:spcBef>
              <a:spcAft>
                <a:spcPts val="0"/>
              </a:spcAft>
            </a:pPr>
            <a:r>
              <a:rPr sz="1200" b="0" i="0">
                <a:solidFill>
                  <a:srgbClr val="C00000"/>
                </a:solidFill>
                <a:latin typeface="Be Vietnam Pro ExtraBold"/>
              </a:rPr>
              <a:t>11</a:t>
            </a:r>
            <a:r>
              <a:rPr sz="900" b="0" i="0">
                <a:solidFill>
                  <a:srgbClr val="6B7280"/>
                </a:solidFill>
                <a:latin typeface="Be Vietnam Pro"/>
              </a:rPr>
              <a:t> / 31</a:t>
            </a:r>
          </a:p>
        </p:txBody>
      </p:sp>
      <p:sp>
        <p:nvSpPr>
          <p:cNvPr id="13" name="Rounded Rectangle 12"/>
          <p:cNvSpPr/>
          <p:nvPr/>
        </p:nvSpPr>
        <p:spPr>
          <a:xfrm>
            <a:off x="502920" y="1572768"/>
            <a:ext cx="8138160" cy="1078992"/>
          </a:xfrm>
          <a:prstGeom prst="roundRect">
            <a:avLst>
              <a:gd name="adj" fmla="val 6000"/>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77240" y="1682496"/>
            <a:ext cx="7589520" cy="914400"/>
          </a:xfrm>
          <a:prstGeom prst="rect">
            <a:avLst/>
          </a:prstGeom>
          <a:noFill/>
        </p:spPr>
        <p:txBody>
          <a:bodyPr wrap="square" lIns="0" tIns="0" rIns="0" bIns="0" anchor="ctr">
            <a:spAutoFit/>
          </a:bodyPr>
          <a:lstStyle/>
          <a:p>
            <a:pPr algn="l">
              <a:lnSpc>
                <a:spcPct val="105000"/>
              </a:lnSpc>
              <a:spcBef>
                <a:spcPts val="0"/>
              </a:spcBef>
              <a:spcAft>
                <a:spcPts val="400"/>
              </a:spcAft>
            </a:pPr>
            <a:r>
              <a:rPr sz="1250" b="1" i="0">
                <a:solidFill>
                  <a:srgbClr val="1F2937"/>
                </a:solidFill>
                <a:latin typeface="Be Vietnam Pro"/>
              </a:rPr>
              <a:t>Trình duyệt </a:t>
            </a:r>
            <a:r>
              <a:rPr sz="1100" b="1" i="0">
                <a:solidFill>
                  <a:srgbClr val="C00000"/>
                </a:solidFill>
                <a:latin typeface="Be Vietnam Pro"/>
              </a:rPr>
              <a:t>—HTTPS→ </a:t>
            </a:r>
            <a:r>
              <a:rPr sz="1250" b="1" i="0">
                <a:solidFill>
                  <a:srgbClr val="1F2937"/>
                </a:solidFill>
                <a:latin typeface="Be Vietnam Pro"/>
              </a:rPr>
              <a:t>Frontend (Next.js)</a:t>
            </a:r>
            <a:r>
              <a:rPr sz="1100" b="0" i="1">
                <a:solidFill>
                  <a:srgbClr val="6B7280"/>
                </a:solidFill>
                <a:latin typeface="Be Vietnam Pro"/>
              </a:rPr>
              <a:t>  tải giao diện</a:t>
            </a:r>
          </a:p>
          <a:p>
            <a:pPr algn="l">
              <a:lnSpc>
                <a:spcPct val="105000"/>
              </a:lnSpc>
              <a:spcBef>
                <a:spcPts val="0"/>
              </a:spcBef>
              <a:spcAft>
                <a:spcPts val="200"/>
              </a:spcAft>
            </a:pPr>
            <a:r>
              <a:rPr sz="1250" b="1" i="0">
                <a:solidFill>
                  <a:srgbClr val="1F2937"/>
                </a:solidFill>
                <a:latin typeface="Be Vietnam Pro"/>
              </a:rPr>
              <a:t>Trình duyệt </a:t>
            </a:r>
            <a:r>
              <a:rPr sz="1100" b="1" i="0">
                <a:solidFill>
                  <a:srgbClr val="C00000"/>
                </a:solidFill>
                <a:latin typeface="Be Vietnam Pro"/>
              </a:rPr>
              <a:t>—REST / Socket.IO→ </a:t>
            </a:r>
            <a:r>
              <a:rPr sz="1250" b="1" i="0">
                <a:solidFill>
                  <a:srgbClr val="1F2937"/>
                </a:solidFill>
                <a:latin typeface="Be Vietnam Pro"/>
              </a:rPr>
              <a:t>Backend (Express) </a:t>
            </a:r>
            <a:r>
              <a:rPr sz="1100" b="1" i="0">
                <a:solidFill>
                  <a:srgbClr val="C00000"/>
                </a:solidFill>
                <a:latin typeface="Be Vietnam Pro"/>
              </a:rPr>
              <a:t>—Prisma→ </a:t>
            </a:r>
            <a:r>
              <a:rPr sz="1250" b="1" i="0">
                <a:solidFill>
                  <a:srgbClr val="1F2937"/>
                </a:solidFill>
                <a:latin typeface="Be Vietnam Pro"/>
              </a:rPr>
              <a:t>PostgreSQL</a:t>
            </a:r>
          </a:p>
          <a:p>
            <a:pPr algn="l">
              <a:lnSpc>
                <a:spcPct val="100000"/>
              </a:lnSpc>
              <a:spcBef>
                <a:spcPts val="0"/>
              </a:spcBef>
              <a:spcAft>
                <a:spcPts val="0"/>
              </a:spcAft>
            </a:pPr>
            <a:r>
              <a:rPr sz="1050" b="0" i="1">
                <a:solidFill>
                  <a:srgbClr val="C00000"/>
                </a:solidFill>
                <a:latin typeface="Be Vietnam Pro"/>
              </a:rPr>
              <a:t>Trình duyệt gọi trực tiếp Backend qua REST API và Socket.IO, không đi qua Frontend.</a:t>
            </a:r>
          </a:p>
        </p:txBody>
      </p:sp>
      <p:sp>
        <p:nvSpPr>
          <p:cNvPr id="15" name="Rounded Rectangle 14"/>
          <p:cNvSpPr/>
          <p:nvPr/>
        </p:nvSpPr>
        <p:spPr>
          <a:xfrm>
            <a:off x="2606040" y="2907792"/>
            <a:ext cx="3931920" cy="566928"/>
          </a:xfrm>
          <a:prstGeom prst="roundRect">
            <a:avLst>
              <a:gd name="adj" fmla="val 10000"/>
            </a:avLst>
          </a:prstGeom>
          <a:solidFill>
            <a:srgbClr val="FFFFFF"/>
          </a:solidFill>
          <a:ln w="12700">
            <a:solidFill>
              <a:srgbClr val="E5E7EB"/>
            </a:solidFill>
          </a:ln>
          <a:effectLst>
            <a:outerShdw blurRad="90000" dist="42000" dir="5400000" rotWithShape="0">
              <a:srgbClr val="98A2B3">
                <a:alpha val="20000"/>
              </a:srgbClr>
            </a:outerShdw>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lnSpc>
                <a:spcPct val="98000"/>
              </a:lnSpc>
              <a:spcBef>
                <a:spcPts val="0"/>
              </a:spcBef>
              <a:spcAft>
                <a:spcPts val="0"/>
              </a:spcAft>
            </a:pPr>
            <a:r>
              <a:rPr sz="1300" b="1" i="0">
                <a:solidFill>
                  <a:srgbClr val="1F2937"/>
                </a:solidFill>
                <a:latin typeface="Be Vietnam Pro"/>
              </a:rPr>
              <a:t>Browser / Client</a:t>
            </a:r>
          </a:p>
        </p:txBody>
      </p:sp>
      <p:sp>
        <p:nvSpPr>
          <p:cNvPr id="16" name="Down Arrow 15"/>
          <p:cNvSpPr/>
          <p:nvPr/>
        </p:nvSpPr>
        <p:spPr>
          <a:xfrm>
            <a:off x="4507992" y="3483864"/>
            <a:ext cx="128016" cy="146304"/>
          </a:xfrm>
          <a:prstGeom prst="downArrow">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2606040" y="3639312"/>
            <a:ext cx="3931920" cy="566928"/>
          </a:xfrm>
          <a:prstGeom prst="roundRect">
            <a:avLst>
              <a:gd name="adj" fmla="val 10000"/>
            </a:avLst>
          </a:prstGeom>
          <a:solidFill>
            <a:srgbClr val="C00000"/>
          </a:solidFill>
          <a:ln>
            <a:noFill/>
          </a:ln>
          <a:effectLst>
            <a:outerShdw blurRad="90000" dist="42000" dir="5400000" rotWithShape="0">
              <a:srgbClr val="98A2B3">
                <a:alpha val="20000"/>
              </a:srgbClr>
            </a:outerShdw>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lnSpc>
                <a:spcPct val="98000"/>
              </a:lnSpc>
              <a:spcBef>
                <a:spcPts val="0"/>
              </a:spcBef>
              <a:spcAft>
                <a:spcPts val="0"/>
              </a:spcAft>
            </a:pPr>
            <a:r>
              <a:rPr sz="1300" b="1" i="0">
                <a:solidFill>
                  <a:srgbClr val="FFFFFF"/>
                </a:solidFill>
                <a:latin typeface="Be Vietnam Pro"/>
              </a:rPr>
              <a:t>Presentation Layer</a:t>
            </a:r>
            <a:r>
              <a:rPr sz="1000" b="0" i="0">
                <a:solidFill>
                  <a:srgbClr val="F3D9D9"/>
                </a:solidFill>
                <a:latin typeface="Be Vietnam Pro"/>
              </a:rPr>
              <a:t>    Controller · Route · Middleware</a:t>
            </a:r>
          </a:p>
        </p:txBody>
      </p:sp>
      <p:sp>
        <p:nvSpPr>
          <p:cNvPr id="18" name="Down Arrow 17"/>
          <p:cNvSpPr/>
          <p:nvPr/>
        </p:nvSpPr>
        <p:spPr>
          <a:xfrm>
            <a:off x="4507992" y="4215384"/>
            <a:ext cx="128016" cy="146304"/>
          </a:xfrm>
          <a:prstGeom prst="downArrow">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2606040" y="4370832"/>
            <a:ext cx="3931920" cy="566928"/>
          </a:xfrm>
          <a:prstGeom prst="roundRect">
            <a:avLst>
              <a:gd name="adj" fmla="val 10000"/>
            </a:avLst>
          </a:prstGeom>
          <a:solidFill>
            <a:srgbClr val="8A0C20"/>
          </a:solidFill>
          <a:ln>
            <a:noFill/>
          </a:ln>
          <a:effectLst>
            <a:outerShdw blurRad="90000" dist="42000" dir="5400000" rotWithShape="0">
              <a:srgbClr val="98A2B3">
                <a:alpha val="20000"/>
              </a:srgbClr>
            </a:outerShdw>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lnSpc>
                <a:spcPct val="98000"/>
              </a:lnSpc>
              <a:spcBef>
                <a:spcPts val="0"/>
              </a:spcBef>
              <a:spcAft>
                <a:spcPts val="0"/>
              </a:spcAft>
            </a:pPr>
            <a:r>
              <a:rPr sz="1300" b="1" i="0">
                <a:solidFill>
                  <a:srgbClr val="FFFFFF"/>
                </a:solidFill>
                <a:latin typeface="Be Vietnam Pro"/>
              </a:rPr>
              <a:t>Business Layer</a:t>
            </a:r>
            <a:r>
              <a:rPr sz="1000" b="0" i="0">
                <a:solidFill>
                  <a:srgbClr val="F3D9D9"/>
                </a:solidFill>
                <a:latin typeface="Be Vietnam Pro"/>
              </a:rPr>
              <a:t>    Service</a:t>
            </a:r>
          </a:p>
        </p:txBody>
      </p:sp>
      <p:sp>
        <p:nvSpPr>
          <p:cNvPr id="20" name="Down Arrow 19"/>
          <p:cNvSpPr/>
          <p:nvPr/>
        </p:nvSpPr>
        <p:spPr>
          <a:xfrm>
            <a:off x="4507992" y="4946904"/>
            <a:ext cx="128016" cy="146304"/>
          </a:xfrm>
          <a:prstGeom prst="downArrow">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2606040" y="5102352"/>
            <a:ext cx="3931920" cy="566928"/>
          </a:xfrm>
          <a:prstGeom prst="roundRect">
            <a:avLst>
              <a:gd name="adj" fmla="val 10000"/>
            </a:avLst>
          </a:prstGeom>
          <a:solidFill>
            <a:srgbClr val="B04652"/>
          </a:solidFill>
          <a:ln>
            <a:noFill/>
          </a:ln>
          <a:effectLst>
            <a:outerShdw blurRad="90000" dist="42000" dir="5400000" rotWithShape="0">
              <a:srgbClr val="98A2B3">
                <a:alpha val="20000"/>
              </a:srgbClr>
            </a:outerShdw>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lnSpc>
                <a:spcPct val="98000"/>
              </a:lnSpc>
              <a:spcBef>
                <a:spcPts val="0"/>
              </a:spcBef>
              <a:spcAft>
                <a:spcPts val="0"/>
              </a:spcAft>
            </a:pPr>
            <a:r>
              <a:rPr sz="1300" b="1" i="0">
                <a:solidFill>
                  <a:srgbClr val="FFFFFF"/>
                </a:solidFill>
                <a:latin typeface="Be Vietnam Pro"/>
              </a:rPr>
              <a:t>Persistence Layer</a:t>
            </a:r>
            <a:r>
              <a:rPr sz="1000" b="0" i="0">
                <a:solidFill>
                  <a:srgbClr val="F3D9D9"/>
                </a:solidFill>
                <a:latin typeface="Be Vietnam Pro"/>
              </a:rPr>
              <a:t>    Repository · Prisma ORM</a:t>
            </a:r>
          </a:p>
        </p:txBody>
      </p:sp>
      <p:sp>
        <p:nvSpPr>
          <p:cNvPr id="22" name="Down Arrow 21"/>
          <p:cNvSpPr/>
          <p:nvPr/>
        </p:nvSpPr>
        <p:spPr>
          <a:xfrm>
            <a:off x="4507992" y="5678424"/>
            <a:ext cx="128016" cy="146304"/>
          </a:xfrm>
          <a:prstGeom prst="downArrow">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2606040" y="5833872"/>
            <a:ext cx="3931920" cy="566928"/>
          </a:xfrm>
          <a:prstGeom prst="roundRect">
            <a:avLst>
              <a:gd name="adj" fmla="val 10000"/>
            </a:avLst>
          </a:prstGeom>
          <a:solidFill>
            <a:srgbClr val="6B7280"/>
          </a:solidFill>
          <a:ln>
            <a:noFill/>
          </a:ln>
          <a:effectLst>
            <a:outerShdw blurRad="90000" dist="42000" dir="5400000" rotWithShape="0">
              <a:srgbClr val="98A2B3">
                <a:alpha val="20000"/>
              </a:srgbClr>
            </a:outerShdw>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lnSpc>
                <a:spcPct val="98000"/>
              </a:lnSpc>
              <a:spcBef>
                <a:spcPts val="0"/>
              </a:spcBef>
              <a:spcAft>
                <a:spcPts val="0"/>
              </a:spcAft>
            </a:pPr>
            <a:r>
              <a:rPr sz="1300" b="1" i="0">
                <a:solidFill>
                  <a:srgbClr val="FFFFFF"/>
                </a:solidFill>
                <a:latin typeface="Be Vietnam Pro"/>
              </a:rPr>
              <a:t>Data Layer</a:t>
            </a:r>
            <a:r>
              <a:rPr sz="1000" b="0" i="0">
                <a:solidFill>
                  <a:srgbClr val="F3D9D9"/>
                </a:solidFill>
                <a:latin typeface="Be Vietnam Pro"/>
              </a:rPr>
              <a:t>    PostgreSQL</a:t>
            </a:r>
          </a:p>
        </p:txBody>
      </p:sp>
      <p:sp>
        <p:nvSpPr>
          <p:cNvPr id="24" name="TextBox 23"/>
          <p:cNvSpPr txBox="1"/>
          <p:nvPr/>
        </p:nvSpPr>
        <p:spPr>
          <a:xfrm>
            <a:off x="548640" y="3246120"/>
            <a:ext cx="1828800" cy="914400"/>
          </a:xfrm>
          <a:prstGeom prst="rect">
            <a:avLst/>
          </a:prstGeom>
          <a:noFill/>
        </p:spPr>
        <p:txBody>
          <a:bodyPr wrap="square" lIns="0" tIns="0" rIns="0" bIns="0" anchor="t">
            <a:spAutoFit/>
          </a:bodyPr>
          <a:lstStyle/>
          <a:p>
            <a:pPr algn="r">
              <a:spcBef>
                <a:spcPts val="0"/>
              </a:spcBef>
              <a:spcAft>
                <a:spcPts val="0"/>
              </a:spcAft>
            </a:pPr>
            <a:r>
              <a:rPr sz="1200" b="1" i="0">
                <a:solidFill>
                  <a:srgbClr val="C00000"/>
                </a:solidFill>
                <a:latin typeface="Be Vietnam Pro"/>
              </a:rPr>
              <a:t>Request</a:t>
            </a:r>
          </a:p>
          <a:p>
            <a:pPr algn="r">
              <a:spcBef>
                <a:spcPts val="0"/>
              </a:spcBef>
              <a:spcAft>
                <a:spcPts val="0"/>
              </a:spcAft>
            </a:pPr>
            <a:r>
              <a:rPr sz="900" b="0" i="1">
                <a:solidFill>
                  <a:srgbClr val="6B7280"/>
                </a:solidFill>
                <a:latin typeface="Be Vietnam Pro"/>
              </a:rPr>
              <a:t>(downward flow)</a:t>
            </a:r>
          </a:p>
        </p:txBody>
      </p:sp>
      <p:sp>
        <p:nvSpPr>
          <p:cNvPr id="25" name="TextBox 24"/>
          <p:cNvSpPr txBox="1"/>
          <p:nvPr/>
        </p:nvSpPr>
        <p:spPr>
          <a:xfrm>
            <a:off x="6812280" y="3246120"/>
            <a:ext cx="1737360" cy="914400"/>
          </a:xfrm>
          <a:prstGeom prst="rect">
            <a:avLst/>
          </a:prstGeom>
          <a:noFill/>
        </p:spPr>
        <p:txBody>
          <a:bodyPr wrap="square" lIns="0" tIns="0" rIns="0" bIns="0" anchor="t">
            <a:spAutoFit/>
          </a:bodyPr>
          <a:lstStyle/>
          <a:p>
            <a:pPr algn="l">
              <a:spcBef>
                <a:spcPts val="0"/>
              </a:spcBef>
              <a:spcAft>
                <a:spcPts val="0"/>
              </a:spcAft>
            </a:pPr>
            <a:r>
              <a:rPr sz="1200" b="1" i="0">
                <a:solidFill>
                  <a:srgbClr val="C00000"/>
                </a:solidFill>
                <a:latin typeface="Be Vietnam Pro"/>
              </a:rPr>
              <a:t>Response</a:t>
            </a:r>
          </a:p>
          <a:p>
            <a:pPr algn="l">
              <a:spcBef>
                <a:spcPts val="0"/>
              </a:spcBef>
              <a:spcAft>
                <a:spcPts val="0"/>
              </a:spcAft>
            </a:pPr>
            <a:r>
              <a:rPr sz="900" b="0" i="1">
                <a:solidFill>
                  <a:srgbClr val="6B7280"/>
                </a:solidFill>
                <a:latin typeface="Be Vietnam Pro"/>
              </a:rPr>
              <a:t>(upward flow)</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 y="-45720"/>
            <a:ext cx="9235440" cy="6949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 y="-45720"/>
            <a:ext cx="9235440" cy="886968"/>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motif_white.png"/>
          <p:cNvPicPr>
            <a:picLocks noChangeAspect="1"/>
          </p:cNvPicPr>
          <p:nvPr/>
        </p:nvPicPr>
        <p:blipFill>
          <a:blip r:embed="rId2">
            <a:alphaModFix amt="34000"/>
          </a:blip>
          <a:stretch>
            <a:fillRect/>
          </a:stretch>
        </p:blipFill>
        <p:spPr>
          <a:xfrm>
            <a:off x="5989320" y="-1874519"/>
            <a:ext cx="4206240" cy="3154680"/>
          </a:xfrm>
          <a:prstGeom prst="rect">
            <a:avLst/>
          </a:prstGeom>
        </p:spPr>
      </p:pic>
      <p:sp>
        <p:nvSpPr>
          <p:cNvPr id="5" name="Rectangle 4"/>
          <p:cNvSpPr/>
          <p:nvPr/>
        </p:nvSpPr>
        <p:spPr>
          <a:xfrm>
            <a:off x="-45720" y="841248"/>
            <a:ext cx="9235440" cy="96012"/>
          </a:xfrm>
          <a:prstGeom prst="rect">
            <a:avLst/>
          </a:prstGeom>
          <a:solidFill>
            <a:srgbClr val="ECA7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 y="937260"/>
            <a:ext cx="9235440" cy="20116"/>
          </a:xfrm>
          <a:prstGeom prst="rect">
            <a:avLst/>
          </a:prstGeom>
          <a:solidFill>
            <a:srgbClr val="8A0C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8288"/>
            <a:ext cx="5897880" cy="822960"/>
          </a:xfrm>
          <a:prstGeom prst="rect">
            <a:avLst/>
          </a:prstGeom>
          <a:noFill/>
        </p:spPr>
        <p:txBody>
          <a:bodyPr wrap="square" lIns="0" tIns="0" rIns="0" bIns="0" anchor="ctr">
            <a:spAutoFit/>
          </a:bodyPr>
          <a:lstStyle/>
          <a:p>
            <a:pPr algn="l">
              <a:lnSpc>
                <a:spcPct val="96000"/>
              </a:lnSpc>
              <a:spcBef>
                <a:spcPts val="0"/>
              </a:spcBef>
              <a:spcAft>
                <a:spcPts val="0"/>
              </a:spcAft>
            </a:pPr>
            <a:r>
              <a:rPr sz="2300" b="0" i="0">
                <a:solidFill>
                  <a:srgbClr val="FFFFFF"/>
                </a:solidFill>
                <a:latin typeface="Be Vietnam Pro ExtraBold"/>
              </a:rPr>
              <a:t>Thiết kế cơ sở dữ liệu</a:t>
            </a:r>
          </a:p>
        </p:txBody>
      </p:sp>
      <p:sp>
        <p:nvSpPr>
          <p:cNvPr id="8" name="Rounded Rectangle 7"/>
          <p:cNvSpPr/>
          <p:nvPr/>
        </p:nvSpPr>
        <p:spPr>
          <a:xfrm>
            <a:off x="6473952" y="256032"/>
            <a:ext cx="2139696" cy="329184"/>
          </a:xfrm>
          <a:prstGeom prst="roundRect">
            <a:avLst>
              <a:gd name="adj" fmla="val 50000"/>
            </a:avLst>
          </a:prstGeom>
          <a:noFill/>
          <a:ln w="15875">
            <a:solidFill>
              <a:srgbClr val="F2C255"/>
            </a:solid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spcBef>
                <a:spcPts val="0"/>
              </a:spcBef>
              <a:spcAft>
                <a:spcPts val="0"/>
              </a:spcAft>
            </a:pPr>
            <a:r>
              <a:rPr sz="950" b="0" i="0" spc="80">
                <a:solidFill>
                  <a:srgbClr val="FFFFFF"/>
                </a:solidFill>
                <a:latin typeface="Be Vietnam Pro SemiBold"/>
              </a:rPr>
              <a:t>CÔNG NGHỆ &amp; THIẾT KẾ</a:t>
            </a:r>
          </a:p>
        </p:txBody>
      </p:sp>
      <p:sp>
        <p:nvSpPr>
          <p:cNvPr id="9" name="Rectangle 8"/>
          <p:cNvSpPr/>
          <p:nvPr/>
        </p:nvSpPr>
        <p:spPr>
          <a:xfrm>
            <a:off x="457200" y="6446520"/>
            <a:ext cx="8229600" cy="9144"/>
          </a:xfrm>
          <a:prstGeom prst="rect">
            <a:avLst/>
          </a:prstGeom>
          <a:solidFill>
            <a:srgbClr val="E3C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hust_shield.png"/>
          <p:cNvPicPr>
            <a:picLocks noChangeAspect="1"/>
          </p:cNvPicPr>
          <p:nvPr/>
        </p:nvPicPr>
        <p:blipFill>
          <a:blip r:embed="rId3"/>
          <a:stretch>
            <a:fillRect/>
          </a:stretch>
        </p:blipFill>
        <p:spPr>
          <a:xfrm>
            <a:off x="457200" y="6519672"/>
            <a:ext cx="164822" cy="246888"/>
          </a:xfrm>
          <a:prstGeom prst="rect">
            <a:avLst/>
          </a:prstGeom>
        </p:spPr>
      </p:pic>
      <p:sp>
        <p:nvSpPr>
          <p:cNvPr id="11" name="TextBox 10"/>
          <p:cNvSpPr txBox="1"/>
          <p:nvPr/>
        </p:nvSpPr>
        <p:spPr>
          <a:xfrm>
            <a:off x="713232" y="6501384"/>
            <a:ext cx="4206240" cy="310896"/>
          </a:xfrm>
          <a:prstGeom prst="rect">
            <a:avLst/>
          </a:prstGeom>
          <a:noFill/>
        </p:spPr>
        <p:txBody>
          <a:bodyPr wrap="square" lIns="0" tIns="0" rIns="0" bIns="0" anchor="ctr">
            <a:spAutoFit/>
          </a:bodyPr>
          <a:lstStyle/>
          <a:p>
            <a:pPr algn="l">
              <a:lnSpc>
                <a:spcPct val="94000"/>
              </a:lnSpc>
              <a:spcBef>
                <a:spcPts val="0"/>
              </a:spcBef>
              <a:spcAft>
                <a:spcPts val="0"/>
              </a:spcAft>
            </a:pPr>
            <a:r>
              <a:rPr sz="800" b="0" i="0">
                <a:solidFill>
                  <a:srgbClr val="8A0C20"/>
                </a:solidFill>
                <a:latin typeface="Be Vietnam Pro SemiBold"/>
              </a:rPr>
              <a:t>ĐẠI HỌC BÁCH KHOA HÀ NỘI</a:t>
            </a:r>
          </a:p>
          <a:p>
            <a:pPr algn="l">
              <a:lnSpc>
                <a:spcPct val="94000"/>
              </a:lnSpc>
              <a:spcBef>
                <a:spcPts val="0"/>
              </a:spcBef>
              <a:spcAft>
                <a:spcPts val="0"/>
              </a:spcAft>
            </a:pPr>
            <a:r>
              <a:rPr sz="750" b="0" i="0">
                <a:solidFill>
                  <a:srgbClr val="6B7280"/>
                </a:solidFill>
                <a:latin typeface="Be Vietnam Pro"/>
              </a:rPr>
              <a:t>Phần mềm Quản lý Khen thưởng  ·  Trần Anh Đức</a:t>
            </a:r>
          </a:p>
        </p:txBody>
      </p:sp>
      <p:sp>
        <p:nvSpPr>
          <p:cNvPr id="12" name="TextBox 11"/>
          <p:cNvSpPr txBox="1"/>
          <p:nvPr/>
        </p:nvSpPr>
        <p:spPr>
          <a:xfrm>
            <a:off x="7680960" y="6501384"/>
            <a:ext cx="1005840" cy="310896"/>
          </a:xfrm>
          <a:prstGeom prst="rect">
            <a:avLst/>
          </a:prstGeom>
          <a:noFill/>
        </p:spPr>
        <p:txBody>
          <a:bodyPr wrap="square" lIns="0" tIns="0" rIns="0" bIns="0" anchor="ctr">
            <a:spAutoFit/>
          </a:bodyPr>
          <a:lstStyle/>
          <a:p>
            <a:pPr algn="r">
              <a:spcBef>
                <a:spcPts val="0"/>
              </a:spcBef>
              <a:spcAft>
                <a:spcPts val="0"/>
              </a:spcAft>
            </a:pPr>
            <a:r>
              <a:rPr sz="1200" b="0" i="0">
                <a:solidFill>
                  <a:srgbClr val="C00000"/>
                </a:solidFill>
                <a:latin typeface="Be Vietnam Pro ExtraBold"/>
              </a:rPr>
              <a:t>12</a:t>
            </a:r>
            <a:r>
              <a:rPr sz="900" b="0" i="0">
                <a:solidFill>
                  <a:srgbClr val="6B7280"/>
                </a:solidFill>
                <a:latin typeface="Be Vietnam Pro"/>
              </a:rPr>
              <a:t> / 31</a:t>
            </a:r>
          </a:p>
        </p:txBody>
      </p:sp>
      <p:sp>
        <p:nvSpPr>
          <p:cNvPr id="13" name="Rounded Rectangle 12"/>
          <p:cNvSpPr/>
          <p:nvPr/>
        </p:nvSpPr>
        <p:spPr>
          <a:xfrm>
            <a:off x="502920" y="1591056"/>
            <a:ext cx="1481328" cy="1005840"/>
          </a:xfrm>
          <a:prstGeom prst="roundRect">
            <a:avLst>
              <a:gd name="adj" fmla="val 7000"/>
            </a:avLst>
          </a:prstGeom>
          <a:solidFill>
            <a:srgbClr val="C00000"/>
          </a:solidFill>
          <a:ln>
            <a:noFill/>
          </a:ln>
          <a:effectLst>
            <a:outerShdw blurRad="90000" dist="42000" dir="5400000" rotWithShape="0">
              <a:srgbClr val="98A2B3">
                <a:alpha val="20000"/>
              </a:srgbClr>
            </a:outerShdw>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spcBef>
                <a:spcPts val="0"/>
              </a:spcBef>
              <a:spcAft>
                <a:spcPts val="0"/>
              </a:spcAft>
            </a:pPr>
            <a:r>
              <a:rPr sz="3200" b="0" i="0">
                <a:solidFill>
                  <a:srgbClr val="FFFFFF"/>
                </a:solidFill>
                <a:latin typeface="Be Vietnam Pro Black"/>
              </a:rPr>
              <a:t>23</a:t>
            </a:r>
          </a:p>
          <a:p>
            <a:pPr algn="ctr">
              <a:spcBef>
                <a:spcPts val="0"/>
              </a:spcBef>
              <a:spcAft>
                <a:spcPts val="0"/>
              </a:spcAft>
            </a:pPr>
            <a:r>
              <a:rPr sz="1100" b="0" i="0">
                <a:solidFill>
                  <a:srgbClr val="F3D9D9"/>
                </a:solidFill>
                <a:latin typeface="Be Vietnam Pro"/>
              </a:rPr>
              <a:t>bảng</a:t>
            </a:r>
          </a:p>
        </p:txBody>
      </p:sp>
      <p:sp>
        <p:nvSpPr>
          <p:cNvPr id="14" name="Rounded Rectangle 13"/>
          <p:cNvSpPr/>
          <p:nvPr/>
        </p:nvSpPr>
        <p:spPr>
          <a:xfrm>
            <a:off x="2130552" y="1591056"/>
            <a:ext cx="1481328" cy="1005840"/>
          </a:xfrm>
          <a:prstGeom prst="roundRect">
            <a:avLst>
              <a:gd name="adj" fmla="val 7000"/>
            </a:avLst>
          </a:prstGeom>
          <a:solidFill>
            <a:srgbClr val="C00000"/>
          </a:solidFill>
          <a:ln>
            <a:noFill/>
          </a:ln>
          <a:effectLst>
            <a:outerShdw blurRad="90000" dist="42000" dir="5400000" rotWithShape="0">
              <a:srgbClr val="98A2B3">
                <a:alpha val="20000"/>
              </a:srgbClr>
            </a:outerShdw>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spcBef>
                <a:spcPts val="0"/>
              </a:spcBef>
              <a:spcAft>
                <a:spcPts val="0"/>
              </a:spcAft>
            </a:pPr>
            <a:r>
              <a:rPr sz="3200" b="0" i="0">
                <a:solidFill>
                  <a:srgbClr val="FFFFFF"/>
                </a:solidFill>
                <a:latin typeface="Be Vietnam Pro Black"/>
              </a:rPr>
              <a:t>47</a:t>
            </a:r>
          </a:p>
          <a:p>
            <a:pPr algn="ctr">
              <a:spcBef>
                <a:spcPts val="0"/>
              </a:spcBef>
              <a:spcAft>
                <a:spcPts val="0"/>
              </a:spcAft>
            </a:pPr>
            <a:r>
              <a:rPr sz="1100" b="0" i="0">
                <a:solidFill>
                  <a:srgbClr val="F3D9D9"/>
                </a:solidFill>
                <a:latin typeface="Be Vietnam Pro"/>
              </a:rPr>
              <a:t>khoá ngoại</a:t>
            </a:r>
          </a:p>
        </p:txBody>
      </p:sp>
      <p:sp>
        <p:nvSpPr>
          <p:cNvPr id="15" name="Rounded Rectangle 14"/>
          <p:cNvSpPr/>
          <p:nvPr/>
        </p:nvSpPr>
        <p:spPr>
          <a:xfrm>
            <a:off x="3758184" y="1591056"/>
            <a:ext cx="1481328" cy="1005840"/>
          </a:xfrm>
          <a:prstGeom prst="roundRect">
            <a:avLst>
              <a:gd name="adj" fmla="val 7000"/>
            </a:avLst>
          </a:prstGeom>
          <a:solidFill>
            <a:srgbClr val="8A0C20"/>
          </a:solidFill>
          <a:ln>
            <a:noFill/>
          </a:ln>
          <a:effectLst>
            <a:outerShdw blurRad="90000" dist="42000" dir="5400000" rotWithShape="0">
              <a:srgbClr val="98A2B3">
                <a:alpha val="20000"/>
              </a:srgbClr>
            </a:outerShdw>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spcBef>
                <a:spcPts val="0"/>
              </a:spcBef>
              <a:spcAft>
                <a:spcPts val="0"/>
              </a:spcAft>
            </a:pPr>
            <a:r>
              <a:rPr sz="2200" b="0" i="0">
                <a:solidFill>
                  <a:srgbClr val="FFFFFF"/>
                </a:solidFill>
                <a:latin typeface="Be Vietnam Pro Black"/>
              </a:rPr>
              <a:t>CUID</a:t>
            </a:r>
          </a:p>
          <a:p>
            <a:pPr algn="ctr">
              <a:spcBef>
                <a:spcPts val="0"/>
              </a:spcBef>
              <a:spcAft>
                <a:spcPts val="0"/>
              </a:spcAft>
            </a:pPr>
            <a:r>
              <a:rPr sz="1100" b="0" i="0">
                <a:solidFill>
                  <a:srgbClr val="F3D9D9"/>
                </a:solidFill>
                <a:latin typeface="Be Vietnam Pro"/>
              </a:rPr>
              <a:t>khoá chính</a:t>
            </a:r>
          </a:p>
        </p:txBody>
      </p:sp>
      <p:sp>
        <p:nvSpPr>
          <p:cNvPr id="16" name="Rounded Rectangle 15"/>
          <p:cNvSpPr/>
          <p:nvPr/>
        </p:nvSpPr>
        <p:spPr>
          <a:xfrm>
            <a:off x="5074920" y="1591056"/>
            <a:ext cx="3566160" cy="2834640"/>
          </a:xfrm>
          <a:prstGeom prst="roundRect">
            <a:avLst>
              <a:gd name="adj" fmla="val 5000"/>
            </a:avLst>
          </a:prstGeom>
          <a:solidFill>
            <a:srgbClr val="FFFFFF"/>
          </a:solidFill>
          <a:ln w="12700">
            <a:solidFill>
              <a:srgbClr val="E5E7EB"/>
            </a:solidFill>
          </a:ln>
          <a:effectLst>
            <a:outerShdw blurRad="90000" dist="42000" dir="5400000" rotWithShape="0">
              <a:srgbClr val="98A2B3">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330952" y="1773936"/>
            <a:ext cx="3108960" cy="310896"/>
          </a:xfrm>
          <a:prstGeom prst="rect">
            <a:avLst/>
          </a:prstGeom>
          <a:noFill/>
        </p:spPr>
        <p:txBody>
          <a:bodyPr wrap="square" lIns="0" tIns="0" rIns="0" bIns="0" anchor="t">
            <a:spAutoFit/>
          </a:bodyPr>
          <a:lstStyle/>
          <a:p>
            <a:pPr algn="l">
              <a:spcBef>
                <a:spcPts val="0"/>
              </a:spcBef>
              <a:spcAft>
                <a:spcPts val="0"/>
              </a:spcAft>
            </a:pPr>
            <a:r>
              <a:rPr sz="1300" b="1" i="0">
                <a:solidFill>
                  <a:srgbClr val="C00000"/>
                </a:solidFill>
                <a:latin typeface="Be Vietnam Pro"/>
              </a:rPr>
              <a:t>Nhóm bảng</a:t>
            </a:r>
          </a:p>
        </p:txBody>
      </p:sp>
      <p:sp>
        <p:nvSpPr>
          <p:cNvPr id="18" name="TextBox 17"/>
          <p:cNvSpPr txBox="1"/>
          <p:nvPr/>
        </p:nvSpPr>
        <p:spPr>
          <a:xfrm>
            <a:off x="5330952" y="2139696"/>
            <a:ext cx="3108960" cy="2240280"/>
          </a:xfrm>
          <a:prstGeom prst="rect">
            <a:avLst/>
          </a:prstGeom>
          <a:noFill/>
        </p:spPr>
        <p:txBody>
          <a:bodyPr wrap="square" lIns="0" tIns="0" rIns="0" bIns="0" anchor="t">
            <a:spAutoFit/>
          </a:bodyPr>
          <a:lstStyle/>
          <a:p>
            <a:pPr marL="182880" indent="-182880" algn="l">
              <a:lnSpc>
                <a:spcPct val="104000"/>
              </a:lnSpc>
              <a:spcBef>
                <a:spcPts val="0"/>
              </a:spcBef>
              <a:spcAft>
                <a:spcPts val="700"/>
              </a:spcAft>
            </a:pPr>
            <a:r>
              <a:rPr sz="1100" b="1">
                <a:solidFill>
                  <a:srgbClr val="C00000"/>
                </a:solidFill>
                <a:latin typeface="Arial"/>
              </a:rPr>
              <a:t>▪  </a:t>
            </a:r>
            <a:r>
              <a:rPr sz="1100" b="1" i="0">
                <a:solidFill>
                  <a:srgbClr val="1F2937"/>
                </a:solidFill>
                <a:latin typeface="Be Vietnam Pro"/>
              </a:rPr>
              <a:t>Tổ chức — </a:t>
            </a:r>
            <a:r>
              <a:rPr sz="1050" b="0" i="0">
                <a:solidFill>
                  <a:srgbClr val="6B7280"/>
                </a:solidFill>
                <a:latin typeface="Be Vietnam Pro"/>
              </a:rPr>
              <a:t>QuanNhan, CoQuanDonVi, DonViTrucThuoc, ChucVu</a:t>
            </a:r>
          </a:p>
          <a:p>
            <a:pPr marL="182880" indent="-182880" algn="l">
              <a:lnSpc>
                <a:spcPct val="104000"/>
              </a:lnSpc>
              <a:spcBef>
                <a:spcPts val="0"/>
              </a:spcBef>
              <a:spcAft>
                <a:spcPts val="700"/>
              </a:spcAft>
            </a:pPr>
            <a:r>
              <a:rPr sz="1100" b="1">
                <a:solidFill>
                  <a:srgbClr val="C00000"/>
                </a:solidFill>
                <a:latin typeface="Arial"/>
              </a:rPr>
              <a:t>▪  </a:t>
            </a:r>
            <a:r>
              <a:rPr sz="1100" b="1" i="0">
                <a:solidFill>
                  <a:srgbClr val="1F2937"/>
                </a:solidFill>
                <a:latin typeface="Be Vietnam Pro"/>
              </a:rPr>
              <a:t>Đề xuất &amp; Hồ sơ — </a:t>
            </a:r>
            <a:r>
              <a:rPr sz="1050" b="0" i="0">
                <a:solidFill>
                  <a:srgbClr val="6B7280"/>
                </a:solidFill>
                <a:latin typeface="Be Vietnam Pro"/>
              </a:rPr>
              <a:t>BangDeXuat, DanhHieuHangNam, HoSoNienHan, HoSoCongHien</a:t>
            </a:r>
          </a:p>
          <a:p>
            <a:pPr marL="182880" indent="-182880" algn="l">
              <a:lnSpc>
                <a:spcPct val="104000"/>
              </a:lnSpc>
              <a:spcBef>
                <a:spcPts val="0"/>
              </a:spcBef>
              <a:spcAft>
                <a:spcPts val="700"/>
              </a:spcAft>
            </a:pPr>
            <a:r>
              <a:rPr sz="1100" b="1">
                <a:solidFill>
                  <a:srgbClr val="C00000"/>
                </a:solidFill>
                <a:latin typeface="Arial"/>
              </a:rPr>
              <a:t>▪  </a:t>
            </a:r>
            <a:r>
              <a:rPr sz="1100" b="1" i="0">
                <a:solidFill>
                  <a:srgbClr val="1F2937"/>
                </a:solidFill>
                <a:latin typeface="Be Vietnam Pro"/>
              </a:rPr>
              <a:t>Tài khoản — </a:t>
            </a:r>
            <a:r>
              <a:rPr sz="1050" b="0" i="0">
                <a:solidFill>
                  <a:srgbClr val="6B7280"/>
                </a:solidFill>
                <a:latin typeface="Be Vietnam Pro"/>
              </a:rPr>
              <a:t>TaiKhoan (4 vai trò)</a:t>
            </a:r>
          </a:p>
          <a:p>
            <a:pPr marL="182880" indent="-182880" algn="l">
              <a:lnSpc>
                <a:spcPct val="104000"/>
              </a:lnSpc>
              <a:spcBef>
                <a:spcPts val="0"/>
              </a:spcBef>
              <a:spcAft>
                <a:spcPts val="700"/>
              </a:spcAft>
            </a:pPr>
            <a:r>
              <a:rPr sz="1100" b="1">
                <a:solidFill>
                  <a:srgbClr val="C00000"/>
                </a:solidFill>
                <a:latin typeface="Arial"/>
              </a:rPr>
              <a:t>▪  </a:t>
            </a:r>
            <a:r>
              <a:rPr sz="1100" b="1" i="0">
                <a:solidFill>
                  <a:srgbClr val="1F2937"/>
                </a:solidFill>
                <a:latin typeface="Be Vietnam Pro"/>
              </a:rPr>
              <a:t>Phụ trợ — </a:t>
            </a:r>
            <a:r>
              <a:rPr sz="1050" b="0" i="0">
                <a:solidFill>
                  <a:srgbClr val="6B7280"/>
                </a:solidFill>
                <a:latin typeface="Be Vietnam Pro"/>
              </a:rPr>
              <a:t>SystemLog, ThongBao, FileQuyetDinh, SystemSetting</a:t>
            </a:r>
          </a:p>
        </p:txBody>
      </p:sp>
      <p:sp>
        <p:nvSpPr>
          <p:cNvPr id="19" name="Rounded Rectangle 18"/>
          <p:cNvSpPr/>
          <p:nvPr/>
        </p:nvSpPr>
        <p:spPr>
          <a:xfrm>
            <a:off x="502920" y="2798064"/>
            <a:ext cx="4370832" cy="1627632"/>
          </a:xfrm>
          <a:prstGeom prst="roundRect">
            <a:avLst>
              <a:gd name="adj" fmla="val 5000"/>
            </a:avLst>
          </a:prstGeom>
          <a:solidFill>
            <a:srgbClr val="F7F7F8"/>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58952" y="2962656"/>
            <a:ext cx="3931920" cy="292608"/>
          </a:xfrm>
          <a:prstGeom prst="rect">
            <a:avLst/>
          </a:prstGeom>
          <a:noFill/>
        </p:spPr>
        <p:txBody>
          <a:bodyPr wrap="square" lIns="0" tIns="0" rIns="0" bIns="0" anchor="t">
            <a:spAutoFit/>
          </a:bodyPr>
          <a:lstStyle/>
          <a:p>
            <a:pPr algn="l">
              <a:spcBef>
                <a:spcPts val="0"/>
              </a:spcBef>
              <a:spcAft>
                <a:spcPts val="0"/>
              </a:spcAft>
            </a:pPr>
            <a:r>
              <a:rPr sz="1250" b="1" i="0">
                <a:solidFill>
                  <a:srgbClr val="C00000"/>
                </a:solidFill>
                <a:latin typeface="Be Vietnam Pro"/>
              </a:rPr>
              <a:t>Composite uniques</a:t>
            </a:r>
          </a:p>
        </p:txBody>
      </p:sp>
      <p:sp>
        <p:nvSpPr>
          <p:cNvPr id="21" name="TextBox 20"/>
          <p:cNvSpPr txBox="1"/>
          <p:nvPr/>
        </p:nvSpPr>
        <p:spPr>
          <a:xfrm>
            <a:off x="758952" y="3310128"/>
            <a:ext cx="3931920" cy="1051560"/>
          </a:xfrm>
          <a:prstGeom prst="rect">
            <a:avLst/>
          </a:prstGeom>
          <a:noFill/>
        </p:spPr>
        <p:txBody>
          <a:bodyPr wrap="square" lIns="0" tIns="0" rIns="0" bIns="0" anchor="t">
            <a:spAutoFit/>
          </a:bodyPr>
          <a:lstStyle/>
          <a:p>
            <a:pPr algn="l">
              <a:lnSpc>
                <a:spcPct val="100000"/>
              </a:lnSpc>
              <a:spcBef>
                <a:spcPts val="0"/>
              </a:spcBef>
              <a:spcAft>
                <a:spcPts val="500"/>
              </a:spcAft>
            </a:pPr>
            <a:r>
              <a:rPr sz="1050" b="1" i="0">
                <a:solidFill>
                  <a:srgbClr val="1F2937"/>
                </a:solidFill>
                <a:latin typeface="Consolas"/>
              </a:rPr>
              <a:t>DanhHieuHangNam  </a:t>
            </a:r>
            <a:r>
              <a:rPr sz="1050" b="0" i="0">
                <a:solidFill>
                  <a:srgbClr val="6B7280"/>
                </a:solidFill>
                <a:latin typeface="Consolas"/>
              </a:rPr>
              <a:t>(quan_nhan_id, nam)</a:t>
            </a:r>
          </a:p>
          <a:p>
            <a:pPr algn="l">
              <a:lnSpc>
                <a:spcPct val="100000"/>
              </a:lnSpc>
              <a:spcBef>
                <a:spcPts val="0"/>
              </a:spcBef>
              <a:spcAft>
                <a:spcPts val="500"/>
              </a:spcAft>
            </a:pPr>
            <a:r>
              <a:rPr sz="1050" b="1" i="0">
                <a:solidFill>
                  <a:srgbClr val="1F2937"/>
                </a:solidFill>
                <a:latin typeface="Consolas"/>
              </a:rPr>
              <a:t>KhenThuongHCCSVV  </a:t>
            </a:r>
            <a:r>
              <a:rPr sz="1050" b="0" i="0">
                <a:solidFill>
                  <a:srgbClr val="6B7280"/>
                </a:solidFill>
                <a:latin typeface="Consolas"/>
              </a:rPr>
              <a:t>(quan_nhan_id, danh_hieu)</a:t>
            </a:r>
          </a:p>
          <a:p>
            <a:pPr algn="l">
              <a:lnSpc>
                <a:spcPct val="100000"/>
              </a:lnSpc>
              <a:spcBef>
                <a:spcPts val="0"/>
              </a:spcBef>
              <a:spcAft>
                <a:spcPts val="500"/>
              </a:spcAft>
            </a:pPr>
            <a:r>
              <a:rPr sz="1050" b="1" i="0">
                <a:solidFill>
                  <a:srgbClr val="1F2937"/>
                </a:solidFill>
                <a:latin typeface="Consolas"/>
              </a:rPr>
              <a:t>ChucVu  </a:t>
            </a:r>
            <a:r>
              <a:rPr sz="1050" b="0" i="0">
                <a:solidFill>
                  <a:srgbClr val="6B7280"/>
                </a:solidFill>
                <a:latin typeface="Consolas"/>
              </a:rPr>
              <a:t>(co_quan_don_vi_id, ten_chuc_vu)</a:t>
            </a:r>
          </a:p>
        </p:txBody>
      </p:sp>
      <p:sp>
        <p:nvSpPr>
          <p:cNvPr id="22" name="Rounded Rectangle 21"/>
          <p:cNvSpPr/>
          <p:nvPr/>
        </p:nvSpPr>
        <p:spPr>
          <a:xfrm>
            <a:off x="502920" y="4572000"/>
            <a:ext cx="8138160" cy="1417320"/>
          </a:xfrm>
          <a:prstGeom prst="roundRect">
            <a:avLst>
              <a:gd name="adj" fmla="val 5000"/>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77240" y="4718304"/>
            <a:ext cx="7589520" cy="1188720"/>
          </a:xfrm>
          <a:prstGeom prst="rect">
            <a:avLst/>
          </a:prstGeom>
          <a:noFill/>
        </p:spPr>
        <p:txBody>
          <a:bodyPr wrap="square" lIns="0" tIns="0" rIns="0" bIns="0" anchor="ctr">
            <a:spAutoFit/>
          </a:bodyPr>
          <a:lstStyle/>
          <a:p>
            <a:pPr algn="l">
              <a:spcBef>
                <a:spcPts val="0"/>
              </a:spcBef>
              <a:spcAft>
                <a:spcPts val="300"/>
              </a:spcAft>
            </a:pPr>
            <a:r>
              <a:rPr sz="1300" b="1" i="0">
                <a:solidFill>
                  <a:srgbClr val="C00000"/>
                </a:solidFill>
                <a:latin typeface="Be Vietnam Pro"/>
              </a:rPr>
              <a:t>Điểm thiết kế đặc biệt</a:t>
            </a:r>
          </a:p>
          <a:p>
            <a:pPr algn="l">
              <a:lnSpc>
                <a:spcPct val="108000"/>
              </a:lnSpc>
              <a:spcBef>
                <a:spcPts val="0"/>
              </a:spcBef>
              <a:spcAft>
                <a:spcPts val="0"/>
              </a:spcAft>
            </a:pPr>
            <a:r>
              <a:rPr sz="1150" b="0" i="0">
                <a:solidFill>
                  <a:srgbClr val="1F2937"/>
                </a:solidFill>
                <a:latin typeface="Be Vietnam Pro"/>
              </a:rPr>
              <a:t>FileQuyetDinh liên kết với 8 bảng khen thưởng qua khoá ngoại theo số quyết định (khoá tự nhiên, không dùng khoá nhân tạo). PostgreSQL tự lan truyền khi đổi số quyết định, đảm bảo toàn vẹn ở tầng cơ sở dữ liệu.</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 y="-45720"/>
            <a:ext cx="9235440" cy="6949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 y="-45720"/>
            <a:ext cx="9235440" cy="886968"/>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motif_white.png"/>
          <p:cNvPicPr>
            <a:picLocks noChangeAspect="1"/>
          </p:cNvPicPr>
          <p:nvPr/>
        </p:nvPicPr>
        <p:blipFill>
          <a:blip r:embed="rId2">
            <a:alphaModFix amt="34000"/>
          </a:blip>
          <a:stretch>
            <a:fillRect/>
          </a:stretch>
        </p:blipFill>
        <p:spPr>
          <a:xfrm>
            <a:off x="5989320" y="-1874519"/>
            <a:ext cx="4206240" cy="3154680"/>
          </a:xfrm>
          <a:prstGeom prst="rect">
            <a:avLst/>
          </a:prstGeom>
        </p:spPr>
      </p:pic>
      <p:sp>
        <p:nvSpPr>
          <p:cNvPr id="5" name="Rectangle 4"/>
          <p:cNvSpPr/>
          <p:nvPr/>
        </p:nvSpPr>
        <p:spPr>
          <a:xfrm>
            <a:off x="-45720" y="841248"/>
            <a:ext cx="9235440" cy="96012"/>
          </a:xfrm>
          <a:prstGeom prst="rect">
            <a:avLst/>
          </a:prstGeom>
          <a:solidFill>
            <a:srgbClr val="ECA7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 y="937260"/>
            <a:ext cx="9235440" cy="20116"/>
          </a:xfrm>
          <a:prstGeom prst="rect">
            <a:avLst/>
          </a:prstGeom>
          <a:solidFill>
            <a:srgbClr val="8A0C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8288"/>
            <a:ext cx="5897880" cy="822960"/>
          </a:xfrm>
          <a:prstGeom prst="rect">
            <a:avLst/>
          </a:prstGeom>
          <a:noFill/>
        </p:spPr>
        <p:txBody>
          <a:bodyPr wrap="square" lIns="0" tIns="0" rIns="0" bIns="0" anchor="ctr">
            <a:spAutoFit/>
          </a:bodyPr>
          <a:lstStyle/>
          <a:p>
            <a:pPr algn="l">
              <a:lnSpc>
                <a:spcPct val="96000"/>
              </a:lnSpc>
              <a:spcBef>
                <a:spcPts val="0"/>
              </a:spcBef>
              <a:spcAft>
                <a:spcPts val="0"/>
              </a:spcAft>
            </a:pPr>
            <a:r>
              <a:rPr sz="2300" b="0" i="0">
                <a:solidFill>
                  <a:srgbClr val="FFFFFF"/>
                </a:solidFill>
                <a:latin typeface="Be Vietnam Pro ExtraBold"/>
              </a:rPr>
              <a:t>Sơ đồ ERD tổng quan</a:t>
            </a:r>
          </a:p>
        </p:txBody>
      </p:sp>
      <p:sp>
        <p:nvSpPr>
          <p:cNvPr id="8" name="Rounded Rectangle 7"/>
          <p:cNvSpPr/>
          <p:nvPr/>
        </p:nvSpPr>
        <p:spPr>
          <a:xfrm>
            <a:off x="6473952" y="256032"/>
            <a:ext cx="2139696" cy="329184"/>
          </a:xfrm>
          <a:prstGeom prst="roundRect">
            <a:avLst>
              <a:gd name="adj" fmla="val 50000"/>
            </a:avLst>
          </a:prstGeom>
          <a:noFill/>
          <a:ln w="15875">
            <a:solidFill>
              <a:srgbClr val="F2C255"/>
            </a:solid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spcBef>
                <a:spcPts val="0"/>
              </a:spcBef>
              <a:spcAft>
                <a:spcPts val="0"/>
              </a:spcAft>
            </a:pPr>
            <a:r>
              <a:rPr sz="950" b="0" i="0" spc="80">
                <a:solidFill>
                  <a:srgbClr val="FFFFFF"/>
                </a:solidFill>
                <a:latin typeface="Be Vietnam Pro SemiBold"/>
              </a:rPr>
              <a:t>CÔNG NGHỆ &amp; THIẾT KẾ</a:t>
            </a:r>
          </a:p>
        </p:txBody>
      </p:sp>
      <p:sp>
        <p:nvSpPr>
          <p:cNvPr id="9" name="Rectangle 8"/>
          <p:cNvSpPr/>
          <p:nvPr/>
        </p:nvSpPr>
        <p:spPr>
          <a:xfrm>
            <a:off x="457200" y="6446520"/>
            <a:ext cx="8229600" cy="9144"/>
          </a:xfrm>
          <a:prstGeom prst="rect">
            <a:avLst/>
          </a:prstGeom>
          <a:solidFill>
            <a:srgbClr val="E3C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hust_shield.png"/>
          <p:cNvPicPr>
            <a:picLocks noChangeAspect="1"/>
          </p:cNvPicPr>
          <p:nvPr/>
        </p:nvPicPr>
        <p:blipFill>
          <a:blip r:embed="rId3"/>
          <a:stretch>
            <a:fillRect/>
          </a:stretch>
        </p:blipFill>
        <p:spPr>
          <a:xfrm>
            <a:off x="457200" y="6519672"/>
            <a:ext cx="164822" cy="246888"/>
          </a:xfrm>
          <a:prstGeom prst="rect">
            <a:avLst/>
          </a:prstGeom>
        </p:spPr>
      </p:pic>
      <p:sp>
        <p:nvSpPr>
          <p:cNvPr id="11" name="TextBox 10"/>
          <p:cNvSpPr txBox="1"/>
          <p:nvPr/>
        </p:nvSpPr>
        <p:spPr>
          <a:xfrm>
            <a:off x="713232" y="6501384"/>
            <a:ext cx="4206240" cy="310896"/>
          </a:xfrm>
          <a:prstGeom prst="rect">
            <a:avLst/>
          </a:prstGeom>
          <a:noFill/>
        </p:spPr>
        <p:txBody>
          <a:bodyPr wrap="square" lIns="0" tIns="0" rIns="0" bIns="0" anchor="ctr">
            <a:spAutoFit/>
          </a:bodyPr>
          <a:lstStyle/>
          <a:p>
            <a:pPr algn="l">
              <a:lnSpc>
                <a:spcPct val="94000"/>
              </a:lnSpc>
              <a:spcBef>
                <a:spcPts val="0"/>
              </a:spcBef>
              <a:spcAft>
                <a:spcPts val="0"/>
              </a:spcAft>
            </a:pPr>
            <a:r>
              <a:rPr sz="800" b="0" i="0">
                <a:solidFill>
                  <a:srgbClr val="8A0C20"/>
                </a:solidFill>
                <a:latin typeface="Be Vietnam Pro SemiBold"/>
              </a:rPr>
              <a:t>ĐẠI HỌC BÁCH KHOA HÀ NỘI</a:t>
            </a:r>
          </a:p>
          <a:p>
            <a:pPr algn="l">
              <a:lnSpc>
                <a:spcPct val="94000"/>
              </a:lnSpc>
              <a:spcBef>
                <a:spcPts val="0"/>
              </a:spcBef>
              <a:spcAft>
                <a:spcPts val="0"/>
              </a:spcAft>
            </a:pPr>
            <a:r>
              <a:rPr sz="750" b="0" i="0">
                <a:solidFill>
                  <a:srgbClr val="6B7280"/>
                </a:solidFill>
                <a:latin typeface="Be Vietnam Pro"/>
              </a:rPr>
              <a:t>Phần mềm Quản lý Khen thưởng  ·  Trần Anh Đức</a:t>
            </a:r>
          </a:p>
        </p:txBody>
      </p:sp>
      <p:sp>
        <p:nvSpPr>
          <p:cNvPr id="12" name="TextBox 11"/>
          <p:cNvSpPr txBox="1"/>
          <p:nvPr/>
        </p:nvSpPr>
        <p:spPr>
          <a:xfrm>
            <a:off x="7680960" y="6501384"/>
            <a:ext cx="1005840" cy="310896"/>
          </a:xfrm>
          <a:prstGeom prst="rect">
            <a:avLst/>
          </a:prstGeom>
          <a:noFill/>
        </p:spPr>
        <p:txBody>
          <a:bodyPr wrap="square" lIns="0" tIns="0" rIns="0" bIns="0" anchor="ctr">
            <a:spAutoFit/>
          </a:bodyPr>
          <a:lstStyle/>
          <a:p>
            <a:pPr algn="r">
              <a:spcBef>
                <a:spcPts val="0"/>
              </a:spcBef>
              <a:spcAft>
                <a:spcPts val="0"/>
              </a:spcAft>
            </a:pPr>
            <a:r>
              <a:rPr sz="1200" b="0" i="0">
                <a:solidFill>
                  <a:srgbClr val="C00000"/>
                </a:solidFill>
                <a:latin typeface="Be Vietnam Pro ExtraBold"/>
              </a:rPr>
              <a:t>13</a:t>
            </a:r>
            <a:r>
              <a:rPr sz="900" b="0" i="0">
                <a:solidFill>
                  <a:srgbClr val="6B7280"/>
                </a:solidFill>
                <a:latin typeface="Be Vietnam Pro"/>
              </a:rPr>
              <a:t> / 31</a:t>
            </a:r>
          </a:p>
        </p:txBody>
      </p:sp>
      <p:pic>
        <p:nvPicPr>
          <p:cNvPr id="13" name="Picture 12" descr="erd0tatcabang.png"/>
          <p:cNvPicPr>
            <a:picLocks noChangeAspect="1"/>
          </p:cNvPicPr>
          <p:nvPr/>
        </p:nvPicPr>
        <p:blipFill>
          <a:blip r:embed="rId4"/>
          <a:stretch>
            <a:fillRect/>
          </a:stretch>
        </p:blipFill>
        <p:spPr>
          <a:xfrm>
            <a:off x="502920" y="1591056"/>
            <a:ext cx="2430780" cy="4526280"/>
          </a:xfrm>
          <a:prstGeom prst="rect">
            <a:avLst/>
          </a:prstGeom>
          <a:ln w="9525">
            <a:solidFill>
              <a:srgbClr val="E5E7EB"/>
            </a:solidFill>
          </a:ln>
          <a:effectLst>
            <a:outerShdw blurRad="90000" dist="42000" dir="5400000" rotWithShape="0">
              <a:srgbClr val="98A2B3">
                <a:alpha val="16000"/>
              </a:srgbClr>
            </a:outerShdw>
          </a:effectLst>
        </p:spPr>
      </p:pic>
      <p:sp>
        <p:nvSpPr>
          <p:cNvPr id="14" name="Rounded Rectangle 13"/>
          <p:cNvSpPr/>
          <p:nvPr/>
        </p:nvSpPr>
        <p:spPr>
          <a:xfrm>
            <a:off x="5074920" y="2194560"/>
            <a:ext cx="3566160" cy="2377440"/>
          </a:xfrm>
          <a:prstGeom prst="roundRect">
            <a:avLst>
              <a:gd name="adj" fmla="val 5000"/>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349240" y="2395728"/>
            <a:ext cx="3017520" cy="2011680"/>
          </a:xfrm>
          <a:prstGeom prst="rect">
            <a:avLst/>
          </a:prstGeom>
          <a:noFill/>
        </p:spPr>
        <p:txBody>
          <a:bodyPr wrap="square" lIns="0" tIns="0" rIns="0" bIns="0" anchor="ctr">
            <a:spAutoFit/>
          </a:bodyPr>
          <a:lstStyle/>
          <a:p>
            <a:pPr algn="l">
              <a:lnSpc>
                <a:spcPct val="106000"/>
              </a:lnSpc>
              <a:spcBef>
                <a:spcPts val="0"/>
              </a:spcBef>
              <a:spcAft>
                <a:spcPts val="800"/>
              </a:spcAft>
            </a:pPr>
            <a:r>
              <a:rPr sz="1500" b="1" i="0">
                <a:solidFill>
                  <a:srgbClr val="C00000"/>
                </a:solidFill>
                <a:latin typeface="Be Vietnam Pro"/>
              </a:rPr>
              <a:t>23 bảng</a:t>
            </a:r>
            <a:r>
              <a:rPr sz="1300" b="0" i="0">
                <a:solidFill>
                  <a:srgbClr val="6B7280"/>
                </a:solidFill>
                <a:latin typeface="Be Vietnam Pro"/>
              </a:rPr>
              <a:t>  ·  </a:t>
            </a:r>
            <a:r>
              <a:rPr sz="1500" b="1" i="0">
                <a:solidFill>
                  <a:srgbClr val="C00000"/>
                </a:solidFill>
                <a:latin typeface="Be Vietnam Pro"/>
              </a:rPr>
              <a:t>47 khoá ngoại</a:t>
            </a:r>
          </a:p>
          <a:p>
            <a:pPr algn="l">
              <a:lnSpc>
                <a:spcPct val="110000"/>
              </a:lnSpc>
              <a:spcBef>
                <a:spcPts val="0"/>
              </a:spcBef>
              <a:spcAft>
                <a:spcPts val="0"/>
              </a:spcAft>
            </a:pPr>
            <a:r>
              <a:rPr sz="1200" b="0" i="0">
                <a:solidFill>
                  <a:srgbClr val="1F2937"/>
                </a:solidFill>
                <a:latin typeface="Be Vietnam Pro"/>
              </a:rPr>
              <a:t>Chia thành sáu nhóm dữ liệu nghiệp vụ; quan hệ chi tiết từng nhóm được trình bày ở các slide tiếp theo.</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 y="-45720"/>
            <a:ext cx="9235440" cy="6949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 y="-45720"/>
            <a:ext cx="9235440" cy="886968"/>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motif_white.png"/>
          <p:cNvPicPr>
            <a:picLocks noChangeAspect="1"/>
          </p:cNvPicPr>
          <p:nvPr/>
        </p:nvPicPr>
        <p:blipFill>
          <a:blip r:embed="rId2">
            <a:alphaModFix amt="34000"/>
          </a:blip>
          <a:stretch>
            <a:fillRect/>
          </a:stretch>
        </p:blipFill>
        <p:spPr>
          <a:xfrm>
            <a:off x="5989320" y="-1874519"/>
            <a:ext cx="4206240" cy="3154680"/>
          </a:xfrm>
          <a:prstGeom prst="rect">
            <a:avLst/>
          </a:prstGeom>
        </p:spPr>
      </p:pic>
      <p:sp>
        <p:nvSpPr>
          <p:cNvPr id="5" name="Rectangle 4"/>
          <p:cNvSpPr/>
          <p:nvPr/>
        </p:nvSpPr>
        <p:spPr>
          <a:xfrm>
            <a:off x="-45720" y="841248"/>
            <a:ext cx="9235440" cy="96012"/>
          </a:xfrm>
          <a:prstGeom prst="rect">
            <a:avLst/>
          </a:prstGeom>
          <a:solidFill>
            <a:srgbClr val="ECA7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 y="937260"/>
            <a:ext cx="9235440" cy="20116"/>
          </a:xfrm>
          <a:prstGeom prst="rect">
            <a:avLst/>
          </a:prstGeom>
          <a:solidFill>
            <a:srgbClr val="8A0C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8288"/>
            <a:ext cx="5897880" cy="822960"/>
          </a:xfrm>
          <a:prstGeom prst="rect">
            <a:avLst/>
          </a:prstGeom>
          <a:noFill/>
        </p:spPr>
        <p:txBody>
          <a:bodyPr wrap="square" lIns="0" tIns="0" rIns="0" bIns="0" anchor="ctr">
            <a:spAutoFit/>
          </a:bodyPr>
          <a:lstStyle/>
          <a:p>
            <a:pPr algn="l">
              <a:lnSpc>
                <a:spcPct val="96000"/>
              </a:lnSpc>
              <a:spcBef>
                <a:spcPts val="0"/>
              </a:spcBef>
              <a:spcAft>
                <a:spcPts val="0"/>
              </a:spcAft>
            </a:pPr>
            <a:r>
              <a:rPr sz="2300" b="0" i="0">
                <a:solidFill>
                  <a:srgbClr val="FFFFFF"/>
                </a:solidFill>
                <a:latin typeface="Be Vietnam Pro ExtraBold"/>
              </a:rPr>
              <a:t>ERD: Tổ chức &amp; Quân nhân</a:t>
            </a:r>
          </a:p>
        </p:txBody>
      </p:sp>
      <p:sp>
        <p:nvSpPr>
          <p:cNvPr id="8" name="Rounded Rectangle 7"/>
          <p:cNvSpPr/>
          <p:nvPr/>
        </p:nvSpPr>
        <p:spPr>
          <a:xfrm>
            <a:off x="6473952" y="256032"/>
            <a:ext cx="2139696" cy="329184"/>
          </a:xfrm>
          <a:prstGeom prst="roundRect">
            <a:avLst>
              <a:gd name="adj" fmla="val 50000"/>
            </a:avLst>
          </a:prstGeom>
          <a:noFill/>
          <a:ln w="15875">
            <a:solidFill>
              <a:srgbClr val="F2C255"/>
            </a:solid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spcBef>
                <a:spcPts val="0"/>
              </a:spcBef>
              <a:spcAft>
                <a:spcPts val="0"/>
              </a:spcAft>
            </a:pPr>
            <a:r>
              <a:rPr sz="950" b="0" i="0" spc="80">
                <a:solidFill>
                  <a:srgbClr val="FFFFFF"/>
                </a:solidFill>
                <a:latin typeface="Be Vietnam Pro SemiBold"/>
              </a:rPr>
              <a:t>CÔNG NGHỆ &amp; THIẾT KẾ</a:t>
            </a:r>
          </a:p>
        </p:txBody>
      </p:sp>
      <p:sp>
        <p:nvSpPr>
          <p:cNvPr id="9" name="Rectangle 8"/>
          <p:cNvSpPr/>
          <p:nvPr/>
        </p:nvSpPr>
        <p:spPr>
          <a:xfrm>
            <a:off x="457200" y="6446520"/>
            <a:ext cx="8229600" cy="9144"/>
          </a:xfrm>
          <a:prstGeom prst="rect">
            <a:avLst/>
          </a:prstGeom>
          <a:solidFill>
            <a:srgbClr val="E3C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hust_shield.png"/>
          <p:cNvPicPr>
            <a:picLocks noChangeAspect="1"/>
          </p:cNvPicPr>
          <p:nvPr/>
        </p:nvPicPr>
        <p:blipFill>
          <a:blip r:embed="rId3"/>
          <a:stretch>
            <a:fillRect/>
          </a:stretch>
        </p:blipFill>
        <p:spPr>
          <a:xfrm>
            <a:off x="457200" y="6519672"/>
            <a:ext cx="164822" cy="246888"/>
          </a:xfrm>
          <a:prstGeom prst="rect">
            <a:avLst/>
          </a:prstGeom>
        </p:spPr>
      </p:pic>
      <p:sp>
        <p:nvSpPr>
          <p:cNvPr id="11" name="TextBox 10"/>
          <p:cNvSpPr txBox="1"/>
          <p:nvPr/>
        </p:nvSpPr>
        <p:spPr>
          <a:xfrm>
            <a:off x="713232" y="6501384"/>
            <a:ext cx="4206240" cy="310896"/>
          </a:xfrm>
          <a:prstGeom prst="rect">
            <a:avLst/>
          </a:prstGeom>
          <a:noFill/>
        </p:spPr>
        <p:txBody>
          <a:bodyPr wrap="square" lIns="0" tIns="0" rIns="0" bIns="0" anchor="ctr">
            <a:spAutoFit/>
          </a:bodyPr>
          <a:lstStyle/>
          <a:p>
            <a:pPr algn="l">
              <a:lnSpc>
                <a:spcPct val="94000"/>
              </a:lnSpc>
              <a:spcBef>
                <a:spcPts val="0"/>
              </a:spcBef>
              <a:spcAft>
                <a:spcPts val="0"/>
              </a:spcAft>
            </a:pPr>
            <a:r>
              <a:rPr sz="800" b="0" i="0">
                <a:solidFill>
                  <a:srgbClr val="8A0C20"/>
                </a:solidFill>
                <a:latin typeface="Be Vietnam Pro SemiBold"/>
              </a:rPr>
              <a:t>ĐẠI HỌC BÁCH KHOA HÀ NỘI</a:t>
            </a:r>
          </a:p>
          <a:p>
            <a:pPr algn="l">
              <a:lnSpc>
                <a:spcPct val="94000"/>
              </a:lnSpc>
              <a:spcBef>
                <a:spcPts val="0"/>
              </a:spcBef>
              <a:spcAft>
                <a:spcPts val="0"/>
              </a:spcAft>
            </a:pPr>
            <a:r>
              <a:rPr sz="750" b="0" i="0">
                <a:solidFill>
                  <a:srgbClr val="6B7280"/>
                </a:solidFill>
                <a:latin typeface="Be Vietnam Pro"/>
              </a:rPr>
              <a:t>Phần mềm Quản lý Khen thưởng  ·  Trần Anh Đức</a:t>
            </a:r>
          </a:p>
        </p:txBody>
      </p:sp>
      <p:sp>
        <p:nvSpPr>
          <p:cNvPr id="12" name="TextBox 11"/>
          <p:cNvSpPr txBox="1"/>
          <p:nvPr/>
        </p:nvSpPr>
        <p:spPr>
          <a:xfrm>
            <a:off x="7680960" y="6501384"/>
            <a:ext cx="1005840" cy="310896"/>
          </a:xfrm>
          <a:prstGeom prst="rect">
            <a:avLst/>
          </a:prstGeom>
          <a:noFill/>
        </p:spPr>
        <p:txBody>
          <a:bodyPr wrap="square" lIns="0" tIns="0" rIns="0" bIns="0" anchor="ctr">
            <a:spAutoFit/>
          </a:bodyPr>
          <a:lstStyle/>
          <a:p>
            <a:pPr algn="r">
              <a:spcBef>
                <a:spcPts val="0"/>
              </a:spcBef>
              <a:spcAft>
                <a:spcPts val="0"/>
              </a:spcAft>
            </a:pPr>
            <a:r>
              <a:rPr sz="1200" b="0" i="0">
                <a:solidFill>
                  <a:srgbClr val="C00000"/>
                </a:solidFill>
                <a:latin typeface="Be Vietnam Pro ExtraBold"/>
              </a:rPr>
              <a:t>14</a:t>
            </a:r>
            <a:r>
              <a:rPr sz="900" b="0" i="0">
                <a:solidFill>
                  <a:srgbClr val="6B7280"/>
                </a:solidFill>
                <a:latin typeface="Be Vietnam Pro"/>
              </a:rPr>
              <a:t> / 31</a:t>
            </a:r>
          </a:p>
        </p:txBody>
      </p:sp>
      <p:pic>
        <p:nvPicPr>
          <p:cNvPr id="13" name="Picture 12" descr="erd1tochuc.png"/>
          <p:cNvPicPr>
            <a:picLocks noChangeAspect="1"/>
          </p:cNvPicPr>
          <p:nvPr/>
        </p:nvPicPr>
        <p:blipFill>
          <a:blip r:embed="rId4"/>
          <a:stretch>
            <a:fillRect/>
          </a:stretch>
        </p:blipFill>
        <p:spPr>
          <a:xfrm>
            <a:off x="502920" y="1591056"/>
            <a:ext cx="4526280" cy="3311912"/>
          </a:xfrm>
          <a:prstGeom prst="rect">
            <a:avLst/>
          </a:prstGeom>
          <a:ln w="9525">
            <a:solidFill>
              <a:srgbClr val="E5E7EB"/>
            </a:solidFill>
          </a:ln>
          <a:effectLst>
            <a:outerShdw blurRad="90000" dist="42000" dir="5400000" rotWithShape="0">
              <a:srgbClr val="98A2B3">
                <a:alpha val="16000"/>
              </a:srgbClr>
            </a:outerShdw>
          </a:effectLst>
        </p:spPr>
      </p:pic>
      <p:sp>
        <p:nvSpPr>
          <p:cNvPr id="14" name="TextBox 13"/>
          <p:cNvSpPr txBox="1"/>
          <p:nvPr/>
        </p:nvSpPr>
        <p:spPr>
          <a:xfrm>
            <a:off x="5230368" y="1627632"/>
            <a:ext cx="3410712" cy="4206240"/>
          </a:xfrm>
          <a:prstGeom prst="rect">
            <a:avLst/>
          </a:prstGeom>
          <a:noFill/>
        </p:spPr>
        <p:txBody>
          <a:bodyPr wrap="square" lIns="0" tIns="0" rIns="0" bIns="0" anchor="t">
            <a:spAutoFit/>
          </a:bodyPr>
          <a:lstStyle/>
          <a:p>
            <a:pPr algn="l">
              <a:lnSpc>
                <a:spcPct val="105000"/>
              </a:lnSpc>
              <a:spcBef>
                <a:spcPts val="0"/>
              </a:spcBef>
              <a:spcAft>
                <a:spcPts val="800"/>
              </a:spcAft>
            </a:pPr>
            <a:r>
              <a:rPr sz="1250" b="1" i="0">
                <a:solidFill>
                  <a:srgbClr val="C00000"/>
                </a:solidFill>
                <a:latin typeface="Be Vietnam Pro"/>
              </a:rPr>
              <a:t>Sáu bảng, chín khoá ngoại.</a:t>
            </a:r>
          </a:p>
          <a:p>
            <a:pPr marL="219456" indent="-219456" algn="l">
              <a:lnSpc>
                <a:spcPct val="108000"/>
              </a:lnSpc>
              <a:spcBef>
                <a:spcPts val="0"/>
              </a:spcBef>
              <a:spcAft>
                <a:spcPts val="700"/>
              </a:spcAft>
            </a:pPr>
            <a:r>
              <a:rPr sz="1000" b="1">
                <a:solidFill>
                  <a:srgbClr val="C00000"/>
                </a:solidFill>
                <a:latin typeface="Arial"/>
              </a:rPr>
              <a:t>▪  </a:t>
            </a:r>
            <a:r>
              <a:rPr sz="1100" b="0" i="0">
                <a:solidFill>
                  <a:srgbClr val="1F2937"/>
                </a:solidFill>
                <a:latin typeface="Be Vietnam Pro"/>
              </a:rPr>
              <a:t>Một </a:t>
            </a:r>
            <a:r>
              <a:rPr sz="1100" b="0" i="0">
                <a:solidFill>
                  <a:srgbClr val="1F2937"/>
                </a:solidFill>
                <a:latin typeface="Consolas"/>
              </a:rPr>
              <a:t>CoQuanDonVi</a:t>
            </a:r>
            <a:r>
              <a:rPr sz="1100" b="0" i="0">
                <a:solidFill>
                  <a:srgbClr val="1F2937"/>
                </a:solidFill>
                <a:latin typeface="Be Vietnam Pro"/>
              </a:rPr>
              <a:t> có nhiều </a:t>
            </a:r>
            <a:r>
              <a:rPr sz="1100" b="0" i="0">
                <a:solidFill>
                  <a:srgbClr val="1F2937"/>
                </a:solidFill>
                <a:latin typeface="Consolas"/>
              </a:rPr>
              <a:t>DonViTrucThuoc</a:t>
            </a:r>
            <a:r>
              <a:rPr sz="1100" b="0" i="0">
                <a:solidFill>
                  <a:srgbClr val="1F2937"/>
                </a:solidFill>
                <a:latin typeface="Be Vietnam Pro"/>
              </a:rPr>
              <a:t>.</a:t>
            </a:r>
          </a:p>
          <a:p>
            <a:pPr marL="219456" indent="-219456" algn="l">
              <a:lnSpc>
                <a:spcPct val="108000"/>
              </a:lnSpc>
              <a:spcBef>
                <a:spcPts val="0"/>
              </a:spcBef>
              <a:spcAft>
                <a:spcPts val="700"/>
              </a:spcAft>
            </a:pPr>
            <a:r>
              <a:rPr sz="1000" b="1">
                <a:solidFill>
                  <a:srgbClr val="C00000"/>
                </a:solidFill>
                <a:latin typeface="Arial"/>
              </a:rPr>
              <a:t>▪  </a:t>
            </a:r>
            <a:r>
              <a:rPr sz="1100" b="0" i="0">
                <a:solidFill>
                  <a:srgbClr val="1F2937"/>
                </a:solidFill>
                <a:latin typeface="Be Vietnam Pro"/>
              </a:rPr>
              <a:t>Mỗi </a:t>
            </a:r>
            <a:r>
              <a:rPr sz="1100" b="0" i="0">
                <a:solidFill>
                  <a:srgbClr val="1F2937"/>
                </a:solidFill>
                <a:latin typeface="Consolas"/>
              </a:rPr>
              <a:t>QuanNhan</a:t>
            </a:r>
            <a:r>
              <a:rPr sz="1100" b="0" i="0">
                <a:solidFill>
                  <a:srgbClr val="1F2937"/>
                </a:solidFill>
                <a:latin typeface="Be Vietnam Pro"/>
              </a:rPr>
              <a:t> gắn với một </a:t>
            </a:r>
            <a:r>
              <a:rPr sz="1100" b="0" i="0">
                <a:solidFill>
                  <a:srgbClr val="1F2937"/>
                </a:solidFill>
                <a:latin typeface="Consolas"/>
              </a:rPr>
              <a:t>ChucVu</a:t>
            </a:r>
            <a:r>
              <a:rPr sz="1100" b="0" i="0">
                <a:solidFill>
                  <a:srgbClr val="1F2937"/>
                </a:solidFill>
                <a:latin typeface="Be Vietnam Pro"/>
              </a:rPr>
              <a:t> và một đơn vị.</a:t>
            </a:r>
          </a:p>
          <a:p>
            <a:pPr marL="219456" indent="-219456" algn="l">
              <a:lnSpc>
                <a:spcPct val="108000"/>
              </a:lnSpc>
              <a:spcBef>
                <a:spcPts val="0"/>
              </a:spcBef>
              <a:spcAft>
                <a:spcPts val="700"/>
              </a:spcAft>
            </a:pPr>
            <a:r>
              <a:rPr sz="1000" b="1">
                <a:solidFill>
                  <a:srgbClr val="C00000"/>
                </a:solidFill>
                <a:latin typeface="Arial"/>
              </a:rPr>
              <a:t>▪  </a:t>
            </a:r>
            <a:r>
              <a:rPr sz="1100" b="0" i="0">
                <a:solidFill>
                  <a:srgbClr val="1F2937"/>
                </a:solidFill>
                <a:latin typeface="Be Vietnam Pro"/>
              </a:rPr>
              <a:t>Mỗi </a:t>
            </a:r>
            <a:r>
              <a:rPr sz="1100" b="0" i="0">
                <a:solidFill>
                  <a:srgbClr val="1F2937"/>
                </a:solidFill>
                <a:latin typeface="Consolas"/>
              </a:rPr>
              <a:t>QuanNhan</a:t>
            </a:r>
            <a:r>
              <a:rPr sz="1100" b="0" i="0">
                <a:solidFill>
                  <a:srgbClr val="1F2937"/>
                </a:solidFill>
                <a:latin typeface="Be Vietnam Pro"/>
              </a:rPr>
              <a:t> có tối đa một </a:t>
            </a:r>
            <a:r>
              <a:rPr sz="1100" b="0" i="0">
                <a:solidFill>
                  <a:srgbClr val="1F2937"/>
                </a:solidFill>
                <a:latin typeface="Consolas"/>
              </a:rPr>
              <a:t>TaiKhoan</a:t>
            </a:r>
            <a:r>
              <a:rPr sz="1100" b="0" i="0">
                <a:solidFill>
                  <a:srgbClr val="1F2937"/>
                </a:solidFill>
                <a:latin typeface="Be Vietnam Pro"/>
              </a:rPr>
              <a:t>.</a:t>
            </a:r>
          </a:p>
          <a:p>
            <a:pPr marL="219456" indent="-219456" algn="l">
              <a:lnSpc>
                <a:spcPct val="108000"/>
              </a:lnSpc>
              <a:spcBef>
                <a:spcPts val="0"/>
              </a:spcBef>
              <a:spcAft>
                <a:spcPts val="700"/>
              </a:spcAft>
            </a:pPr>
            <a:r>
              <a:rPr sz="1000" b="1">
                <a:solidFill>
                  <a:srgbClr val="C00000"/>
                </a:solidFill>
                <a:latin typeface="Arial"/>
              </a:rPr>
              <a:t>▪  </a:t>
            </a:r>
            <a:r>
              <a:rPr sz="1100" b="0" i="0">
                <a:solidFill>
                  <a:srgbClr val="1F2937"/>
                </a:solidFill>
                <a:latin typeface="Consolas"/>
              </a:rPr>
              <a:t>LichSuChucVu</a:t>
            </a:r>
            <a:r>
              <a:rPr sz="1100" b="0" i="0">
                <a:solidFill>
                  <a:srgbClr val="1F2937"/>
                </a:solidFill>
                <a:latin typeface="Be Vietnam Pro"/>
              </a:rPr>
              <a:t> ghi nhiều giai đoạn giữ chức vụ của một quân nhân (để tính tháng cống hiến).</a:t>
            </a:r>
          </a:p>
          <a:p>
            <a:pPr marL="219456" indent="-219456" algn="l">
              <a:lnSpc>
                <a:spcPct val="108000"/>
              </a:lnSpc>
              <a:spcBef>
                <a:spcPts val="0"/>
              </a:spcBef>
              <a:spcAft>
                <a:spcPts val="700"/>
              </a:spcAft>
            </a:pPr>
            <a:r>
              <a:rPr sz="1000" b="1">
                <a:solidFill>
                  <a:srgbClr val="C00000"/>
                </a:solidFill>
                <a:latin typeface="Arial"/>
              </a:rPr>
              <a:t>▪  </a:t>
            </a:r>
            <a:r>
              <a:rPr sz="1100" b="0" i="0">
                <a:solidFill>
                  <a:srgbClr val="1F2937"/>
                </a:solidFill>
                <a:latin typeface="Consolas"/>
              </a:rPr>
              <a:t>ChucVu</a:t>
            </a:r>
            <a:r>
              <a:rPr sz="1100" b="0" i="0">
                <a:solidFill>
                  <a:srgbClr val="1F2937"/>
                </a:solidFill>
                <a:latin typeface="Be Vietnam Pro"/>
              </a:rPr>
              <a:t> thuộc một đơn vị, duy nhất theo cặp (đơn vị, tên chức vụ).</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 y="-45720"/>
            <a:ext cx="9235440" cy="6949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 y="-45720"/>
            <a:ext cx="9235440" cy="886968"/>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motif_white.png"/>
          <p:cNvPicPr>
            <a:picLocks noChangeAspect="1"/>
          </p:cNvPicPr>
          <p:nvPr/>
        </p:nvPicPr>
        <p:blipFill>
          <a:blip r:embed="rId2">
            <a:alphaModFix amt="34000"/>
          </a:blip>
          <a:stretch>
            <a:fillRect/>
          </a:stretch>
        </p:blipFill>
        <p:spPr>
          <a:xfrm>
            <a:off x="5989320" y="-1874519"/>
            <a:ext cx="4206240" cy="3154680"/>
          </a:xfrm>
          <a:prstGeom prst="rect">
            <a:avLst/>
          </a:prstGeom>
        </p:spPr>
      </p:pic>
      <p:sp>
        <p:nvSpPr>
          <p:cNvPr id="5" name="Rectangle 4"/>
          <p:cNvSpPr/>
          <p:nvPr/>
        </p:nvSpPr>
        <p:spPr>
          <a:xfrm>
            <a:off x="-45720" y="841248"/>
            <a:ext cx="9235440" cy="96012"/>
          </a:xfrm>
          <a:prstGeom prst="rect">
            <a:avLst/>
          </a:prstGeom>
          <a:solidFill>
            <a:srgbClr val="ECA7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 y="937260"/>
            <a:ext cx="9235440" cy="20116"/>
          </a:xfrm>
          <a:prstGeom prst="rect">
            <a:avLst/>
          </a:prstGeom>
          <a:solidFill>
            <a:srgbClr val="8A0C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8288"/>
            <a:ext cx="5897880" cy="822960"/>
          </a:xfrm>
          <a:prstGeom prst="rect">
            <a:avLst/>
          </a:prstGeom>
          <a:noFill/>
        </p:spPr>
        <p:txBody>
          <a:bodyPr wrap="square" lIns="0" tIns="0" rIns="0" bIns="0" anchor="ctr">
            <a:spAutoFit/>
          </a:bodyPr>
          <a:lstStyle/>
          <a:p>
            <a:pPr algn="l">
              <a:lnSpc>
                <a:spcPct val="96000"/>
              </a:lnSpc>
              <a:spcBef>
                <a:spcPts val="0"/>
              </a:spcBef>
              <a:spcAft>
                <a:spcPts val="0"/>
              </a:spcAft>
            </a:pPr>
            <a:r>
              <a:rPr sz="2300" b="0" i="0">
                <a:solidFill>
                  <a:srgbClr val="FFFFFF"/>
                </a:solidFill>
                <a:latin typeface="Be Vietnam Pro ExtraBold"/>
              </a:rPr>
              <a:t>ERD: Đề xuất khen thưởng</a:t>
            </a:r>
          </a:p>
        </p:txBody>
      </p:sp>
      <p:sp>
        <p:nvSpPr>
          <p:cNvPr id="8" name="Rounded Rectangle 7"/>
          <p:cNvSpPr/>
          <p:nvPr/>
        </p:nvSpPr>
        <p:spPr>
          <a:xfrm>
            <a:off x="6473952" y="256032"/>
            <a:ext cx="2139696" cy="329184"/>
          </a:xfrm>
          <a:prstGeom prst="roundRect">
            <a:avLst>
              <a:gd name="adj" fmla="val 50000"/>
            </a:avLst>
          </a:prstGeom>
          <a:noFill/>
          <a:ln w="15875">
            <a:solidFill>
              <a:srgbClr val="F2C255"/>
            </a:solid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spcBef>
                <a:spcPts val="0"/>
              </a:spcBef>
              <a:spcAft>
                <a:spcPts val="0"/>
              </a:spcAft>
            </a:pPr>
            <a:r>
              <a:rPr sz="950" b="0" i="0" spc="80">
                <a:solidFill>
                  <a:srgbClr val="FFFFFF"/>
                </a:solidFill>
                <a:latin typeface="Be Vietnam Pro SemiBold"/>
              </a:rPr>
              <a:t>CÔNG NGHỆ &amp; THIẾT KẾ</a:t>
            </a:r>
          </a:p>
        </p:txBody>
      </p:sp>
      <p:sp>
        <p:nvSpPr>
          <p:cNvPr id="9" name="Rectangle 8"/>
          <p:cNvSpPr/>
          <p:nvPr/>
        </p:nvSpPr>
        <p:spPr>
          <a:xfrm>
            <a:off x="457200" y="6446520"/>
            <a:ext cx="8229600" cy="9144"/>
          </a:xfrm>
          <a:prstGeom prst="rect">
            <a:avLst/>
          </a:prstGeom>
          <a:solidFill>
            <a:srgbClr val="E3C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hust_shield.png"/>
          <p:cNvPicPr>
            <a:picLocks noChangeAspect="1"/>
          </p:cNvPicPr>
          <p:nvPr/>
        </p:nvPicPr>
        <p:blipFill>
          <a:blip r:embed="rId3"/>
          <a:stretch>
            <a:fillRect/>
          </a:stretch>
        </p:blipFill>
        <p:spPr>
          <a:xfrm>
            <a:off x="457200" y="6519672"/>
            <a:ext cx="164822" cy="246888"/>
          </a:xfrm>
          <a:prstGeom prst="rect">
            <a:avLst/>
          </a:prstGeom>
        </p:spPr>
      </p:pic>
      <p:sp>
        <p:nvSpPr>
          <p:cNvPr id="11" name="TextBox 10"/>
          <p:cNvSpPr txBox="1"/>
          <p:nvPr/>
        </p:nvSpPr>
        <p:spPr>
          <a:xfrm>
            <a:off x="713232" y="6501384"/>
            <a:ext cx="4206240" cy="310896"/>
          </a:xfrm>
          <a:prstGeom prst="rect">
            <a:avLst/>
          </a:prstGeom>
          <a:noFill/>
        </p:spPr>
        <p:txBody>
          <a:bodyPr wrap="square" lIns="0" tIns="0" rIns="0" bIns="0" anchor="ctr">
            <a:spAutoFit/>
          </a:bodyPr>
          <a:lstStyle/>
          <a:p>
            <a:pPr algn="l">
              <a:lnSpc>
                <a:spcPct val="94000"/>
              </a:lnSpc>
              <a:spcBef>
                <a:spcPts val="0"/>
              </a:spcBef>
              <a:spcAft>
                <a:spcPts val="0"/>
              </a:spcAft>
            </a:pPr>
            <a:r>
              <a:rPr sz="800" b="0" i="0">
                <a:solidFill>
                  <a:srgbClr val="8A0C20"/>
                </a:solidFill>
                <a:latin typeface="Be Vietnam Pro SemiBold"/>
              </a:rPr>
              <a:t>ĐẠI HỌC BÁCH KHOA HÀ NỘI</a:t>
            </a:r>
          </a:p>
          <a:p>
            <a:pPr algn="l">
              <a:lnSpc>
                <a:spcPct val="94000"/>
              </a:lnSpc>
              <a:spcBef>
                <a:spcPts val="0"/>
              </a:spcBef>
              <a:spcAft>
                <a:spcPts val="0"/>
              </a:spcAft>
            </a:pPr>
            <a:r>
              <a:rPr sz="750" b="0" i="0">
                <a:solidFill>
                  <a:srgbClr val="6B7280"/>
                </a:solidFill>
                <a:latin typeface="Be Vietnam Pro"/>
              </a:rPr>
              <a:t>Phần mềm Quản lý Khen thưởng  ·  Trần Anh Đức</a:t>
            </a:r>
          </a:p>
        </p:txBody>
      </p:sp>
      <p:sp>
        <p:nvSpPr>
          <p:cNvPr id="12" name="TextBox 11"/>
          <p:cNvSpPr txBox="1"/>
          <p:nvPr/>
        </p:nvSpPr>
        <p:spPr>
          <a:xfrm>
            <a:off x="7680960" y="6501384"/>
            <a:ext cx="1005840" cy="310896"/>
          </a:xfrm>
          <a:prstGeom prst="rect">
            <a:avLst/>
          </a:prstGeom>
          <a:noFill/>
        </p:spPr>
        <p:txBody>
          <a:bodyPr wrap="square" lIns="0" tIns="0" rIns="0" bIns="0" anchor="ctr">
            <a:spAutoFit/>
          </a:bodyPr>
          <a:lstStyle/>
          <a:p>
            <a:pPr algn="r">
              <a:spcBef>
                <a:spcPts val="0"/>
              </a:spcBef>
              <a:spcAft>
                <a:spcPts val="0"/>
              </a:spcAft>
            </a:pPr>
            <a:r>
              <a:rPr sz="1200" b="0" i="0">
                <a:solidFill>
                  <a:srgbClr val="C00000"/>
                </a:solidFill>
                <a:latin typeface="Be Vietnam Pro ExtraBold"/>
              </a:rPr>
              <a:t>15</a:t>
            </a:r>
            <a:r>
              <a:rPr sz="900" b="0" i="0">
                <a:solidFill>
                  <a:srgbClr val="6B7280"/>
                </a:solidFill>
                <a:latin typeface="Be Vietnam Pro"/>
              </a:rPr>
              <a:t> / 31</a:t>
            </a:r>
          </a:p>
        </p:txBody>
      </p:sp>
      <p:pic>
        <p:nvPicPr>
          <p:cNvPr id="13" name="Picture 12" descr="erd2dexuat.png"/>
          <p:cNvPicPr>
            <a:picLocks noChangeAspect="1"/>
          </p:cNvPicPr>
          <p:nvPr/>
        </p:nvPicPr>
        <p:blipFill>
          <a:blip r:embed="rId4"/>
          <a:stretch>
            <a:fillRect/>
          </a:stretch>
        </p:blipFill>
        <p:spPr>
          <a:xfrm>
            <a:off x="916940" y="1591056"/>
            <a:ext cx="3698240" cy="4160520"/>
          </a:xfrm>
          <a:prstGeom prst="rect">
            <a:avLst/>
          </a:prstGeom>
          <a:ln w="9525">
            <a:solidFill>
              <a:srgbClr val="E5E7EB"/>
            </a:solidFill>
          </a:ln>
          <a:effectLst>
            <a:outerShdw blurRad="90000" dist="42000" dir="5400000" rotWithShape="0">
              <a:srgbClr val="98A2B3">
                <a:alpha val="16000"/>
              </a:srgbClr>
            </a:outerShdw>
          </a:effectLst>
        </p:spPr>
      </p:pic>
      <p:sp>
        <p:nvSpPr>
          <p:cNvPr id="14" name="TextBox 13"/>
          <p:cNvSpPr txBox="1"/>
          <p:nvPr/>
        </p:nvSpPr>
        <p:spPr>
          <a:xfrm>
            <a:off x="5230368" y="1627632"/>
            <a:ext cx="3410712" cy="4206240"/>
          </a:xfrm>
          <a:prstGeom prst="rect">
            <a:avLst/>
          </a:prstGeom>
          <a:noFill/>
        </p:spPr>
        <p:txBody>
          <a:bodyPr wrap="square" lIns="0" tIns="0" rIns="0" bIns="0" anchor="t">
            <a:spAutoFit/>
          </a:bodyPr>
          <a:lstStyle/>
          <a:p>
            <a:pPr algn="l">
              <a:lnSpc>
                <a:spcPct val="105000"/>
              </a:lnSpc>
              <a:spcBef>
                <a:spcPts val="0"/>
              </a:spcBef>
              <a:spcAft>
                <a:spcPts val="800"/>
              </a:spcAft>
            </a:pPr>
            <a:r>
              <a:rPr sz="1250" b="1" i="0">
                <a:solidFill>
                  <a:srgbClr val="C00000"/>
                </a:solidFill>
                <a:latin typeface="Be Vietnam Pro"/>
              </a:rPr>
              <a:t>BangDeXuat là trung tâm, bốn khoá ngoại.</a:t>
            </a:r>
          </a:p>
          <a:p>
            <a:pPr marL="219456" indent="-219456" algn="l">
              <a:lnSpc>
                <a:spcPct val="108000"/>
              </a:lnSpc>
              <a:spcBef>
                <a:spcPts val="0"/>
              </a:spcBef>
              <a:spcAft>
                <a:spcPts val="700"/>
              </a:spcAft>
            </a:pPr>
            <a:r>
              <a:rPr sz="1000" b="1">
                <a:solidFill>
                  <a:srgbClr val="C00000"/>
                </a:solidFill>
                <a:latin typeface="Arial"/>
              </a:rPr>
              <a:t>▪  </a:t>
            </a:r>
            <a:r>
              <a:rPr sz="1100" b="0" i="0">
                <a:solidFill>
                  <a:srgbClr val="1F2937"/>
                </a:solidFill>
                <a:latin typeface="Be Vietnam Pro"/>
              </a:rPr>
              <a:t>Mỗi đề xuất gắn với một đơn vị nộp.</a:t>
            </a:r>
          </a:p>
          <a:p>
            <a:pPr marL="219456" indent="-219456" algn="l">
              <a:lnSpc>
                <a:spcPct val="108000"/>
              </a:lnSpc>
              <a:spcBef>
                <a:spcPts val="0"/>
              </a:spcBef>
              <a:spcAft>
                <a:spcPts val="700"/>
              </a:spcAft>
            </a:pPr>
            <a:r>
              <a:rPr sz="1000" b="1">
                <a:solidFill>
                  <a:srgbClr val="C00000"/>
                </a:solidFill>
                <a:latin typeface="Arial"/>
              </a:rPr>
              <a:t>▪  </a:t>
            </a:r>
            <a:r>
              <a:rPr sz="1100" b="0" i="0">
                <a:solidFill>
                  <a:srgbClr val="1F2937"/>
                </a:solidFill>
                <a:latin typeface="Be Vietnam Pro"/>
              </a:rPr>
              <a:t>Mỗi đề xuất ghi nhận </a:t>
            </a:r>
            <a:r>
              <a:rPr sz="1100" b="0" i="0">
                <a:solidFill>
                  <a:srgbClr val="1F2937"/>
                </a:solidFill>
                <a:latin typeface="Consolas"/>
              </a:rPr>
              <a:t>TaiKhoan</a:t>
            </a:r>
            <a:r>
              <a:rPr sz="1100" b="0" i="0">
                <a:solidFill>
                  <a:srgbClr val="1F2937"/>
                </a:solidFill>
                <a:latin typeface="Be Vietnam Pro"/>
              </a:rPr>
              <a:t> người đề xuất và người duyệt.</a:t>
            </a:r>
          </a:p>
          <a:p>
            <a:pPr marL="219456" indent="-219456" algn="l">
              <a:lnSpc>
                <a:spcPct val="108000"/>
              </a:lnSpc>
              <a:spcBef>
                <a:spcPts val="0"/>
              </a:spcBef>
              <a:spcAft>
                <a:spcPts val="700"/>
              </a:spcAft>
            </a:pPr>
            <a:r>
              <a:rPr sz="1000" b="1">
                <a:solidFill>
                  <a:srgbClr val="C00000"/>
                </a:solidFill>
                <a:latin typeface="Arial"/>
              </a:rPr>
              <a:t>▪  </a:t>
            </a:r>
            <a:r>
              <a:rPr sz="1100" b="0" i="0">
                <a:solidFill>
                  <a:srgbClr val="1F2937"/>
                </a:solidFill>
                <a:latin typeface="Be Vietnam Pro"/>
              </a:rPr>
              <a:t>Không nối trực tiếp tới bảng khen thưởng — chi tiết từng loại nằm trong các cột JSON (</a:t>
            </a:r>
            <a:r>
              <a:rPr sz="1000" b="0" i="0">
                <a:solidFill>
                  <a:srgbClr val="1F2937"/>
                </a:solidFill>
                <a:latin typeface="Consolas"/>
              </a:rPr>
              <a:t>data_danh_hieu</a:t>
            </a:r>
            <a:r>
              <a:rPr sz="1100" b="0" i="0">
                <a:solidFill>
                  <a:srgbClr val="1F2937"/>
                </a:solidFill>
                <a:latin typeface="Be Vietnam Pro"/>
              </a:rPr>
              <a:t>, </a:t>
            </a:r>
            <a:r>
              <a:rPr sz="1000" b="0" i="0">
                <a:solidFill>
                  <a:srgbClr val="1F2937"/>
                </a:solidFill>
                <a:latin typeface="Consolas"/>
              </a:rPr>
              <a:t>data_thanh_tich</a:t>
            </a:r>
            <a:r>
              <a:rPr sz="1100" b="0" i="0">
                <a:solidFill>
                  <a:srgbClr val="1F2937"/>
                </a:solidFill>
                <a:latin typeface="Be Vietnam Pro"/>
              </a:rPr>
              <a:t>, </a:t>
            </a:r>
            <a:r>
              <a:rPr sz="1000" b="0" i="0">
                <a:solidFill>
                  <a:srgbClr val="1F2937"/>
                </a:solidFill>
                <a:latin typeface="Consolas"/>
              </a:rPr>
              <a:t>data_nien_han</a:t>
            </a:r>
            <a:r>
              <a:rPr sz="1100" b="0" i="0">
                <a:solidFill>
                  <a:srgbClr val="1F2937"/>
                </a:solidFill>
                <a:latin typeface="Be Vietnam Pro"/>
              </a:rPr>
              <a:t>, </a:t>
            </a:r>
            <a:r>
              <a:rPr sz="1000" b="0" i="0">
                <a:solidFill>
                  <a:srgbClr val="1F2937"/>
                </a:solidFill>
                <a:latin typeface="Consolas"/>
              </a:rPr>
              <a:t>data_cong_hien</a:t>
            </a:r>
            <a:r>
              <a:rPr sz="1100" b="0" i="0">
                <a:solidFill>
                  <a:srgbClr val="1F2937"/>
                </a:solidFill>
                <a:latin typeface="Be Vietnam Pro"/>
              </a:rPr>
              <a:t>), chỉ ghi thành bản ghi khi phê duyệt.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 y="-45720"/>
            <a:ext cx="9235440" cy="6949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 y="-45720"/>
            <a:ext cx="9235440" cy="886968"/>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motif_white.png"/>
          <p:cNvPicPr>
            <a:picLocks noChangeAspect="1"/>
          </p:cNvPicPr>
          <p:nvPr/>
        </p:nvPicPr>
        <p:blipFill>
          <a:blip r:embed="rId2">
            <a:alphaModFix amt="34000"/>
          </a:blip>
          <a:stretch>
            <a:fillRect/>
          </a:stretch>
        </p:blipFill>
        <p:spPr>
          <a:xfrm>
            <a:off x="5989320" y="-1874519"/>
            <a:ext cx="4206240" cy="3154680"/>
          </a:xfrm>
          <a:prstGeom prst="rect">
            <a:avLst/>
          </a:prstGeom>
        </p:spPr>
      </p:pic>
      <p:sp>
        <p:nvSpPr>
          <p:cNvPr id="5" name="Rectangle 4"/>
          <p:cNvSpPr/>
          <p:nvPr/>
        </p:nvSpPr>
        <p:spPr>
          <a:xfrm>
            <a:off x="-45720" y="841248"/>
            <a:ext cx="9235440" cy="96012"/>
          </a:xfrm>
          <a:prstGeom prst="rect">
            <a:avLst/>
          </a:prstGeom>
          <a:solidFill>
            <a:srgbClr val="ECA7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 y="937260"/>
            <a:ext cx="9235440" cy="20116"/>
          </a:xfrm>
          <a:prstGeom prst="rect">
            <a:avLst/>
          </a:prstGeom>
          <a:solidFill>
            <a:srgbClr val="8A0C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8288"/>
            <a:ext cx="5897880" cy="822960"/>
          </a:xfrm>
          <a:prstGeom prst="rect">
            <a:avLst/>
          </a:prstGeom>
          <a:noFill/>
        </p:spPr>
        <p:txBody>
          <a:bodyPr wrap="square" lIns="0" tIns="0" rIns="0" bIns="0" anchor="ctr">
            <a:spAutoFit/>
          </a:bodyPr>
          <a:lstStyle/>
          <a:p>
            <a:pPr algn="l">
              <a:lnSpc>
                <a:spcPct val="96000"/>
              </a:lnSpc>
              <a:spcBef>
                <a:spcPts val="0"/>
              </a:spcBef>
              <a:spcAft>
                <a:spcPts val="0"/>
              </a:spcAft>
            </a:pPr>
            <a:r>
              <a:rPr sz="2300" b="0" i="0">
                <a:solidFill>
                  <a:srgbClr val="FFFFFF"/>
                </a:solidFill>
                <a:latin typeface="Be Vietnam Pro ExtraBold"/>
              </a:rPr>
              <a:t>ERD: Khen thưởng cá nhân</a:t>
            </a:r>
          </a:p>
        </p:txBody>
      </p:sp>
      <p:sp>
        <p:nvSpPr>
          <p:cNvPr id="8" name="Rounded Rectangle 7"/>
          <p:cNvSpPr/>
          <p:nvPr/>
        </p:nvSpPr>
        <p:spPr>
          <a:xfrm>
            <a:off x="6473952" y="256032"/>
            <a:ext cx="2139696" cy="329184"/>
          </a:xfrm>
          <a:prstGeom prst="roundRect">
            <a:avLst>
              <a:gd name="adj" fmla="val 50000"/>
            </a:avLst>
          </a:prstGeom>
          <a:noFill/>
          <a:ln w="15875">
            <a:solidFill>
              <a:srgbClr val="F2C255"/>
            </a:solid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spcBef>
                <a:spcPts val="0"/>
              </a:spcBef>
              <a:spcAft>
                <a:spcPts val="0"/>
              </a:spcAft>
            </a:pPr>
            <a:r>
              <a:rPr sz="950" b="0" i="0" spc="80">
                <a:solidFill>
                  <a:srgbClr val="FFFFFF"/>
                </a:solidFill>
                <a:latin typeface="Be Vietnam Pro SemiBold"/>
              </a:rPr>
              <a:t>CÔNG NGHỆ &amp; THIẾT KẾ</a:t>
            </a:r>
          </a:p>
        </p:txBody>
      </p:sp>
      <p:sp>
        <p:nvSpPr>
          <p:cNvPr id="9" name="Rectangle 8"/>
          <p:cNvSpPr/>
          <p:nvPr/>
        </p:nvSpPr>
        <p:spPr>
          <a:xfrm>
            <a:off x="457200" y="6446520"/>
            <a:ext cx="8229600" cy="9144"/>
          </a:xfrm>
          <a:prstGeom prst="rect">
            <a:avLst/>
          </a:prstGeom>
          <a:solidFill>
            <a:srgbClr val="E3C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hust_shield.png"/>
          <p:cNvPicPr>
            <a:picLocks noChangeAspect="1"/>
          </p:cNvPicPr>
          <p:nvPr/>
        </p:nvPicPr>
        <p:blipFill>
          <a:blip r:embed="rId3"/>
          <a:stretch>
            <a:fillRect/>
          </a:stretch>
        </p:blipFill>
        <p:spPr>
          <a:xfrm>
            <a:off x="457200" y="6519672"/>
            <a:ext cx="164822" cy="246888"/>
          </a:xfrm>
          <a:prstGeom prst="rect">
            <a:avLst/>
          </a:prstGeom>
        </p:spPr>
      </p:pic>
      <p:sp>
        <p:nvSpPr>
          <p:cNvPr id="11" name="TextBox 10"/>
          <p:cNvSpPr txBox="1"/>
          <p:nvPr/>
        </p:nvSpPr>
        <p:spPr>
          <a:xfrm>
            <a:off x="713232" y="6501384"/>
            <a:ext cx="4206240" cy="310896"/>
          </a:xfrm>
          <a:prstGeom prst="rect">
            <a:avLst/>
          </a:prstGeom>
          <a:noFill/>
        </p:spPr>
        <p:txBody>
          <a:bodyPr wrap="square" lIns="0" tIns="0" rIns="0" bIns="0" anchor="ctr">
            <a:spAutoFit/>
          </a:bodyPr>
          <a:lstStyle/>
          <a:p>
            <a:pPr algn="l">
              <a:lnSpc>
                <a:spcPct val="94000"/>
              </a:lnSpc>
              <a:spcBef>
                <a:spcPts val="0"/>
              </a:spcBef>
              <a:spcAft>
                <a:spcPts val="0"/>
              </a:spcAft>
            </a:pPr>
            <a:r>
              <a:rPr sz="800" b="0" i="0">
                <a:solidFill>
                  <a:srgbClr val="8A0C20"/>
                </a:solidFill>
                <a:latin typeface="Be Vietnam Pro SemiBold"/>
              </a:rPr>
              <a:t>ĐẠI HỌC BÁCH KHOA HÀ NỘI</a:t>
            </a:r>
          </a:p>
          <a:p>
            <a:pPr algn="l">
              <a:lnSpc>
                <a:spcPct val="94000"/>
              </a:lnSpc>
              <a:spcBef>
                <a:spcPts val="0"/>
              </a:spcBef>
              <a:spcAft>
                <a:spcPts val="0"/>
              </a:spcAft>
            </a:pPr>
            <a:r>
              <a:rPr sz="750" b="0" i="0">
                <a:solidFill>
                  <a:srgbClr val="6B7280"/>
                </a:solidFill>
                <a:latin typeface="Be Vietnam Pro"/>
              </a:rPr>
              <a:t>Phần mềm Quản lý Khen thưởng  ·  Trần Anh Đức</a:t>
            </a:r>
          </a:p>
        </p:txBody>
      </p:sp>
      <p:sp>
        <p:nvSpPr>
          <p:cNvPr id="12" name="TextBox 11"/>
          <p:cNvSpPr txBox="1"/>
          <p:nvPr/>
        </p:nvSpPr>
        <p:spPr>
          <a:xfrm>
            <a:off x="7680960" y="6501384"/>
            <a:ext cx="1005840" cy="310896"/>
          </a:xfrm>
          <a:prstGeom prst="rect">
            <a:avLst/>
          </a:prstGeom>
          <a:noFill/>
        </p:spPr>
        <p:txBody>
          <a:bodyPr wrap="square" lIns="0" tIns="0" rIns="0" bIns="0" anchor="ctr">
            <a:spAutoFit/>
          </a:bodyPr>
          <a:lstStyle/>
          <a:p>
            <a:pPr algn="r">
              <a:spcBef>
                <a:spcPts val="0"/>
              </a:spcBef>
              <a:spcAft>
                <a:spcPts val="0"/>
              </a:spcAft>
            </a:pPr>
            <a:r>
              <a:rPr sz="1200" b="0" i="0">
                <a:solidFill>
                  <a:srgbClr val="C00000"/>
                </a:solidFill>
                <a:latin typeface="Be Vietnam Pro ExtraBold"/>
              </a:rPr>
              <a:t>16</a:t>
            </a:r>
            <a:r>
              <a:rPr sz="900" b="0" i="0">
                <a:solidFill>
                  <a:srgbClr val="6B7280"/>
                </a:solidFill>
                <a:latin typeface="Be Vietnam Pro"/>
              </a:rPr>
              <a:t> / 31</a:t>
            </a:r>
          </a:p>
        </p:txBody>
      </p:sp>
      <p:pic>
        <p:nvPicPr>
          <p:cNvPr id="13" name="Picture 12" descr="erd3khenthuongcanhan.png"/>
          <p:cNvPicPr>
            <a:picLocks noChangeAspect="1"/>
          </p:cNvPicPr>
          <p:nvPr/>
        </p:nvPicPr>
        <p:blipFill>
          <a:blip r:embed="rId4"/>
          <a:stretch>
            <a:fillRect/>
          </a:stretch>
        </p:blipFill>
        <p:spPr>
          <a:xfrm>
            <a:off x="502920" y="1591056"/>
            <a:ext cx="4526280" cy="3419856"/>
          </a:xfrm>
          <a:prstGeom prst="rect">
            <a:avLst/>
          </a:prstGeom>
          <a:ln w="9525">
            <a:solidFill>
              <a:srgbClr val="E5E7EB"/>
            </a:solidFill>
          </a:ln>
          <a:effectLst>
            <a:outerShdw blurRad="90000" dist="42000" dir="5400000" rotWithShape="0">
              <a:srgbClr val="98A2B3">
                <a:alpha val="16000"/>
              </a:srgbClr>
            </a:outerShdw>
          </a:effectLst>
        </p:spPr>
      </p:pic>
      <p:sp>
        <p:nvSpPr>
          <p:cNvPr id="14" name="TextBox 13"/>
          <p:cNvSpPr txBox="1"/>
          <p:nvPr/>
        </p:nvSpPr>
        <p:spPr>
          <a:xfrm>
            <a:off x="5230368" y="1627632"/>
            <a:ext cx="3410712" cy="4206240"/>
          </a:xfrm>
          <a:prstGeom prst="rect">
            <a:avLst/>
          </a:prstGeom>
          <a:noFill/>
        </p:spPr>
        <p:txBody>
          <a:bodyPr wrap="square" lIns="0" tIns="0" rIns="0" bIns="0" anchor="t">
            <a:spAutoFit/>
          </a:bodyPr>
          <a:lstStyle/>
          <a:p>
            <a:pPr algn="l">
              <a:lnSpc>
                <a:spcPct val="105000"/>
              </a:lnSpc>
              <a:spcBef>
                <a:spcPts val="0"/>
              </a:spcBef>
              <a:spcAft>
                <a:spcPts val="800"/>
              </a:spcAft>
            </a:pPr>
            <a:r>
              <a:rPr sz="1250" b="1" i="0">
                <a:solidFill>
                  <a:srgbClr val="C00000"/>
                </a:solidFill>
                <a:latin typeface="Be Vietnam Pro"/>
              </a:rPr>
              <a:t>Mười bảng, mười hai khoá ngoại tới QuanNhan.</a:t>
            </a:r>
          </a:p>
          <a:p>
            <a:pPr marL="219456" indent="-219456" algn="l">
              <a:lnSpc>
                <a:spcPct val="108000"/>
              </a:lnSpc>
              <a:spcBef>
                <a:spcPts val="0"/>
              </a:spcBef>
              <a:spcAft>
                <a:spcPts val="700"/>
              </a:spcAft>
            </a:pPr>
            <a:r>
              <a:rPr sz="1000" b="1">
                <a:solidFill>
                  <a:srgbClr val="C00000"/>
                </a:solidFill>
                <a:latin typeface="Arial"/>
              </a:rPr>
              <a:t>▪  </a:t>
            </a:r>
            <a:r>
              <a:rPr sz="1100" b="0" i="0">
                <a:solidFill>
                  <a:srgbClr val="1F2937"/>
                </a:solidFill>
                <a:latin typeface="Be Vietnam Pro"/>
              </a:rPr>
              <a:t>Một quân nhân có nhiều bản ghi </a:t>
            </a:r>
            <a:r>
              <a:rPr sz="1000" b="0" i="0">
                <a:solidFill>
                  <a:srgbClr val="1F2937"/>
                </a:solidFill>
                <a:latin typeface="Consolas"/>
              </a:rPr>
              <a:t>DanhHieuHangNam</a:t>
            </a:r>
            <a:r>
              <a:rPr sz="1100" b="0" i="0">
                <a:solidFill>
                  <a:srgbClr val="1F2937"/>
                </a:solidFill>
                <a:latin typeface="Be Vietnam Pro"/>
              </a:rPr>
              <a:t>, </a:t>
            </a:r>
            <a:r>
              <a:rPr sz="1000" b="0" i="0">
                <a:solidFill>
                  <a:srgbClr val="1F2937"/>
                </a:solidFill>
                <a:latin typeface="Consolas"/>
              </a:rPr>
              <a:t>ThanhTichKhoaHoc</a:t>
            </a:r>
            <a:r>
              <a:rPr sz="1100" b="0" i="0">
                <a:solidFill>
                  <a:srgbClr val="1F2937"/>
                </a:solidFill>
                <a:latin typeface="Be Vietnam Pro"/>
              </a:rPr>
              <a:t>, </a:t>
            </a:r>
            <a:r>
              <a:rPr sz="1000" b="0" i="0">
                <a:solidFill>
                  <a:srgbClr val="1F2937"/>
                </a:solidFill>
                <a:latin typeface="Consolas"/>
              </a:rPr>
              <a:t>KhenThuongHCCSVV</a:t>
            </a:r>
            <a:r>
              <a:rPr sz="1100" b="0" i="0">
                <a:solidFill>
                  <a:srgbClr val="1F2937"/>
                </a:solidFill>
                <a:latin typeface="Be Vietnam Pro"/>
              </a:rPr>
              <a:t>.</a:t>
            </a:r>
          </a:p>
          <a:p>
            <a:pPr marL="219456" indent="-219456" algn="l">
              <a:lnSpc>
                <a:spcPct val="108000"/>
              </a:lnSpc>
              <a:spcBef>
                <a:spcPts val="0"/>
              </a:spcBef>
              <a:spcAft>
                <a:spcPts val="700"/>
              </a:spcAft>
            </a:pPr>
            <a:r>
              <a:rPr sz="1000" b="1">
                <a:solidFill>
                  <a:srgbClr val="C00000"/>
                </a:solidFill>
                <a:latin typeface="Arial"/>
              </a:rPr>
              <a:t>▪  </a:t>
            </a:r>
            <a:r>
              <a:rPr sz="1100" b="0" i="0">
                <a:solidFill>
                  <a:srgbClr val="1F2937"/>
                </a:solidFill>
                <a:latin typeface="Be Vietnam Pro"/>
              </a:rPr>
              <a:t>Chỉ một bản ghi cho HCBVTQ, HCQKQT, KNC và ba bảng </a:t>
            </a:r>
            <a:r>
              <a:rPr sz="1100" b="0" i="0">
                <a:solidFill>
                  <a:srgbClr val="1F2937"/>
                </a:solidFill>
                <a:latin typeface="Consolas"/>
              </a:rPr>
              <a:t>HoSo*</a:t>
            </a:r>
            <a:r>
              <a:rPr sz="1100" b="0" i="0">
                <a:solidFill>
                  <a:srgbClr val="1F2937"/>
                </a:solidFill>
                <a:latin typeface="Be Vietnam Pro"/>
              </a:rPr>
              <a:t> (quan hệ 1–1).</a:t>
            </a:r>
          </a:p>
          <a:p>
            <a:pPr marL="219456" indent="-219456" algn="l">
              <a:lnSpc>
                <a:spcPct val="108000"/>
              </a:lnSpc>
              <a:spcBef>
                <a:spcPts val="0"/>
              </a:spcBef>
              <a:spcAft>
                <a:spcPts val="700"/>
              </a:spcAft>
            </a:pPr>
            <a:r>
              <a:rPr sz="1000" b="1">
                <a:solidFill>
                  <a:srgbClr val="C00000"/>
                </a:solidFill>
                <a:latin typeface="Arial"/>
              </a:rPr>
              <a:t>▪  </a:t>
            </a:r>
            <a:r>
              <a:rPr sz="1100" b="0" i="0">
                <a:solidFill>
                  <a:srgbClr val="1F2937"/>
                </a:solidFill>
                <a:latin typeface="Be Vietnam Pro"/>
              </a:rPr>
              <a:t>Mỗi bản ghi tham chiếu một </a:t>
            </a:r>
            <a:r>
              <a:rPr sz="1000" b="0" i="0">
                <a:solidFill>
                  <a:srgbClr val="1F2937"/>
                </a:solidFill>
                <a:latin typeface="Consolas"/>
              </a:rPr>
              <a:t>FileQuyetDinh</a:t>
            </a:r>
            <a:r>
              <a:rPr sz="1100" b="0" i="0">
                <a:solidFill>
                  <a:srgbClr val="1F2937"/>
                </a:solidFill>
                <a:latin typeface="Be Vietnam Pro"/>
              </a:rPr>
              <a:t> (riêng </a:t>
            </a:r>
            <a:r>
              <a:rPr sz="1000" b="0" i="0">
                <a:solidFill>
                  <a:srgbClr val="1F2937"/>
                </a:solidFill>
                <a:latin typeface="Consolas"/>
              </a:rPr>
              <a:t>DanhHieuHangNam</a:t>
            </a:r>
            <a:r>
              <a:rPr sz="1100" b="0" i="0">
                <a:solidFill>
                  <a:srgbClr val="1F2937"/>
                </a:solidFill>
                <a:latin typeface="Be Vietnam Pro"/>
              </a:rPr>
              <a:t> tham chiếu bốn lần — mỗi cấp một số QĐ).</a:t>
            </a:r>
          </a:p>
          <a:p>
            <a:pPr marL="219456" indent="-219456" algn="l">
              <a:lnSpc>
                <a:spcPct val="108000"/>
              </a:lnSpc>
              <a:spcBef>
                <a:spcPts val="0"/>
              </a:spcBef>
              <a:spcAft>
                <a:spcPts val="700"/>
              </a:spcAft>
            </a:pPr>
            <a:r>
              <a:rPr sz="1000" b="1">
                <a:solidFill>
                  <a:srgbClr val="C00000"/>
                </a:solidFill>
                <a:latin typeface="Arial"/>
              </a:rPr>
              <a:t>▪  </a:t>
            </a:r>
            <a:r>
              <a:rPr sz="1100" b="0" i="0">
                <a:solidFill>
                  <a:srgbClr val="1F2937"/>
                </a:solidFill>
                <a:latin typeface="Be Vietnam Pro"/>
              </a:rPr>
              <a:t>Duy nhất (quân nhân, năm) ở </a:t>
            </a:r>
            <a:r>
              <a:rPr sz="1000" b="0" i="0">
                <a:solidFill>
                  <a:srgbClr val="1F2937"/>
                </a:solidFill>
                <a:latin typeface="Consolas"/>
              </a:rPr>
              <a:t>DanhHieuHangNam</a:t>
            </a:r>
            <a:r>
              <a:rPr sz="1100" b="0" i="0">
                <a:solidFill>
                  <a:srgbClr val="1F2937"/>
                </a:solidFill>
                <a:latin typeface="Be Vietnam Pro"/>
              </a:rPr>
              <a:t>, (quân nhân, hạng) ở HCCSVV; xoá quân nhân thì các bản ghi xoá theo.</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 y="-45720"/>
            <a:ext cx="9235440" cy="6949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 y="-45720"/>
            <a:ext cx="9235440" cy="886968"/>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motif_white.png"/>
          <p:cNvPicPr>
            <a:picLocks noChangeAspect="1"/>
          </p:cNvPicPr>
          <p:nvPr/>
        </p:nvPicPr>
        <p:blipFill>
          <a:blip r:embed="rId2">
            <a:alphaModFix amt="34000"/>
          </a:blip>
          <a:stretch>
            <a:fillRect/>
          </a:stretch>
        </p:blipFill>
        <p:spPr>
          <a:xfrm>
            <a:off x="5989320" y="-1874519"/>
            <a:ext cx="4206240" cy="3154680"/>
          </a:xfrm>
          <a:prstGeom prst="rect">
            <a:avLst/>
          </a:prstGeom>
        </p:spPr>
      </p:pic>
      <p:sp>
        <p:nvSpPr>
          <p:cNvPr id="5" name="Rectangle 4"/>
          <p:cNvSpPr/>
          <p:nvPr/>
        </p:nvSpPr>
        <p:spPr>
          <a:xfrm>
            <a:off x="-45720" y="841248"/>
            <a:ext cx="9235440" cy="96012"/>
          </a:xfrm>
          <a:prstGeom prst="rect">
            <a:avLst/>
          </a:prstGeom>
          <a:solidFill>
            <a:srgbClr val="ECA7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 y="937260"/>
            <a:ext cx="9235440" cy="20116"/>
          </a:xfrm>
          <a:prstGeom prst="rect">
            <a:avLst/>
          </a:prstGeom>
          <a:solidFill>
            <a:srgbClr val="8A0C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8288"/>
            <a:ext cx="5897880" cy="822960"/>
          </a:xfrm>
          <a:prstGeom prst="rect">
            <a:avLst/>
          </a:prstGeom>
          <a:noFill/>
        </p:spPr>
        <p:txBody>
          <a:bodyPr wrap="square" lIns="0" tIns="0" rIns="0" bIns="0" anchor="ctr">
            <a:spAutoFit/>
          </a:bodyPr>
          <a:lstStyle/>
          <a:p>
            <a:pPr algn="l">
              <a:lnSpc>
                <a:spcPct val="96000"/>
              </a:lnSpc>
              <a:spcBef>
                <a:spcPts val="0"/>
              </a:spcBef>
              <a:spcAft>
                <a:spcPts val="0"/>
              </a:spcAft>
            </a:pPr>
            <a:r>
              <a:rPr sz="2300" b="0" i="0">
                <a:solidFill>
                  <a:srgbClr val="FFFFFF"/>
                </a:solidFill>
                <a:latin typeface="Be Vietnam Pro ExtraBold"/>
              </a:rPr>
              <a:t>ERD: Khen thưởng đơn vị</a:t>
            </a:r>
          </a:p>
        </p:txBody>
      </p:sp>
      <p:sp>
        <p:nvSpPr>
          <p:cNvPr id="8" name="Rounded Rectangle 7"/>
          <p:cNvSpPr/>
          <p:nvPr/>
        </p:nvSpPr>
        <p:spPr>
          <a:xfrm>
            <a:off x="6473952" y="256032"/>
            <a:ext cx="2139696" cy="329184"/>
          </a:xfrm>
          <a:prstGeom prst="roundRect">
            <a:avLst>
              <a:gd name="adj" fmla="val 50000"/>
            </a:avLst>
          </a:prstGeom>
          <a:noFill/>
          <a:ln w="15875">
            <a:solidFill>
              <a:srgbClr val="F2C255"/>
            </a:solid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spcBef>
                <a:spcPts val="0"/>
              </a:spcBef>
              <a:spcAft>
                <a:spcPts val="0"/>
              </a:spcAft>
            </a:pPr>
            <a:r>
              <a:rPr sz="950" b="0" i="0" spc="80">
                <a:solidFill>
                  <a:srgbClr val="FFFFFF"/>
                </a:solidFill>
                <a:latin typeface="Be Vietnam Pro SemiBold"/>
              </a:rPr>
              <a:t>CÔNG NGHỆ &amp; THIẾT KẾ</a:t>
            </a:r>
          </a:p>
        </p:txBody>
      </p:sp>
      <p:sp>
        <p:nvSpPr>
          <p:cNvPr id="9" name="Rectangle 8"/>
          <p:cNvSpPr/>
          <p:nvPr/>
        </p:nvSpPr>
        <p:spPr>
          <a:xfrm>
            <a:off x="457200" y="6446520"/>
            <a:ext cx="8229600" cy="9144"/>
          </a:xfrm>
          <a:prstGeom prst="rect">
            <a:avLst/>
          </a:prstGeom>
          <a:solidFill>
            <a:srgbClr val="E3C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hust_shield.png"/>
          <p:cNvPicPr>
            <a:picLocks noChangeAspect="1"/>
          </p:cNvPicPr>
          <p:nvPr/>
        </p:nvPicPr>
        <p:blipFill>
          <a:blip r:embed="rId3"/>
          <a:stretch>
            <a:fillRect/>
          </a:stretch>
        </p:blipFill>
        <p:spPr>
          <a:xfrm>
            <a:off x="457200" y="6519672"/>
            <a:ext cx="164822" cy="246888"/>
          </a:xfrm>
          <a:prstGeom prst="rect">
            <a:avLst/>
          </a:prstGeom>
        </p:spPr>
      </p:pic>
      <p:sp>
        <p:nvSpPr>
          <p:cNvPr id="11" name="TextBox 10"/>
          <p:cNvSpPr txBox="1"/>
          <p:nvPr/>
        </p:nvSpPr>
        <p:spPr>
          <a:xfrm>
            <a:off x="713232" y="6501384"/>
            <a:ext cx="4206240" cy="310896"/>
          </a:xfrm>
          <a:prstGeom prst="rect">
            <a:avLst/>
          </a:prstGeom>
          <a:noFill/>
        </p:spPr>
        <p:txBody>
          <a:bodyPr wrap="square" lIns="0" tIns="0" rIns="0" bIns="0" anchor="ctr">
            <a:spAutoFit/>
          </a:bodyPr>
          <a:lstStyle/>
          <a:p>
            <a:pPr algn="l">
              <a:lnSpc>
                <a:spcPct val="94000"/>
              </a:lnSpc>
              <a:spcBef>
                <a:spcPts val="0"/>
              </a:spcBef>
              <a:spcAft>
                <a:spcPts val="0"/>
              </a:spcAft>
            </a:pPr>
            <a:r>
              <a:rPr sz="800" b="0" i="0">
                <a:solidFill>
                  <a:srgbClr val="8A0C20"/>
                </a:solidFill>
                <a:latin typeface="Be Vietnam Pro SemiBold"/>
              </a:rPr>
              <a:t>ĐẠI HỌC BÁCH KHOA HÀ NỘI</a:t>
            </a:r>
          </a:p>
          <a:p>
            <a:pPr algn="l">
              <a:lnSpc>
                <a:spcPct val="94000"/>
              </a:lnSpc>
              <a:spcBef>
                <a:spcPts val="0"/>
              </a:spcBef>
              <a:spcAft>
                <a:spcPts val="0"/>
              </a:spcAft>
            </a:pPr>
            <a:r>
              <a:rPr sz="750" b="0" i="0">
                <a:solidFill>
                  <a:srgbClr val="6B7280"/>
                </a:solidFill>
                <a:latin typeface="Be Vietnam Pro"/>
              </a:rPr>
              <a:t>Phần mềm Quản lý Khen thưởng  ·  Trần Anh Đức</a:t>
            </a:r>
          </a:p>
        </p:txBody>
      </p:sp>
      <p:sp>
        <p:nvSpPr>
          <p:cNvPr id="12" name="TextBox 11"/>
          <p:cNvSpPr txBox="1"/>
          <p:nvPr/>
        </p:nvSpPr>
        <p:spPr>
          <a:xfrm>
            <a:off x="7680960" y="6501384"/>
            <a:ext cx="1005840" cy="310896"/>
          </a:xfrm>
          <a:prstGeom prst="rect">
            <a:avLst/>
          </a:prstGeom>
          <a:noFill/>
        </p:spPr>
        <p:txBody>
          <a:bodyPr wrap="square" lIns="0" tIns="0" rIns="0" bIns="0" anchor="ctr">
            <a:spAutoFit/>
          </a:bodyPr>
          <a:lstStyle/>
          <a:p>
            <a:pPr algn="r">
              <a:spcBef>
                <a:spcPts val="0"/>
              </a:spcBef>
              <a:spcAft>
                <a:spcPts val="0"/>
              </a:spcAft>
            </a:pPr>
            <a:r>
              <a:rPr sz="1200" b="0" i="0">
                <a:solidFill>
                  <a:srgbClr val="C00000"/>
                </a:solidFill>
                <a:latin typeface="Be Vietnam Pro ExtraBold"/>
              </a:rPr>
              <a:t>17</a:t>
            </a:r>
            <a:r>
              <a:rPr sz="900" b="0" i="0">
                <a:solidFill>
                  <a:srgbClr val="6B7280"/>
                </a:solidFill>
                <a:latin typeface="Be Vietnam Pro"/>
              </a:rPr>
              <a:t> / 31</a:t>
            </a:r>
          </a:p>
        </p:txBody>
      </p:sp>
      <p:pic>
        <p:nvPicPr>
          <p:cNvPr id="13" name="Picture 12" descr="erd4donvi.png"/>
          <p:cNvPicPr>
            <a:picLocks noChangeAspect="1"/>
          </p:cNvPicPr>
          <p:nvPr/>
        </p:nvPicPr>
        <p:blipFill>
          <a:blip r:embed="rId4"/>
          <a:stretch>
            <a:fillRect/>
          </a:stretch>
        </p:blipFill>
        <p:spPr>
          <a:xfrm>
            <a:off x="2163387" y="1591056"/>
            <a:ext cx="4817225" cy="2788920"/>
          </a:xfrm>
          <a:prstGeom prst="rect">
            <a:avLst/>
          </a:prstGeom>
          <a:ln w="9525">
            <a:solidFill>
              <a:srgbClr val="E5E7EB"/>
            </a:solidFill>
          </a:ln>
          <a:effectLst>
            <a:outerShdw blurRad="90000" dist="42000" dir="5400000" rotWithShape="0">
              <a:srgbClr val="98A2B3">
                <a:alpha val="16000"/>
              </a:srgbClr>
            </a:outerShdw>
          </a:effectLst>
        </p:spPr>
      </p:pic>
      <p:sp>
        <p:nvSpPr>
          <p:cNvPr id="14" name="TextBox 13"/>
          <p:cNvSpPr txBox="1"/>
          <p:nvPr/>
        </p:nvSpPr>
        <p:spPr>
          <a:xfrm>
            <a:off x="502920" y="4526280"/>
            <a:ext cx="8138160" cy="1691640"/>
          </a:xfrm>
          <a:prstGeom prst="rect">
            <a:avLst/>
          </a:prstGeom>
          <a:noFill/>
        </p:spPr>
        <p:txBody>
          <a:bodyPr wrap="square" lIns="0" tIns="0" rIns="0" bIns="0" anchor="t">
            <a:spAutoFit/>
          </a:bodyPr>
          <a:lstStyle/>
          <a:p>
            <a:pPr algn="l">
              <a:lnSpc>
                <a:spcPct val="105000"/>
              </a:lnSpc>
              <a:spcBef>
                <a:spcPts val="0"/>
              </a:spcBef>
              <a:spcAft>
                <a:spcPts val="600"/>
              </a:spcAft>
            </a:pPr>
            <a:r>
              <a:rPr sz="1250" b="1" i="0">
                <a:solidFill>
                  <a:srgbClr val="C00000"/>
                </a:solidFill>
                <a:latin typeface="Be Vietnam Pro"/>
              </a:rPr>
              <a:t>Hai bảng, sáu khoá ngoại.</a:t>
            </a:r>
          </a:p>
          <a:p>
            <a:pPr marL="219456" indent="-219456" algn="l">
              <a:lnSpc>
                <a:spcPct val="105000"/>
              </a:lnSpc>
              <a:spcBef>
                <a:spcPts val="0"/>
              </a:spcBef>
              <a:spcAft>
                <a:spcPts val="500"/>
              </a:spcAft>
            </a:pPr>
            <a:r>
              <a:rPr sz="1000" b="1">
                <a:solidFill>
                  <a:srgbClr val="C00000"/>
                </a:solidFill>
                <a:latin typeface="Arial"/>
              </a:rPr>
              <a:t>▪  </a:t>
            </a:r>
            <a:r>
              <a:rPr sz="1100" b="0" i="0">
                <a:solidFill>
                  <a:srgbClr val="1F2937"/>
                </a:solidFill>
                <a:latin typeface="Be Vietnam Pro"/>
              </a:rPr>
              <a:t>Mỗi bản ghi gắn với một đơn vị được khen (</a:t>
            </a:r>
            <a:r>
              <a:rPr sz="1000" b="0" i="0">
                <a:solidFill>
                  <a:srgbClr val="1F2937"/>
                </a:solidFill>
                <a:latin typeface="Consolas"/>
              </a:rPr>
              <a:t>CoQuanDonVi</a:t>
            </a:r>
            <a:r>
              <a:rPr sz="1100" b="0" i="0">
                <a:solidFill>
                  <a:srgbClr val="1F2937"/>
                </a:solidFill>
                <a:latin typeface="Be Vietnam Pro"/>
              </a:rPr>
              <a:t> hoặc </a:t>
            </a:r>
            <a:r>
              <a:rPr sz="1000" b="0" i="0">
                <a:solidFill>
                  <a:srgbClr val="1F2937"/>
                </a:solidFill>
                <a:latin typeface="Consolas"/>
              </a:rPr>
              <a:t>DonViTrucThuoc</a:t>
            </a:r>
            <a:r>
              <a:rPr sz="1100" b="0" i="0">
                <a:solidFill>
                  <a:srgbClr val="1F2937"/>
                </a:solidFill>
                <a:latin typeface="Be Vietnam Pro"/>
              </a:rPr>
              <a:t> tuỳ cấp).</a:t>
            </a:r>
          </a:p>
          <a:p>
            <a:pPr marL="219456" indent="-219456" algn="l">
              <a:lnSpc>
                <a:spcPct val="105000"/>
              </a:lnSpc>
              <a:spcBef>
                <a:spcPts val="0"/>
              </a:spcBef>
              <a:spcAft>
                <a:spcPts val="500"/>
              </a:spcAft>
            </a:pPr>
            <a:r>
              <a:rPr sz="1000" b="1">
                <a:solidFill>
                  <a:srgbClr val="C00000"/>
                </a:solidFill>
                <a:latin typeface="Arial"/>
              </a:rPr>
              <a:t>▪  </a:t>
            </a:r>
            <a:r>
              <a:rPr sz="1000" b="0" i="0">
                <a:solidFill>
                  <a:srgbClr val="1F2937"/>
                </a:solidFill>
                <a:latin typeface="Consolas"/>
              </a:rPr>
              <a:t>DanhHieuDonViHangNam</a:t>
            </a:r>
            <a:r>
              <a:rPr sz="1100" b="0" i="0">
                <a:solidFill>
                  <a:srgbClr val="1F2937"/>
                </a:solidFill>
                <a:latin typeface="Be Vietnam Pro"/>
              </a:rPr>
              <a:t> còn ghi nhận </a:t>
            </a:r>
            <a:r>
              <a:rPr sz="1000" b="0" i="0">
                <a:solidFill>
                  <a:srgbClr val="1F2937"/>
                </a:solidFill>
                <a:latin typeface="Consolas"/>
              </a:rPr>
              <a:t>TaiKhoan</a:t>
            </a:r>
            <a:r>
              <a:rPr sz="1100" b="0" i="0">
                <a:solidFill>
                  <a:srgbClr val="1F2937"/>
                </a:solidFill>
                <a:latin typeface="Be Vietnam Pro"/>
              </a:rPr>
              <a:t> người tạo, người duyệt và tham chiếu </a:t>
            </a:r>
            <a:r>
              <a:rPr sz="1000" b="0" i="0">
                <a:solidFill>
                  <a:srgbClr val="1F2937"/>
                </a:solidFill>
                <a:latin typeface="Consolas"/>
              </a:rPr>
              <a:t>FileQuyetDinh</a:t>
            </a:r>
            <a:r>
              <a:rPr sz="1100" b="0" i="0">
                <a:solidFill>
                  <a:srgbClr val="1F2937"/>
                </a:solidFill>
                <a:latin typeface="Be Vietnam Pro"/>
              </a:rPr>
              <a:t>.</a:t>
            </a:r>
          </a:p>
          <a:p>
            <a:pPr marL="219456" indent="-219456" algn="l">
              <a:lnSpc>
                <a:spcPct val="105000"/>
              </a:lnSpc>
              <a:spcBef>
                <a:spcPts val="0"/>
              </a:spcBef>
              <a:spcAft>
                <a:spcPts val="500"/>
              </a:spcAft>
            </a:pPr>
            <a:r>
              <a:rPr sz="1000" b="1">
                <a:solidFill>
                  <a:srgbClr val="C00000"/>
                </a:solidFill>
                <a:latin typeface="Arial"/>
              </a:rPr>
              <a:t>▪  </a:t>
            </a:r>
            <a:r>
              <a:rPr sz="1100" b="0" i="0">
                <a:solidFill>
                  <a:srgbClr val="1F2937"/>
                </a:solidFill>
                <a:latin typeface="Be Vietnam Pro"/>
              </a:rPr>
              <a:t>Duy nhất theo cặp (đơn vị, năm) ở cả hai bảng.</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 y="-45720"/>
            <a:ext cx="9235440" cy="6949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 y="-45720"/>
            <a:ext cx="9235440" cy="886968"/>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motif_white.png"/>
          <p:cNvPicPr>
            <a:picLocks noChangeAspect="1"/>
          </p:cNvPicPr>
          <p:nvPr/>
        </p:nvPicPr>
        <p:blipFill>
          <a:blip r:embed="rId2">
            <a:alphaModFix amt="34000"/>
          </a:blip>
          <a:stretch>
            <a:fillRect/>
          </a:stretch>
        </p:blipFill>
        <p:spPr>
          <a:xfrm>
            <a:off x="5989320" y="-1874519"/>
            <a:ext cx="4206240" cy="3154680"/>
          </a:xfrm>
          <a:prstGeom prst="rect">
            <a:avLst/>
          </a:prstGeom>
        </p:spPr>
      </p:pic>
      <p:sp>
        <p:nvSpPr>
          <p:cNvPr id="5" name="Rectangle 4"/>
          <p:cNvSpPr/>
          <p:nvPr/>
        </p:nvSpPr>
        <p:spPr>
          <a:xfrm>
            <a:off x="-45720" y="841248"/>
            <a:ext cx="9235440" cy="96012"/>
          </a:xfrm>
          <a:prstGeom prst="rect">
            <a:avLst/>
          </a:prstGeom>
          <a:solidFill>
            <a:srgbClr val="ECA7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 y="937260"/>
            <a:ext cx="9235440" cy="20116"/>
          </a:xfrm>
          <a:prstGeom prst="rect">
            <a:avLst/>
          </a:prstGeom>
          <a:solidFill>
            <a:srgbClr val="8A0C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8288"/>
            <a:ext cx="5897880" cy="822960"/>
          </a:xfrm>
          <a:prstGeom prst="rect">
            <a:avLst/>
          </a:prstGeom>
          <a:noFill/>
        </p:spPr>
        <p:txBody>
          <a:bodyPr wrap="square" lIns="0" tIns="0" rIns="0" bIns="0" anchor="ctr">
            <a:spAutoFit/>
          </a:bodyPr>
          <a:lstStyle/>
          <a:p>
            <a:pPr algn="l">
              <a:lnSpc>
                <a:spcPct val="96000"/>
              </a:lnSpc>
              <a:spcBef>
                <a:spcPts val="0"/>
              </a:spcBef>
              <a:spcAft>
                <a:spcPts val="0"/>
              </a:spcAft>
            </a:pPr>
            <a:r>
              <a:rPr sz="2300" b="0" i="0">
                <a:solidFill>
                  <a:srgbClr val="FFFFFF"/>
                </a:solidFill>
                <a:latin typeface="Be Vietnam Pro ExtraBold"/>
              </a:rPr>
              <a:t>ERD: Quyết định</a:t>
            </a:r>
          </a:p>
        </p:txBody>
      </p:sp>
      <p:sp>
        <p:nvSpPr>
          <p:cNvPr id="8" name="Rounded Rectangle 7"/>
          <p:cNvSpPr/>
          <p:nvPr/>
        </p:nvSpPr>
        <p:spPr>
          <a:xfrm>
            <a:off x="6473952" y="256032"/>
            <a:ext cx="2139696" cy="329184"/>
          </a:xfrm>
          <a:prstGeom prst="roundRect">
            <a:avLst>
              <a:gd name="adj" fmla="val 50000"/>
            </a:avLst>
          </a:prstGeom>
          <a:noFill/>
          <a:ln w="15875">
            <a:solidFill>
              <a:srgbClr val="F2C255"/>
            </a:solid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spcBef>
                <a:spcPts val="0"/>
              </a:spcBef>
              <a:spcAft>
                <a:spcPts val="0"/>
              </a:spcAft>
            </a:pPr>
            <a:r>
              <a:rPr sz="950" b="0" i="0" spc="80">
                <a:solidFill>
                  <a:srgbClr val="FFFFFF"/>
                </a:solidFill>
                <a:latin typeface="Be Vietnam Pro SemiBold"/>
              </a:rPr>
              <a:t>CÔNG NGHỆ &amp; THIẾT KẾ</a:t>
            </a:r>
          </a:p>
        </p:txBody>
      </p:sp>
      <p:sp>
        <p:nvSpPr>
          <p:cNvPr id="9" name="Rectangle 8"/>
          <p:cNvSpPr/>
          <p:nvPr/>
        </p:nvSpPr>
        <p:spPr>
          <a:xfrm>
            <a:off x="457200" y="6446520"/>
            <a:ext cx="8229600" cy="9144"/>
          </a:xfrm>
          <a:prstGeom prst="rect">
            <a:avLst/>
          </a:prstGeom>
          <a:solidFill>
            <a:srgbClr val="E3C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hust_shield.png"/>
          <p:cNvPicPr>
            <a:picLocks noChangeAspect="1"/>
          </p:cNvPicPr>
          <p:nvPr/>
        </p:nvPicPr>
        <p:blipFill>
          <a:blip r:embed="rId3"/>
          <a:stretch>
            <a:fillRect/>
          </a:stretch>
        </p:blipFill>
        <p:spPr>
          <a:xfrm>
            <a:off x="457200" y="6519672"/>
            <a:ext cx="164822" cy="246888"/>
          </a:xfrm>
          <a:prstGeom prst="rect">
            <a:avLst/>
          </a:prstGeom>
        </p:spPr>
      </p:pic>
      <p:sp>
        <p:nvSpPr>
          <p:cNvPr id="11" name="TextBox 10"/>
          <p:cNvSpPr txBox="1"/>
          <p:nvPr/>
        </p:nvSpPr>
        <p:spPr>
          <a:xfrm>
            <a:off x="713232" y="6501384"/>
            <a:ext cx="4206240" cy="310896"/>
          </a:xfrm>
          <a:prstGeom prst="rect">
            <a:avLst/>
          </a:prstGeom>
          <a:noFill/>
        </p:spPr>
        <p:txBody>
          <a:bodyPr wrap="square" lIns="0" tIns="0" rIns="0" bIns="0" anchor="ctr">
            <a:spAutoFit/>
          </a:bodyPr>
          <a:lstStyle/>
          <a:p>
            <a:pPr algn="l">
              <a:lnSpc>
                <a:spcPct val="94000"/>
              </a:lnSpc>
              <a:spcBef>
                <a:spcPts val="0"/>
              </a:spcBef>
              <a:spcAft>
                <a:spcPts val="0"/>
              </a:spcAft>
            </a:pPr>
            <a:r>
              <a:rPr sz="800" b="0" i="0">
                <a:solidFill>
                  <a:srgbClr val="8A0C20"/>
                </a:solidFill>
                <a:latin typeface="Be Vietnam Pro SemiBold"/>
              </a:rPr>
              <a:t>ĐẠI HỌC BÁCH KHOA HÀ NỘI</a:t>
            </a:r>
          </a:p>
          <a:p>
            <a:pPr algn="l">
              <a:lnSpc>
                <a:spcPct val="94000"/>
              </a:lnSpc>
              <a:spcBef>
                <a:spcPts val="0"/>
              </a:spcBef>
              <a:spcAft>
                <a:spcPts val="0"/>
              </a:spcAft>
            </a:pPr>
            <a:r>
              <a:rPr sz="750" b="0" i="0">
                <a:solidFill>
                  <a:srgbClr val="6B7280"/>
                </a:solidFill>
                <a:latin typeface="Be Vietnam Pro"/>
              </a:rPr>
              <a:t>Phần mềm Quản lý Khen thưởng  ·  Trần Anh Đức</a:t>
            </a:r>
          </a:p>
        </p:txBody>
      </p:sp>
      <p:sp>
        <p:nvSpPr>
          <p:cNvPr id="12" name="TextBox 11"/>
          <p:cNvSpPr txBox="1"/>
          <p:nvPr/>
        </p:nvSpPr>
        <p:spPr>
          <a:xfrm>
            <a:off x="7680960" y="6501384"/>
            <a:ext cx="1005840" cy="310896"/>
          </a:xfrm>
          <a:prstGeom prst="rect">
            <a:avLst/>
          </a:prstGeom>
          <a:noFill/>
        </p:spPr>
        <p:txBody>
          <a:bodyPr wrap="square" lIns="0" tIns="0" rIns="0" bIns="0" anchor="ctr">
            <a:spAutoFit/>
          </a:bodyPr>
          <a:lstStyle/>
          <a:p>
            <a:pPr algn="r">
              <a:spcBef>
                <a:spcPts val="0"/>
              </a:spcBef>
              <a:spcAft>
                <a:spcPts val="0"/>
              </a:spcAft>
            </a:pPr>
            <a:r>
              <a:rPr sz="1200" b="0" i="0">
                <a:solidFill>
                  <a:srgbClr val="C00000"/>
                </a:solidFill>
                <a:latin typeface="Be Vietnam Pro ExtraBold"/>
              </a:rPr>
              <a:t>18</a:t>
            </a:r>
            <a:r>
              <a:rPr sz="900" b="0" i="0">
                <a:solidFill>
                  <a:srgbClr val="6B7280"/>
                </a:solidFill>
                <a:latin typeface="Be Vietnam Pro"/>
              </a:rPr>
              <a:t> / 31</a:t>
            </a:r>
          </a:p>
        </p:txBody>
      </p:sp>
      <p:pic>
        <p:nvPicPr>
          <p:cNvPr id="13" name="Picture 12" descr="erd5quyetdinh.png"/>
          <p:cNvPicPr>
            <a:picLocks noChangeAspect="1"/>
          </p:cNvPicPr>
          <p:nvPr/>
        </p:nvPicPr>
        <p:blipFill>
          <a:blip r:embed="rId4"/>
          <a:stretch>
            <a:fillRect/>
          </a:stretch>
        </p:blipFill>
        <p:spPr>
          <a:xfrm>
            <a:off x="737806" y="1591056"/>
            <a:ext cx="4056506" cy="4160520"/>
          </a:xfrm>
          <a:prstGeom prst="rect">
            <a:avLst/>
          </a:prstGeom>
          <a:ln w="9525">
            <a:solidFill>
              <a:srgbClr val="E5E7EB"/>
            </a:solidFill>
          </a:ln>
          <a:effectLst>
            <a:outerShdw blurRad="90000" dist="42000" dir="5400000" rotWithShape="0">
              <a:srgbClr val="98A2B3">
                <a:alpha val="16000"/>
              </a:srgbClr>
            </a:outerShdw>
          </a:effectLst>
        </p:spPr>
      </p:pic>
      <p:sp>
        <p:nvSpPr>
          <p:cNvPr id="14" name="TextBox 13"/>
          <p:cNvSpPr txBox="1"/>
          <p:nvPr/>
        </p:nvSpPr>
        <p:spPr>
          <a:xfrm>
            <a:off x="5230368" y="1627632"/>
            <a:ext cx="3410712" cy="4206240"/>
          </a:xfrm>
          <a:prstGeom prst="rect">
            <a:avLst/>
          </a:prstGeom>
          <a:noFill/>
        </p:spPr>
        <p:txBody>
          <a:bodyPr wrap="square" lIns="0" tIns="0" rIns="0" bIns="0" anchor="t">
            <a:spAutoFit/>
          </a:bodyPr>
          <a:lstStyle/>
          <a:p>
            <a:pPr algn="l">
              <a:lnSpc>
                <a:spcPct val="105000"/>
              </a:lnSpc>
              <a:spcBef>
                <a:spcPts val="0"/>
              </a:spcBef>
              <a:spcAft>
                <a:spcPts val="800"/>
              </a:spcAft>
            </a:pPr>
            <a:r>
              <a:rPr sz="1250" b="1" i="0">
                <a:solidFill>
                  <a:srgbClr val="C00000"/>
                </a:solidFill>
                <a:latin typeface="Be Vietnam Pro"/>
              </a:rPr>
              <a:t>FileQuyetDinh là tâm điểm, mười ba khoá ngoại từ tám bảng khen thưởng.</a:t>
            </a:r>
          </a:p>
          <a:p>
            <a:pPr marL="219456" indent="-219456" algn="l">
              <a:lnSpc>
                <a:spcPct val="108000"/>
              </a:lnSpc>
              <a:spcBef>
                <a:spcPts val="0"/>
              </a:spcBef>
              <a:spcAft>
                <a:spcPts val="700"/>
              </a:spcAft>
            </a:pPr>
            <a:r>
              <a:rPr sz="1000" b="1">
                <a:solidFill>
                  <a:srgbClr val="C00000"/>
                </a:solidFill>
                <a:latin typeface="Arial"/>
              </a:rPr>
              <a:t>▪  </a:t>
            </a:r>
            <a:r>
              <a:rPr sz="1100" b="0" i="0">
                <a:solidFill>
                  <a:srgbClr val="1F2937"/>
                </a:solidFill>
                <a:latin typeface="Be Vietnam Pro"/>
              </a:rPr>
              <a:t>Một quyết định có thể gắn với nhiều bản ghi khen thưởng.</a:t>
            </a:r>
          </a:p>
          <a:p>
            <a:pPr marL="219456" indent="-219456" algn="l">
              <a:lnSpc>
                <a:spcPct val="108000"/>
              </a:lnSpc>
              <a:spcBef>
                <a:spcPts val="0"/>
              </a:spcBef>
              <a:spcAft>
                <a:spcPts val="700"/>
              </a:spcAft>
            </a:pPr>
            <a:r>
              <a:rPr sz="1000" b="1">
                <a:solidFill>
                  <a:srgbClr val="C00000"/>
                </a:solidFill>
                <a:latin typeface="Arial"/>
              </a:rPr>
              <a:t>▪  </a:t>
            </a:r>
            <a:r>
              <a:rPr sz="1100" b="0" i="0">
                <a:solidFill>
                  <a:srgbClr val="1F2937"/>
                </a:solidFill>
                <a:latin typeface="Be Vietnam Pro"/>
              </a:rPr>
              <a:t>Khoá ngoại trỏ tới cột </a:t>
            </a:r>
            <a:r>
              <a:rPr sz="1000" b="0" i="0">
                <a:solidFill>
                  <a:srgbClr val="1F2937"/>
                </a:solidFill>
                <a:latin typeface="Consolas"/>
              </a:rPr>
              <a:t>so_quyet_dinh</a:t>
            </a:r>
            <a:r>
              <a:rPr sz="1100" b="0" i="0">
                <a:solidFill>
                  <a:srgbClr val="1F2937"/>
                </a:solidFill>
                <a:latin typeface="Be Vietnam Pro"/>
              </a:rPr>
              <a:t> (khoá tự nhiên, duy nhất) thay vì khoá chính </a:t>
            </a:r>
            <a:r>
              <a:rPr sz="1000" b="0" i="0">
                <a:solidFill>
                  <a:srgbClr val="1F2937"/>
                </a:solidFill>
                <a:latin typeface="Consolas"/>
              </a:rPr>
              <a:t>id</a:t>
            </a:r>
            <a:r>
              <a:rPr sz="1100" b="0" i="0">
                <a:solidFill>
                  <a:srgbClr val="1F2937"/>
                </a:solidFill>
                <a:latin typeface="Be Vietnam Pro"/>
              </a:rPr>
              <a:t>.</a:t>
            </a:r>
          </a:p>
          <a:p>
            <a:pPr marL="219456" indent="-219456" algn="l">
              <a:lnSpc>
                <a:spcPct val="108000"/>
              </a:lnSpc>
              <a:spcBef>
                <a:spcPts val="0"/>
              </a:spcBef>
              <a:spcAft>
                <a:spcPts val="700"/>
              </a:spcAft>
            </a:pPr>
            <a:r>
              <a:rPr sz="1000" b="1">
                <a:solidFill>
                  <a:srgbClr val="C00000"/>
                </a:solidFill>
                <a:latin typeface="Arial"/>
              </a:rPr>
              <a:t>▪  </a:t>
            </a:r>
            <a:r>
              <a:rPr sz="1100" b="0" i="0">
                <a:solidFill>
                  <a:srgbClr val="1F2937"/>
                </a:solidFill>
                <a:latin typeface="Be Vietnam Pro"/>
              </a:rPr>
              <a:t>Sửa số quyết định thì thay đổi tự lan truyền (</a:t>
            </a:r>
            <a:r>
              <a:rPr sz="1000" b="0" i="0">
                <a:solidFill>
                  <a:srgbClr val="1F2937"/>
                </a:solidFill>
                <a:latin typeface="Consolas"/>
              </a:rPr>
              <a:t>ON UPDATE CASCADE</a:t>
            </a:r>
            <a:r>
              <a:rPr sz="1100" b="0" i="0">
                <a:solidFill>
                  <a:srgbClr val="1F2937"/>
                </a:solidFill>
                <a:latin typeface="Be Vietnam Pro"/>
              </a:rPr>
              <a:t>); không xoá được khi còn bản ghi tham chiếu (</a:t>
            </a:r>
            <a:r>
              <a:rPr sz="1000" b="0" i="0">
                <a:solidFill>
                  <a:srgbClr val="1F2937"/>
                </a:solidFill>
                <a:latin typeface="Consolas"/>
              </a:rPr>
              <a:t>ON DELETE RESTRICT</a:t>
            </a:r>
            <a:r>
              <a:rPr sz="1100" b="0" i="0">
                <a:solidFill>
                  <a:srgbClr val="1F2937"/>
                </a:solidFill>
                <a:latin typeface="Be Vietnam Pro"/>
              </a:rPr>
              <a: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 y="-45720"/>
            <a:ext cx="9235440" cy="6949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 y="-45720"/>
            <a:ext cx="9235440" cy="886968"/>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motif_white.png"/>
          <p:cNvPicPr>
            <a:picLocks noChangeAspect="1"/>
          </p:cNvPicPr>
          <p:nvPr/>
        </p:nvPicPr>
        <p:blipFill>
          <a:blip r:embed="rId2">
            <a:alphaModFix amt="34000"/>
          </a:blip>
          <a:stretch>
            <a:fillRect/>
          </a:stretch>
        </p:blipFill>
        <p:spPr>
          <a:xfrm>
            <a:off x="5989320" y="-1874519"/>
            <a:ext cx="4206240" cy="3154680"/>
          </a:xfrm>
          <a:prstGeom prst="rect">
            <a:avLst/>
          </a:prstGeom>
        </p:spPr>
      </p:pic>
      <p:sp>
        <p:nvSpPr>
          <p:cNvPr id="5" name="Rectangle 4"/>
          <p:cNvSpPr/>
          <p:nvPr/>
        </p:nvSpPr>
        <p:spPr>
          <a:xfrm>
            <a:off x="-45720" y="841248"/>
            <a:ext cx="9235440" cy="96012"/>
          </a:xfrm>
          <a:prstGeom prst="rect">
            <a:avLst/>
          </a:prstGeom>
          <a:solidFill>
            <a:srgbClr val="ECA7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 y="937260"/>
            <a:ext cx="9235440" cy="20116"/>
          </a:xfrm>
          <a:prstGeom prst="rect">
            <a:avLst/>
          </a:prstGeom>
          <a:solidFill>
            <a:srgbClr val="8A0C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8288"/>
            <a:ext cx="5897880" cy="822960"/>
          </a:xfrm>
          <a:prstGeom prst="rect">
            <a:avLst/>
          </a:prstGeom>
          <a:noFill/>
        </p:spPr>
        <p:txBody>
          <a:bodyPr wrap="square" lIns="0" tIns="0" rIns="0" bIns="0" anchor="ctr">
            <a:spAutoFit/>
          </a:bodyPr>
          <a:lstStyle/>
          <a:p>
            <a:pPr algn="l">
              <a:lnSpc>
                <a:spcPct val="96000"/>
              </a:lnSpc>
              <a:spcBef>
                <a:spcPts val="0"/>
              </a:spcBef>
              <a:spcAft>
                <a:spcPts val="0"/>
              </a:spcAft>
            </a:pPr>
            <a:r>
              <a:rPr sz="2300" b="0" i="0">
                <a:solidFill>
                  <a:srgbClr val="FFFFFF"/>
                </a:solidFill>
                <a:latin typeface="Be Vietnam Pro ExtraBold"/>
              </a:rPr>
              <a:t>ERD: Hệ thống</a:t>
            </a:r>
          </a:p>
        </p:txBody>
      </p:sp>
      <p:sp>
        <p:nvSpPr>
          <p:cNvPr id="8" name="Rounded Rectangle 7"/>
          <p:cNvSpPr/>
          <p:nvPr/>
        </p:nvSpPr>
        <p:spPr>
          <a:xfrm>
            <a:off x="6473952" y="256032"/>
            <a:ext cx="2139696" cy="329184"/>
          </a:xfrm>
          <a:prstGeom prst="roundRect">
            <a:avLst>
              <a:gd name="adj" fmla="val 50000"/>
            </a:avLst>
          </a:prstGeom>
          <a:noFill/>
          <a:ln w="15875">
            <a:solidFill>
              <a:srgbClr val="F2C255"/>
            </a:solid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spcBef>
                <a:spcPts val="0"/>
              </a:spcBef>
              <a:spcAft>
                <a:spcPts val="0"/>
              </a:spcAft>
            </a:pPr>
            <a:r>
              <a:rPr sz="950" b="0" i="0" spc="80">
                <a:solidFill>
                  <a:srgbClr val="FFFFFF"/>
                </a:solidFill>
                <a:latin typeface="Be Vietnam Pro SemiBold"/>
              </a:rPr>
              <a:t>CÔNG NGHỆ &amp; THIẾT KẾ</a:t>
            </a:r>
          </a:p>
        </p:txBody>
      </p:sp>
      <p:sp>
        <p:nvSpPr>
          <p:cNvPr id="9" name="Rectangle 8"/>
          <p:cNvSpPr/>
          <p:nvPr/>
        </p:nvSpPr>
        <p:spPr>
          <a:xfrm>
            <a:off x="457200" y="6446520"/>
            <a:ext cx="8229600" cy="9144"/>
          </a:xfrm>
          <a:prstGeom prst="rect">
            <a:avLst/>
          </a:prstGeom>
          <a:solidFill>
            <a:srgbClr val="E3C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hust_shield.png"/>
          <p:cNvPicPr>
            <a:picLocks noChangeAspect="1"/>
          </p:cNvPicPr>
          <p:nvPr/>
        </p:nvPicPr>
        <p:blipFill>
          <a:blip r:embed="rId3"/>
          <a:stretch>
            <a:fillRect/>
          </a:stretch>
        </p:blipFill>
        <p:spPr>
          <a:xfrm>
            <a:off x="457200" y="6519672"/>
            <a:ext cx="164822" cy="246888"/>
          </a:xfrm>
          <a:prstGeom prst="rect">
            <a:avLst/>
          </a:prstGeom>
        </p:spPr>
      </p:pic>
      <p:sp>
        <p:nvSpPr>
          <p:cNvPr id="11" name="TextBox 10"/>
          <p:cNvSpPr txBox="1"/>
          <p:nvPr/>
        </p:nvSpPr>
        <p:spPr>
          <a:xfrm>
            <a:off x="713232" y="6501384"/>
            <a:ext cx="4206240" cy="310896"/>
          </a:xfrm>
          <a:prstGeom prst="rect">
            <a:avLst/>
          </a:prstGeom>
          <a:noFill/>
        </p:spPr>
        <p:txBody>
          <a:bodyPr wrap="square" lIns="0" tIns="0" rIns="0" bIns="0" anchor="ctr">
            <a:spAutoFit/>
          </a:bodyPr>
          <a:lstStyle/>
          <a:p>
            <a:pPr algn="l">
              <a:lnSpc>
                <a:spcPct val="94000"/>
              </a:lnSpc>
              <a:spcBef>
                <a:spcPts val="0"/>
              </a:spcBef>
              <a:spcAft>
                <a:spcPts val="0"/>
              </a:spcAft>
            </a:pPr>
            <a:r>
              <a:rPr sz="800" b="0" i="0">
                <a:solidFill>
                  <a:srgbClr val="8A0C20"/>
                </a:solidFill>
                <a:latin typeface="Be Vietnam Pro SemiBold"/>
              </a:rPr>
              <a:t>ĐẠI HỌC BÁCH KHOA HÀ NỘI</a:t>
            </a:r>
          </a:p>
          <a:p>
            <a:pPr algn="l">
              <a:lnSpc>
                <a:spcPct val="94000"/>
              </a:lnSpc>
              <a:spcBef>
                <a:spcPts val="0"/>
              </a:spcBef>
              <a:spcAft>
                <a:spcPts val="0"/>
              </a:spcAft>
            </a:pPr>
            <a:r>
              <a:rPr sz="750" b="0" i="0">
                <a:solidFill>
                  <a:srgbClr val="6B7280"/>
                </a:solidFill>
                <a:latin typeface="Be Vietnam Pro"/>
              </a:rPr>
              <a:t>Phần mềm Quản lý Khen thưởng  ·  Trần Anh Đức</a:t>
            </a:r>
          </a:p>
        </p:txBody>
      </p:sp>
      <p:sp>
        <p:nvSpPr>
          <p:cNvPr id="12" name="TextBox 11"/>
          <p:cNvSpPr txBox="1"/>
          <p:nvPr/>
        </p:nvSpPr>
        <p:spPr>
          <a:xfrm>
            <a:off x="7680960" y="6501384"/>
            <a:ext cx="1005840" cy="310896"/>
          </a:xfrm>
          <a:prstGeom prst="rect">
            <a:avLst/>
          </a:prstGeom>
          <a:noFill/>
        </p:spPr>
        <p:txBody>
          <a:bodyPr wrap="square" lIns="0" tIns="0" rIns="0" bIns="0" anchor="ctr">
            <a:spAutoFit/>
          </a:bodyPr>
          <a:lstStyle/>
          <a:p>
            <a:pPr algn="r">
              <a:spcBef>
                <a:spcPts val="0"/>
              </a:spcBef>
              <a:spcAft>
                <a:spcPts val="0"/>
              </a:spcAft>
            </a:pPr>
            <a:r>
              <a:rPr sz="1200" b="0" i="0">
                <a:solidFill>
                  <a:srgbClr val="C00000"/>
                </a:solidFill>
                <a:latin typeface="Be Vietnam Pro ExtraBold"/>
              </a:rPr>
              <a:t>19</a:t>
            </a:r>
            <a:r>
              <a:rPr sz="900" b="0" i="0">
                <a:solidFill>
                  <a:srgbClr val="6B7280"/>
                </a:solidFill>
                <a:latin typeface="Be Vietnam Pro"/>
              </a:rPr>
              <a:t> / 31</a:t>
            </a:r>
          </a:p>
        </p:txBody>
      </p:sp>
      <p:pic>
        <p:nvPicPr>
          <p:cNvPr id="13" name="Picture 12" descr="erd6hethong.png"/>
          <p:cNvPicPr>
            <a:picLocks noChangeAspect="1"/>
          </p:cNvPicPr>
          <p:nvPr/>
        </p:nvPicPr>
        <p:blipFill>
          <a:blip r:embed="rId4"/>
          <a:stretch>
            <a:fillRect/>
          </a:stretch>
        </p:blipFill>
        <p:spPr>
          <a:xfrm>
            <a:off x="2845525" y="1591056"/>
            <a:ext cx="3452948" cy="2788920"/>
          </a:xfrm>
          <a:prstGeom prst="rect">
            <a:avLst/>
          </a:prstGeom>
          <a:ln w="9525">
            <a:solidFill>
              <a:srgbClr val="E5E7EB"/>
            </a:solidFill>
          </a:ln>
          <a:effectLst>
            <a:outerShdw blurRad="90000" dist="42000" dir="5400000" rotWithShape="0">
              <a:srgbClr val="98A2B3">
                <a:alpha val="16000"/>
              </a:srgbClr>
            </a:outerShdw>
          </a:effectLst>
        </p:spPr>
      </p:pic>
      <p:sp>
        <p:nvSpPr>
          <p:cNvPr id="14" name="TextBox 13"/>
          <p:cNvSpPr txBox="1"/>
          <p:nvPr/>
        </p:nvSpPr>
        <p:spPr>
          <a:xfrm>
            <a:off x="502920" y="4526280"/>
            <a:ext cx="8138160" cy="1691640"/>
          </a:xfrm>
          <a:prstGeom prst="rect">
            <a:avLst/>
          </a:prstGeom>
          <a:noFill/>
        </p:spPr>
        <p:txBody>
          <a:bodyPr wrap="square" lIns="0" tIns="0" rIns="0" bIns="0" anchor="t">
            <a:spAutoFit/>
          </a:bodyPr>
          <a:lstStyle/>
          <a:p>
            <a:pPr algn="l">
              <a:lnSpc>
                <a:spcPct val="105000"/>
              </a:lnSpc>
              <a:spcBef>
                <a:spcPts val="0"/>
              </a:spcBef>
              <a:spcAft>
                <a:spcPts val="600"/>
              </a:spcAft>
            </a:pPr>
            <a:r>
              <a:rPr sz="1250" b="1" i="0">
                <a:solidFill>
                  <a:srgbClr val="C00000"/>
                </a:solidFill>
                <a:latin typeface="Be Vietnam Pro"/>
              </a:rPr>
              <a:t>Ba bảng.</a:t>
            </a:r>
          </a:p>
          <a:p>
            <a:pPr marL="219456" indent="-219456" algn="l">
              <a:lnSpc>
                <a:spcPct val="105000"/>
              </a:lnSpc>
              <a:spcBef>
                <a:spcPts val="0"/>
              </a:spcBef>
              <a:spcAft>
                <a:spcPts val="500"/>
              </a:spcAft>
            </a:pPr>
            <a:r>
              <a:rPr sz="1000" b="1">
                <a:solidFill>
                  <a:srgbClr val="C00000"/>
                </a:solidFill>
                <a:latin typeface="Arial"/>
              </a:rPr>
              <a:t>▪  </a:t>
            </a:r>
            <a:r>
              <a:rPr sz="1100" b="0" i="0">
                <a:solidFill>
                  <a:srgbClr val="1F2937"/>
                </a:solidFill>
                <a:latin typeface="Be Vietnam Pro"/>
              </a:rPr>
              <a:t>Mỗi </a:t>
            </a:r>
            <a:r>
              <a:rPr sz="1100" b="0" i="0">
                <a:solidFill>
                  <a:srgbClr val="1F2937"/>
                </a:solidFill>
                <a:latin typeface="Consolas"/>
              </a:rPr>
              <a:t>SystemLog</a:t>
            </a:r>
            <a:r>
              <a:rPr sz="1100" b="0" i="0">
                <a:solidFill>
                  <a:srgbClr val="1F2937"/>
                </a:solidFill>
                <a:latin typeface="Be Vietnam Pro"/>
              </a:rPr>
              <a:t> gắn với </a:t>
            </a:r>
            <a:r>
              <a:rPr sz="1100" b="0" i="0">
                <a:solidFill>
                  <a:srgbClr val="1F2937"/>
                </a:solidFill>
                <a:latin typeface="Consolas"/>
              </a:rPr>
              <a:t>TaiKhoan</a:t>
            </a:r>
            <a:r>
              <a:rPr sz="1100" b="0" i="0">
                <a:solidFill>
                  <a:srgbClr val="1F2937"/>
                </a:solidFill>
                <a:latin typeface="Be Vietnam Pro"/>
              </a:rPr>
              <a:t> người thực hiện (có thể trống với thao tác hệ thống tự chạy).</a:t>
            </a:r>
          </a:p>
          <a:p>
            <a:pPr marL="219456" indent="-219456" algn="l">
              <a:lnSpc>
                <a:spcPct val="105000"/>
              </a:lnSpc>
              <a:spcBef>
                <a:spcPts val="0"/>
              </a:spcBef>
              <a:spcAft>
                <a:spcPts val="500"/>
              </a:spcAft>
            </a:pPr>
            <a:r>
              <a:rPr sz="1000" b="1">
                <a:solidFill>
                  <a:srgbClr val="C00000"/>
                </a:solidFill>
                <a:latin typeface="Arial"/>
              </a:rPr>
              <a:t>▪  </a:t>
            </a:r>
            <a:r>
              <a:rPr sz="1100" b="0" i="0">
                <a:solidFill>
                  <a:srgbClr val="1F2937"/>
                </a:solidFill>
                <a:latin typeface="Be Vietnam Pro"/>
              </a:rPr>
              <a:t>Mỗi </a:t>
            </a:r>
            <a:r>
              <a:rPr sz="1100" b="0" i="0">
                <a:solidFill>
                  <a:srgbClr val="1F2937"/>
                </a:solidFill>
                <a:latin typeface="Consolas"/>
              </a:rPr>
              <a:t>ThongBao</a:t>
            </a:r>
            <a:r>
              <a:rPr sz="1100" b="0" i="0">
                <a:solidFill>
                  <a:srgbClr val="1F2937"/>
                </a:solidFill>
                <a:latin typeface="Be Vietnam Pro"/>
              </a:rPr>
              <a:t> gắn một </a:t>
            </a:r>
            <a:r>
              <a:rPr sz="1100" b="0" i="0">
                <a:solidFill>
                  <a:srgbClr val="1F2937"/>
                </a:solidFill>
                <a:latin typeface="Consolas"/>
              </a:rPr>
              <a:t>TaiKhoan</a:t>
            </a:r>
            <a:r>
              <a:rPr sz="1100" b="0" i="0">
                <a:solidFill>
                  <a:srgbClr val="1F2937"/>
                </a:solidFill>
                <a:latin typeface="Be Vietnam Pro"/>
              </a:rPr>
              <a:t> người nhận và có thể trỏ ngược về bản ghi </a:t>
            </a:r>
            <a:r>
              <a:rPr sz="1100" b="0" i="0">
                <a:solidFill>
                  <a:srgbClr val="1F2937"/>
                </a:solidFill>
                <a:latin typeface="Consolas"/>
              </a:rPr>
              <a:t>SystemLog</a:t>
            </a:r>
            <a:r>
              <a:rPr sz="1100" b="0" i="0">
                <a:solidFill>
                  <a:srgbClr val="1F2937"/>
                </a:solidFill>
                <a:latin typeface="Be Vietnam Pro"/>
              </a:rPr>
              <a:t> sinh ra nó.</a:t>
            </a:r>
          </a:p>
          <a:p>
            <a:pPr marL="219456" indent="-219456" algn="l">
              <a:lnSpc>
                <a:spcPct val="105000"/>
              </a:lnSpc>
              <a:spcBef>
                <a:spcPts val="0"/>
              </a:spcBef>
              <a:spcAft>
                <a:spcPts val="500"/>
              </a:spcAft>
            </a:pPr>
            <a:r>
              <a:rPr sz="1000" b="1">
                <a:solidFill>
                  <a:srgbClr val="C00000"/>
                </a:solidFill>
                <a:latin typeface="Arial"/>
              </a:rPr>
              <a:t>▪  </a:t>
            </a:r>
            <a:r>
              <a:rPr sz="1100" b="0" i="0">
                <a:solidFill>
                  <a:srgbClr val="1F2937"/>
                </a:solidFill>
                <a:latin typeface="Consolas"/>
              </a:rPr>
              <a:t>SystemSetting</a:t>
            </a:r>
            <a:r>
              <a:rPr sz="1100" b="0" i="0">
                <a:solidFill>
                  <a:srgbClr val="1F2937"/>
                </a:solidFill>
                <a:latin typeface="Be Vietnam Pro"/>
              </a:rPr>
              <a:t> lưu cấu hình dạng khoá–giá trị, độc lập, không có khoá ngoại.</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 y="-45720"/>
            <a:ext cx="9235440" cy="6949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 y="-45720"/>
            <a:ext cx="9235440" cy="886968"/>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motif_white.png"/>
          <p:cNvPicPr>
            <a:picLocks noChangeAspect="1"/>
          </p:cNvPicPr>
          <p:nvPr/>
        </p:nvPicPr>
        <p:blipFill>
          <a:blip r:embed="rId2">
            <a:alphaModFix amt="34000"/>
          </a:blip>
          <a:stretch>
            <a:fillRect/>
          </a:stretch>
        </p:blipFill>
        <p:spPr>
          <a:xfrm>
            <a:off x="5989320" y="-1874519"/>
            <a:ext cx="4206240" cy="3154680"/>
          </a:xfrm>
          <a:prstGeom prst="rect">
            <a:avLst/>
          </a:prstGeom>
        </p:spPr>
      </p:pic>
      <p:sp>
        <p:nvSpPr>
          <p:cNvPr id="5" name="Rectangle 4"/>
          <p:cNvSpPr/>
          <p:nvPr/>
        </p:nvSpPr>
        <p:spPr>
          <a:xfrm>
            <a:off x="-45720" y="841248"/>
            <a:ext cx="9235440" cy="96012"/>
          </a:xfrm>
          <a:prstGeom prst="rect">
            <a:avLst/>
          </a:prstGeom>
          <a:solidFill>
            <a:srgbClr val="ECA7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 y="937260"/>
            <a:ext cx="9235440" cy="20116"/>
          </a:xfrm>
          <a:prstGeom prst="rect">
            <a:avLst/>
          </a:prstGeom>
          <a:solidFill>
            <a:srgbClr val="8A0C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8288"/>
            <a:ext cx="5897880" cy="822960"/>
          </a:xfrm>
          <a:prstGeom prst="rect">
            <a:avLst/>
          </a:prstGeom>
          <a:noFill/>
        </p:spPr>
        <p:txBody>
          <a:bodyPr wrap="square" lIns="0" tIns="0" rIns="0" bIns="0" anchor="ctr">
            <a:spAutoFit/>
          </a:bodyPr>
          <a:lstStyle/>
          <a:p>
            <a:pPr algn="l">
              <a:lnSpc>
                <a:spcPct val="96000"/>
              </a:lnSpc>
              <a:spcBef>
                <a:spcPts val="0"/>
              </a:spcBef>
              <a:spcAft>
                <a:spcPts val="0"/>
              </a:spcAft>
            </a:pPr>
            <a:r>
              <a:rPr sz="2300" b="0" i="0">
                <a:solidFill>
                  <a:srgbClr val="FFFFFF"/>
                </a:solidFill>
                <a:latin typeface="Be Vietnam Pro ExtraBold"/>
              </a:rPr>
              <a:t>Phân tích chức năng: Use-case</a:t>
            </a:r>
          </a:p>
        </p:txBody>
      </p:sp>
      <p:sp>
        <p:nvSpPr>
          <p:cNvPr id="8" name="Rounded Rectangle 7"/>
          <p:cNvSpPr/>
          <p:nvPr/>
        </p:nvSpPr>
        <p:spPr>
          <a:xfrm>
            <a:off x="6473952" y="256032"/>
            <a:ext cx="2139696" cy="329184"/>
          </a:xfrm>
          <a:prstGeom prst="roundRect">
            <a:avLst>
              <a:gd name="adj" fmla="val 50000"/>
            </a:avLst>
          </a:prstGeom>
          <a:noFill/>
          <a:ln w="15875">
            <a:solidFill>
              <a:srgbClr val="F2C255"/>
            </a:solid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spcBef>
                <a:spcPts val="0"/>
              </a:spcBef>
              <a:spcAft>
                <a:spcPts val="0"/>
              </a:spcAft>
            </a:pPr>
            <a:r>
              <a:rPr sz="950" b="0" i="0" spc="80">
                <a:solidFill>
                  <a:srgbClr val="FFFFFF"/>
                </a:solidFill>
                <a:latin typeface="Be Vietnam Pro SemiBold"/>
              </a:rPr>
              <a:t>CÔNG NGHỆ &amp; THIẾT KẾ</a:t>
            </a:r>
          </a:p>
        </p:txBody>
      </p:sp>
      <p:sp>
        <p:nvSpPr>
          <p:cNvPr id="9" name="Rectangle 8"/>
          <p:cNvSpPr/>
          <p:nvPr/>
        </p:nvSpPr>
        <p:spPr>
          <a:xfrm>
            <a:off x="457200" y="6446520"/>
            <a:ext cx="8229600" cy="9144"/>
          </a:xfrm>
          <a:prstGeom prst="rect">
            <a:avLst/>
          </a:prstGeom>
          <a:solidFill>
            <a:srgbClr val="E3C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hust_shield.png"/>
          <p:cNvPicPr>
            <a:picLocks noChangeAspect="1"/>
          </p:cNvPicPr>
          <p:nvPr/>
        </p:nvPicPr>
        <p:blipFill>
          <a:blip r:embed="rId3"/>
          <a:stretch>
            <a:fillRect/>
          </a:stretch>
        </p:blipFill>
        <p:spPr>
          <a:xfrm>
            <a:off x="457200" y="6519672"/>
            <a:ext cx="164822" cy="246888"/>
          </a:xfrm>
          <a:prstGeom prst="rect">
            <a:avLst/>
          </a:prstGeom>
        </p:spPr>
      </p:pic>
      <p:sp>
        <p:nvSpPr>
          <p:cNvPr id="11" name="TextBox 10"/>
          <p:cNvSpPr txBox="1"/>
          <p:nvPr/>
        </p:nvSpPr>
        <p:spPr>
          <a:xfrm>
            <a:off x="713232" y="6501384"/>
            <a:ext cx="4206240" cy="310896"/>
          </a:xfrm>
          <a:prstGeom prst="rect">
            <a:avLst/>
          </a:prstGeom>
          <a:noFill/>
        </p:spPr>
        <p:txBody>
          <a:bodyPr wrap="square" lIns="0" tIns="0" rIns="0" bIns="0" anchor="ctr">
            <a:spAutoFit/>
          </a:bodyPr>
          <a:lstStyle/>
          <a:p>
            <a:pPr algn="l">
              <a:lnSpc>
                <a:spcPct val="94000"/>
              </a:lnSpc>
              <a:spcBef>
                <a:spcPts val="0"/>
              </a:spcBef>
              <a:spcAft>
                <a:spcPts val="0"/>
              </a:spcAft>
            </a:pPr>
            <a:r>
              <a:rPr sz="800" b="0" i="0">
                <a:solidFill>
                  <a:srgbClr val="8A0C20"/>
                </a:solidFill>
                <a:latin typeface="Be Vietnam Pro SemiBold"/>
              </a:rPr>
              <a:t>ĐẠI HỌC BÁCH KHOA HÀ NỘI</a:t>
            </a:r>
          </a:p>
          <a:p>
            <a:pPr algn="l">
              <a:lnSpc>
                <a:spcPct val="94000"/>
              </a:lnSpc>
              <a:spcBef>
                <a:spcPts val="0"/>
              </a:spcBef>
              <a:spcAft>
                <a:spcPts val="0"/>
              </a:spcAft>
            </a:pPr>
            <a:r>
              <a:rPr sz="750" b="0" i="0">
                <a:solidFill>
                  <a:srgbClr val="6B7280"/>
                </a:solidFill>
                <a:latin typeface="Be Vietnam Pro"/>
              </a:rPr>
              <a:t>Phần mềm Quản lý Khen thưởng  ·  Trần Anh Đức</a:t>
            </a:r>
          </a:p>
        </p:txBody>
      </p:sp>
      <p:sp>
        <p:nvSpPr>
          <p:cNvPr id="12" name="TextBox 11"/>
          <p:cNvSpPr txBox="1"/>
          <p:nvPr/>
        </p:nvSpPr>
        <p:spPr>
          <a:xfrm>
            <a:off x="7680960" y="6501384"/>
            <a:ext cx="1005840" cy="310896"/>
          </a:xfrm>
          <a:prstGeom prst="rect">
            <a:avLst/>
          </a:prstGeom>
          <a:noFill/>
        </p:spPr>
        <p:txBody>
          <a:bodyPr wrap="square" lIns="0" tIns="0" rIns="0" bIns="0" anchor="ctr">
            <a:spAutoFit/>
          </a:bodyPr>
          <a:lstStyle/>
          <a:p>
            <a:pPr algn="r">
              <a:spcBef>
                <a:spcPts val="0"/>
              </a:spcBef>
              <a:spcAft>
                <a:spcPts val="0"/>
              </a:spcAft>
            </a:pPr>
            <a:r>
              <a:rPr sz="1200" b="0" i="0">
                <a:solidFill>
                  <a:srgbClr val="C00000"/>
                </a:solidFill>
                <a:latin typeface="Be Vietnam Pro ExtraBold"/>
              </a:rPr>
              <a:t>20</a:t>
            </a:r>
            <a:r>
              <a:rPr sz="900" b="0" i="0">
                <a:solidFill>
                  <a:srgbClr val="6B7280"/>
                </a:solidFill>
                <a:latin typeface="Be Vietnam Pro"/>
              </a:rPr>
              <a:t> / 31</a:t>
            </a:r>
          </a:p>
        </p:txBody>
      </p:sp>
      <p:pic>
        <p:nvPicPr>
          <p:cNvPr id="13" name="Picture 12" descr="uctongquan.png"/>
          <p:cNvPicPr>
            <a:picLocks noChangeAspect="1"/>
          </p:cNvPicPr>
          <p:nvPr/>
        </p:nvPicPr>
        <p:blipFill>
          <a:blip r:embed="rId4"/>
          <a:stretch>
            <a:fillRect/>
          </a:stretch>
        </p:blipFill>
        <p:spPr>
          <a:xfrm>
            <a:off x="502920" y="1591056"/>
            <a:ext cx="4572000" cy="3454400"/>
          </a:xfrm>
          <a:prstGeom prst="rect">
            <a:avLst/>
          </a:prstGeom>
          <a:ln w="9525">
            <a:solidFill>
              <a:srgbClr val="E5E7EB"/>
            </a:solidFill>
          </a:ln>
          <a:effectLst>
            <a:outerShdw blurRad="90000" dist="42000" dir="5400000" rotWithShape="0">
              <a:srgbClr val="98A2B3">
                <a:alpha val="16000"/>
              </a:srgbClr>
            </a:outerShdw>
          </a:effectLst>
        </p:spPr>
      </p:pic>
      <p:sp>
        <p:nvSpPr>
          <p:cNvPr id="14" name="TextBox 13"/>
          <p:cNvSpPr txBox="1"/>
          <p:nvPr/>
        </p:nvSpPr>
        <p:spPr>
          <a:xfrm>
            <a:off x="5230368" y="1627632"/>
            <a:ext cx="3410712" cy="292608"/>
          </a:xfrm>
          <a:prstGeom prst="rect">
            <a:avLst/>
          </a:prstGeom>
          <a:noFill/>
        </p:spPr>
        <p:txBody>
          <a:bodyPr wrap="square" lIns="0" tIns="0" rIns="0" bIns="0" anchor="t">
            <a:spAutoFit/>
          </a:bodyPr>
          <a:lstStyle/>
          <a:p>
            <a:pPr algn="l">
              <a:spcBef>
                <a:spcPts val="0"/>
              </a:spcBef>
              <a:spcAft>
                <a:spcPts val="0"/>
              </a:spcAft>
            </a:pPr>
            <a:r>
              <a:rPr sz="1300" b="1" i="0">
                <a:solidFill>
                  <a:srgbClr val="C00000"/>
                </a:solidFill>
                <a:latin typeface="Be Vietnam Pro"/>
              </a:rPr>
              <a:t>Phân quyền theo vai trò</a:t>
            </a:r>
          </a:p>
        </p:txBody>
      </p:sp>
      <p:sp>
        <p:nvSpPr>
          <p:cNvPr id="15" name="Rounded Rectangle 14"/>
          <p:cNvSpPr/>
          <p:nvPr/>
        </p:nvSpPr>
        <p:spPr>
          <a:xfrm>
            <a:off x="5230368" y="1993392"/>
            <a:ext cx="3410712" cy="676656"/>
          </a:xfrm>
          <a:prstGeom prst="roundRect">
            <a:avLst>
              <a:gd name="adj" fmla="val 6000"/>
            </a:avLst>
          </a:prstGeom>
          <a:solidFill>
            <a:srgbClr val="FFFFFF"/>
          </a:solidFill>
          <a:ln w="12700">
            <a:solidFill>
              <a:srgbClr val="E5E7EB"/>
            </a:solidFill>
          </a:ln>
          <a:effectLst>
            <a:outerShdw blurRad="90000" dist="42000" dir="5400000" rotWithShape="0">
              <a:srgbClr val="98A2B3">
                <a:alpha val="20000"/>
              </a:srgbClr>
            </a:outerShdw>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l">
              <a:lnSpc>
                <a:spcPct val="100000"/>
              </a:lnSpc>
              <a:spcBef>
                <a:spcPts val="0"/>
              </a:spcBef>
              <a:spcAft>
                <a:spcPts val="100"/>
              </a:spcAft>
            </a:pPr>
            <a:r>
              <a:rPr sz="1150" b="1" i="0">
                <a:solidFill>
                  <a:srgbClr val="C00000"/>
                </a:solidFill>
                <a:latin typeface="Be Vietnam Pro"/>
              </a:rPr>
              <a:t>Quản trị hệ thống</a:t>
            </a:r>
          </a:p>
          <a:p>
            <a:pPr algn="l">
              <a:lnSpc>
                <a:spcPct val="100000"/>
              </a:lnSpc>
              <a:spcBef>
                <a:spcPts val="0"/>
              </a:spcBef>
              <a:spcAft>
                <a:spcPts val="0"/>
              </a:spcAft>
            </a:pPr>
            <a:r>
              <a:rPr sz="1000" b="0" i="0">
                <a:solidFill>
                  <a:srgbClr val="6B7280"/>
                </a:solidFill>
                <a:latin typeface="Be Vietnam Pro"/>
              </a:rPr>
              <a:t>Hạ tầng, sao lưu, nhật ký toàn hệ thống</a:t>
            </a:r>
          </a:p>
        </p:txBody>
      </p:sp>
      <p:sp>
        <p:nvSpPr>
          <p:cNvPr id="16" name="Rounded Rectangle 15"/>
          <p:cNvSpPr/>
          <p:nvPr/>
        </p:nvSpPr>
        <p:spPr>
          <a:xfrm>
            <a:off x="5230368" y="2761488"/>
            <a:ext cx="3410712" cy="676656"/>
          </a:xfrm>
          <a:prstGeom prst="roundRect">
            <a:avLst>
              <a:gd name="adj" fmla="val 6000"/>
            </a:avLst>
          </a:prstGeom>
          <a:solidFill>
            <a:srgbClr val="FFFFFF"/>
          </a:solidFill>
          <a:ln w="12700">
            <a:solidFill>
              <a:srgbClr val="E5E7EB"/>
            </a:solidFill>
          </a:ln>
          <a:effectLst>
            <a:outerShdw blurRad="90000" dist="42000" dir="5400000" rotWithShape="0">
              <a:srgbClr val="98A2B3">
                <a:alpha val="20000"/>
              </a:srgbClr>
            </a:outerShdw>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l">
              <a:lnSpc>
                <a:spcPct val="100000"/>
              </a:lnSpc>
              <a:spcBef>
                <a:spcPts val="0"/>
              </a:spcBef>
              <a:spcAft>
                <a:spcPts val="100"/>
              </a:spcAft>
            </a:pPr>
            <a:r>
              <a:rPr sz="1150" b="1" i="0">
                <a:solidFill>
                  <a:srgbClr val="C00000"/>
                </a:solidFill>
                <a:latin typeface="Be Vietnam Pro"/>
              </a:rPr>
              <a:t>Cán bộ Phòng Chính trị</a:t>
            </a:r>
          </a:p>
          <a:p>
            <a:pPr algn="l">
              <a:lnSpc>
                <a:spcPct val="100000"/>
              </a:lnSpc>
              <a:spcBef>
                <a:spcPts val="0"/>
              </a:spcBef>
              <a:spcAft>
                <a:spcPts val="0"/>
              </a:spcAft>
            </a:pPr>
            <a:r>
              <a:rPr sz="1000" b="0" i="0">
                <a:solidFill>
                  <a:srgbClr val="6B7280"/>
                </a:solidFill>
                <a:latin typeface="Be Vietnam Pro"/>
              </a:rPr>
              <a:t>Duyệt đề xuất, nhập số quyết định, quản lý quân nhân</a:t>
            </a:r>
          </a:p>
        </p:txBody>
      </p:sp>
      <p:sp>
        <p:nvSpPr>
          <p:cNvPr id="17" name="Rounded Rectangle 16"/>
          <p:cNvSpPr/>
          <p:nvPr/>
        </p:nvSpPr>
        <p:spPr>
          <a:xfrm>
            <a:off x="5230368" y="3529584"/>
            <a:ext cx="3410712" cy="676656"/>
          </a:xfrm>
          <a:prstGeom prst="roundRect">
            <a:avLst>
              <a:gd name="adj" fmla="val 6000"/>
            </a:avLst>
          </a:prstGeom>
          <a:solidFill>
            <a:srgbClr val="FFFFFF"/>
          </a:solidFill>
          <a:ln w="12700">
            <a:solidFill>
              <a:srgbClr val="E5E7EB"/>
            </a:solidFill>
          </a:ln>
          <a:effectLst>
            <a:outerShdw blurRad="90000" dist="42000" dir="5400000" rotWithShape="0">
              <a:srgbClr val="98A2B3">
                <a:alpha val="20000"/>
              </a:srgbClr>
            </a:outerShdw>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l">
              <a:lnSpc>
                <a:spcPct val="100000"/>
              </a:lnSpc>
              <a:spcBef>
                <a:spcPts val="0"/>
              </a:spcBef>
              <a:spcAft>
                <a:spcPts val="100"/>
              </a:spcAft>
            </a:pPr>
            <a:r>
              <a:rPr sz="1150" b="1" i="0">
                <a:solidFill>
                  <a:srgbClr val="C00000"/>
                </a:solidFill>
                <a:latin typeface="Be Vietnam Pro"/>
              </a:rPr>
              <a:t>Chỉ huy đơn vị</a:t>
            </a:r>
          </a:p>
          <a:p>
            <a:pPr algn="l">
              <a:lnSpc>
                <a:spcPct val="100000"/>
              </a:lnSpc>
              <a:spcBef>
                <a:spcPts val="0"/>
              </a:spcBef>
              <a:spcAft>
                <a:spcPts val="0"/>
              </a:spcAft>
            </a:pPr>
            <a:r>
              <a:rPr sz="1000" b="0" i="0">
                <a:solidFill>
                  <a:srgbClr val="6B7280"/>
                </a:solidFill>
                <a:latin typeface="Be Vietnam Pro"/>
              </a:rPr>
              <a:t>Tạo đề xuất, xem hồ sơ đơn vị, tính lại hồ sơ</a:t>
            </a:r>
          </a:p>
        </p:txBody>
      </p:sp>
      <p:sp>
        <p:nvSpPr>
          <p:cNvPr id="18" name="Rounded Rectangle 17"/>
          <p:cNvSpPr/>
          <p:nvPr/>
        </p:nvSpPr>
        <p:spPr>
          <a:xfrm>
            <a:off x="5230368" y="4297680"/>
            <a:ext cx="3410712" cy="676656"/>
          </a:xfrm>
          <a:prstGeom prst="roundRect">
            <a:avLst>
              <a:gd name="adj" fmla="val 6000"/>
            </a:avLst>
          </a:prstGeom>
          <a:solidFill>
            <a:srgbClr val="FFFFFF"/>
          </a:solidFill>
          <a:ln w="12700">
            <a:solidFill>
              <a:srgbClr val="E5E7EB"/>
            </a:solidFill>
          </a:ln>
          <a:effectLst>
            <a:outerShdw blurRad="90000" dist="42000" dir="5400000" rotWithShape="0">
              <a:srgbClr val="98A2B3">
                <a:alpha val="20000"/>
              </a:srgbClr>
            </a:outerShdw>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l">
              <a:lnSpc>
                <a:spcPct val="100000"/>
              </a:lnSpc>
              <a:spcBef>
                <a:spcPts val="0"/>
              </a:spcBef>
              <a:spcAft>
                <a:spcPts val="100"/>
              </a:spcAft>
            </a:pPr>
            <a:r>
              <a:rPr sz="1150" b="1" i="0">
                <a:solidFill>
                  <a:srgbClr val="C00000"/>
                </a:solidFill>
                <a:latin typeface="Be Vietnam Pro"/>
              </a:rPr>
              <a:t>Người dùng</a:t>
            </a:r>
          </a:p>
          <a:p>
            <a:pPr algn="l">
              <a:lnSpc>
                <a:spcPct val="100000"/>
              </a:lnSpc>
              <a:spcBef>
                <a:spcPts val="0"/>
              </a:spcBef>
              <a:spcAft>
                <a:spcPts val="0"/>
              </a:spcAft>
            </a:pPr>
            <a:r>
              <a:rPr sz="1000" b="0" i="0">
                <a:solidFill>
                  <a:srgbClr val="6B7280"/>
                </a:solidFill>
                <a:latin typeface="Be Vietnam Pro"/>
              </a:rPr>
              <a:t>Xem hồ sơ cá nhân, nhận thông báo</a:t>
            </a:r>
          </a:p>
        </p:txBody>
      </p:sp>
      <p:sp>
        <p:nvSpPr>
          <p:cNvPr id="19" name="Rounded Rectangle 18"/>
          <p:cNvSpPr/>
          <p:nvPr/>
        </p:nvSpPr>
        <p:spPr>
          <a:xfrm>
            <a:off x="5230368" y="5084064"/>
            <a:ext cx="3410712" cy="786384"/>
          </a:xfrm>
          <a:prstGeom prst="roundRect">
            <a:avLst>
              <a:gd name="adj" fmla="val 6000"/>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l">
              <a:lnSpc>
                <a:spcPct val="104000"/>
              </a:lnSpc>
              <a:spcBef>
                <a:spcPts val="0"/>
              </a:spcBef>
              <a:spcAft>
                <a:spcPts val="0"/>
              </a:spcAft>
            </a:pPr>
            <a:r>
              <a:rPr sz="1050" b="1" i="0">
                <a:solidFill>
                  <a:srgbClr val="C00000"/>
                </a:solidFill>
                <a:latin typeface="Be Vietnam Pro"/>
              </a:rPr>
              <a:t>Hai lớp phân quyền: </a:t>
            </a:r>
            <a:r>
              <a:rPr sz="1050" b="0" i="0">
                <a:solidFill>
                  <a:srgbClr val="1F2937"/>
                </a:solidFill>
                <a:latin typeface="Be Vietnam Pro"/>
              </a:rPr>
              <a:t>một middleware kiểm tra vai trò ở route, một middleware lọc dữ liệu theo đơn vị — vượt được lớp này thì lớp kia vẫn chặn.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 y="-45720"/>
            <a:ext cx="9235440" cy="6949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 y="-45720"/>
            <a:ext cx="9235440" cy="886968"/>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motif_white.png"/>
          <p:cNvPicPr>
            <a:picLocks noChangeAspect="1"/>
          </p:cNvPicPr>
          <p:nvPr/>
        </p:nvPicPr>
        <p:blipFill>
          <a:blip r:embed="rId2">
            <a:alphaModFix amt="34000"/>
          </a:blip>
          <a:stretch>
            <a:fillRect/>
          </a:stretch>
        </p:blipFill>
        <p:spPr>
          <a:xfrm>
            <a:off x="5989320" y="-1874519"/>
            <a:ext cx="4206240" cy="3154680"/>
          </a:xfrm>
          <a:prstGeom prst="rect">
            <a:avLst/>
          </a:prstGeom>
        </p:spPr>
      </p:pic>
      <p:sp>
        <p:nvSpPr>
          <p:cNvPr id="5" name="Rectangle 4"/>
          <p:cNvSpPr/>
          <p:nvPr/>
        </p:nvSpPr>
        <p:spPr>
          <a:xfrm>
            <a:off x="-45720" y="841248"/>
            <a:ext cx="9235440" cy="96012"/>
          </a:xfrm>
          <a:prstGeom prst="rect">
            <a:avLst/>
          </a:prstGeom>
          <a:solidFill>
            <a:srgbClr val="ECA7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 y="937260"/>
            <a:ext cx="9235440" cy="20116"/>
          </a:xfrm>
          <a:prstGeom prst="rect">
            <a:avLst/>
          </a:prstGeom>
          <a:solidFill>
            <a:srgbClr val="8A0C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8288"/>
            <a:ext cx="5897880" cy="822960"/>
          </a:xfrm>
          <a:prstGeom prst="rect">
            <a:avLst/>
          </a:prstGeom>
          <a:noFill/>
        </p:spPr>
        <p:txBody>
          <a:bodyPr wrap="square" lIns="0" tIns="0" rIns="0" bIns="0" anchor="ctr">
            <a:spAutoFit/>
          </a:bodyPr>
          <a:lstStyle/>
          <a:p>
            <a:pPr algn="l">
              <a:lnSpc>
                <a:spcPct val="96000"/>
              </a:lnSpc>
              <a:spcBef>
                <a:spcPts val="0"/>
              </a:spcBef>
              <a:spcAft>
                <a:spcPts val="0"/>
              </a:spcAft>
            </a:pPr>
            <a:r>
              <a:rPr sz="2300" b="0" i="0">
                <a:solidFill>
                  <a:srgbClr val="FFFFFF"/>
                </a:solidFill>
                <a:latin typeface="Be Vietnam Pro ExtraBold"/>
              </a:rPr>
              <a:t>Quy trình duyệt đề xuất</a:t>
            </a:r>
          </a:p>
        </p:txBody>
      </p:sp>
      <p:sp>
        <p:nvSpPr>
          <p:cNvPr id="8" name="Rounded Rectangle 7"/>
          <p:cNvSpPr/>
          <p:nvPr/>
        </p:nvSpPr>
        <p:spPr>
          <a:xfrm>
            <a:off x="6473952" y="256032"/>
            <a:ext cx="2139696" cy="329184"/>
          </a:xfrm>
          <a:prstGeom prst="roundRect">
            <a:avLst>
              <a:gd name="adj" fmla="val 50000"/>
            </a:avLst>
          </a:prstGeom>
          <a:noFill/>
          <a:ln w="15875">
            <a:solidFill>
              <a:srgbClr val="F2C255"/>
            </a:solid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spcBef>
                <a:spcPts val="0"/>
              </a:spcBef>
              <a:spcAft>
                <a:spcPts val="0"/>
              </a:spcAft>
            </a:pPr>
            <a:r>
              <a:rPr sz="950" b="0" i="0" spc="80">
                <a:solidFill>
                  <a:srgbClr val="FFFFFF"/>
                </a:solidFill>
                <a:latin typeface="Be Vietnam Pro SemiBold"/>
              </a:rPr>
              <a:t>CÔNG NGHỆ &amp; THIẾT KẾ</a:t>
            </a:r>
          </a:p>
        </p:txBody>
      </p:sp>
      <p:sp>
        <p:nvSpPr>
          <p:cNvPr id="9" name="Rectangle 8"/>
          <p:cNvSpPr/>
          <p:nvPr/>
        </p:nvSpPr>
        <p:spPr>
          <a:xfrm>
            <a:off x="457200" y="6446520"/>
            <a:ext cx="8229600" cy="9144"/>
          </a:xfrm>
          <a:prstGeom prst="rect">
            <a:avLst/>
          </a:prstGeom>
          <a:solidFill>
            <a:srgbClr val="E3C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hust_shield.png"/>
          <p:cNvPicPr>
            <a:picLocks noChangeAspect="1"/>
          </p:cNvPicPr>
          <p:nvPr/>
        </p:nvPicPr>
        <p:blipFill>
          <a:blip r:embed="rId3"/>
          <a:stretch>
            <a:fillRect/>
          </a:stretch>
        </p:blipFill>
        <p:spPr>
          <a:xfrm>
            <a:off x="457200" y="6519672"/>
            <a:ext cx="164822" cy="246888"/>
          </a:xfrm>
          <a:prstGeom prst="rect">
            <a:avLst/>
          </a:prstGeom>
        </p:spPr>
      </p:pic>
      <p:sp>
        <p:nvSpPr>
          <p:cNvPr id="11" name="TextBox 10"/>
          <p:cNvSpPr txBox="1"/>
          <p:nvPr/>
        </p:nvSpPr>
        <p:spPr>
          <a:xfrm>
            <a:off x="713232" y="6501384"/>
            <a:ext cx="4206240" cy="310896"/>
          </a:xfrm>
          <a:prstGeom prst="rect">
            <a:avLst/>
          </a:prstGeom>
          <a:noFill/>
        </p:spPr>
        <p:txBody>
          <a:bodyPr wrap="square" lIns="0" tIns="0" rIns="0" bIns="0" anchor="ctr">
            <a:spAutoFit/>
          </a:bodyPr>
          <a:lstStyle/>
          <a:p>
            <a:pPr algn="l">
              <a:lnSpc>
                <a:spcPct val="94000"/>
              </a:lnSpc>
              <a:spcBef>
                <a:spcPts val="0"/>
              </a:spcBef>
              <a:spcAft>
                <a:spcPts val="0"/>
              </a:spcAft>
            </a:pPr>
            <a:r>
              <a:rPr sz="800" b="0" i="0">
                <a:solidFill>
                  <a:srgbClr val="8A0C20"/>
                </a:solidFill>
                <a:latin typeface="Be Vietnam Pro SemiBold"/>
              </a:rPr>
              <a:t>ĐẠI HỌC BÁCH KHOA HÀ NỘI</a:t>
            </a:r>
          </a:p>
          <a:p>
            <a:pPr algn="l">
              <a:lnSpc>
                <a:spcPct val="94000"/>
              </a:lnSpc>
              <a:spcBef>
                <a:spcPts val="0"/>
              </a:spcBef>
              <a:spcAft>
                <a:spcPts val="0"/>
              </a:spcAft>
            </a:pPr>
            <a:r>
              <a:rPr sz="750" b="0" i="0">
                <a:solidFill>
                  <a:srgbClr val="6B7280"/>
                </a:solidFill>
                <a:latin typeface="Be Vietnam Pro"/>
              </a:rPr>
              <a:t>Phần mềm Quản lý Khen thưởng  ·  Trần Anh Đức</a:t>
            </a:r>
          </a:p>
        </p:txBody>
      </p:sp>
      <p:sp>
        <p:nvSpPr>
          <p:cNvPr id="12" name="TextBox 11"/>
          <p:cNvSpPr txBox="1"/>
          <p:nvPr/>
        </p:nvSpPr>
        <p:spPr>
          <a:xfrm>
            <a:off x="7680960" y="6501384"/>
            <a:ext cx="1005840" cy="310896"/>
          </a:xfrm>
          <a:prstGeom prst="rect">
            <a:avLst/>
          </a:prstGeom>
          <a:noFill/>
        </p:spPr>
        <p:txBody>
          <a:bodyPr wrap="square" lIns="0" tIns="0" rIns="0" bIns="0" anchor="ctr">
            <a:spAutoFit/>
          </a:bodyPr>
          <a:lstStyle/>
          <a:p>
            <a:pPr algn="r">
              <a:spcBef>
                <a:spcPts val="0"/>
              </a:spcBef>
              <a:spcAft>
                <a:spcPts val="0"/>
              </a:spcAft>
            </a:pPr>
            <a:r>
              <a:rPr sz="1200" b="0" i="0">
                <a:solidFill>
                  <a:srgbClr val="C00000"/>
                </a:solidFill>
                <a:latin typeface="Be Vietnam Pro ExtraBold"/>
              </a:rPr>
              <a:t>21</a:t>
            </a:r>
            <a:r>
              <a:rPr sz="900" b="0" i="0">
                <a:solidFill>
                  <a:srgbClr val="6B7280"/>
                </a:solidFill>
                <a:latin typeface="Be Vietnam Pro"/>
              </a:rPr>
              <a:t> / 31</a:t>
            </a:r>
          </a:p>
        </p:txBody>
      </p:sp>
      <p:sp>
        <p:nvSpPr>
          <p:cNvPr id="13" name="Oval 12"/>
          <p:cNvSpPr/>
          <p:nvPr/>
        </p:nvSpPr>
        <p:spPr>
          <a:xfrm>
            <a:off x="502920" y="1627632"/>
            <a:ext cx="457200" cy="45720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spcBef>
                <a:spcPts val="0"/>
              </a:spcBef>
              <a:spcAft>
                <a:spcPts val="0"/>
              </a:spcAft>
            </a:pPr>
            <a:r>
              <a:rPr sz="1700" b="1" i="0">
                <a:solidFill>
                  <a:srgbClr val="FFFFFF"/>
                </a:solidFill>
                <a:latin typeface="Be Vietnam Pro"/>
              </a:rPr>
              <a:t>1</a:t>
            </a:r>
          </a:p>
        </p:txBody>
      </p:sp>
      <p:sp>
        <p:nvSpPr>
          <p:cNvPr id="14" name="TextBox 13"/>
          <p:cNvSpPr txBox="1"/>
          <p:nvPr/>
        </p:nvSpPr>
        <p:spPr>
          <a:xfrm>
            <a:off x="1106424" y="1572768"/>
            <a:ext cx="3557015" cy="603504"/>
          </a:xfrm>
          <a:prstGeom prst="rect">
            <a:avLst/>
          </a:prstGeom>
          <a:noFill/>
        </p:spPr>
        <p:txBody>
          <a:bodyPr wrap="square" lIns="0" tIns="0" rIns="0" bIns="0" anchor="ctr">
            <a:spAutoFit/>
          </a:bodyPr>
          <a:lstStyle/>
          <a:p>
            <a:pPr algn="l">
              <a:lnSpc>
                <a:spcPct val="104000"/>
              </a:lnSpc>
              <a:spcBef>
                <a:spcPts val="0"/>
              </a:spcBef>
              <a:spcAft>
                <a:spcPts val="0"/>
              </a:spcAft>
            </a:pPr>
            <a:r>
              <a:rPr sz="1200" b="0" i="0">
                <a:solidFill>
                  <a:srgbClr val="1F2937"/>
                </a:solidFill>
                <a:latin typeface="Be Vietnam Pro"/>
              </a:rPr>
              <a:t>Chỉ huy đơn vị tạo đề xuất qua biểu mẫu năm bước.</a:t>
            </a:r>
          </a:p>
        </p:txBody>
      </p:sp>
      <p:sp>
        <p:nvSpPr>
          <p:cNvPr id="15" name="Rectangle 14"/>
          <p:cNvSpPr/>
          <p:nvPr/>
        </p:nvSpPr>
        <p:spPr>
          <a:xfrm>
            <a:off x="726948" y="2084832"/>
            <a:ext cx="10972" cy="320040"/>
          </a:xfrm>
          <a:prstGeom prst="rect">
            <a:avLst/>
          </a:prstGeom>
          <a:solidFill>
            <a:srgbClr val="F6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502920" y="2395728"/>
            <a:ext cx="457200" cy="45720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spcBef>
                <a:spcPts val="0"/>
              </a:spcBef>
              <a:spcAft>
                <a:spcPts val="0"/>
              </a:spcAft>
            </a:pPr>
            <a:r>
              <a:rPr sz="1700" b="1" i="0">
                <a:solidFill>
                  <a:srgbClr val="FFFFFF"/>
                </a:solidFill>
                <a:latin typeface="Be Vietnam Pro"/>
              </a:rPr>
              <a:t>2</a:t>
            </a:r>
          </a:p>
        </p:txBody>
      </p:sp>
      <p:sp>
        <p:nvSpPr>
          <p:cNvPr id="17" name="TextBox 16"/>
          <p:cNvSpPr txBox="1"/>
          <p:nvPr/>
        </p:nvSpPr>
        <p:spPr>
          <a:xfrm>
            <a:off x="1106424" y="2340864"/>
            <a:ext cx="3557015" cy="603504"/>
          </a:xfrm>
          <a:prstGeom prst="rect">
            <a:avLst/>
          </a:prstGeom>
          <a:noFill/>
        </p:spPr>
        <p:txBody>
          <a:bodyPr wrap="square" lIns="0" tIns="0" rIns="0" bIns="0" anchor="ctr">
            <a:spAutoFit/>
          </a:bodyPr>
          <a:lstStyle/>
          <a:p>
            <a:pPr algn="l">
              <a:lnSpc>
                <a:spcPct val="104000"/>
              </a:lnSpc>
              <a:spcBef>
                <a:spcPts val="0"/>
              </a:spcBef>
              <a:spcAft>
                <a:spcPts val="0"/>
              </a:spcAft>
            </a:pPr>
            <a:r>
              <a:rPr sz="1200" b="0" i="0">
                <a:solidFill>
                  <a:srgbClr val="1F2937"/>
                </a:solidFill>
                <a:latin typeface="Be Vietnam Pro"/>
              </a:rPr>
              <a:t>Hệ thống kiểm tra điều kiện, cảnh báo trùng đề xuất.</a:t>
            </a:r>
          </a:p>
        </p:txBody>
      </p:sp>
      <p:sp>
        <p:nvSpPr>
          <p:cNvPr id="18" name="Rectangle 17"/>
          <p:cNvSpPr/>
          <p:nvPr/>
        </p:nvSpPr>
        <p:spPr>
          <a:xfrm>
            <a:off x="726948" y="2852928"/>
            <a:ext cx="10972" cy="320040"/>
          </a:xfrm>
          <a:prstGeom prst="rect">
            <a:avLst/>
          </a:prstGeom>
          <a:solidFill>
            <a:srgbClr val="F6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502920" y="3163824"/>
            <a:ext cx="457200" cy="45720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spcBef>
                <a:spcPts val="0"/>
              </a:spcBef>
              <a:spcAft>
                <a:spcPts val="0"/>
              </a:spcAft>
            </a:pPr>
            <a:r>
              <a:rPr sz="1700" b="1" i="0">
                <a:solidFill>
                  <a:srgbClr val="FFFFFF"/>
                </a:solidFill>
                <a:latin typeface="Be Vietnam Pro"/>
              </a:rPr>
              <a:t>3</a:t>
            </a:r>
          </a:p>
        </p:txBody>
      </p:sp>
      <p:sp>
        <p:nvSpPr>
          <p:cNvPr id="20" name="TextBox 19"/>
          <p:cNvSpPr txBox="1"/>
          <p:nvPr/>
        </p:nvSpPr>
        <p:spPr>
          <a:xfrm>
            <a:off x="1106424" y="3108960"/>
            <a:ext cx="3557015" cy="603504"/>
          </a:xfrm>
          <a:prstGeom prst="rect">
            <a:avLst/>
          </a:prstGeom>
          <a:noFill/>
        </p:spPr>
        <p:txBody>
          <a:bodyPr wrap="square" lIns="0" tIns="0" rIns="0" bIns="0" anchor="ctr">
            <a:spAutoFit/>
          </a:bodyPr>
          <a:lstStyle/>
          <a:p>
            <a:pPr algn="l">
              <a:lnSpc>
                <a:spcPct val="104000"/>
              </a:lnSpc>
              <a:spcBef>
                <a:spcPts val="0"/>
              </a:spcBef>
              <a:spcAft>
                <a:spcPts val="0"/>
              </a:spcAft>
            </a:pPr>
            <a:r>
              <a:rPr sz="1200" b="0" i="0">
                <a:solidFill>
                  <a:srgbClr val="1F2937"/>
                </a:solidFill>
                <a:latin typeface="Be Vietnam Pro"/>
              </a:rPr>
              <a:t>Cán bộ Phòng Chính trị đối chiếu, nhập số quyết định và phê duyệt.</a:t>
            </a:r>
          </a:p>
        </p:txBody>
      </p:sp>
      <p:sp>
        <p:nvSpPr>
          <p:cNvPr id="21" name="Rectangle 20"/>
          <p:cNvSpPr/>
          <p:nvPr/>
        </p:nvSpPr>
        <p:spPr>
          <a:xfrm>
            <a:off x="726948" y="3621024"/>
            <a:ext cx="10972" cy="320040"/>
          </a:xfrm>
          <a:prstGeom prst="rect">
            <a:avLst/>
          </a:prstGeom>
          <a:solidFill>
            <a:srgbClr val="F6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502920" y="3931920"/>
            <a:ext cx="457200" cy="45720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spcBef>
                <a:spcPts val="0"/>
              </a:spcBef>
              <a:spcAft>
                <a:spcPts val="0"/>
              </a:spcAft>
            </a:pPr>
            <a:r>
              <a:rPr sz="1700" b="1" i="0">
                <a:solidFill>
                  <a:srgbClr val="FFFFFF"/>
                </a:solidFill>
                <a:latin typeface="Be Vietnam Pro"/>
              </a:rPr>
              <a:t>4</a:t>
            </a:r>
          </a:p>
        </p:txBody>
      </p:sp>
      <p:sp>
        <p:nvSpPr>
          <p:cNvPr id="23" name="TextBox 22"/>
          <p:cNvSpPr txBox="1"/>
          <p:nvPr/>
        </p:nvSpPr>
        <p:spPr>
          <a:xfrm>
            <a:off x="1106424" y="3877056"/>
            <a:ext cx="3557015" cy="603504"/>
          </a:xfrm>
          <a:prstGeom prst="rect">
            <a:avLst/>
          </a:prstGeom>
          <a:noFill/>
        </p:spPr>
        <p:txBody>
          <a:bodyPr wrap="square" lIns="0" tIns="0" rIns="0" bIns="0" anchor="ctr">
            <a:spAutoFit/>
          </a:bodyPr>
          <a:lstStyle/>
          <a:p>
            <a:pPr algn="l">
              <a:lnSpc>
                <a:spcPct val="104000"/>
              </a:lnSpc>
              <a:spcBef>
                <a:spcPts val="0"/>
              </a:spcBef>
              <a:spcAft>
                <a:spcPts val="0"/>
              </a:spcAft>
            </a:pPr>
            <a:r>
              <a:rPr sz="1200" b="0" i="0">
                <a:solidFill>
                  <a:srgbClr val="1F2937"/>
                </a:solidFill>
                <a:latin typeface="Be Vietnam Pro"/>
              </a:rPr>
              <a:t>Đính kèm tệp PDF quyết định đã ký, lưu kèm bản ghi.</a:t>
            </a:r>
          </a:p>
        </p:txBody>
      </p:sp>
      <p:sp>
        <p:nvSpPr>
          <p:cNvPr id="24" name="Rectangle 23"/>
          <p:cNvSpPr/>
          <p:nvPr/>
        </p:nvSpPr>
        <p:spPr>
          <a:xfrm>
            <a:off x="726948" y="4389120"/>
            <a:ext cx="10972" cy="320040"/>
          </a:xfrm>
          <a:prstGeom prst="rect">
            <a:avLst/>
          </a:prstGeom>
          <a:solidFill>
            <a:srgbClr val="F6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502920" y="4700016"/>
            <a:ext cx="457200" cy="45720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spcBef>
                <a:spcPts val="0"/>
              </a:spcBef>
              <a:spcAft>
                <a:spcPts val="0"/>
              </a:spcAft>
            </a:pPr>
            <a:r>
              <a:rPr sz="1700" b="1" i="0">
                <a:solidFill>
                  <a:srgbClr val="FFFFFF"/>
                </a:solidFill>
                <a:latin typeface="Be Vietnam Pro"/>
              </a:rPr>
              <a:t>5</a:t>
            </a:r>
          </a:p>
        </p:txBody>
      </p:sp>
      <p:sp>
        <p:nvSpPr>
          <p:cNvPr id="26" name="TextBox 25"/>
          <p:cNvSpPr txBox="1"/>
          <p:nvPr/>
        </p:nvSpPr>
        <p:spPr>
          <a:xfrm>
            <a:off x="1106424" y="4645152"/>
            <a:ext cx="3557015" cy="603504"/>
          </a:xfrm>
          <a:prstGeom prst="rect">
            <a:avLst/>
          </a:prstGeom>
          <a:noFill/>
        </p:spPr>
        <p:txBody>
          <a:bodyPr wrap="square" lIns="0" tIns="0" rIns="0" bIns="0" anchor="ctr">
            <a:spAutoFit/>
          </a:bodyPr>
          <a:lstStyle/>
          <a:p>
            <a:pPr algn="l">
              <a:lnSpc>
                <a:spcPct val="104000"/>
              </a:lnSpc>
              <a:spcBef>
                <a:spcPts val="0"/>
              </a:spcBef>
              <a:spcAft>
                <a:spcPts val="0"/>
              </a:spcAft>
            </a:pPr>
            <a:r>
              <a:rPr sz="1200" b="0" i="0">
                <a:solidFill>
                  <a:srgbClr val="1F2937"/>
                </a:solidFill>
                <a:latin typeface="Be Vietnam Pro"/>
              </a:rPr>
              <a:t>Cập nhật hồ sơ, gửi thông báo, ghi nhật ký.</a:t>
            </a:r>
          </a:p>
        </p:txBody>
      </p:sp>
      <p:pic>
        <p:nvPicPr>
          <p:cNvPr id="27" name="Picture 26" descr="activityquytrinh.png"/>
          <p:cNvPicPr>
            <a:picLocks noChangeAspect="1"/>
          </p:cNvPicPr>
          <p:nvPr/>
        </p:nvPicPr>
        <p:blipFill>
          <a:blip r:embed="rId4"/>
          <a:stretch>
            <a:fillRect/>
          </a:stretch>
        </p:blipFill>
        <p:spPr>
          <a:xfrm>
            <a:off x="4983480" y="1627632"/>
            <a:ext cx="3657600" cy="2568102"/>
          </a:xfrm>
          <a:prstGeom prst="rect">
            <a:avLst/>
          </a:prstGeom>
          <a:ln w="9525">
            <a:solidFill>
              <a:srgbClr val="E5E7EB"/>
            </a:solidFill>
          </a:ln>
          <a:effectLst>
            <a:outerShdw blurRad="90000" dist="42000" dir="5400000" rotWithShape="0">
              <a:srgbClr val="98A2B3">
                <a:alpha val="16000"/>
              </a:srgbClr>
            </a:outerShdw>
          </a:effectLst>
        </p:spPr>
      </p:pic>
      <p:sp>
        <p:nvSpPr>
          <p:cNvPr id="28" name="Rounded Rectangle 27"/>
          <p:cNvSpPr/>
          <p:nvPr/>
        </p:nvSpPr>
        <p:spPr>
          <a:xfrm>
            <a:off x="4983480" y="5074920"/>
            <a:ext cx="3657600" cy="960120"/>
          </a:xfrm>
          <a:prstGeom prst="roundRect">
            <a:avLst>
              <a:gd name="adj" fmla="val 6000"/>
            </a:avLst>
          </a:prstGeom>
          <a:solidFill>
            <a:srgbClr val="C00000"/>
          </a:solidFill>
          <a:ln>
            <a:noFill/>
          </a:ln>
          <a:effectLst>
            <a:outerShdw blurRad="90000" dist="42000" dir="5400000" rotWithShape="0">
              <a:srgbClr val="98A2B3">
                <a:alpha val="20000"/>
              </a:srgbClr>
            </a:outerShdw>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l">
              <a:lnSpc>
                <a:spcPct val="100000"/>
              </a:lnSpc>
              <a:spcBef>
                <a:spcPts val="0"/>
              </a:spcBef>
              <a:spcAft>
                <a:spcPts val="200"/>
              </a:spcAft>
            </a:pPr>
            <a:r>
              <a:rPr sz="1250" b="1" i="0">
                <a:solidFill>
                  <a:srgbClr val="E8B04B"/>
                </a:solidFill>
                <a:latin typeface="Be Vietnam Pro"/>
              </a:rPr>
              <a:t>Tính nhất quán</a:t>
            </a:r>
          </a:p>
          <a:p>
            <a:pPr algn="l">
              <a:lnSpc>
                <a:spcPct val="105000"/>
              </a:lnSpc>
              <a:spcBef>
                <a:spcPts val="0"/>
              </a:spcBef>
              <a:spcAft>
                <a:spcPts val="0"/>
              </a:spcAft>
            </a:pPr>
            <a:r>
              <a:rPr sz="1100" b="0" i="0">
                <a:solidFill>
                  <a:srgbClr val="FFFFFF"/>
                </a:solidFill>
                <a:latin typeface="Be Vietnam Pro"/>
              </a:rPr>
              <a:t>Bước 3–5 thực hiện trong một transaction Prisma, bảo đảm tính nhất quán của dữ liệu.</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 y="-45720"/>
            <a:ext cx="9235440" cy="6949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 y="-45720"/>
            <a:ext cx="9235440" cy="886968"/>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motif_white.png"/>
          <p:cNvPicPr>
            <a:picLocks noChangeAspect="1"/>
          </p:cNvPicPr>
          <p:nvPr/>
        </p:nvPicPr>
        <p:blipFill>
          <a:blip r:embed="rId2">
            <a:alphaModFix amt="34000"/>
          </a:blip>
          <a:stretch>
            <a:fillRect/>
          </a:stretch>
        </p:blipFill>
        <p:spPr>
          <a:xfrm>
            <a:off x="5989320" y="-1874519"/>
            <a:ext cx="4206240" cy="3154680"/>
          </a:xfrm>
          <a:prstGeom prst="rect">
            <a:avLst/>
          </a:prstGeom>
        </p:spPr>
      </p:pic>
      <p:sp>
        <p:nvSpPr>
          <p:cNvPr id="5" name="Rectangle 4"/>
          <p:cNvSpPr/>
          <p:nvPr/>
        </p:nvSpPr>
        <p:spPr>
          <a:xfrm>
            <a:off x="-45720" y="841248"/>
            <a:ext cx="9235440" cy="96012"/>
          </a:xfrm>
          <a:prstGeom prst="rect">
            <a:avLst/>
          </a:prstGeom>
          <a:solidFill>
            <a:srgbClr val="ECA7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 y="937260"/>
            <a:ext cx="9235440" cy="20116"/>
          </a:xfrm>
          <a:prstGeom prst="rect">
            <a:avLst/>
          </a:prstGeom>
          <a:solidFill>
            <a:srgbClr val="8A0C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8288"/>
            <a:ext cx="5897880" cy="822960"/>
          </a:xfrm>
          <a:prstGeom prst="rect">
            <a:avLst/>
          </a:prstGeom>
          <a:noFill/>
        </p:spPr>
        <p:txBody>
          <a:bodyPr wrap="square" lIns="0" tIns="0" rIns="0" bIns="0" anchor="ctr">
            <a:spAutoFit/>
          </a:bodyPr>
          <a:lstStyle/>
          <a:p>
            <a:pPr algn="l">
              <a:lnSpc>
                <a:spcPct val="96000"/>
              </a:lnSpc>
              <a:spcBef>
                <a:spcPts val="0"/>
              </a:spcBef>
              <a:spcAft>
                <a:spcPts val="0"/>
              </a:spcAft>
            </a:pPr>
            <a:r>
              <a:rPr sz="2300" b="0" i="0">
                <a:solidFill>
                  <a:srgbClr val="FFFFFF"/>
                </a:solidFill>
                <a:latin typeface="Be Vietnam Pro ExtraBold"/>
              </a:rPr>
              <a:t>Kiến trúc phần mềm (Strategy)</a:t>
            </a:r>
          </a:p>
        </p:txBody>
      </p:sp>
      <p:sp>
        <p:nvSpPr>
          <p:cNvPr id="8" name="Rounded Rectangle 7"/>
          <p:cNvSpPr/>
          <p:nvPr/>
        </p:nvSpPr>
        <p:spPr>
          <a:xfrm>
            <a:off x="6473952" y="256032"/>
            <a:ext cx="2139696" cy="329184"/>
          </a:xfrm>
          <a:prstGeom prst="roundRect">
            <a:avLst>
              <a:gd name="adj" fmla="val 50000"/>
            </a:avLst>
          </a:prstGeom>
          <a:noFill/>
          <a:ln w="15875">
            <a:solidFill>
              <a:srgbClr val="F2C255"/>
            </a:solid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spcBef>
                <a:spcPts val="0"/>
              </a:spcBef>
              <a:spcAft>
                <a:spcPts val="0"/>
              </a:spcAft>
            </a:pPr>
            <a:r>
              <a:rPr sz="950" b="0" i="0" spc="80">
                <a:solidFill>
                  <a:srgbClr val="FFFFFF"/>
                </a:solidFill>
                <a:latin typeface="Be Vietnam Pro SemiBold"/>
              </a:rPr>
              <a:t>CÔNG NGHỆ &amp; THIẾT KẾ</a:t>
            </a:r>
          </a:p>
        </p:txBody>
      </p:sp>
      <p:sp>
        <p:nvSpPr>
          <p:cNvPr id="9" name="Rectangle 8"/>
          <p:cNvSpPr/>
          <p:nvPr/>
        </p:nvSpPr>
        <p:spPr>
          <a:xfrm>
            <a:off x="457200" y="6446520"/>
            <a:ext cx="8229600" cy="9144"/>
          </a:xfrm>
          <a:prstGeom prst="rect">
            <a:avLst/>
          </a:prstGeom>
          <a:solidFill>
            <a:srgbClr val="E3C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hust_shield.png"/>
          <p:cNvPicPr>
            <a:picLocks noChangeAspect="1"/>
          </p:cNvPicPr>
          <p:nvPr/>
        </p:nvPicPr>
        <p:blipFill>
          <a:blip r:embed="rId3"/>
          <a:stretch>
            <a:fillRect/>
          </a:stretch>
        </p:blipFill>
        <p:spPr>
          <a:xfrm>
            <a:off x="457200" y="6519672"/>
            <a:ext cx="164822" cy="246888"/>
          </a:xfrm>
          <a:prstGeom prst="rect">
            <a:avLst/>
          </a:prstGeom>
        </p:spPr>
      </p:pic>
      <p:sp>
        <p:nvSpPr>
          <p:cNvPr id="11" name="TextBox 10"/>
          <p:cNvSpPr txBox="1"/>
          <p:nvPr/>
        </p:nvSpPr>
        <p:spPr>
          <a:xfrm>
            <a:off x="713232" y="6501384"/>
            <a:ext cx="4206240" cy="310896"/>
          </a:xfrm>
          <a:prstGeom prst="rect">
            <a:avLst/>
          </a:prstGeom>
          <a:noFill/>
        </p:spPr>
        <p:txBody>
          <a:bodyPr wrap="square" lIns="0" tIns="0" rIns="0" bIns="0" anchor="ctr">
            <a:spAutoFit/>
          </a:bodyPr>
          <a:lstStyle/>
          <a:p>
            <a:pPr algn="l">
              <a:lnSpc>
                <a:spcPct val="94000"/>
              </a:lnSpc>
              <a:spcBef>
                <a:spcPts val="0"/>
              </a:spcBef>
              <a:spcAft>
                <a:spcPts val="0"/>
              </a:spcAft>
            </a:pPr>
            <a:r>
              <a:rPr sz="800" b="0" i="0">
                <a:solidFill>
                  <a:srgbClr val="8A0C20"/>
                </a:solidFill>
                <a:latin typeface="Be Vietnam Pro SemiBold"/>
              </a:rPr>
              <a:t>ĐẠI HỌC BÁCH KHOA HÀ NỘI</a:t>
            </a:r>
          </a:p>
          <a:p>
            <a:pPr algn="l">
              <a:lnSpc>
                <a:spcPct val="94000"/>
              </a:lnSpc>
              <a:spcBef>
                <a:spcPts val="0"/>
              </a:spcBef>
              <a:spcAft>
                <a:spcPts val="0"/>
              </a:spcAft>
            </a:pPr>
            <a:r>
              <a:rPr sz="750" b="0" i="0">
                <a:solidFill>
                  <a:srgbClr val="6B7280"/>
                </a:solidFill>
                <a:latin typeface="Be Vietnam Pro"/>
              </a:rPr>
              <a:t>Phần mềm Quản lý Khen thưởng  ·  Trần Anh Đức</a:t>
            </a:r>
          </a:p>
        </p:txBody>
      </p:sp>
      <p:sp>
        <p:nvSpPr>
          <p:cNvPr id="12" name="TextBox 11"/>
          <p:cNvSpPr txBox="1"/>
          <p:nvPr/>
        </p:nvSpPr>
        <p:spPr>
          <a:xfrm>
            <a:off x="7680960" y="6501384"/>
            <a:ext cx="1005840" cy="310896"/>
          </a:xfrm>
          <a:prstGeom prst="rect">
            <a:avLst/>
          </a:prstGeom>
          <a:noFill/>
        </p:spPr>
        <p:txBody>
          <a:bodyPr wrap="square" lIns="0" tIns="0" rIns="0" bIns="0" anchor="ctr">
            <a:spAutoFit/>
          </a:bodyPr>
          <a:lstStyle/>
          <a:p>
            <a:pPr algn="r">
              <a:spcBef>
                <a:spcPts val="0"/>
              </a:spcBef>
              <a:spcAft>
                <a:spcPts val="0"/>
              </a:spcAft>
            </a:pPr>
            <a:r>
              <a:rPr sz="1200" b="0" i="0">
                <a:solidFill>
                  <a:srgbClr val="C00000"/>
                </a:solidFill>
                <a:latin typeface="Be Vietnam Pro ExtraBold"/>
              </a:rPr>
              <a:t>22</a:t>
            </a:r>
            <a:r>
              <a:rPr sz="900" b="0" i="0">
                <a:solidFill>
                  <a:srgbClr val="6B7280"/>
                </a:solidFill>
                <a:latin typeface="Be Vietnam Pro"/>
              </a:rPr>
              <a:t> / 31</a:t>
            </a:r>
          </a:p>
        </p:txBody>
      </p:sp>
      <p:pic>
        <p:nvPicPr>
          <p:cNvPr id="13" name="Picture 12" descr="lopdexuat.png"/>
          <p:cNvPicPr>
            <a:picLocks noChangeAspect="1"/>
          </p:cNvPicPr>
          <p:nvPr/>
        </p:nvPicPr>
        <p:blipFill>
          <a:blip r:embed="rId4"/>
          <a:stretch>
            <a:fillRect/>
          </a:stretch>
        </p:blipFill>
        <p:spPr>
          <a:xfrm>
            <a:off x="502920" y="1591056"/>
            <a:ext cx="4892040" cy="3434836"/>
          </a:xfrm>
          <a:prstGeom prst="rect">
            <a:avLst/>
          </a:prstGeom>
          <a:ln w="9525">
            <a:solidFill>
              <a:srgbClr val="E5E7EB"/>
            </a:solidFill>
          </a:ln>
          <a:effectLst>
            <a:outerShdw blurRad="90000" dist="42000" dir="5400000" rotWithShape="0">
              <a:srgbClr val="98A2B3">
                <a:alpha val="16000"/>
              </a:srgbClr>
            </a:outerShdw>
          </a:effectLst>
        </p:spPr>
      </p:pic>
      <p:sp>
        <p:nvSpPr>
          <p:cNvPr id="14" name="Rounded Rectangle 13"/>
          <p:cNvSpPr/>
          <p:nvPr/>
        </p:nvSpPr>
        <p:spPr>
          <a:xfrm>
            <a:off x="5532120" y="1591056"/>
            <a:ext cx="3108960" cy="1325880"/>
          </a:xfrm>
          <a:prstGeom prst="roundRect">
            <a:avLst>
              <a:gd name="adj" fmla="val 6000"/>
            </a:avLst>
          </a:prstGeom>
          <a:solidFill>
            <a:srgbClr val="FFFFFF"/>
          </a:solidFill>
          <a:ln w="12700">
            <a:solidFill>
              <a:srgbClr val="E5E7EB"/>
            </a:solidFill>
          </a:ln>
          <a:effectLst>
            <a:outerShdw blurRad="90000" dist="42000" dir="5400000" rotWithShape="0">
              <a:srgbClr val="98A2B3">
                <a:alpha val="20000"/>
              </a:srgbClr>
            </a:outerShdw>
          </a:effectLst>
        </p:spPr>
        <p:style>
          <a:lnRef idx="1">
            <a:schemeClr val="accent1"/>
          </a:lnRef>
          <a:fillRef idx="3">
            <a:schemeClr val="accent1"/>
          </a:fillRef>
          <a:effectRef idx="2">
            <a:schemeClr val="accent1"/>
          </a:effectRef>
          <a:fontRef idx="minor">
            <a:schemeClr val="lt1"/>
          </a:fontRef>
        </p:style>
        <p:txBody>
          <a:bodyPr wrap="square" lIns="109728" rIns="109728" rtlCol="0" anchor="t"/>
          <a:lstStyle/>
          <a:p>
            <a:pPr algn="l">
              <a:spcBef>
                <a:spcPts val="0"/>
              </a:spcBef>
              <a:spcAft>
                <a:spcPts val="300"/>
              </a:spcAft>
            </a:pPr>
            <a:r>
              <a:rPr sz="1250" b="1" i="0">
                <a:solidFill>
                  <a:srgbClr val="1F2937"/>
                </a:solidFill>
                <a:latin typeface="Be Vietnam Pro"/>
              </a:rPr>
              <a:t>Vấn đề</a:t>
            </a:r>
          </a:p>
          <a:p>
            <a:pPr algn="l">
              <a:lnSpc>
                <a:spcPct val="106000"/>
              </a:lnSpc>
              <a:spcBef>
                <a:spcPts val="0"/>
              </a:spcBef>
              <a:spcAft>
                <a:spcPts val="0"/>
              </a:spcAft>
            </a:pPr>
            <a:r>
              <a:rPr sz="1050" b="0" i="0">
                <a:solidFill>
                  <a:srgbClr val="1F2937"/>
                </a:solidFill>
                <a:latin typeface="Be Vietnam Pro"/>
              </a:rPr>
              <a:t>Bảy loại đề xuất, mỗi loại có cách dựng dữ liệu, kiểm tra và ghi khác nhau → if/else sẽ tạo file 2000+ dòng, khó kiểm thử và bảo trì.</a:t>
            </a:r>
          </a:p>
        </p:txBody>
      </p:sp>
      <p:sp>
        <p:nvSpPr>
          <p:cNvPr id="15" name="Rounded Rectangle 14"/>
          <p:cNvSpPr/>
          <p:nvPr/>
        </p:nvSpPr>
        <p:spPr>
          <a:xfrm>
            <a:off x="5532120" y="3017520"/>
            <a:ext cx="3108960" cy="2286000"/>
          </a:xfrm>
          <a:prstGeom prst="roundRect">
            <a:avLst>
              <a:gd name="adj" fmla="val 6000"/>
            </a:avLst>
          </a:prstGeom>
          <a:solidFill>
            <a:srgbClr val="FBEAEA"/>
          </a:solidFill>
          <a:ln>
            <a:noFill/>
          </a:ln>
          <a:effectLst>
            <a:outerShdw blurRad="90000" dist="42000" dir="5400000" rotWithShape="0">
              <a:srgbClr val="98A2B3">
                <a:alpha val="20000"/>
              </a:srgbClr>
            </a:outerShdw>
          </a:effectLst>
        </p:spPr>
        <p:style>
          <a:lnRef idx="1">
            <a:schemeClr val="accent1"/>
          </a:lnRef>
          <a:fillRef idx="3">
            <a:schemeClr val="accent1"/>
          </a:fillRef>
          <a:effectRef idx="2">
            <a:schemeClr val="accent1"/>
          </a:effectRef>
          <a:fontRef idx="minor">
            <a:schemeClr val="lt1"/>
          </a:fontRef>
        </p:style>
        <p:txBody>
          <a:bodyPr wrap="square" lIns="109728" rIns="109728" rtlCol="0" anchor="t"/>
          <a:lstStyle/>
          <a:p>
            <a:pPr algn="l">
              <a:spcBef>
                <a:spcPts val="0"/>
              </a:spcBef>
              <a:spcAft>
                <a:spcPts val="300"/>
              </a:spcAft>
            </a:pPr>
            <a:r>
              <a:rPr sz="1250" b="1" i="0">
                <a:solidFill>
                  <a:srgbClr val="C00000"/>
                </a:solidFill>
                <a:latin typeface="Be Vietnam Pro"/>
              </a:rPr>
              <a:t>Giải pháp</a:t>
            </a:r>
          </a:p>
          <a:p>
            <a:pPr algn="l">
              <a:lnSpc>
                <a:spcPct val="105000"/>
              </a:lnSpc>
              <a:spcBef>
                <a:spcPts val="0"/>
              </a:spcBef>
              <a:spcAft>
                <a:spcPts val="400"/>
              </a:spcAft>
            </a:pPr>
            <a:r>
              <a:rPr sz="1050" b="0" i="0">
                <a:solidFill>
                  <a:srgbClr val="1F2937"/>
                </a:solidFill>
                <a:latin typeface="Be Vietnam Pro"/>
              </a:rPr>
              <a:t>Interface chung, mỗi loại một file riêng, điều phối qua Registry.</a:t>
            </a:r>
          </a:p>
          <a:p>
            <a:pPr marL="164592" indent="-164592" algn="l">
              <a:lnSpc>
                <a:spcPct val="100000"/>
              </a:lnSpc>
              <a:spcBef>
                <a:spcPts val="0"/>
              </a:spcBef>
              <a:spcAft>
                <a:spcPts val="200"/>
              </a:spcAft>
            </a:pPr>
            <a:r>
              <a:rPr sz="900" b="1">
                <a:solidFill>
                  <a:srgbClr val="C00000"/>
                </a:solidFill>
                <a:latin typeface="Arial"/>
              </a:rPr>
              <a:t>▪ </a:t>
            </a:r>
            <a:r>
              <a:rPr sz="1000" b="0" i="0">
                <a:solidFill>
                  <a:srgbClr val="8A0C20"/>
                </a:solidFill>
                <a:latin typeface="Consolas"/>
              </a:rPr>
              <a:t>Dựng dữ liệu khi gửi</a:t>
            </a:r>
          </a:p>
          <a:p>
            <a:pPr marL="164592" indent="-164592" algn="l">
              <a:lnSpc>
                <a:spcPct val="100000"/>
              </a:lnSpc>
              <a:spcBef>
                <a:spcPts val="0"/>
              </a:spcBef>
              <a:spcAft>
                <a:spcPts val="200"/>
              </a:spcAft>
            </a:pPr>
            <a:r>
              <a:rPr sz="900" b="1">
                <a:solidFill>
                  <a:srgbClr val="C00000"/>
                </a:solidFill>
                <a:latin typeface="Arial"/>
              </a:rPr>
              <a:t>▪ </a:t>
            </a:r>
            <a:r>
              <a:rPr sz="1000" b="0" i="0">
                <a:solidFill>
                  <a:srgbClr val="8A0C20"/>
                </a:solidFill>
                <a:latin typeface="Consolas"/>
              </a:rPr>
              <a:t>Kiểm tra khi phê duyệt</a:t>
            </a:r>
          </a:p>
          <a:p>
            <a:pPr marL="164592" indent="-164592" algn="l">
              <a:lnSpc>
                <a:spcPct val="100000"/>
              </a:lnSpc>
              <a:spcBef>
                <a:spcPts val="0"/>
              </a:spcBef>
              <a:spcAft>
                <a:spcPts val="200"/>
              </a:spcAft>
            </a:pPr>
            <a:r>
              <a:rPr sz="900" b="1">
                <a:solidFill>
                  <a:srgbClr val="C00000"/>
                </a:solidFill>
                <a:latin typeface="Arial"/>
              </a:rPr>
              <a:t>▪ </a:t>
            </a:r>
            <a:r>
              <a:rPr sz="1000" b="0" i="0">
                <a:solidFill>
                  <a:srgbClr val="8A0C20"/>
                </a:solidFill>
                <a:latin typeface="Consolas"/>
              </a:rPr>
              <a:t>Ghi dữ liệu trong giao dịch</a:t>
            </a:r>
          </a:p>
          <a:p>
            <a:pPr marL="164592" indent="-164592" algn="l">
              <a:lnSpc>
                <a:spcPct val="100000"/>
              </a:lnSpc>
              <a:spcBef>
                <a:spcPts val="0"/>
              </a:spcBef>
              <a:spcAft>
                <a:spcPts val="200"/>
              </a:spcAft>
            </a:pPr>
            <a:r>
              <a:rPr sz="900" b="1">
                <a:solidFill>
                  <a:srgbClr val="C00000"/>
                </a:solidFill>
                <a:latin typeface="Arial"/>
              </a:rPr>
              <a:t>▪ </a:t>
            </a:r>
            <a:r>
              <a:rPr sz="1000" b="0" i="0">
                <a:solidFill>
                  <a:srgbClr val="8A0C20"/>
                </a:solidFill>
                <a:latin typeface="Consolas"/>
              </a:rPr>
              <a:t>Sinh thông điệp kết quả</a:t>
            </a:r>
          </a:p>
        </p:txBody>
      </p:sp>
      <p:sp>
        <p:nvSpPr>
          <p:cNvPr id="16" name="Rounded Rectangle 15"/>
          <p:cNvSpPr/>
          <p:nvPr/>
        </p:nvSpPr>
        <p:spPr>
          <a:xfrm>
            <a:off x="502920" y="5440680"/>
            <a:ext cx="8138160" cy="566928"/>
          </a:xfrm>
          <a:prstGeom prst="roundRect">
            <a:avLst>
              <a:gd name="adj" fmla="val 8000"/>
            </a:avLst>
          </a:prstGeom>
          <a:solidFill>
            <a:srgbClr val="F7F7F8"/>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l">
              <a:lnSpc>
                <a:spcPct val="104000"/>
              </a:lnSpc>
              <a:spcBef>
                <a:spcPts val="0"/>
              </a:spcBef>
              <a:spcAft>
                <a:spcPts val="0"/>
              </a:spcAft>
            </a:pPr>
            <a:r>
              <a:rPr sz="1050" b="1" i="0">
                <a:solidFill>
                  <a:srgbClr val="C00000"/>
                </a:solidFill>
                <a:latin typeface="Be Vietnam Pro"/>
              </a:rPr>
              <a:t>DRY &amp; mở rộng: </a:t>
            </a:r>
            <a:r>
              <a:rPr sz="1050" b="0" i="0">
                <a:solidFill>
                  <a:srgbClr val="1F2937"/>
                </a:solidFill>
                <a:latin typeface="Be Vietnam Pro"/>
              </a:rPr>
              <a:t>thêm loại đề xuất mới chỉ cần một tệp chiến lược và một dòng đăng ký, không phải sửa tầng phê duyệt chung (HCQKQT và KNC dùng chung một hàm nhập).</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 y="-45720"/>
            <a:ext cx="9235440" cy="694944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 y="-45720"/>
            <a:ext cx="9235440" cy="694944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motif_white.png"/>
          <p:cNvPicPr>
            <a:picLocks noChangeAspect="1"/>
          </p:cNvPicPr>
          <p:nvPr/>
        </p:nvPicPr>
        <p:blipFill>
          <a:blip r:embed="rId2">
            <a:alphaModFix amt="30000"/>
          </a:blip>
          <a:stretch>
            <a:fillRect/>
          </a:stretch>
        </p:blipFill>
        <p:spPr>
          <a:xfrm>
            <a:off x="4297680" y="-1097280"/>
            <a:ext cx="6766560" cy="5074920"/>
          </a:xfrm>
          <a:prstGeom prst="rect">
            <a:avLst/>
          </a:prstGeom>
        </p:spPr>
      </p:pic>
      <p:sp>
        <p:nvSpPr>
          <p:cNvPr id="5" name="TextBox 4"/>
          <p:cNvSpPr txBox="1"/>
          <p:nvPr/>
        </p:nvSpPr>
        <p:spPr>
          <a:xfrm>
            <a:off x="640080" y="1371600"/>
            <a:ext cx="2926080" cy="2377440"/>
          </a:xfrm>
          <a:prstGeom prst="rect">
            <a:avLst/>
          </a:prstGeom>
          <a:noFill/>
        </p:spPr>
        <p:txBody>
          <a:bodyPr wrap="square" lIns="0" tIns="0" rIns="0" bIns="0" anchor="t">
            <a:spAutoFit/>
          </a:bodyPr>
          <a:lstStyle/>
          <a:p>
            <a:pPr algn="l">
              <a:lnSpc>
                <a:spcPct val="85000"/>
              </a:lnSpc>
              <a:spcBef>
                <a:spcPts val="0"/>
              </a:spcBef>
              <a:spcAft>
                <a:spcPts val="0"/>
              </a:spcAft>
            </a:pPr>
            <a:r>
              <a:rPr sz="15000" b="0" i="0">
                <a:solidFill>
                  <a:srgbClr val="F2C255"/>
                </a:solidFill>
                <a:latin typeface="Be Vietnam Pro Black"/>
              </a:rPr>
              <a:t>III</a:t>
            </a:r>
          </a:p>
        </p:txBody>
      </p:sp>
      <p:sp>
        <p:nvSpPr>
          <p:cNvPr id="6" name="TextBox 5"/>
          <p:cNvSpPr txBox="1"/>
          <p:nvPr/>
        </p:nvSpPr>
        <p:spPr>
          <a:xfrm>
            <a:off x="3246120" y="2331720"/>
            <a:ext cx="5303520" cy="457200"/>
          </a:xfrm>
          <a:prstGeom prst="rect">
            <a:avLst/>
          </a:prstGeom>
          <a:noFill/>
        </p:spPr>
        <p:txBody>
          <a:bodyPr wrap="square" lIns="0" tIns="0" rIns="0" bIns="0" anchor="t">
            <a:spAutoFit/>
          </a:bodyPr>
          <a:lstStyle/>
          <a:p>
            <a:pPr algn="l">
              <a:spcBef>
                <a:spcPts val="0"/>
              </a:spcBef>
              <a:spcAft>
                <a:spcPts val="0"/>
              </a:spcAft>
            </a:pPr>
            <a:r>
              <a:rPr sz="1400" b="0" i="0" spc="200">
                <a:solidFill>
                  <a:srgbClr val="F7D99B"/>
                </a:solidFill>
                <a:latin typeface="Be Vietnam Pro SemiBold"/>
              </a:rPr>
              <a:t>PHẦN III</a:t>
            </a:r>
          </a:p>
        </p:txBody>
      </p:sp>
      <p:sp>
        <p:nvSpPr>
          <p:cNvPr id="7" name="TextBox 6"/>
          <p:cNvSpPr txBox="1"/>
          <p:nvPr/>
        </p:nvSpPr>
        <p:spPr>
          <a:xfrm>
            <a:off x="3200400" y="2697480"/>
            <a:ext cx="5486400" cy="1188720"/>
          </a:xfrm>
          <a:prstGeom prst="rect">
            <a:avLst/>
          </a:prstGeom>
          <a:noFill/>
        </p:spPr>
        <p:txBody>
          <a:bodyPr wrap="square" lIns="0" tIns="0" rIns="0" bIns="0" anchor="t">
            <a:spAutoFit/>
          </a:bodyPr>
          <a:lstStyle/>
          <a:p>
            <a:pPr algn="l">
              <a:lnSpc>
                <a:spcPct val="100000"/>
              </a:lnSpc>
              <a:spcBef>
                <a:spcPts val="0"/>
              </a:spcBef>
              <a:spcAft>
                <a:spcPts val="0"/>
              </a:spcAft>
            </a:pPr>
            <a:r>
              <a:rPr sz="3300" b="0" i="0">
                <a:solidFill>
                  <a:srgbClr val="FFFFFF"/>
                </a:solidFill>
                <a:latin typeface="Be Vietnam Pro ExtraBold"/>
              </a:rPr>
              <a:t>Các đóng góp nổi bật</a:t>
            </a:r>
          </a:p>
        </p:txBody>
      </p:sp>
      <p:sp>
        <p:nvSpPr>
          <p:cNvPr id="8" name="Rectangle 7"/>
          <p:cNvSpPr/>
          <p:nvPr/>
        </p:nvSpPr>
        <p:spPr>
          <a:xfrm>
            <a:off x="3264408" y="3913632"/>
            <a:ext cx="1554480" cy="36576"/>
          </a:xfrm>
          <a:prstGeom prst="rect">
            <a:avLst/>
          </a:prstGeom>
          <a:solidFill>
            <a:srgbClr val="F2C2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246120" y="4160520"/>
            <a:ext cx="5394960" cy="1828800"/>
          </a:xfrm>
          <a:prstGeom prst="rect">
            <a:avLst/>
          </a:prstGeom>
          <a:noFill/>
        </p:spPr>
        <p:txBody>
          <a:bodyPr wrap="square" lIns="0" tIns="0" rIns="0" bIns="0" anchor="t">
            <a:spAutoFit/>
          </a:bodyPr>
          <a:lstStyle/>
          <a:p>
            <a:pPr marL="237744" indent="-237744" algn="l">
              <a:lnSpc>
                <a:spcPct val="105000"/>
              </a:lnSpc>
              <a:spcBef>
                <a:spcPts val="0"/>
              </a:spcBef>
              <a:spcAft>
                <a:spcPts val="600"/>
              </a:spcAft>
            </a:pPr>
            <a:r>
              <a:rPr sz="1200">
                <a:solidFill>
                  <a:srgbClr val="F2C255"/>
                </a:solidFill>
                <a:latin typeface="Be Vietnam Pro SemiBold"/>
              </a:rPr>
              <a:t>—  </a:t>
            </a:r>
            <a:r>
              <a:rPr sz="1250" b="0" i="0">
                <a:solidFill>
                  <a:srgbClr val="FBECEC"/>
                </a:solidFill>
                <a:latin typeface="Be Vietnam Pro"/>
              </a:rPr>
              <a:t>Tự động xét điều kiện và gợi ý</a:t>
            </a:r>
          </a:p>
          <a:p>
            <a:pPr marL="237744" indent="-237744" algn="l">
              <a:lnSpc>
                <a:spcPct val="105000"/>
              </a:lnSpc>
              <a:spcBef>
                <a:spcPts val="0"/>
              </a:spcBef>
              <a:spcAft>
                <a:spcPts val="600"/>
              </a:spcAft>
            </a:pPr>
            <a:r>
              <a:rPr sz="1200">
                <a:solidFill>
                  <a:srgbClr val="F2C255"/>
                </a:solidFill>
                <a:latin typeface="Be Vietnam Pro SemiBold"/>
              </a:rPr>
              <a:t>—  </a:t>
            </a:r>
            <a:r>
              <a:rPr sz="1250" b="0" i="0">
                <a:solidFill>
                  <a:srgbClr val="FBECEC"/>
                </a:solidFill>
                <a:latin typeface="Be Vietnam Pro"/>
              </a:rPr>
              <a:t>Số hoá quy trình, nhập Excel có giao dịch</a:t>
            </a:r>
          </a:p>
          <a:p>
            <a:pPr marL="237744" indent="-237744" algn="l">
              <a:lnSpc>
                <a:spcPct val="105000"/>
              </a:lnSpc>
              <a:spcBef>
                <a:spcPts val="0"/>
              </a:spcBef>
              <a:spcAft>
                <a:spcPts val="600"/>
              </a:spcAft>
            </a:pPr>
            <a:r>
              <a:rPr sz="1200">
                <a:solidFill>
                  <a:srgbClr val="F2C255"/>
                </a:solidFill>
                <a:latin typeface="Be Vietnam Pro SemiBold"/>
              </a:rPr>
              <a:t>—  </a:t>
            </a:r>
            <a:r>
              <a:rPr sz="1250" b="0" i="0">
                <a:solidFill>
                  <a:srgbClr val="FBECEC"/>
                </a:solidFill>
                <a:latin typeface="Be Vietnam Pro"/>
              </a:rPr>
              <a:t>Lưu vết, sao lưu và thông báo</a:t>
            </a:r>
          </a:p>
        </p:txBody>
      </p:sp>
      <p:sp>
        <p:nvSpPr>
          <p:cNvPr id="10" name="TextBox 9"/>
          <p:cNvSpPr txBox="1"/>
          <p:nvPr/>
        </p:nvSpPr>
        <p:spPr>
          <a:xfrm>
            <a:off x="7680960" y="6455664"/>
            <a:ext cx="1005840" cy="310896"/>
          </a:xfrm>
          <a:prstGeom prst="rect">
            <a:avLst/>
          </a:prstGeom>
          <a:noFill/>
        </p:spPr>
        <p:txBody>
          <a:bodyPr wrap="square" lIns="0" tIns="0" rIns="0" bIns="0" anchor="ctr">
            <a:spAutoFit/>
          </a:bodyPr>
          <a:lstStyle/>
          <a:p>
            <a:pPr algn="r">
              <a:spcBef>
                <a:spcPts val="0"/>
              </a:spcBef>
              <a:spcAft>
                <a:spcPts val="0"/>
              </a:spcAft>
            </a:pPr>
            <a:r>
              <a:rPr sz="1200" b="0" i="0">
                <a:solidFill>
                  <a:srgbClr val="FFFFFF"/>
                </a:solidFill>
                <a:latin typeface="Be Vietnam Pro ExtraBold"/>
              </a:rPr>
              <a:t>23</a:t>
            </a:r>
            <a:r>
              <a:rPr sz="900" b="0" i="0">
                <a:solidFill>
                  <a:srgbClr val="F2C9C9"/>
                </a:solidFill>
                <a:latin typeface="Be Vietnam Pro"/>
              </a:rPr>
              <a:t> / 31</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 y="-45720"/>
            <a:ext cx="9235440" cy="6949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 y="-45720"/>
            <a:ext cx="9235440" cy="886968"/>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motif_white.png"/>
          <p:cNvPicPr>
            <a:picLocks noChangeAspect="1"/>
          </p:cNvPicPr>
          <p:nvPr/>
        </p:nvPicPr>
        <p:blipFill>
          <a:blip r:embed="rId2">
            <a:alphaModFix amt="34000"/>
          </a:blip>
          <a:stretch>
            <a:fillRect/>
          </a:stretch>
        </p:blipFill>
        <p:spPr>
          <a:xfrm>
            <a:off x="5989320" y="-1874519"/>
            <a:ext cx="4206240" cy="3154680"/>
          </a:xfrm>
          <a:prstGeom prst="rect">
            <a:avLst/>
          </a:prstGeom>
        </p:spPr>
      </p:pic>
      <p:sp>
        <p:nvSpPr>
          <p:cNvPr id="5" name="Rectangle 4"/>
          <p:cNvSpPr/>
          <p:nvPr/>
        </p:nvSpPr>
        <p:spPr>
          <a:xfrm>
            <a:off x="-45720" y="841248"/>
            <a:ext cx="9235440" cy="96012"/>
          </a:xfrm>
          <a:prstGeom prst="rect">
            <a:avLst/>
          </a:prstGeom>
          <a:solidFill>
            <a:srgbClr val="ECA7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 y="937260"/>
            <a:ext cx="9235440" cy="20116"/>
          </a:xfrm>
          <a:prstGeom prst="rect">
            <a:avLst/>
          </a:prstGeom>
          <a:solidFill>
            <a:srgbClr val="8A0C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8288"/>
            <a:ext cx="5897880" cy="822960"/>
          </a:xfrm>
          <a:prstGeom prst="rect">
            <a:avLst/>
          </a:prstGeom>
          <a:noFill/>
        </p:spPr>
        <p:txBody>
          <a:bodyPr wrap="square" lIns="0" tIns="0" rIns="0" bIns="0" anchor="ctr">
            <a:spAutoFit/>
          </a:bodyPr>
          <a:lstStyle/>
          <a:p>
            <a:pPr algn="l">
              <a:lnSpc>
                <a:spcPct val="96000"/>
              </a:lnSpc>
              <a:spcBef>
                <a:spcPts val="0"/>
              </a:spcBef>
              <a:spcAft>
                <a:spcPts val="0"/>
              </a:spcAft>
            </a:pPr>
            <a:r>
              <a:rPr sz="2300" b="0" i="0">
                <a:solidFill>
                  <a:srgbClr val="FFFFFF"/>
                </a:solidFill>
                <a:latin typeface="Be Vietnam Pro ExtraBold"/>
              </a:rPr>
              <a:t>Tự động xét điều kiện &amp; gợi ý</a:t>
            </a:r>
          </a:p>
        </p:txBody>
      </p:sp>
      <p:sp>
        <p:nvSpPr>
          <p:cNvPr id="8" name="Rounded Rectangle 7"/>
          <p:cNvSpPr/>
          <p:nvPr/>
        </p:nvSpPr>
        <p:spPr>
          <a:xfrm>
            <a:off x="7505395" y="256032"/>
            <a:ext cx="1108252" cy="329184"/>
          </a:xfrm>
          <a:prstGeom prst="roundRect">
            <a:avLst>
              <a:gd name="adj" fmla="val 50000"/>
            </a:avLst>
          </a:prstGeom>
          <a:noFill/>
          <a:ln w="15875">
            <a:solidFill>
              <a:srgbClr val="F2C255"/>
            </a:solid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spcBef>
                <a:spcPts val="0"/>
              </a:spcBef>
              <a:spcAft>
                <a:spcPts val="0"/>
              </a:spcAft>
            </a:pPr>
            <a:r>
              <a:rPr sz="950" b="0" i="0" spc="80">
                <a:solidFill>
                  <a:srgbClr val="FFFFFF"/>
                </a:solidFill>
                <a:latin typeface="Be Vietnam Pro SemiBold"/>
              </a:rPr>
              <a:t>ĐÓNG GÓP</a:t>
            </a:r>
          </a:p>
        </p:txBody>
      </p:sp>
      <p:sp>
        <p:nvSpPr>
          <p:cNvPr id="9" name="Rectangle 8"/>
          <p:cNvSpPr/>
          <p:nvPr/>
        </p:nvSpPr>
        <p:spPr>
          <a:xfrm>
            <a:off x="457200" y="6446520"/>
            <a:ext cx="8229600" cy="9144"/>
          </a:xfrm>
          <a:prstGeom prst="rect">
            <a:avLst/>
          </a:prstGeom>
          <a:solidFill>
            <a:srgbClr val="E3C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hust_shield.png"/>
          <p:cNvPicPr>
            <a:picLocks noChangeAspect="1"/>
          </p:cNvPicPr>
          <p:nvPr/>
        </p:nvPicPr>
        <p:blipFill>
          <a:blip r:embed="rId3"/>
          <a:stretch>
            <a:fillRect/>
          </a:stretch>
        </p:blipFill>
        <p:spPr>
          <a:xfrm>
            <a:off x="457200" y="6519672"/>
            <a:ext cx="164822" cy="246888"/>
          </a:xfrm>
          <a:prstGeom prst="rect">
            <a:avLst/>
          </a:prstGeom>
        </p:spPr>
      </p:pic>
      <p:sp>
        <p:nvSpPr>
          <p:cNvPr id="11" name="TextBox 10"/>
          <p:cNvSpPr txBox="1"/>
          <p:nvPr/>
        </p:nvSpPr>
        <p:spPr>
          <a:xfrm>
            <a:off x="713232" y="6501384"/>
            <a:ext cx="4206240" cy="310896"/>
          </a:xfrm>
          <a:prstGeom prst="rect">
            <a:avLst/>
          </a:prstGeom>
          <a:noFill/>
        </p:spPr>
        <p:txBody>
          <a:bodyPr wrap="square" lIns="0" tIns="0" rIns="0" bIns="0" anchor="ctr">
            <a:spAutoFit/>
          </a:bodyPr>
          <a:lstStyle/>
          <a:p>
            <a:pPr algn="l">
              <a:lnSpc>
                <a:spcPct val="94000"/>
              </a:lnSpc>
              <a:spcBef>
                <a:spcPts val="0"/>
              </a:spcBef>
              <a:spcAft>
                <a:spcPts val="0"/>
              </a:spcAft>
            </a:pPr>
            <a:r>
              <a:rPr sz="800" b="0" i="0">
                <a:solidFill>
                  <a:srgbClr val="8A0C20"/>
                </a:solidFill>
                <a:latin typeface="Be Vietnam Pro SemiBold"/>
              </a:rPr>
              <a:t>ĐẠI HỌC BÁCH KHOA HÀ NỘI</a:t>
            </a:r>
          </a:p>
          <a:p>
            <a:pPr algn="l">
              <a:lnSpc>
                <a:spcPct val="94000"/>
              </a:lnSpc>
              <a:spcBef>
                <a:spcPts val="0"/>
              </a:spcBef>
              <a:spcAft>
                <a:spcPts val="0"/>
              </a:spcAft>
            </a:pPr>
            <a:r>
              <a:rPr sz="750" b="0" i="0">
                <a:solidFill>
                  <a:srgbClr val="6B7280"/>
                </a:solidFill>
                <a:latin typeface="Be Vietnam Pro"/>
              </a:rPr>
              <a:t>Phần mềm Quản lý Khen thưởng  ·  Trần Anh Đức</a:t>
            </a:r>
          </a:p>
        </p:txBody>
      </p:sp>
      <p:sp>
        <p:nvSpPr>
          <p:cNvPr id="12" name="TextBox 11"/>
          <p:cNvSpPr txBox="1"/>
          <p:nvPr/>
        </p:nvSpPr>
        <p:spPr>
          <a:xfrm>
            <a:off x="7680960" y="6501384"/>
            <a:ext cx="1005840" cy="310896"/>
          </a:xfrm>
          <a:prstGeom prst="rect">
            <a:avLst/>
          </a:prstGeom>
          <a:noFill/>
        </p:spPr>
        <p:txBody>
          <a:bodyPr wrap="square" lIns="0" tIns="0" rIns="0" bIns="0" anchor="ctr">
            <a:spAutoFit/>
          </a:bodyPr>
          <a:lstStyle/>
          <a:p>
            <a:pPr algn="r">
              <a:spcBef>
                <a:spcPts val="0"/>
              </a:spcBef>
              <a:spcAft>
                <a:spcPts val="0"/>
              </a:spcAft>
            </a:pPr>
            <a:r>
              <a:rPr sz="1200" b="0" i="0">
                <a:solidFill>
                  <a:srgbClr val="C00000"/>
                </a:solidFill>
                <a:latin typeface="Be Vietnam Pro ExtraBold"/>
              </a:rPr>
              <a:t>24</a:t>
            </a:r>
            <a:r>
              <a:rPr sz="900" b="0" i="0">
                <a:solidFill>
                  <a:srgbClr val="6B7280"/>
                </a:solidFill>
                <a:latin typeface="Be Vietnam Pro"/>
              </a:rPr>
              <a:t> / 31</a:t>
            </a:r>
          </a:p>
        </p:txBody>
      </p:sp>
      <p:sp>
        <p:nvSpPr>
          <p:cNvPr id="13" name="Rounded Rectangle 12"/>
          <p:cNvSpPr/>
          <p:nvPr/>
        </p:nvSpPr>
        <p:spPr>
          <a:xfrm>
            <a:off x="502920" y="1609344"/>
            <a:ext cx="2615184" cy="4434840"/>
          </a:xfrm>
          <a:prstGeom prst="roundRect">
            <a:avLst>
              <a:gd name="adj" fmla="val 4500"/>
            </a:avLst>
          </a:prstGeom>
          <a:solidFill>
            <a:srgbClr val="F7F7F8"/>
          </a:solidFill>
          <a:ln w="9525">
            <a:solidFill>
              <a:srgbClr val="E5E7EB"/>
            </a:solidFill>
          </a:ln>
          <a:effectLst>
            <a:outerShdw blurRad="90000" dist="42000" dir="5400000" rotWithShape="0">
              <a:srgbClr val="98A2B3">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685800" y="1792224"/>
            <a:ext cx="2249424" cy="384048"/>
          </a:xfrm>
          <a:prstGeom prst="roundRect">
            <a:avLst>
              <a:gd name="adj" fmla="val 50000"/>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spcBef>
                <a:spcPts val="0"/>
              </a:spcBef>
              <a:spcAft>
                <a:spcPts val="0"/>
              </a:spcAft>
            </a:pPr>
            <a:r>
              <a:rPr sz="1150" b="1" i="0" spc="80">
                <a:solidFill>
                  <a:srgbClr val="FFFFFF"/>
                </a:solidFill>
                <a:latin typeface="Be Vietnam Pro"/>
              </a:rPr>
              <a:t>VẤN ĐỀ</a:t>
            </a:r>
          </a:p>
        </p:txBody>
      </p:sp>
      <p:sp>
        <p:nvSpPr>
          <p:cNvPr id="15" name="TextBox 14"/>
          <p:cNvSpPr txBox="1"/>
          <p:nvPr/>
        </p:nvSpPr>
        <p:spPr>
          <a:xfrm>
            <a:off x="740664" y="2322576"/>
            <a:ext cx="2157984" cy="3566159"/>
          </a:xfrm>
          <a:prstGeom prst="rect">
            <a:avLst/>
          </a:prstGeom>
          <a:noFill/>
        </p:spPr>
        <p:txBody>
          <a:bodyPr wrap="square" lIns="0" tIns="0" rIns="0" bIns="0" anchor="t">
            <a:spAutoFit/>
          </a:bodyPr>
          <a:lstStyle/>
          <a:p>
            <a:pPr marL="182880" indent="-182880" algn="l">
              <a:lnSpc>
                <a:spcPct val="108000"/>
              </a:lnSpc>
              <a:spcBef>
                <a:spcPts val="0"/>
              </a:spcBef>
              <a:spcAft>
                <a:spcPts val="700"/>
              </a:spcAft>
            </a:pPr>
            <a:r>
              <a:rPr sz="950" b="1">
                <a:solidFill>
                  <a:srgbClr val="6B7280"/>
                </a:solidFill>
                <a:latin typeface="Arial"/>
              </a:rPr>
              <a:t>▪  </a:t>
            </a:r>
            <a:r>
              <a:rPr sz="1050" b="0" i="0">
                <a:solidFill>
                  <a:srgbClr val="1F2937"/>
                </a:solidFill>
                <a:latin typeface="Be Vietnam Pro"/>
              </a:rPr>
              <a:t>Xét chuỗi danh hiệu thủ công: cửa sổ trượt 3 năm và 7 năm, đếm số BKBQP/CSTĐTQ, kiểm NCKH từng năm.</a:t>
            </a:r>
          </a:p>
          <a:p>
            <a:pPr marL="182880" indent="-182880" algn="l">
              <a:lnSpc>
                <a:spcPct val="108000"/>
              </a:lnSpc>
              <a:spcBef>
                <a:spcPts val="0"/>
              </a:spcBef>
              <a:spcAft>
                <a:spcPts val="700"/>
              </a:spcAft>
            </a:pPr>
            <a:r>
              <a:rPr sz="950" b="1">
                <a:solidFill>
                  <a:srgbClr val="6B7280"/>
                </a:solidFill>
                <a:latin typeface="Arial"/>
              </a:rPr>
              <a:t>▪  </a:t>
            </a:r>
            <a:r>
              <a:rPr sz="1050" b="0" i="0">
                <a:solidFill>
                  <a:srgbClr val="1F2937"/>
                </a:solidFill>
                <a:latin typeface="Be Vietnam Pro"/>
              </a:rPr>
              <a:t>Tốn thời gian, dễ tính nhầm và bỏ sót.</a:t>
            </a:r>
          </a:p>
        </p:txBody>
      </p:sp>
      <p:sp>
        <p:nvSpPr>
          <p:cNvPr id="16" name="Rounded Rectangle 15"/>
          <p:cNvSpPr/>
          <p:nvPr/>
        </p:nvSpPr>
        <p:spPr>
          <a:xfrm>
            <a:off x="3264408" y="1609344"/>
            <a:ext cx="2615184" cy="4434840"/>
          </a:xfrm>
          <a:prstGeom prst="roundRect">
            <a:avLst>
              <a:gd name="adj" fmla="val 4500"/>
            </a:avLst>
          </a:prstGeom>
          <a:solidFill>
            <a:srgbClr val="FFFFFF"/>
          </a:solidFill>
          <a:ln w="9525">
            <a:solidFill>
              <a:srgbClr val="E5E7EB"/>
            </a:solidFill>
          </a:ln>
          <a:effectLst>
            <a:outerShdw blurRad="90000" dist="42000" dir="5400000" rotWithShape="0">
              <a:srgbClr val="98A2B3">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3447288" y="1792224"/>
            <a:ext cx="2249424" cy="384048"/>
          </a:xfrm>
          <a:prstGeom prst="roundRect">
            <a:avLst>
              <a:gd name="adj" fmla="val 50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spcBef>
                <a:spcPts val="0"/>
              </a:spcBef>
              <a:spcAft>
                <a:spcPts val="0"/>
              </a:spcAft>
            </a:pPr>
            <a:r>
              <a:rPr sz="1150" b="1" i="0" spc="80">
                <a:solidFill>
                  <a:srgbClr val="FFFFFF"/>
                </a:solidFill>
                <a:latin typeface="Be Vietnam Pro"/>
              </a:rPr>
              <a:t>CÁCH LÀM</a:t>
            </a:r>
          </a:p>
        </p:txBody>
      </p:sp>
      <p:sp>
        <p:nvSpPr>
          <p:cNvPr id="18" name="TextBox 17"/>
          <p:cNvSpPr txBox="1"/>
          <p:nvPr/>
        </p:nvSpPr>
        <p:spPr>
          <a:xfrm>
            <a:off x="3502152" y="2322576"/>
            <a:ext cx="2157984" cy="3566159"/>
          </a:xfrm>
          <a:prstGeom prst="rect">
            <a:avLst/>
          </a:prstGeom>
          <a:noFill/>
        </p:spPr>
        <p:txBody>
          <a:bodyPr wrap="square" lIns="0" tIns="0" rIns="0" bIns="0" anchor="t">
            <a:spAutoFit/>
          </a:bodyPr>
          <a:lstStyle/>
          <a:p>
            <a:pPr marL="182880" indent="-182880" algn="l">
              <a:lnSpc>
                <a:spcPct val="108000"/>
              </a:lnSpc>
              <a:spcBef>
                <a:spcPts val="0"/>
              </a:spcBef>
              <a:spcAft>
                <a:spcPts val="700"/>
              </a:spcAft>
            </a:pPr>
            <a:r>
              <a:rPr sz="950" b="1">
                <a:solidFill>
                  <a:srgbClr val="C00000"/>
                </a:solidFill>
                <a:latin typeface="Arial"/>
              </a:rPr>
              <a:t>▪  </a:t>
            </a:r>
            <a:r>
              <a:rPr sz="1050" b="0" i="0">
                <a:solidFill>
                  <a:srgbClr val="1F2937"/>
                </a:solidFill>
                <a:latin typeface="Be Vietnam Pro"/>
              </a:rPr>
              <a:t>Mỗi cấp danh hiệu mô tả bằng một dòng cấu hình: chu kỳ, cờ tiền điều kiện, yêu cầu NCKH, nhận một lần hay lặp lại.</a:t>
            </a:r>
          </a:p>
          <a:p>
            <a:pPr marL="182880" indent="-182880" algn="l">
              <a:lnSpc>
                <a:spcPct val="108000"/>
              </a:lnSpc>
              <a:spcBef>
                <a:spcPts val="0"/>
              </a:spcBef>
              <a:spcAft>
                <a:spcPts val="700"/>
              </a:spcAft>
            </a:pPr>
            <a:r>
              <a:rPr sz="950" b="1">
                <a:solidFill>
                  <a:srgbClr val="C00000"/>
                </a:solidFill>
                <a:latin typeface="Arial"/>
              </a:rPr>
              <a:t>▪  </a:t>
            </a:r>
            <a:r>
              <a:rPr sz="1050" b="0" i="0">
                <a:solidFill>
                  <a:srgbClr val="1F2937"/>
                </a:solidFill>
                <a:latin typeface="Be Vietnam Pro"/>
              </a:rPr>
              <a:t>Một hàm thuần đọc cấu hình và ngữ cảnh chuỗi, trả về kết luận đủ/chưa đủ kèm lý do.</a:t>
            </a:r>
          </a:p>
          <a:p>
            <a:pPr marL="182880" indent="-182880" algn="l">
              <a:lnSpc>
                <a:spcPct val="108000"/>
              </a:lnSpc>
              <a:spcBef>
                <a:spcPts val="0"/>
              </a:spcBef>
              <a:spcAft>
                <a:spcPts val="700"/>
              </a:spcAft>
            </a:pPr>
            <a:r>
              <a:rPr sz="950" b="1">
                <a:solidFill>
                  <a:srgbClr val="C00000"/>
                </a:solidFill>
                <a:latin typeface="Arial"/>
              </a:rPr>
              <a:t>▪  </a:t>
            </a:r>
            <a:r>
              <a:rPr sz="1050" b="0" i="0">
                <a:solidFill>
                  <a:srgbClr val="1F2937"/>
                </a:solidFill>
                <a:latin typeface="Be Vietnam Pro"/>
              </a:rPr>
              <a:t>Cùng bộ quy tắc dùng cho cả tính lại hồ sơ lẫn kiểm tra khi phê duyệt → hai luồng không lệch nhau.</a:t>
            </a:r>
          </a:p>
          <a:p>
            <a:pPr marL="182880" indent="-182880" algn="l">
              <a:lnSpc>
                <a:spcPct val="108000"/>
              </a:lnSpc>
              <a:spcBef>
                <a:spcPts val="0"/>
              </a:spcBef>
              <a:spcAft>
                <a:spcPts val="700"/>
              </a:spcAft>
            </a:pPr>
            <a:r>
              <a:rPr sz="950" b="1">
                <a:solidFill>
                  <a:srgbClr val="C00000"/>
                </a:solidFill>
                <a:latin typeface="Arial"/>
              </a:rPr>
              <a:t>▪  </a:t>
            </a:r>
            <a:r>
              <a:rPr sz="1050" b="0" i="0">
                <a:solidFill>
                  <a:srgbClr val="1F2937"/>
                </a:solidFill>
                <a:latin typeface="Be Vietnam Pro"/>
              </a:rPr>
              <a:t>Tự tính lại khi dữ liệu nguồn thay đổi; tự sinh gợi ý theo năm.</a:t>
            </a:r>
          </a:p>
        </p:txBody>
      </p:sp>
      <p:sp>
        <p:nvSpPr>
          <p:cNvPr id="19" name="Rounded Rectangle 18"/>
          <p:cNvSpPr/>
          <p:nvPr/>
        </p:nvSpPr>
        <p:spPr>
          <a:xfrm>
            <a:off x="6025896" y="1609344"/>
            <a:ext cx="2615184" cy="4434840"/>
          </a:xfrm>
          <a:prstGeom prst="roundRect">
            <a:avLst>
              <a:gd name="adj" fmla="val 4500"/>
            </a:avLst>
          </a:prstGeom>
          <a:solidFill>
            <a:srgbClr val="ECF6EF"/>
          </a:solidFill>
          <a:ln w="9525">
            <a:solidFill>
              <a:srgbClr val="E5E7EB"/>
            </a:solidFill>
          </a:ln>
          <a:effectLst>
            <a:outerShdw blurRad="90000" dist="42000" dir="5400000" rotWithShape="0">
              <a:srgbClr val="98A2B3">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6208776" y="1792224"/>
            <a:ext cx="2249424" cy="384048"/>
          </a:xfrm>
          <a:prstGeom prst="roundRect">
            <a:avLst>
              <a:gd name="adj" fmla="val 50000"/>
            </a:avLst>
          </a:prstGeom>
          <a:solidFill>
            <a:srgbClr val="2E7D46"/>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spcBef>
                <a:spcPts val="0"/>
              </a:spcBef>
              <a:spcAft>
                <a:spcPts val="0"/>
              </a:spcAft>
            </a:pPr>
            <a:r>
              <a:rPr sz="1150" b="1" i="0" spc="80">
                <a:solidFill>
                  <a:srgbClr val="FFFFFF"/>
                </a:solidFill>
                <a:latin typeface="Be Vietnam Pro"/>
              </a:rPr>
              <a:t>KẾT QUẢ</a:t>
            </a:r>
          </a:p>
        </p:txBody>
      </p:sp>
      <p:sp>
        <p:nvSpPr>
          <p:cNvPr id="21" name="TextBox 20"/>
          <p:cNvSpPr txBox="1"/>
          <p:nvPr/>
        </p:nvSpPr>
        <p:spPr>
          <a:xfrm>
            <a:off x="6263640" y="2322576"/>
            <a:ext cx="2157984" cy="3566159"/>
          </a:xfrm>
          <a:prstGeom prst="rect">
            <a:avLst/>
          </a:prstGeom>
          <a:noFill/>
        </p:spPr>
        <p:txBody>
          <a:bodyPr wrap="square" lIns="0" tIns="0" rIns="0" bIns="0" anchor="t">
            <a:spAutoFit/>
          </a:bodyPr>
          <a:lstStyle/>
          <a:p>
            <a:pPr marL="182880" indent="-182880" algn="l">
              <a:lnSpc>
                <a:spcPct val="108000"/>
              </a:lnSpc>
              <a:spcBef>
                <a:spcPts val="0"/>
              </a:spcBef>
              <a:spcAft>
                <a:spcPts val="700"/>
              </a:spcAft>
            </a:pPr>
            <a:r>
              <a:rPr sz="950" b="1">
                <a:solidFill>
                  <a:srgbClr val="2E7D46"/>
                </a:solidFill>
                <a:latin typeface="Arial"/>
              </a:rPr>
              <a:t>▪  </a:t>
            </a:r>
            <a:r>
              <a:rPr sz="1050" b="0" i="0">
                <a:solidFill>
                  <a:srgbClr val="1F2937"/>
                </a:solidFill>
                <a:latin typeface="Be Vietnam Pro"/>
              </a:rPr>
              <a:t>Thời gian xét mỗi quân nhân giảm từ vài chục phút xuống gần như tức thời.</a:t>
            </a:r>
          </a:p>
          <a:p>
            <a:pPr marL="182880" indent="-182880" algn="l">
              <a:lnSpc>
                <a:spcPct val="108000"/>
              </a:lnSpc>
              <a:spcBef>
                <a:spcPts val="0"/>
              </a:spcBef>
              <a:spcAft>
                <a:spcPts val="700"/>
              </a:spcAft>
            </a:pPr>
            <a:r>
              <a:rPr sz="950" b="1">
                <a:solidFill>
                  <a:srgbClr val="2E7D46"/>
                </a:solidFill>
                <a:latin typeface="Arial"/>
              </a:rPr>
              <a:t>▪  </a:t>
            </a:r>
            <a:r>
              <a:rPr sz="1050" b="0" i="0">
                <a:solidFill>
                  <a:srgbClr val="1F2937"/>
                </a:solidFill>
                <a:latin typeface="Be Vietnam Pro"/>
              </a:rPr>
              <a:t>Phát hiện đúng cả trường hợp lỡ đợt và quân nhân đủ điều kiện nhưng dễ bị bỏ sót.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 y="-45720"/>
            <a:ext cx="9235440" cy="6949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 y="-45720"/>
            <a:ext cx="9235440" cy="886968"/>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motif_white.png"/>
          <p:cNvPicPr>
            <a:picLocks noChangeAspect="1"/>
          </p:cNvPicPr>
          <p:nvPr/>
        </p:nvPicPr>
        <p:blipFill>
          <a:blip r:embed="rId2">
            <a:alphaModFix amt="34000"/>
          </a:blip>
          <a:stretch>
            <a:fillRect/>
          </a:stretch>
        </p:blipFill>
        <p:spPr>
          <a:xfrm>
            <a:off x="5989320" y="-1874519"/>
            <a:ext cx="4206240" cy="3154680"/>
          </a:xfrm>
          <a:prstGeom prst="rect">
            <a:avLst/>
          </a:prstGeom>
        </p:spPr>
      </p:pic>
      <p:sp>
        <p:nvSpPr>
          <p:cNvPr id="5" name="Rectangle 4"/>
          <p:cNvSpPr/>
          <p:nvPr/>
        </p:nvSpPr>
        <p:spPr>
          <a:xfrm>
            <a:off x="-45720" y="841248"/>
            <a:ext cx="9235440" cy="96012"/>
          </a:xfrm>
          <a:prstGeom prst="rect">
            <a:avLst/>
          </a:prstGeom>
          <a:solidFill>
            <a:srgbClr val="ECA7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 y="937260"/>
            <a:ext cx="9235440" cy="20116"/>
          </a:xfrm>
          <a:prstGeom prst="rect">
            <a:avLst/>
          </a:prstGeom>
          <a:solidFill>
            <a:srgbClr val="8A0C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8288"/>
            <a:ext cx="5897880" cy="822960"/>
          </a:xfrm>
          <a:prstGeom prst="rect">
            <a:avLst/>
          </a:prstGeom>
          <a:noFill/>
        </p:spPr>
        <p:txBody>
          <a:bodyPr wrap="square" lIns="0" tIns="0" rIns="0" bIns="0" anchor="ctr">
            <a:spAutoFit/>
          </a:bodyPr>
          <a:lstStyle/>
          <a:p>
            <a:pPr algn="l">
              <a:lnSpc>
                <a:spcPct val="96000"/>
              </a:lnSpc>
              <a:spcBef>
                <a:spcPts val="0"/>
              </a:spcBef>
              <a:spcAft>
                <a:spcPts val="0"/>
              </a:spcAft>
            </a:pPr>
            <a:r>
              <a:rPr sz="2300" b="0" i="0">
                <a:solidFill>
                  <a:srgbClr val="FFFFFF"/>
                </a:solidFill>
                <a:latin typeface="Be Vietnam Pro ExtraBold"/>
              </a:rPr>
              <a:t>Số hoá quy trình &amp; lưu vết</a:t>
            </a:r>
          </a:p>
        </p:txBody>
      </p:sp>
      <p:sp>
        <p:nvSpPr>
          <p:cNvPr id="8" name="Rounded Rectangle 7"/>
          <p:cNvSpPr/>
          <p:nvPr/>
        </p:nvSpPr>
        <p:spPr>
          <a:xfrm>
            <a:off x="7505395" y="256032"/>
            <a:ext cx="1108252" cy="329184"/>
          </a:xfrm>
          <a:prstGeom prst="roundRect">
            <a:avLst>
              <a:gd name="adj" fmla="val 50000"/>
            </a:avLst>
          </a:prstGeom>
          <a:noFill/>
          <a:ln w="15875">
            <a:solidFill>
              <a:srgbClr val="F2C255"/>
            </a:solid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spcBef>
                <a:spcPts val="0"/>
              </a:spcBef>
              <a:spcAft>
                <a:spcPts val="0"/>
              </a:spcAft>
            </a:pPr>
            <a:r>
              <a:rPr sz="950" b="0" i="0" spc="80">
                <a:solidFill>
                  <a:srgbClr val="FFFFFF"/>
                </a:solidFill>
                <a:latin typeface="Be Vietnam Pro SemiBold"/>
              </a:rPr>
              <a:t>ĐÓNG GÓP</a:t>
            </a:r>
          </a:p>
        </p:txBody>
      </p:sp>
      <p:sp>
        <p:nvSpPr>
          <p:cNvPr id="9" name="Rectangle 8"/>
          <p:cNvSpPr/>
          <p:nvPr/>
        </p:nvSpPr>
        <p:spPr>
          <a:xfrm>
            <a:off x="457200" y="6446520"/>
            <a:ext cx="8229600" cy="9144"/>
          </a:xfrm>
          <a:prstGeom prst="rect">
            <a:avLst/>
          </a:prstGeom>
          <a:solidFill>
            <a:srgbClr val="E3C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hust_shield.png"/>
          <p:cNvPicPr>
            <a:picLocks noChangeAspect="1"/>
          </p:cNvPicPr>
          <p:nvPr/>
        </p:nvPicPr>
        <p:blipFill>
          <a:blip r:embed="rId3"/>
          <a:stretch>
            <a:fillRect/>
          </a:stretch>
        </p:blipFill>
        <p:spPr>
          <a:xfrm>
            <a:off x="457200" y="6519672"/>
            <a:ext cx="164822" cy="246888"/>
          </a:xfrm>
          <a:prstGeom prst="rect">
            <a:avLst/>
          </a:prstGeom>
        </p:spPr>
      </p:pic>
      <p:sp>
        <p:nvSpPr>
          <p:cNvPr id="11" name="TextBox 10"/>
          <p:cNvSpPr txBox="1"/>
          <p:nvPr/>
        </p:nvSpPr>
        <p:spPr>
          <a:xfrm>
            <a:off x="713232" y="6501384"/>
            <a:ext cx="4206240" cy="310896"/>
          </a:xfrm>
          <a:prstGeom prst="rect">
            <a:avLst/>
          </a:prstGeom>
          <a:noFill/>
        </p:spPr>
        <p:txBody>
          <a:bodyPr wrap="square" lIns="0" tIns="0" rIns="0" bIns="0" anchor="ctr">
            <a:spAutoFit/>
          </a:bodyPr>
          <a:lstStyle/>
          <a:p>
            <a:pPr algn="l">
              <a:lnSpc>
                <a:spcPct val="94000"/>
              </a:lnSpc>
              <a:spcBef>
                <a:spcPts val="0"/>
              </a:spcBef>
              <a:spcAft>
                <a:spcPts val="0"/>
              </a:spcAft>
            </a:pPr>
            <a:r>
              <a:rPr sz="800" b="0" i="0">
                <a:solidFill>
                  <a:srgbClr val="8A0C20"/>
                </a:solidFill>
                <a:latin typeface="Be Vietnam Pro SemiBold"/>
              </a:rPr>
              <a:t>ĐẠI HỌC BÁCH KHOA HÀ NỘI</a:t>
            </a:r>
          </a:p>
          <a:p>
            <a:pPr algn="l">
              <a:lnSpc>
                <a:spcPct val="94000"/>
              </a:lnSpc>
              <a:spcBef>
                <a:spcPts val="0"/>
              </a:spcBef>
              <a:spcAft>
                <a:spcPts val="0"/>
              </a:spcAft>
            </a:pPr>
            <a:r>
              <a:rPr sz="750" b="0" i="0">
                <a:solidFill>
                  <a:srgbClr val="6B7280"/>
                </a:solidFill>
                <a:latin typeface="Be Vietnam Pro"/>
              </a:rPr>
              <a:t>Phần mềm Quản lý Khen thưởng  ·  Trần Anh Đức</a:t>
            </a:r>
          </a:p>
        </p:txBody>
      </p:sp>
      <p:sp>
        <p:nvSpPr>
          <p:cNvPr id="12" name="TextBox 11"/>
          <p:cNvSpPr txBox="1"/>
          <p:nvPr/>
        </p:nvSpPr>
        <p:spPr>
          <a:xfrm>
            <a:off x="7680960" y="6501384"/>
            <a:ext cx="1005840" cy="310896"/>
          </a:xfrm>
          <a:prstGeom prst="rect">
            <a:avLst/>
          </a:prstGeom>
          <a:noFill/>
        </p:spPr>
        <p:txBody>
          <a:bodyPr wrap="square" lIns="0" tIns="0" rIns="0" bIns="0" anchor="ctr">
            <a:spAutoFit/>
          </a:bodyPr>
          <a:lstStyle/>
          <a:p>
            <a:pPr algn="r">
              <a:spcBef>
                <a:spcPts val="0"/>
              </a:spcBef>
              <a:spcAft>
                <a:spcPts val="0"/>
              </a:spcAft>
            </a:pPr>
            <a:r>
              <a:rPr sz="1200" b="0" i="0">
                <a:solidFill>
                  <a:srgbClr val="C00000"/>
                </a:solidFill>
                <a:latin typeface="Be Vietnam Pro ExtraBold"/>
              </a:rPr>
              <a:t>25</a:t>
            </a:r>
            <a:r>
              <a:rPr sz="900" b="0" i="0">
                <a:solidFill>
                  <a:srgbClr val="6B7280"/>
                </a:solidFill>
                <a:latin typeface="Be Vietnam Pro"/>
              </a:rPr>
              <a:t> / 31</a:t>
            </a:r>
          </a:p>
        </p:txBody>
      </p:sp>
      <p:sp>
        <p:nvSpPr>
          <p:cNvPr id="13" name="Rounded Rectangle 12"/>
          <p:cNvSpPr/>
          <p:nvPr/>
        </p:nvSpPr>
        <p:spPr>
          <a:xfrm>
            <a:off x="502920" y="1609344"/>
            <a:ext cx="2615184" cy="4434840"/>
          </a:xfrm>
          <a:prstGeom prst="roundRect">
            <a:avLst>
              <a:gd name="adj" fmla="val 4500"/>
            </a:avLst>
          </a:prstGeom>
          <a:solidFill>
            <a:srgbClr val="F7F7F8"/>
          </a:solidFill>
          <a:ln w="9525">
            <a:solidFill>
              <a:srgbClr val="E5E7EB"/>
            </a:solidFill>
          </a:ln>
          <a:effectLst>
            <a:outerShdw blurRad="90000" dist="42000" dir="5400000" rotWithShape="0">
              <a:srgbClr val="98A2B3">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685800" y="1792224"/>
            <a:ext cx="2249424" cy="384048"/>
          </a:xfrm>
          <a:prstGeom prst="roundRect">
            <a:avLst>
              <a:gd name="adj" fmla="val 50000"/>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spcBef>
                <a:spcPts val="0"/>
              </a:spcBef>
              <a:spcAft>
                <a:spcPts val="0"/>
              </a:spcAft>
            </a:pPr>
            <a:r>
              <a:rPr sz="1150" b="1" i="0" spc="80">
                <a:solidFill>
                  <a:srgbClr val="FFFFFF"/>
                </a:solidFill>
                <a:latin typeface="Be Vietnam Pro"/>
              </a:rPr>
              <a:t>VẤN ĐỀ</a:t>
            </a:r>
          </a:p>
        </p:txBody>
      </p:sp>
      <p:sp>
        <p:nvSpPr>
          <p:cNvPr id="15" name="TextBox 14"/>
          <p:cNvSpPr txBox="1"/>
          <p:nvPr/>
        </p:nvSpPr>
        <p:spPr>
          <a:xfrm>
            <a:off x="740664" y="2322576"/>
            <a:ext cx="2157984" cy="3566159"/>
          </a:xfrm>
          <a:prstGeom prst="rect">
            <a:avLst/>
          </a:prstGeom>
          <a:noFill/>
        </p:spPr>
        <p:txBody>
          <a:bodyPr wrap="square" lIns="0" tIns="0" rIns="0" bIns="0" anchor="t">
            <a:spAutoFit/>
          </a:bodyPr>
          <a:lstStyle/>
          <a:p>
            <a:pPr marL="182880" indent="-182880" algn="l">
              <a:lnSpc>
                <a:spcPct val="108000"/>
              </a:lnSpc>
              <a:spcBef>
                <a:spcPts val="0"/>
              </a:spcBef>
              <a:spcAft>
                <a:spcPts val="700"/>
              </a:spcAft>
            </a:pPr>
            <a:r>
              <a:rPr sz="950" b="1">
                <a:solidFill>
                  <a:srgbClr val="6B7280"/>
                </a:solidFill>
                <a:latin typeface="Arial"/>
              </a:rPr>
              <a:t>▪  </a:t>
            </a:r>
            <a:r>
              <a:rPr sz="1050" b="0" i="0">
                <a:solidFill>
                  <a:srgbClr val="1F2937"/>
                </a:solidFill>
                <a:latin typeface="Be Vietnam Pro"/>
              </a:rPr>
              <a:t>Quy trình giấy nhiều bước (đơn vị lập → Phòng Chính trị tổng hợp → Ban Giám đốc duyệt) kéo dài 5–10 ngày.</a:t>
            </a:r>
          </a:p>
          <a:p>
            <a:pPr marL="182880" indent="-182880" algn="l">
              <a:lnSpc>
                <a:spcPct val="108000"/>
              </a:lnSpc>
              <a:spcBef>
                <a:spcPts val="0"/>
              </a:spcBef>
              <a:spcAft>
                <a:spcPts val="700"/>
              </a:spcAft>
            </a:pPr>
            <a:r>
              <a:rPr sz="950" b="1">
                <a:solidFill>
                  <a:srgbClr val="6B7280"/>
                </a:solidFill>
                <a:latin typeface="Arial"/>
              </a:rPr>
              <a:t>▪  </a:t>
            </a:r>
            <a:r>
              <a:rPr sz="1050" b="0" i="0">
                <a:solidFill>
                  <a:srgbClr val="1F2937"/>
                </a:solidFill>
                <a:latin typeface="Be Vietnam Pro"/>
              </a:rPr>
              <a:t>Chỉnh sửa giữa chừng chỉ ghi tay trên bản nháp → không truy được ai sửa, sửa gì, vì sao.</a:t>
            </a:r>
          </a:p>
        </p:txBody>
      </p:sp>
      <p:sp>
        <p:nvSpPr>
          <p:cNvPr id="16" name="Rounded Rectangle 15"/>
          <p:cNvSpPr/>
          <p:nvPr/>
        </p:nvSpPr>
        <p:spPr>
          <a:xfrm>
            <a:off x="3264408" y="1609344"/>
            <a:ext cx="2615184" cy="4434840"/>
          </a:xfrm>
          <a:prstGeom prst="roundRect">
            <a:avLst>
              <a:gd name="adj" fmla="val 4500"/>
            </a:avLst>
          </a:prstGeom>
          <a:solidFill>
            <a:srgbClr val="FFFFFF"/>
          </a:solidFill>
          <a:ln w="9525">
            <a:solidFill>
              <a:srgbClr val="E5E7EB"/>
            </a:solidFill>
          </a:ln>
          <a:effectLst>
            <a:outerShdw blurRad="90000" dist="42000" dir="5400000" rotWithShape="0">
              <a:srgbClr val="98A2B3">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3447288" y="1792224"/>
            <a:ext cx="2249424" cy="384048"/>
          </a:xfrm>
          <a:prstGeom prst="roundRect">
            <a:avLst>
              <a:gd name="adj" fmla="val 50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spcBef>
                <a:spcPts val="0"/>
              </a:spcBef>
              <a:spcAft>
                <a:spcPts val="0"/>
              </a:spcAft>
            </a:pPr>
            <a:r>
              <a:rPr sz="1150" b="1" i="0" spc="80">
                <a:solidFill>
                  <a:srgbClr val="FFFFFF"/>
                </a:solidFill>
                <a:latin typeface="Be Vietnam Pro"/>
              </a:rPr>
              <a:t>CÁCH LÀM</a:t>
            </a:r>
          </a:p>
        </p:txBody>
      </p:sp>
      <p:sp>
        <p:nvSpPr>
          <p:cNvPr id="18" name="TextBox 17"/>
          <p:cNvSpPr txBox="1"/>
          <p:nvPr/>
        </p:nvSpPr>
        <p:spPr>
          <a:xfrm>
            <a:off x="3502152" y="2322576"/>
            <a:ext cx="2157984" cy="3566159"/>
          </a:xfrm>
          <a:prstGeom prst="rect">
            <a:avLst/>
          </a:prstGeom>
          <a:noFill/>
        </p:spPr>
        <p:txBody>
          <a:bodyPr wrap="square" lIns="0" tIns="0" rIns="0" bIns="0" anchor="t">
            <a:spAutoFit/>
          </a:bodyPr>
          <a:lstStyle/>
          <a:p>
            <a:pPr marL="182880" indent="-182880" algn="l">
              <a:lnSpc>
                <a:spcPct val="108000"/>
              </a:lnSpc>
              <a:spcBef>
                <a:spcPts val="0"/>
              </a:spcBef>
              <a:spcAft>
                <a:spcPts val="700"/>
              </a:spcAft>
            </a:pPr>
            <a:r>
              <a:rPr sz="950" b="1">
                <a:solidFill>
                  <a:srgbClr val="C00000"/>
                </a:solidFill>
                <a:latin typeface="Arial"/>
              </a:rPr>
              <a:t>▪  </a:t>
            </a:r>
            <a:r>
              <a:rPr sz="1050" b="0" i="0">
                <a:solidFill>
                  <a:srgbClr val="1F2937"/>
                </a:solidFill>
                <a:latin typeface="Be Vietnam Pro"/>
              </a:rPr>
              <a:t>Đề xuất là một thực thể ba trạng thái (chờ duyệt / đã duyệt / từ chối); bảy loại đi theo cùng một giao diện.</a:t>
            </a:r>
          </a:p>
          <a:p>
            <a:pPr marL="182880" indent="-182880" algn="l">
              <a:lnSpc>
                <a:spcPct val="108000"/>
              </a:lnSpc>
              <a:spcBef>
                <a:spcPts val="0"/>
              </a:spcBef>
              <a:spcAft>
                <a:spcPts val="700"/>
              </a:spcAft>
            </a:pPr>
            <a:r>
              <a:rPr sz="950" b="1">
                <a:solidFill>
                  <a:srgbClr val="C00000"/>
                </a:solidFill>
                <a:latin typeface="Arial"/>
              </a:rPr>
              <a:t>▪  </a:t>
            </a:r>
            <a:r>
              <a:rPr sz="1050" b="0" i="0">
                <a:solidFill>
                  <a:srgbClr val="1F2937"/>
                </a:solidFill>
                <a:latin typeface="Be Vietnam Pro"/>
              </a:rPr>
              <a:t>Chỉ huy đơn vị tạo đề xuất; Cán bộ Phòng Chính trị duyệt hoặc từ chối kèm lý do; biểu mẫu xác thực bằng schema Zod dùng chung hai phía.</a:t>
            </a:r>
          </a:p>
          <a:p>
            <a:pPr marL="182880" indent="-182880" algn="l">
              <a:lnSpc>
                <a:spcPct val="108000"/>
              </a:lnSpc>
              <a:spcBef>
                <a:spcPts val="0"/>
              </a:spcBef>
              <a:spcAft>
                <a:spcPts val="700"/>
              </a:spcAft>
            </a:pPr>
            <a:r>
              <a:rPr sz="950" b="1">
                <a:solidFill>
                  <a:srgbClr val="C00000"/>
                </a:solidFill>
                <a:latin typeface="Arial"/>
              </a:rPr>
              <a:t>▪  </a:t>
            </a:r>
            <a:r>
              <a:rPr sz="1050" b="0" i="0">
                <a:solidFill>
                  <a:srgbClr val="1F2937"/>
                </a:solidFill>
                <a:latin typeface="Be Vietnam Pro"/>
              </a:rPr>
              <a:t>Trước khi duyệt, cán bộ nhập số quyết định và đính kèm PDF đã ký; phê duyệt gói trong một giao dịch: ghi danh hiệu, gắn quyết định, đổi trạng thái; xong mới tính lại hồ sơ và ghi nhật ký.</a:t>
            </a:r>
          </a:p>
        </p:txBody>
      </p:sp>
      <p:sp>
        <p:nvSpPr>
          <p:cNvPr id="19" name="Rounded Rectangle 18"/>
          <p:cNvSpPr/>
          <p:nvPr/>
        </p:nvSpPr>
        <p:spPr>
          <a:xfrm>
            <a:off x="6025896" y="1609344"/>
            <a:ext cx="2615184" cy="4434840"/>
          </a:xfrm>
          <a:prstGeom prst="roundRect">
            <a:avLst>
              <a:gd name="adj" fmla="val 4500"/>
            </a:avLst>
          </a:prstGeom>
          <a:solidFill>
            <a:srgbClr val="ECF6EF"/>
          </a:solidFill>
          <a:ln w="9525">
            <a:solidFill>
              <a:srgbClr val="E5E7EB"/>
            </a:solidFill>
          </a:ln>
          <a:effectLst>
            <a:outerShdw blurRad="90000" dist="42000" dir="5400000" rotWithShape="0">
              <a:srgbClr val="98A2B3">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6208776" y="1792224"/>
            <a:ext cx="2249424" cy="384048"/>
          </a:xfrm>
          <a:prstGeom prst="roundRect">
            <a:avLst>
              <a:gd name="adj" fmla="val 50000"/>
            </a:avLst>
          </a:prstGeom>
          <a:solidFill>
            <a:srgbClr val="2E7D46"/>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spcBef>
                <a:spcPts val="0"/>
              </a:spcBef>
              <a:spcAft>
                <a:spcPts val="0"/>
              </a:spcAft>
            </a:pPr>
            <a:r>
              <a:rPr sz="1150" b="1" i="0" spc="80">
                <a:solidFill>
                  <a:srgbClr val="FFFFFF"/>
                </a:solidFill>
                <a:latin typeface="Be Vietnam Pro"/>
              </a:rPr>
              <a:t>KẾT QUẢ</a:t>
            </a:r>
          </a:p>
        </p:txBody>
      </p:sp>
      <p:sp>
        <p:nvSpPr>
          <p:cNvPr id="21" name="TextBox 20"/>
          <p:cNvSpPr txBox="1"/>
          <p:nvPr/>
        </p:nvSpPr>
        <p:spPr>
          <a:xfrm>
            <a:off x="6263640" y="2322576"/>
            <a:ext cx="2157984" cy="3566159"/>
          </a:xfrm>
          <a:prstGeom prst="rect">
            <a:avLst/>
          </a:prstGeom>
          <a:noFill/>
        </p:spPr>
        <p:txBody>
          <a:bodyPr wrap="square" lIns="0" tIns="0" rIns="0" bIns="0" anchor="t">
            <a:spAutoFit/>
          </a:bodyPr>
          <a:lstStyle/>
          <a:p>
            <a:pPr marL="182880" indent="-182880" algn="l">
              <a:lnSpc>
                <a:spcPct val="108000"/>
              </a:lnSpc>
              <a:spcBef>
                <a:spcPts val="0"/>
              </a:spcBef>
              <a:spcAft>
                <a:spcPts val="700"/>
              </a:spcAft>
            </a:pPr>
            <a:r>
              <a:rPr sz="950" b="1">
                <a:solidFill>
                  <a:srgbClr val="2E7D46"/>
                </a:solidFill>
                <a:latin typeface="Arial"/>
              </a:rPr>
              <a:t>▪  </a:t>
            </a:r>
            <a:r>
              <a:rPr sz="1050" b="0" i="0">
                <a:solidFill>
                  <a:srgbClr val="1F2937"/>
                </a:solidFill>
                <a:latin typeface="Be Vietnam Pro"/>
              </a:rPr>
              <a:t>Rút thời gian một đợt xét từ nhiều ngày xuống trong ngày.</a:t>
            </a:r>
          </a:p>
          <a:p>
            <a:pPr marL="182880" indent="-182880" algn="l">
              <a:lnSpc>
                <a:spcPct val="108000"/>
              </a:lnSpc>
              <a:spcBef>
                <a:spcPts val="0"/>
              </a:spcBef>
              <a:spcAft>
                <a:spcPts val="700"/>
              </a:spcAft>
            </a:pPr>
            <a:r>
              <a:rPr sz="950" b="1">
                <a:solidFill>
                  <a:srgbClr val="2E7D46"/>
                </a:solidFill>
                <a:latin typeface="Arial"/>
              </a:rPr>
              <a:t>▪  </a:t>
            </a:r>
            <a:r>
              <a:rPr sz="1050" b="0" i="0">
                <a:solidFill>
                  <a:srgbClr val="1F2937"/>
                </a:solidFill>
                <a:latin typeface="Be Vietnam Pro"/>
              </a:rPr>
              <a:t>Truy vết trọn vòng đời một đề xuất (từ chối → đề nghị lại → duyệt) kèm người thực hiện, thời điểm và lý do.</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 y="-45720"/>
            <a:ext cx="9235440" cy="6949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 y="-45720"/>
            <a:ext cx="9235440" cy="886968"/>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motif_white.png"/>
          <p:cNvPicPr>
            <a:picLocks noChangeAspect="1"/>
          </p:cNvPicPr>
          <p:nvPr/>
        </p:nvPicPr>
        <p:blipFill>
          <a:blip r:embed="rId2">
            <a:alphaModFix amt="34000"/>
          </a:blip>
          <a:stretch>
            <a:fillRect/>
          </a:stretch>
        </p:blipFill>
        <p:spPr>
          <a:xfrm>
            <a:off x="5989320" y="-1874519"/>
            <a:ext cx="4206240" cy="3154680"/>
          </a:xfrm>
          <a:prstGeom prst="rect">
            <a:avLst/>
          </a:prstGeom>
        </p:spPr>
      </p:pic>
      <p:sp>
        <p:nvSpPr>
          <p:cNvPr id="5" name="Rectangle 4"/>
          <p:cNvSpPr/>
          <p:nvPr/>
        </p:nvSpPr>
        <p:spPr>
          <a:xfrm>
            <a:off x="-45720" y="841248"/>
            <a:ext cx="9235440" cy="96012"/>
          </a:xfrm>
          <a:prstGeom prst="rect">
            <a:avLst/>
          </a:prstGeom>
          <a:solidFill>
            <a:srgbClr val="ECA7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 y="937260"/>
            <a:ext cx="9235440" cy="20116"/>
          </a:xfrm>
          <a:prstGeom prst="rect">
            <a:avLst/>
          </a:prstGeom>
          <a:solidFill>
            <a:srgbClr val="8A0C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8288"/>
            <a:ext cx="5897880" cy="822960"/>
          </a:xfrm>
          <a:prstGeom prst="rect">
            <a:avLst/>
          </a:prstGeom>
          <a:noFill/>
        </p:spPr>
        <p:txBody>
          <a:bodyPr wrap="square" lIns="0" tIns="0" rIns="0" bIns="0" anchor="ctr">
            <a:spAutoFit/>
          </a:bodyPr>
          <a:lstStyle/>
          <a:p>
            <a:pPr algn="l">
              <a:lnSpc>
                <a:spcPct val="96000"/>
              </a:lnSpc>
              <a:spcBef>
                <a:spcPts val="0"/>
              </a:spcBef>
              <a:spcAft>
                <a:spcPts val="0"/>
              </a:spcAft>
            </a:pPr>
            <a:r>
              <a:rPr sz="2300" b="0" i="0">
                <a:solidFill>
                  <a:srgbClr val="FFFFFF"/>
                </a:solidFill>
                <a:latin typeface="Be Vietnam Pro ExtraBold"/>
              </a:rPr>
              <a:t>Nhập Excel hàng loạt có giao dịch</a:t>
            </a:r>
          </a:p>
        </p:txBody>
      </p:sp>
      <p:sp>
        <p:nvSpPr>
          <p:cNvPr id="8" name="Rounded Rectangle 7"/>
          <p:cNvSpPr/>
          <p:nvPr/>
        </p:nvSpPr>
        <p:spPr>
          <a:xfrm>
            <a:off x="7505395" y="256032"/>
            <a:ext cx="1108252" cy="329184"/>
          </a:xfrm>
          <a:prstGeom prst="roundRect">
            <a:avLst>
              <a:gd name="adj" fmla="val 50000"/>
            </a:avLst>
          </a:prstGeom>
          <a:noFill/>
          <a:ln w="15875">
            <a:solidFill>
              <a:srgbClr val="F2C255"/>
            </a:solid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spcBef>
                <a:spcPts val="0"/>
              </a:spcBef>
              <a:spcAft>
                <a:spcPts val="0"/>
              </a:spcAft>
            </a:pPr>
            <a:r>
              <a:rPr sz="950" b="0" i="0" spc="80">
                <a:solidFill>
                  <a:srgbClr val="FFFFFF"/>
                </a:solidFill>
                <a:latin typeface="Be Vietnam Pro SemiBold"/>
              </a:rPr>
              <a:t>ĐÓNG GÓP</a:t>
            </a:r>
          </a:p>
        </p:txBody>
      </p:sp>
      <p:sp>
        <p:nvSpPr>
          <p:cNvPr id="9" name="Rectangle 8"/>
          <p:cNvSpPr/>
          <p:nvPr/>
        </p:nvSpPr>
        <p:spPr>
          <a:xfrm>
            <a:off x="457200" y="6446520"/>
            <a:ext cx="8229600" cy="9144"/>
          </a:xfrm>
          <a:prstGeom prst="rect">
            <a:avLst/>
          </a:prstGeom>
          <a:solidFill>
            <a:srgbClr val="E3C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hust_shield.png"/>
          <p:cNvPicPr>
            <a:picLocks noChangeAspect="1"/>
          </p:cNvPicPr>
          <p:nvPr/>
        </p:nvPicPr>
        <p:blipFill>
          <a:blip r:embed="rId3"/>
          <a:stretch>
            <a:fillRect/>
          </a:stretch>
        </p:blipFill>
        <p:spPr>
          <a:xfrm>
            <a:off x="457200" y="6519672"/>
            <a:ext cx="164822" cy="246888"/>
          </a:xfrm>
          <a:prstGeom prst="rect">
            <a:avLst/>
          </a:prstGeom>
        </p:spPr>
      </p:pic>
      <p:sp>
        <p:nvSpPr>
          <p:cNvPr id="11" name="TextBox 10"/>
          <p:cNvSpPr txBox="1"/>
          <p:nvPr/>
        </p:nvSpPr>
        <p:spPr>
          <a:xfrm>
            <a:off x="713232" y="6501384"/>
            <a:ext cx="4206240" cy="310896"/>
          </a:xfrm>
          <a:prstGeom prst="rect">
            <a:avLst/>
          </a:prstGeom>
          <a:noFill/>
        </p:spPr>
        <p:txBody>
          <a:bodyPr wrap="square" lIns="0" tIns="0" rIns="0" bIns="0" anchor="ctr">
            <a:spAutoFit/>
          </a:bodyPr>
          <a:lstStyle/>
          <a:p>
            <a:pPr algn="l">
              <a:lnSpc>
                <a:spcPct val="94000"/>
              </a:lnSpc>
              <a:spcBef>
                <a:spcPts val="0"/>
              </a:spcBef>
              <a:spcAft>
                <a:spcPts val="0"/>
              </a:spcAft>
            </a:pPr>
            <a:r>
              <a:rPr sz="800" b="0" i="0">
                <a:solidFill>
                  <a:srgbClr val="8A0C20"/>
                </a:solidFill>
                <a:latin typeface="Be Vietnam Pro SemiBold"/>
              </a:rPr>
              <a:t>ĐẠI HỌC BÁCH KHOA HÀ NỘI</a:t>
            </a:r>
          </a:p>
          <a:p>
            <a:pPr algn="l">
              <a:lnSpc>
                <a:spcPct val="94000"/>
              </a:lnSpc>
              <a:spcBef>
                <a:spcPts val="0"/>
              </a:spcBef>
              <a:spcAft>
                <a:spcPts val="0"/>
              </a:spcAft>
            </a:pPr>
            <a:r>
              <a:rPr sz="750" b="0" i="0">
                <a:solidFill>
                  <a:srgbClr val="6B7280"/>
                </a:solidFill>
                <a:latin typeface="Be Vietnam Pro"/>
              </a:rPr>
              <a:t>Phần mềm Quản lý Khen thưởng  ·  Trần Anh Đức</a:t>
            </a:r>
          </a:p>
        </p:txBody>
      </p:sp>
      <p:sp>
        <p:nvSpPr>
          <p:cNvPr id="12" name="TextBox 11"/>
          <p:cNvSpPr txBox="1"/>
          <p:nvPr/>
        </p:nvSpPr>
        <p:spPr>
          <a:xfrm>
            <a:off x="7680960" y="6501384"/>
            <a:ext cx="1005840" cy="310896"/>
          </a:xfrm>
          <a:prstGeom prst="rect">
            <a:avLst/>
          </a:prstGeom>
          <a:noFill/>
        </p:spPr>
        <p:txBody>
          <a:bodyPr wrap="square" lIns="0" tIns="0" rIns="0" bIns="0" anchor="ctr">
            <a:spAutoFit/>
          </a:bodyPr>
          <a:lstStyle/>
          <a:p>
            <a:pPr algn="r">
              <a:spcBef>
                <a:spcPts val="0"/>
              </a:spcBef>
              <a:spcAft>
                <a:spcPts val="0"/>
              </a:spcAft>
            </a:pPr>
            <a:r>
              <a:rPr sz="1200" b="0" i="0">
                <a:solidFill>
                  <a:srgbClr val="C00000"/>
                </a:solidFill>
                <a:latin typeface="Be Vietnam Pro ExtraBold"/>
              </a:rPr>
              <a:t>26</a:t>
            </a:r>
            <a:r>
              <a:rPr sz="900" b="0" i="0">
                <a:solidFill>
                  <a:srgbClr val="6B7280"/>
                </a:solidFill>
                <a:latin typeface="Be Vietnam Pro"/>
              </a:rPr>
              <a:t> / 31</a:t>
            </a:r>
          </a:p>
        </p:txBody>
      </p:sp>
      <p:sp>
        <p:nvSpPr>
          <p:cNvPr id="13" name="Rounded Rectangle 12"/>
          <p:cNvSpPr/>
          <p:nvPr/>
        </p:nvSpPr>
        <p:spPr>
          <a:xfrm>
            <a:off x="502920" y="1609344"/>
            <a:ext cx="2615184" cy="4434840"/>
          </a:xfrm>
          <a:prstGeom prst="roundRect">
            <a:avLst>
              <a:gd name="adj" fmla="val 4500"/>
            </a:avLst>
          </a:prstGeom>
          <a:solidFill>
            <a:srgbClr val="F7F7F8"/>
          </a:solidFill>
          <a:ln w="9525">
            <a:solidFill>
              <a:srgbClr val="E5E7EB"/>
            </a:solidFill>
          </a:ln>
          <a:effectLst>
            <a:outerShdw blurRad="90000" dist="42000" dir="5400000" rotWithShape="0">
              <a:srgbClr val="98A2B3">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685800" y="1792224"/>
            <a:ext cx="2249424" cy="384048"/>
          </a:xfrm>
          <a:prstGeom prst="roundRect">
            <a:avLst>
              <a:gd name="adj" fmla="val 50000"/>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spcBef>
                <a:spcPts val="0"/>
              </a:spcBef>
              <a:spcAft>
                <a:spcPts val="0"/>
              </a:spcAft>
            </a:pPr>
            <a:r>
              <a:rPr sz="1150" b="1" i="0" spc="80">
                <a:solidFill>
                  <a:srgbClr val="FFFFFF"/>
                </a:solidFill>
                <a:latin typeface="Be Vietnam Pro"/>
              </a:rPr>
              <a:t>VẤN ĐỀ</a:t>
            </a:r>
          </a:p>
        </p:txBody>
      </p:sp>
      <p:sp>
        <p:nvSpPr>
          <p:cNvPr id="15" name="TextBox 14"/>
          <p:cNvSpPr txBox="1"/>
          <p:nvPr/>
        </p:nvSpPr>
        <p:spPr>
          <a:xfrm>
            <a:off x="740664" y="2322576"/>
            <a:ext cx="2157984" cy="3566159"/>
          </a:xfrm>
          <a:prstGeom prst="rect">
            <a:avLst/>
          </a:prstGeom>
          <a:noFill/>
        </p:spPr>
        <p:txBody>
          <a:bodyPr wrap="square" lIns="0" tIns="0" rIns="0" bIns="0" anchor="t">
            <a:spAutoFit/>
          </a:bodyPr>
          <a:lstStyle/>
          <a:p>
            <a:pPr marL="182880" indent="-182880" algn="l">
              <a:lnSpc>
                <a:spcPct val="108000"/>
              </a:lnSpc>
              <a:spcBef>
                <a:spcPts val="0"/>
              </a:spcBef>
              <a:spcAft>
                <a:spcPts val="700"/>
              </a:spcAft>
            </a:pPr>
            <a:r>
              <a:rPr sz="950" b="1">
                <a:solidFill>
                  <a:srgbClr val="6B7280"/>
                </a:solidFill>
                <a:latin typeface="Arial"/>
              </a:rPr>
              <a:t>▪  </a:t>
            </a:r>
            <a:r>
              <a:rPr sz="1050" b="0" i="0">
                <a:solidFill>
                  <a:srgbClr val="1F2937"/>
                </a:solidFill>
                <a:latin typeface="Be Vietnam Pro"/>
              </a:rPr>
              <a:t>Di trú dữ liệu lịch sử lớn (ước tính ~50.000 bản ghi danh hiệu và ~15.000 lịch sử chức vụ) từ tệp Word và bản giấy.</a:t>
            </a:r>
          </a:p>
          <a:p>
            <a:pPr marL="182880" indent="-182880" algn="l">
              <a:lnSpc>
                <a:spcPct val="108000"/>
              </a:lnSpc>
              <a:spcBef>
                <a:spcPts val="0"/>
              </a:spcBef>
              <a:spcAft>
                <a:spcPts val="700"/>
              </a:spcAft>
            </a:pPr>
            <a:r>
              <a:rPr sz="950" b="1">
                <a:solidFill>
                  <a:srgbClr val="6B7280"/>
                </a:solidFill>
                <a:latin typeface="Arial"/>
              </a:rPr>
              <a:t>▪  </a:t>
            </a:r>
            <a:r>
              <a:rPr sz="1050" b="0" i="0">
                <a:solidFill>
                  <a:srgbClr val="1F2937"/>
                </a:solidFill>
                <a:latin typeface="Be Vietnam Pro"/>
              </a:rPr>
              <a:t>Nhập tay mất nhiều tháng; chạy thẳng câu lệnh SQL rủi ro toàn vẹn vì định dạng nguồn không thống nhất.</a:t>
            </a:r>
          </a:p>
        </p:txBody>
      </p:sp>
      <p:sp>
        <p:nvSpPr>
          <p:cNvPr id="16" name="Rounded Rectangle 15"/>
          <p:cNvSpPr/>
          <p:nvPr/>
        </p:nvSpPr>
        <p:spPr>
          <a:xfrm>
            <a:off x="3264408" y="1609344"/>
            <a:ext cx="2615184" cy="4434840"/>
          </a:xfrm>
          <a:prstGeom prst="roundRect">
            <a:avLst>
              <a:gd name="adj" fmla="val 4500"/>
            </a:avLst>
          </a:prstGeom>
          <a:solidFill>
            <a:srgbClr val="FFFFFF"/>
          </a:solidFill>
          <a:ln w="9525">
            <a:solidFill>
              <a:srgbClr val="E5E7EB"/>
            </a:solidFill>
          </a:ln>
          <a:effectLst>
            <a:outerShdw blurRad="90000" dist="42000" dir="5400000" rotWithShape="0">
              <a:srgbClr val="98A2B3">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3447288" y="1792224"/>
            <a:ext cx="2249424" cy="384048"/>
          </a:xfrm>
          <a:prstGeom prst="roundRect">
            <a:avLst>
              <a:gd name="adj" fmla="val 50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spcBef>
                <a:spcPts val="0"/>
              </a:spcBef>
              <a:spcAft>
                <a:spcPts val="0"/>
              </a:spcAft>
            </a:pPr>
            <a:r>
              <a:rPr sz="1150" b="1" i="0" spc="80">
                <a:solidFill>
                  <a:srgbClr val="FFFFFF"/>
                </a:solidFill>
                <a:latin typeface="Be Vietnam Pro"/>
              </a:rPr>
              <a:t>CÁCH LÀM</a:t>
            </a:r>
          </a:p>
        </p:txBody>
      </p:sp>
      <p:sp>
        <p:nvSpPr>
          <p:cNvPr id="18" name="TextBox 17"/>
          <p:cNvSpPr txBox="1"/>
          <p:nvPr/>
        </p:nvSpPr>
        <p:spPr>
          <a:xfrm>
            <a:off x="3502152" y="2322576"/>
            <a:ext cx="2157984" cy="3566159"/>
          </a:xfrm>
          <a:prstGeom prst="rect">
            <a:avLst/>
          </a:prstGeom>
          <a:noFill/>
        </p:spPr>
        <p:txBody>
          <a:bodyPr wrap="square" lIns="0" tIns="0" rIns="0" bIns="0" anchor="t">
            <a:spAutoFit/>
          </a:bodyPr>
          <a:lstStyle/>
          <a:p>
            <a:pPr marL="182880" indent="-182880" algn="l">
              <a:lnSpc>
                <a:spcPct val="108000"/>
              </a:lnSpc>
              <a:spcBef>
                <a:spcPts val="0"/>
              </a:spcBef>
              <a:spcAft>
                <a:spcPts val="700"/>
              </a:spcAft>
            </a:pPr>
            <a:r>
              <a:rPr sz="950" b="1">
                <a:solidFill>
                  <a:srgbClr val="C00000"/>
                </a:solidFill>
                <a:latin typeface="Arial"/>
              </a:rPr>
              <a:t>▪  </a:t>
            </a:r>
            <a:r>
              <a:rPr sz="1050" b="0" i="0">
                <a:solidFill>
                  <a:srgbClr val="1F2937"/>
                </a:solidFill>
                <a:latin typeface="Be Vietnam Pro"/>
              </a:rPr>
              <a:t>Quy trình hai bước: Xem trước đối chiếu schema Zod và quy tắc nghiệp vụ, liệt kê từng dòng lỗi nhưng chưa ghi xuống CSDL.</a:t>
            </a:r>
          </a:p>
          <a:p>
            <a:pPr marL="182880" indent="-182880" algn="l">
              <a:lnSpc>
                <a:spcPct val="108000"/>
              </a:lnSpc>
              <a:spcBef>
                <a:spcPts val="0"/>
              </a:spcBef>
              <a:spcAft>
                <a:spcPts val="700"/>
              </a:spcAft>
            </a:pPr>
            <a:r>
              <a:rPr sz="950" b="1">
                <a:solidFill>
                  <a:srgbClr val="C00000"/>
                </a:solidFill>
                <a:latin typeface="Arial"/>
              </a:rPr>
              <a:t>▪  </a:t>
            </a:r>
            <a:r>
              <a:rPr sz="1050" b="0" i="0">
                <a:solidFill>
                  <a:srgbClr val="1F2937"/>
                </a:solidFill>
                <a:latin typeface="Be Vietnam Pro"/>
              </a:rPr>
              <a:t>Xác nhận ghi tuần tự trong một giao dịch; lỗi ở bất kỳ dòng nào thì hoàn tác toàn bộ.</a:t>
            </a:r>
          </a:p>
          <a:p>
            <a:pPr marL="182880" indent="-182880" algn="l">
              <a:lnSpc>
                <a:spcPct val="108000"/>
              </a:lnSpc>
              <a:spcBef>
                <a:spcPts val="0"/>
              </a:spcBef>
              <a:spcAft>
                <a:spcPts val="700"/>
              </a:spcAft>
            </a:pPr>
            <a:r>
              <a:rPr sz="950" b="1">
                <a:solidFill>
                  <a:srgbClr val="C00000"/>
                </a:solidFill>
                <a:latin typeface="Arial"/>
              </a:rPr>
              <a:t>▪  </a:t>
            </a:r>
            <a:r>
              <a:rPr sz="1050" b="0" i="0">
                <a:solidFill>
                  <a:srgbClr val="1F2937"/>
                </a:solidFill>
                <a:latin typeface="Be Vietnam Pro"/>
              </a:rPr>
              <a:t>Tệp mẫu có danh sách thả xuống (Data Validation); tự chuẩn hoá nhiều biến thể viết tắt danh hiệu về một mã chuẩn.</a:t>
            </a:r>
          </a:p>
        </p:txBody>
      </p:sp>
      <p:sp>
        <p:nvSpPr>
          <p:cNvPr id="19" name="Rounded Rectangle 18"/>
          <p:cNvSpPr/>
          <p:nvPr/>
        </p:nvSpPr>
        <p:spPr>
          <a:xfrm>
            <a:off x="6025896" y="1609344"/>
            <a:ext cx="2615184" cy="4434840"/>
          </a:xfrm>
          <a:prstGeom prst="roundRect">
            <a:avLst>
              <a:gd name="adj" fmla="val 4500"/>
            </a:avLst>
          </a:prstGeom>
          <a:solidFill>
            <a:srgbClr val="ECF6EF"/>
          </a:solidFill>
          <a:ln w="9525">
            <a:solidFill>
              <a:srgbClr val="E5E7EB"/>
            </a:solidFill>
          </a:ln>
          <a:effectLst>
            <a:outerShdw blurRad="90000" dist="42000" dir="5400000" rotWithShape="0">
              <a:srgbClr val="98A2B3">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6208776" y="1792224"/>
            <a:ext cx="2249424" cy="384048"/>
          </a:xfrm>
          <a:prstGeom prst="roundRect">
            <a:avLst>
              <a:gd name="adj" fmla="val 50000"/>
            </a:avLst>
          </a:prstGeom>
          <a:solidFill>
            <a:srgbClr val="2E7D46"/>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spcBef>
                <a:spcPts val="0"/>
              </a:spcBef>
              <a:spcAft>
                <a:spcPts val="0"/>
              </a:spcAft>
            </a:pPr>
            <a:r>
              <a:rPr sz="1150" b="1" i="0" spc="80">
                <a:solidFill>
                  <a:srgbClr val="FFFFFF"/>
                </a:solidFill>
                <a:latin typeface="Be Vietnam Pro"/>
              </a:rPr>
              <a:t>KẾT QUẢ</a:t>
            </a:r>
          </a:p>
        </p:txBody>
      </p:sp>
      <p:sp>
        <p:nvSpPr>
          <p:cNvPr id="21" name="TextBox 20"/>
          <p:cNvSpPr txBox="1"/>
          <p:nvPr/>
        </p:nvSpPr>
        <p:spPr>
          <a:xfrm>
            <a:off x="6263640" y="2322576"/>
            <a:ext cx="2157984" cy="3566159"/>
          </a:xfrm>
          <a:prstGeom prst="rect">
            <a:avLst/>
          </a:prstGeom>
          <a:noFill/>
        </p:spPr>
        <p:txBody>
          <a:bodyPr wrap="square" lIns="0" tIns="0" rIns="0" bIns="0" anchor="t">
            <a:spAutoFit/>
          </a:bodyPr>
          <a:lstStyle/>
          <a:p>
            <a:pPr marL="182880" indent="-182880" algn="l">
              <a:lnSpc>
                <a:spcPct val="108000"/>
              </a:lnSpc>
              <a:spcBef>
                <a:spcPts val="0"/>
              </a:spcBef>
              <a:spcAft>
                <a:spcPts val="700"/>
              </a:spcAft>
            </a:pPr>
            <a:r>
              <a:rPr sz="950" b="1">
                <a:solidFill>
                  <a:srgbClr val="2E7D46"/>
                </a:solidFill>
                <a:latin typeface="Arial"/>
              </a:rPr>
              <a:t>▪  </a:t>
            </a:r>
            <a:r>
              <a:rPr sz="1050" b="0" i="0">
                <a:solidFill>
                  <a:srgbClr val="1F2937"/>
                </a:solidFill>
                <a:latin typeface="Be Vietnam Pro"/>
              </a:rPr>
              <a:t>Di trú khối dữ liệu lớn trong thời gian ngắn; không bản ghi nào lọt vào ở trạng thái dở dang.</a:t>
            </a:r>
          </a:p>
          <a:p>
            <a:pPr marL="182880" indent="-182880" algn="l">
              <a:lnSpc>
                <a:spcPct val="108000"/>
              </a:lnSpc>
              <a:spcBef>
                <a:spcPts val="0"/>
              </a:spcBef>
              <a:spcAft>
                <a:spcPts val="700"/>
              </a:spcAft>
            </a:pPr>
            <a:r>
              <a:rPr sz="950" b="1">
                <a:solidFill>
                  <a:srgbClr val="2E7D46"/>
                </a:solidFill>
                <a:latin typeface="Arial"/>
              </a:rPr>
              <a:t>▪  </a:t>
            </a:r>
            <a:r>
              <a:rPr sz="1050" b="0" i="0">
                <a:solidFill>
                  <a:srgbClr val="1F2937"/>
                </a:solidFill>
                <a:latin typeface="Be Vietnam Pro"/>
              </a:rPr>
              <a:t>Hỗ trợ thêm xuất danh sách khen thưởng ra Excel theo năm và theo đơn vị.</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 y="-45720"/>
            <a:ext cx="9235440" cy="6949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 y="-45720"/>
            <a:ext cx="9235440" cy="886968"/>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motif_white.png"/>
          <p:cNvPicPr>
            <a:picLocks noChangeAspect="1"/>
          </p:cNvPicPr>
          <p:nvPr/>
        </p:nvPicPr>
        <p:blipFill>
          <a:blip r:embed="rId2">
            <a:alphaModFix amt="34000"/>
          </a:blip>
          <a:stretch>
            <a:fillRect/>
          </a:stretch>
        </p:blipFill>
        <p:spPr>
          <a:xfrm>
            <a:off x="5989320" y="-1874519"/>
            <a:ext cx="4206240" cy="3154680"/>
          </a:xfrm>
          <a:prstGeom prst="rect">
            <a:avLst/>
          </a:prstGeom>
        </p:spPr>
      </p:pic>
      <p:sp>
        <p:nvSpPr>
          <p:cNvPr id="5" name="Rectangle 4"/>
          <p:cNvSpPr/>
          <p:nvPr/>
        </p:nvSpPr>
        <p:spPr>
          <a:xfrm>
            <a:off x="-45720" y="841248"/>
            <a:ext cx="9235440" cy="96012"/>
          </a:xfrm>
          <a:prstGeom prst="rect">
            <a:avLst/>
          </a:prstGeom>
          <a:solidFill>
            <a:srgbClr val="ECA7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 y="937260"/>
            <a:ext cx="9235440" cy="20116"/>
          </a:xfrm>
          <a:prstGeom prst="rect">
            <a:avLst/>
          </a:prstGeom>
          <a:solidFill>
            <a:srgbClr val="8A0C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8288"/>
            <a:ext cx="5897880" cy="822960"/>
          </a:xfrm>
          <a:prstGeom prst="rect">
            <a:avLst/>
          </a:prstGeom>
          <a:noFill/>
        </p:spPr>
        <p:txBody>
          <a:bodyPr wrap="square" lIns="0" tIns="0" rIns="0" bIns="0" anchor="ctr">
            <a:spAutoFit/>
          </a:bodyPr>
          <a:lstStyle/>
          <a:p>
            <a:pPr algn="l">
              <a:lnSpc>
                <a:spcPct val="96000"/>
              </a:lnSpc>
              <a:spcBef>
                <a:spcPts val="0"/>
              </a:spcBef>
              <a:spcAft>
                <a:spcPts val="0"/>
              </a:spcAft>
            </a:pPr>
            <a:r>
              <a:rPr sz="2300" b="0" i="0">
                <a:solidFill>
                  <a:srgbClr val="FFFFFF"/>
                </a:solidFill>
                <a:latin typeface="Be Vietnam Pro ExtraBold"/>
              </a:rPr>
              <a:t>Lưu vết, sao lưu &amp; thông báo</a:t>
            </a:r>
          </a:p>
        </p:txBody>
      </p:sp>
      <p:sp>
        <p:nvSpPr>
          <p:cNvPr id="8" name="Rounded Rectangle 7"/>
          <p:cNvSpPr/>
          <p:nvPr/>
        </p:nvSpPr>
        <p:spPr>
          <a:xfrm>
            <a:off x="7505395" y="256032"/>
            <a:ext cx="1108252" cy="329184"/>
          </a:xfrm>
          <a:prstGeom prst="roundRect">
            <a:avLst>
              <a:gd name="adj" fmla="val 50000"/>
            </a:avLst>
          </a:prstGeom>
          <a:noFill/>
          <a:ln w="15875">
            <a:solidFill>
              <a:srgbClr val="F2C255"/>
            </a:solid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spcBef>
                <a:spcPts val="0"/>
              </a:spcBef>
              <a:spcAft>
                <a:spcPts val="0"/>
              </a:spcAft>
            </a:pPr>
            <a:r>
              <a:rPr sz="950" b="0" i="0" spc="80">
                <a:solidFill>
                  <a:srgbClr val="FFFFFF"/>
                </a:solidFill>
                <a:latin typeface="Be Vietnam Pro SemiBold"/>
              </a:rPr>
              <a:t>ĐÓNG GÓP</a:t>
            </a:r>
          </a:p>
        </p:txBody>
      </p:sp>
      <p:sp>
        <p:nvSpPr>
          <p:cNvPr id="9" name="Rectangle 8"/>
          <p:cNvSpPr/>
          <p:nvPr/>
        </p:nvSpPr>
        <p:spPr>
          <a:xfrm>
            <a:off x="457200" y="6446520"/>
            <a:ext cx="8229600" cy="9144"/>
          </a:xfrm>
          <a:prstGeom prst="rect">
            <a:avLst/>
          </a:prstGeom>
          <a:solidFill>
            <a:srgbClr val="E3C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hust_shield.png"/>
          <p:cNvPicPr>
            <a:picLocks noChangeAspect="1"/>
          </p:cNvPicPr>
          <p:nvPr/>
        </p:nvPicPr>
        <p:blipFill>
          <a:blip r:embed="rId3"/>
          <a:stretch>
            <a:fillRect/>
          </a:stretch>
        </p:blipFill>
        <p:spPr>
          <a:xfrm>
            <a:off x="457200" y="6519672"/>
            <a:ext cx="164822" cy="246888"/>
          </a:xfrm>
          <a:prstGeom prst="rect">
            <a:avLst/>
          </a:prstGeom>
        </p:spPr>
      </p:pic>
      <p:sp>
        <p:nvSpPr>
          <p:cNvPr id="11" name="TextBox 10"/>
          <p:cNvSpPr txBox="1"/>
          <p:nvPr/>
        </p:nvSpPr>
        <p:spPr>
          <a:xfrm>
            <a:off x="713232" y="6501384"/>
            <a:ext cx="4206240" cy="310896"/>
          </a:xfrm>
          <a:prstGeom prst="rect">
            <a:avLst/>
          </a:prstGeom>
          <a:noFill/>
        </p:spPr>
        <p:txBody>
          <a:bodyPr wrap="square" lIns="0" tIns="0" rIns="0" bIns="0" anchor="ctr">
            <a:spAutoFit/>
          </a:bodyPr>
          <a:lstStyle/>
          <a:p>
            <a:pPr algn="l">
              <a:lnSpc>
                <a:spcPct val="94000"/>
              </a:lnSpc>
              <a:spcBef>
                <a:spcPts val="0"/>
              </a:spcBef>
              <a:spcAft>
                <a:spcPts val="0"/>
              </a:spcAft>
            </a:pPr>
            <a:r>
              <a:rPr sz="800" b="0" i="0">
                <a:solidFill>
                  <a:srgbClr val="8A0C20"/>
                </a:solidFill>
                <a:latin typeface="Be Vietnam Pro SemiBold"/>
              </a:rPr>
              <a:t>ĐẠI HỌC BÁCH KHOA HÀ NỘI</a:t>
            </a:r>
          </a:p>
          <a:p>
            <a:pPr algn="l">
              <a:lnSpc>
                <a:spcPct val="94000"/>
              </a:lnSpc>
              <a:spcBef>
                <a:spcPts val="0"/>
              </a:spcBef>
              <a:spcAft>
                <a:spcPts val="0"/>
              </a:spcAft>
            </a:pPr>
            <a:r>
              <a:rPr sz="750" b="0" i="0">
                <a:solidFill>
                  <a:srgbClr val="6B7280"/>
                </a:solidFill>
                <a:latin typeface="Be Vietnam Pro"/>
              </a:rPr>
              <a:t>Phần mềm Quản lý Khen thưởng  ·  Trần Anh Đức</a:t>
            </a:r>
          </a:p>
        </p:txBody>
      </p:sp>
      <p:sp>
        <p:nvSpPr>
          <p:cNvPr id="12" name="TextBox 11"/>
          <p:cNvSpPr txBox="1"/>
          <p:nvPr/>
        </p:nvSpPr>
        <p:spPr>
          <a:xfrm>
            <a:off x="7680960" y="6501384"/>
            <a:ext cx="1005840" cy="310896"/>
          </a:xfrm>
          <a:prstGeom prst="rect">
            <a:avLst/>
          </a:prstGeom>
          <a:noFill/>
        </p:spPr>
        <p:txBody>
          <a:bodyPr wrap="square" lIns="0" tIns="0" rIns="0" bIns="0" anchor="ctr">
            <a:spAutoFit/>
          </a:bodyPr>
          <a:lstStyle/>
          <a:p>
            <a:pPr algn="r">
              <a:spcBef>
                <a:spcPts val="0"/>
              </a:spcBef>
              <a:spcAft>
                <a:spcPts val="0"/>
              </a:spcAft>
            </a:pPr>
            <a:r>
              <a:rPr sz="1200" b="0" i="0">
                <a:solidFill>
                  <a:srgbClr val="C00000"/>
                </a:solidFill>
                <a:latin typeface="Be Vietnam Pro ExtraBold"/>
              </a:rPr>
              <a:t>27</a:t>
            </a:r>
            <a:r>
              <a:rPr sz="900" b="0" i="0">
                <a:solidFill>
                  <a:srgbClr val="6B7280"/>
                </a:solidFill>
                <a:latin typeface="Be Vietnam Pro"/>
              </a:rPr>
              <a:t> / 31</a:t>
            </a:r>
          </a:p>
        </p:txBody>
      </p:sp>
      <p:sp>
        <p:nvSpPr>
          <p:cNvPr id="13" name="Rounded Rectangle 12"/>
          <p:cNvSpPr/>
          <p:nvPr/>
        </p:nvSpPr>
        <p:spPr>
          <a:xfrm>
            <a:off x="502920" y="1609344"/>
            <a:ext cx="2615184" cy="4434840"/>
          </a:xfrm>
          <a:prstGeom prst="roundRect">
            <a:avLst>
              <a:gd name="adj" fmla="val 4500"/>
            </a:avLst>
          </a:prstGeom>
          <a:solidFill>
            <a:srgbClr val="F7F7F8"/>
          </a:solidFill>
          <a:ln w="9525">
            <a:solidFill>
              <a:srgbClr val="E5E7EB"/>
            </a:solidFill>
          </a:ln>
          <a:effectLst>
            <a:outerShdw blurRad="90000" dist="42000" dir="5400000" rotWithShape="0">
              <a:srgbClr val="98A2B3">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685800" y="1792224"/>
            <a:ext cx="2249424" cy="384048"/>
          </a:xfrm>
          <a:prstGeom prst="roundRect">
            <a:avLst>
              <a:gd name="adj" fmla="val 50000"/>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spcBef>
                <a:spcPts val="0"/>
              </a:spcBef>
              <a:spcAft>
                <a:spcPts val="0"/>
              </a:spcAft>
            </a:pPr>
            <a:r>
              <a:rPr sz="1150" b="1" i="0" spc="80">
                <a:solidFill>
                  <a:srgbClr val="FFFFFF"/>
                </a:solidFill>
                <a:latin typeface="Be Vietnam Pro"/>
              </a:rPr>
              <a:t>VẤN ĐỀ</a:t>
            </a:r>
          </a:p>
        </p:txBody>
      </p:sp>
      <p:sp>
        <p:nvSpPr>
          <p:cNvPr id="15" name="TextBox 14"/>
          <p:cNvSpPr txBox="1"/>
          <p:nvPr/>
        </p:nvSpPr>
        <p:spPr>
          <a:xfrm>
            <a:off x="740664" y="2322576"/>
            <a:ext cx="2157984" cy="3566159"/>
          </a:xfrm>
          <a:prstGeom prst="rect">
            <a:avLst/>
          </a:prstGeom>
          <a:noFill/>
        </p:spPr>
        <p:txBody>
          <a:bodyPr wrap="square" lIns="0" tIns="0" rIns="0" bIns="0" anchor="t">
            <a:spAutoFit/>
          </a:bodyPr>
          <a:lstStyle/>
          <a:p>
            <a:pPr marL="182880" indent="-182880" algn="l">
              <a:lnSpc>
                <a:spcPct val="108000"/>
              </a:lnSpc>
              <a:spcBef>
                <a:spcPts val="0"/>
              </a:spcBef>
              <a:spcAft>
                <a:spcPts val="700"/>
              </a:spcAft>
            </a:pPr>
            <a:r>
              <a:rPr sz="950" b="1">
                <a:solidFill>
                  <a:srgbClr val="6B7280"/>
                </a:solidFill>
                <a:latin typeface="Arial"/>
              </a:rPr>
              <a:t>▪  </a:t>
            </a:r>
            <a:r>
              <a:rPr sz="1050" b="0" i="0">
                <a:solidFill>
                  <a:srgbClr val="1F2937"/>
                </a:solidFill>
                <a:latin typeface="Be Vietnam Pro"/>
              </a:rPr>
              <a:t>Tệp dùng chung chỉ kiểm soát ở mức thư mục; sửa hay xoá không để lại dấu vết.</a:t>
            </a:r>
          </a:p>
          <a:p>
            <a:pPr marL="182880" indent="-182880" algn="l">
              <a:lnSpc>
                <a:spcPct val="108000"/>
              </a:lnSpc>
              <a:spcBef>
                <a:spcPts val="0"/>
              </a:spcBef>
              <a:spcAft>
                <a:spcPts val="700"/>
              </a:spcAft>
            </a:pPr>
            <a:r>
              <a:rPr sz="950" b="1">
                <a:solidFill>
                  <a:srgbClr val="6B7280"/>
                </a:solidFill>
                <a:latin typeface="Arial"/>
              </a:rPr>
              <a:t>▪  </a:t>
            </a:r>
            <a:r>
              <a:rPr sz="1050" b="0" i="0">
                <a:solidFill>
                  <a:srgbClr val="1F2937"/>
                </a:solidFill>
                <a:latin typeface="Be Vietnam Pro"/>
              </a:rPr>
              <a:t>Sao lưu phụ thuộc kỷ luật cá nhân, không bảo đảm luôn có bản gần nhất để khôi phục.</a:t>
            </a:r>
          </a:p>
        </p:txBody>
      </p:sp>
      <p:sp>
        <p:nvSpPr>
          <p:cNvPr id="16" name="Rounded Rectangle 15"/>
          <p:cNvSpPr/>
          <p:nvPr/>
        </p:nvSpPr>
        <p:spPr>
          <a:xfrm>
            <a:off x="3264408" y="1609344"/>
            <a:ext cx="2615184" cy="4434840"/>
          </a:xfrm>
          <a:prstGeom prst="roundRect">
            <a:avLst>
              <a:gd name="adj" fmla="val 4500"/>
            </a:avLst>
          </a:prstGeom>
          <a:solidFill>
            <a:srgbClr val="FFFFFF"/>
          </a:solidFill>
          <a:ln w="9525">
            <a:solidFill>
              <a:srgbClr val="E5E7EB"/>
            </a:solidFill>
          </a:ln>
          <a:effectLst>
            <a:outerShdw blurRad="90000" dist="42000" dir="5400000" rotWithShape="0">
              <a:srgbClr val="98A2B3">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3447288" y="1792224"/>
            <a:ext cx="2249424" cy="384048"/>
          </a:xfrm>
          <a:prstGeom prst="roundRect">
            <a:avLst>
              <a:gd name="adj" fmla="val 50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spcBef>
                <a:spcPts val="0"/>
              </a:spcBef>
              <a:spcAft>
                <a:spcPts val="0"/>
              </a:spcAft>
            </a:pPr>
            <a:r>
              <a:rPr sz="1150" b="1" i="0" spc="80">
                <a:solidFill>
                  <a:srgbClr val="FFFFFF"/>
                </a:solidFill>
                <a:latin typeface="Be Vietnam Pro"/>
              </a:rPr>
              <a:t>CÁCH LÀM</a:t>
            </a:r>
          </a:p>
        </p:txBody>
      </p:sp>
      <p:sp>
        <p:nvSpPr>
          <p:cNvPr id="18" name="TextBox 17"/>
          <p:cNvSpPr txBox="1"/>
          <p:nvPr/>
        </p:nvSpPr>
        <p:spPr>
          <a:xfrm>
            <a:off x="3502152" y="2322576"/>
            <a:ext cx="2157984" cy="3566159"/>
          </a:xfrm>
          <a:prstGeom prst="rect">
            <a:avLst/>
          </a:prstGeom>
          <a:noFill/>
        </p:spPr>
        <p:txBody>
          <a:bodyPr wrap="square" lIns="0" tIns="0" rIns="0" bIns="0" anchor="t">
            <a:spAutoFit/>
          </a:bodyPr>
          <a:lstStyle/>
          <a:p>
            <a:pPr marL="182880" indent="-182880" algn="l">
              <a:lnSpc>
                <a:spcPct val="108000"/>
              </a:lnSpc>
              <a:spcBef>
                <a:spcPts val="0"/>
              </a:spcBef>
              <a:spcAft>
                <a:spcPts val="700"/>
              </a:spcAft>
            </a:pPr>
            <a:r>
              <a:rPr sz="950" b="1">
                <a:solidFill>
                  <a:srgbClr val="C00000"/>
                </a:solidFill>
                <a:latin typeface="Arial"/>
              </a:rPr>
              <a:t>▪  </a:t>
            </a:r>
            <a:r>
              <a:rPr sz="1050" b="0" i="0">
                <a:solidFill>
                  <a:srgbClr val="1F2937"/>
                </a:solidFill>
                <a:latin typeface="Be Vietnam Pro"/>
              </a:rPr>
              <a:t>Nhật ký hệ thống ghi mọi thao tác đổi dữ liệu: người thực hiện, hành động, đối tượng, địa chỉ IP và dữ liệu trước/sau; lọc đa chiều.</a:t>
            </a:r>
          </a:p>
          <a:p>
            <a:pPr marL="182880" indent="-182880" algn="l">
              <a:lnSpc>
                <a:spcPct val="108000"/>
              </a:lnSpc>
              <a:spcBef>
                <a:spcPts val="0"/>
              </a:spcBef>
              <a:spcAft>
                <a:spcPts val="700"/>
              </a:spcAft>
            </a:pPr>
            <a:r>
              <a:rPr sz="950" b="1">
                <a:solidFill>
                  <a:srgbClr val="C00000"/>
                </a:solidFill>
                <a:latin typeface="Arial"/>
              </a:rPr>
              <a:t>▪  </a:t>
            </a:r>
            <a:r>
              <a:rPr sz="1050" b="0" i="0">
                <a:solidFill>
                  <a:srgbClr val="1F2937"/>
                </a:solidFill>
                <a:latin typeface="Be Vietnam Pro"/>
              </a:rPr>
              <a:t>Sao lưu định kỳ tự động bằng node-cron, kết xuất tệp SQL và dọn bản cũ.</a:t>
            </a:r>
          </a:p>
          <a:p>
            <a:pPr marL="182880" indent="-182880" algn="l">
              <a:lnSpc>
                <a:spcPct val="108000"/>
              </a:lnSpc>
              <a:spcBef>
                <a:spcPts val="0"/>
              </a:spcBef>
              <a:spcAft>
                <a:spcPts val="700"/>
              </a:spcAft>
            </a:pPr>
            <a:r>
              <a:rPr sz="950" b="1">
                <a:solidFill>
                  <a:srgbClr val="C00000"/>
                </a:solidFill>
                <a:latin typeface="Arial"/>
              </a:rPr>
              <a:t>▪  </a:t>
            </a:r>
            <a:r>
              <a:rPr sz="1050" b="0" i="0">
                <a:solidFill>
                  <a:srgbClr val="1F2937"/>
                </a:solidFill>
                <a:latin typeface="Be Vietnam Pro"/>
              </a:rPr>
              <a:t>Thông báo thời gian thực qua Socket.IO theo từng người nhận, đồng thời lưu vào bảng ThongBao để xem lại.</a:t>
            </a:r>
          </a:p>
        </p:txBody>
      </p:sp>
      <p:sp>
        <p:nvSpPr>
          <p:cNvPr id="19" name="Rounded Rectangle 18"/>
          <p:cNvSpPr/>
          <p:nvPr/>
        </p:nvSpPr>
        <p:spPr>
          <a:xfrm>
            <a:off x="6025896" y="1609344"/>
            <a:ext cx="2615184" cy="4434840"/>
          </a:xfrm>
          <a:prstGeom prst="roundRect">
            <a:avLst>
              <a:gd name="adj" fmla="val 4500"/>
            </a:avLst>
          </a:prstGeom>
          <a:solidFill>
            <a:srgbClr val="ECF6EF"/>
          </a:solidFill>
          <a:ln w="9525">
            <a:solidFill>
              <a:srgbClr val="E5E7EB"/>
            </a:solidFill>
          </a:ln>
          <a:effectLst>
            <a:outerShdw blurRad="90000" dist="42000" dir="5400000" rotWithShape="0">
              <a:srgbClr val="98A2B3">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6208776" y="1792224"/>
            <a:ext cx="2249424" cy="384048"/>
          </a:xfrm>
          <a:prstGeom prst="roundRect">
            <a:avLst>
              <a:gd name="adj" fmla="val 50000"/>
            </a:avLst>
          </a:prstGeom>
          <a:solidFill>
            <a:srgbClr val="2E7D46"/>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spcBef>
                <a:spcPts val="0"/>
              </a:spcBef>
              <a:spcAft>
                <a:spcPts val="0"/>
              </a:spcAft>
            </a:pPr>
            <a:r>
              <a:rPr sz="1150" b="1" i="0" spc="80">
                <a:solidFill>
                  <a:srgbClr val="FFFFFF"/>
                </a:solidFill>
                <a:latin typeface="Be Vietnam Pro"/>
              </a:rPr>
              <a:t>KẾT QUẢ</a:t>
            </a:r>
          </a:p>
        </p:txBody>
      </p:sp>
      <p:sp>
        <p:nvSpPr>
          <p:cNvPr id="21" name="TextBox 20"/>
          <p:cNvSpPr txBox="1"/>
          <p:nvPr/>
        </p:nvSpPr>
        <p:spPr>
          <a:xfrm>
            <a:off x="6263640" y="2322576"/>
            <a:ext cx="2157984" cy="3566159"/>
          </a:xfrm>
          <a:prstGeom prst="rect">
            <a:avLst/>
          </a:prstGeom>
          <a:noFill/>
        </p:spPr>
        <p:txBody>
          <a:bodyPr wrap="square" lIns="0" tIns="0" rIns="0" bIns="0" anchor="t">
            <a:spAutoFit/>
          </a:bodyPr>
          <a:lstStyle/>
          <a:p>
            <a:pPr marL="182880" indent="-182880" algn="l">
              <a:lnSpc>
                <a:spcPct val="108000"/>
              </a:lnSpc>
              <a:spcBef>
                <a:spcPts val="0"/>
              </a:spcBef>
              <a:spcAft>
                <a:spcPts val="700"/>
              </a:spcAft>
            </a:pPr>
            <a:r>
              <a:rPr sz="950" b="1">
                <a:solidFill>
                  <a:srgbClr val="2E7D46"/>
                </a:solidFill>
                <a:latin typeface="Arial"/>
              </a:rPr>
              <a:t>▪  </a:t>
            </a:r>
            <a:r>
              <a:rPr sz="1050" b="0" i="0">
                <a:solidFill>
                  <a:srgbClr val="1F2937"/>
                </a:solidFill>
                <a:latin typeface="Be Vietnam Pro"/>
              </a:rPr>
              <a:t>Mọi thay đổi dữ liệu đều truy vết được; nhật ký sao lưu chỉ Quản trị hệ thống xem được.</a:t>
            </a:r>
          </a:p>
          <a:p>
            <a:pPr marL="182880" indent="-182880" algn="l">
              <a:lnSpc>
                <a:spcPct val="108000"/>
              </a:lnSpc>
              <a:spcBef>
                <a:spcPts val="0"/>
              </a:spcBef>
              <a:spcAft>
                <a:spcPts val="700"/>
              </a:spcAft>
            </a:pPr>
            <a:r>
              <a:rPr sz="950" b="1">
                <a:solidFill>
                  <a:srgbClr val="2E7D46"/>
                </a:solidFill>
                <a:latin typeface="Arial"/>
              </a:rPr>
              <a:t>▪  </a:t>
            </a:r>
            <a:r>
              <a:rPr sz="1050" b="0" i="0">
                <a:solidFill>
                  <a:srgbClr val="1F2937"/>
                </a:solidFill>
                <a:latin typeface="Be Vietnam Pro"/>
              </a:rPr>
              <a:t>Luôn có bản sao lưu hằng ngày sẵn sàng khôi phục, không phụ thuộc thao tác thủ công.</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 y="-45720"/>
            <a:ext cx="9235440" cy="694944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 y="-45720"/>
            <a:ext cx="9235440" cy="694944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motif_white.png"/>
          <p:cNvPicPr>
            <a:picLocks noChangeAspect="1"/>
          </p:cNvPicPr>
          <p:nvPr/>
        </p:nvPicPr>
        <p:blipFill>
          <a:blip r:embed="rId2">
            <a:alphaModFix amt="30000"/>
          </a:blip>
          <a:stretch>
            <a:fillRect/>
          </a:stretch>
        </p:blipFill>
        <p:spPr>
          <a:xfrm>
            <a:off x="4297680" y="-1097280"/>
            <a:ext cx="6766560" cy="5074920"/>
          </a:xfrm>
          <a:prstGeom prst="rect">
            <a:avLst/>
          </a:prstGeom>
        </p:spPr>
      </p:pic>
      <p:sp>
        <p:nvSpPr>
          <p:cNvPr id="5" name="TextBox 4"/>
          <p:cNvSpPr txBox="1"/>
          <p:nvPr/>
        </p:nvSpPr>
        <p:spPr>
          <a:xfrm>
            <a:off x="640080" y="1371600"/>
            <a:ext cx="2926080" cy="2377440"/>
          </a:xfrm>
          <a:prstGeom prst="rect">
            <a:avLst/>
          </a:prstGeom>
          <a:noFill/>
        </p:spPr>
        <p:txBody>
          <a:bodyPr wrap="square" lIns="0" tIns="0" rIns="0" bIns="0" anchor="t">
            <a:spAutoFit/>
          </a:bodyPr>
          <a:lstStyle/>
          <a:p>
            <a:pPr algn="l">
              <a:lnSpc>
                <a:spcPct val="85000"/>
              </a:lnSpc>
              <a:spcBef>
                <a:spcPts val="0"/>
              </a:spcBef>
              <a:spcAft>
                <a:spcPts val="0"/>
              </a:spcAft>
            </a:pPr>
            <a:r>
              <a:rPr sz="15000" b="0" i="0">
                <a:solidFill>
                  <a:srgbClr val="F2C255"/>
                </a:solidFill>
                <a:latin typeface="Be Vietnam Pro Black"/>
              </a:rPr>
              <a:t>IV</a:t>
            </a:r>
          </a:p>
        </p:txBody>
      </p:sp>
      <p:sp>
        <p:nvSpPr>
          <p:cNvPr id="6" name="TextBox 5"/>
          <p:cNvSpPr txBox="1"/>
          <p:nvPr/>
        </p:nvSpPr>
        <p:spPr>
          <a:xfrm>
            <a:off x="3246120" y="2331720"/>
            <a:ext cx="5303520" cy="457200"/>
          </a:xfrm>
          <a:prstGeom prst="rect">
            <a:avLst/>
          </a:prstGeom>
          <a:noFill/>
        </p:spPr>
        <p:txBody>
          <a:bodyPr wrap="square" lIns="0" tIns="0" rIns="0" bIns="0" anchor="t">
            <a:spAutoFit/>
          </a:bodyPr>
          <a:lstStyle/>
          <a:p>
            <a:pPr algn="l">
              <a:spcBef>
                <a:spcPts val="0"/>
              </a:spcBef>
              <a:spcAft>
                <a:spcPts val="0"/>
              </a:spcAft>
            </a:pPr>
            <a:r>
              <a:rPr sz="1400" b="0" i="0" spc="200">
                <a:solidFill>
                  <a:srgbClr val="F7D99B"/>
                </a:solidFill>
                <a:latin typeface="Be Vietnam Pro SemiBold"/>
              </a:rPr>
              <a:t>PHẦN IV</a:t>
            </a:r>
          </a:p>
        </p:txBody>
      </p:sp>
      <p:sp>
        <p:nvSpPr>
          <p:cNvPr id="7" name="TextBox 6"/>
          <p:cNvSpPr txBox="1"/>
          <p:nvPr/>
        </p:nvSpPr>
        <p:spPr>
          <a:xfrm>
            <a:off x="3200400" y="2697480"/>
            <a:ext cx="5486400" cy="1188720"/>
          </a:xfrm>
          <a:prstGeom prst="rect">
            <a:avLst/>
          </a:prstGeom>
          <a:noFill/>
        </p:spPr>
        <p:txBody>
          <a:bodyPr wrap="square" lIns="0" tIns="0" rIns="0" bIns="0" anchor="t">
            <a:spAutoFit/>
          </a:bodyPr>
          <a:lstStyle/>
          <a:p>
            <a:pPr algn="l">
              <a:lnSpc>
                <a:spcPct val="100000"/>
              </a:lnSpc>
              <a:spcBef>
                <a:spcPts val="0"/>
              </a:spcBef>
              <a:spcAft>
                <a:spcPts val="0"/>
              </a:spcAft>
            </a:pPr>
            <a:r>
              <a:rPr sz="3300" b="0" i="0">
                <a:solidFill>
                  <a:srgbClr val="FFFFFF"/>
                </a:solidFill>
                <a:latin typeface="Be Vietnam Pro ExtraBold"/>
              </a:rPr>
              <a:t>Đánh giá &amp; Tổng kết</a:t>
            </a:r>
          </a:p>
        </p:txBody>
      </p:sp>
      <p:sp>
        <p:nvSpPr>
          <p:cNvPr id="8" name="Rectangle 7"/>
          <p:cNvSpPr/>
          <p:nvPr/>
        </p:nvSpPr>
        <p:spPr>
          <a:xfrm>
            <a:off x="3264408" y="3913632"/>
            <a:ext cx="1554480" cy="36576"/>
          </a:xfrm>
          <a:prstGeom prst="rect">
            <a:avLst/>
          </a:prstGeom>
          <a:solidFill>
            <a:srgbClr val="F2C2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246120" y="4160520"/>
            <a:ext cx="5394960" cy="1828800"/>
          </a:xfrm>
          <a:prstGeom prst="rect">
            <a:avLst/>
          </a:prstGeom>
          <a:noFill/>
        </p:spPr>
        <p:txBody>
          <a:bodyPr wrap="square" lIns="0" tIns="0" rIns="0" bIns="0" anchor="t">
            <a:spAutoFit/>
          </a:bodyPr>
          <a:lstStyle/>
          <a:p>
            <a:pPr marL="237744" indent="-237744" algn="l">
              <a:lnSpc>
                <a:spcPct val="105000"/>
              </a:lnSpc>
              <a:spcBef>
                <a:spcPts val="0"/>
              </a:spcBef>
              <a:spcAft>
                <a:spcPts val="600"/>
              </a:spcAft>
            </a:pPr>
            <a:r>
              <a:rPr sz="1200">
                <a:solidFill>
                  <a:srgbClr val="F2C255"/>
                </a:solidFill>
                <a:latin typeface="Be Vietnam Pro SemiBold"/>
              </a:rPr>
              <a:t>—  </a:t>
            </a:r>
            <a:r>
              <a:rPr sz="1250" b="0" i="0">
                <a:solidFill>
                  <a:srgbClr val="FBECEC"/>
                </a:solidFill>
                <a:latin typeface="Be Vietnam Pro"/>
              </a:rPr>
              <a:t>Kiểm thử và triển khai</a:t>
            </a:r>
          </a:p>
          <a:p>
            <a:pPr marL="237744" indent="-237744" algn="l">
              <a:lnSpc>
                <a:spcPct val="105000"/>
              </a:lnSpc>
              <a:spcBef>
                <a:spcPts val="0"/>
              </a:spcBef>
              <a:spcAft>
                <a:spcPts val="600"/>
              </a:spcAft>
            </a:pPr>
            <a:r>
              <a:rPr sz="1200">
                <a:solidFill>
                  <a:srgbClr val="F2C255"/>
                </a:solidFill>
                <a:latin typeface="Be Vietnam Pro SemiBold"/>
              </a:rPr>
              <a:t>—  </a:t>
            </a:r>
            <a:r>
              <a:rPr sz="1250" b="0" i="0">
                <a:solidFill>
                  <a:srgbClr val="FBECEC"/>
                </a:solidFill>
                <a:latin typeface="Be Vietnam Pro"/>
              </a:rPr>
              <a:t>Kết luận và hướng phát triển</a:t>
            </a:r>
          </a:p>
        </p:txBody>
      </p:sp>
      <p:sp>
        <p:nvSpPr>
          <p:cNvPr id="10" name="TextBox 9"/>
          <p:cNvSpPr txBox="1"/>
          <p:nvPr/>
        </p:nvSpPr>
        <p:spPr>
          <a:xfrm>
            <a:off x="7680960" y="6455664"/>
            <a:ext cx="1005840" cy="310896"/>
          </a:xfrm>
          <a:prstGeom prst="rect">
            <a:avLst/>
          </a:prstGeom>
          <a:noFill/>
        </p:spPr>
        <p:txBody>
          <a:bodyPr wrap="square" lIns="0" tIns="0" rIns="0" bIns="0" anchor="ctr">
            <a:spAutoFit/>
          </a:bodyPr>
          <a:lstStyle/>
          <a:p>
            <a:pPr algn="r">
              <a:spcBef>
                <a:spcPts val="0"/>
              </a:spcBef>
              <a:spcAft>
                <a:spcPts val="0"/>
              </a:spcAft>
            </a:pPr>
            <a:r>
              <a:rPr sz="1200" b="0" i="0">
                <a:solidFill>
                  <a:srgbClr val="FFFFFF"/>
                </a:solidFill>
                <a:latin typeface="Be Vietnam Pro ExtraBold"/>
              </a:rPr>
              <a:t>28</a:t>
            </a:r>
            <a:r>
              <a:rPr sz="900" b="0" i="0">
                <a:solidFill>
                  <a:srgbClr val="F2C9C9"/>
                </a:solidFill>
                <a:latin typeface="Be Vietnam Pro"/>
              </a:rPr>
              <a:t> / 31</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 y="-45720"/>
            <a:ext cx="9235440" cy="6949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 y="-45720"/>
            <a:ext cx="9235440" cy="886968"/>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motif_white.png"/>
          <p:cNvPicPr>
            <a:picLocks noChangeAspect="1"/>
          </p:cNvPicPr>
          <p:nvPr/>
        </p:nvPicPr>
        <p:blipFill>
          <a:blip r:embed="rId2">
            <a:alphaModFix amt="34000"/>
          </a:blip>
          <a:stretch>
            <a:fillRect/>
          </a:stretch>
        </p:blipFill>
        <p:spPr>
          <a:xfrm>
            <a:off x="5989320" y="-1874519"/>
            <a:ext cx="4206240" cy="3154680"/>
          </a:xfrm>
          <a:prstGeom prst="rect">
            <a:avLst/>
          </a:prstGeom>
        </p:spPr>
      </p:pic>
      <p:sp>
        <p:nvSpPr>
          <p:cNvPr id="5" name="Rectangle 4"/>
          <p:cNvSpPr/>
          <p:nvPr/>
        </p:nvSpPr>
        <p:spPr>
          <a:xfrm>
            <a:off x="-45720" y="841248"/>
            <a:ext cx="9235440" cy="96012"/>
          </a:xfrm>
          <a:prstGeom prst="rect">
            <a:avLst/>
          </a:prstGeom>
          <a:solidFill>
            <a:srgbClr val="ECA7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 y="937260"/>
            <a:ext cx="9235440" cy="20116"/>
          </a:xfrm>
          <a:prstGeom prst="rect">
            <a:avLst/>
          </a:prstGeom>
          <a:solidFill>
            <a:srgbClr val="8A0C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8288"/>
            <a:ext cx="5897880" cy="822960"/>
          </a:xfrm>
          <a:prstGeom prst="rect">
            <a:avLst/>
          </a:prstGeom>
          <a:noFill/>
        </p:spPr>
        <p:txBody>
          <a:bodyPr wrap="square" lIns="0" tIns="0" rIns="0" bIns="0" anchor="ctr">
            <a:spAutoFit/>
          </a:bodyPr>
          <a:lstStyle/>
          <a:p>
            <a:pPr algn="l">
              <a:lnSpc>
                <a:spcPct val="96000"/>
              </a:lnSpc>
              <a:spcBef>
                <a:spcPts val="0"/>
              </a:spcBef>
              <a:spcAft>
                <a:spcPts val="0"/>
              </a:spcAft>
            </a:pPr>
            <a:r>
              <a:rPr sz="2300" b="0" i="0">
                <a:solidFill>
                  <a:srgbClr val="FFFFFF"/>
                </a:solidFill>
                <a:latin typeface="Be Vietnam Pro ExtraBold"/>
              </a:rPr>
              <a:t>Kiểm thử và triển khai</a:t>
            </a:r>
          </a:p>
        </p:txBody>
      </p:sp>
      <p:sp>
        <p:nvSpPr>
          <p:cNvPr id="8" name="Rounded Rectangle 7"/>
          <p:cNvSpPr/>
          <p:nvPr/>
        </p:nvSpPr>
        <p:spPr>
          <a:xfrm>
            <a:off x="7505395" y="256032"/>
            <a:ext cx="1108252" cy="329184"/>
          </a:xfrm>
          <a:prstGeom prst="roundRect">
            <a:avLst>
              <a:gd name="adj" fmla="val 50000"/>
            </a:avLst>
          </a:prstGeom>
          <a:noFill/>
          <a:ln w="15875">
            <a:solidFill>
              <a:srgbClr val="F2C255"/>
            </a:solid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spcBef>
                <a:spcPts val="0"/>
              </a:spcBef>
              <a:spcAft>
                <a:spcPts val="0"/>
              </a:spcAft>
            </a:pPr>
            <a:r>
              <a:rPr sz="950" b="0" i="0" spc="80">
                <a:solidFill>
                  <a:srgbClr val="FFFFFF"/>
                </a:solidFill>
                <a:latin typeface="Be Vietnam Pro SemiBold"/>
              </a:rPr>
              <a:t>KẾT LUẬN</a:t>
            </a:r>
          </a:p>
        </p:txBody>
      </p:sp>
      <p:sp>
        <p:nvSpPr>
          <p:cNvPr id="9" name="Rectangle 8"/>
          <p:cNvSpPr/>
          <p:nvPr/>
        </p:nvSpPr>
        <p:spPr>
          <a:xfrm>
            <a:off x="457200" y="6446520"/>
            <a:ext cx="8229600" cy="9144"/>
          </a:xfrm>
          <a:prstGeom prst="rect">
            <a:avLst/>
          </a:prstGeom>
          <a:solidFill>
            <a:srgbClr val="E3C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hust_shield.png"/>
          <p:cNvPicPr>
            <a:picLocks noChangeAspect="1"/>
          </p:cNvPicPr>
          <p:nvPr/>
        </p:nvPicPr>
        <p:blipFill>
          <a:blip r:embed="rId3"/>
          <a:stretch>
            <a:fillRect/>
          </a:stretch>
        </p:blipFill>
        <p:spPr>
          <a:xfrm>
            <a:off x="457200" y="6519672"/>
            <a:ext cx="164822" cy="246888"/>
          </a:xfrm>
          <a:prstGeom prst="rect">
            <a:avLst/>
          </a:prstGeom>
        </p:spPr>
      </p:pic>
      <p:sp>
        <p:nvSpPr>
          <p:cNvPr id="11" name="TextBox 10"/>
          <p:cNvSpPr txBox="1"/>
          <p:nvPr/>
        </p:nvSpPr>
        <p:spPr>
          <a:xfrm>
            <a:off x="713232" y="6501384"/>
            <a:ext cx="4206240" cy="310896"/>
          </a:xfrm>
          <a:prstGeom prst="rect">
            <a:avLst/>
          </a:prstGeom>
          <a:noFill/>
        </p:spPr>
        <p:txBody>
          <a:bodyPr wrap="square" lIns="0" tIns="0" rIns="0" bIns="0" anchor="ctr">
            <a:spAutoFit/>
          </a:bodyPr>
          <a:lstStyle/>
          <a:p>
            <a:pPr algn="l">
              <a:lnSpc>
                <a:spcPct val="94000"/>
              </a:lnSpc>
              <a:spcBef>
                <a:spcPts val="0"/>
              </a:spcBef>
              <a:spcAft>
                <a:spcPts val="0"/>
              </a:spcAft>
            </a:pPr>
            <a:r>
              <a:rPr sz="800" b="0" i="0">
                <a:solidFill>
                  <a:srgbClr val="8A0C20"/>
                </a:solidFill>
                <a:latin typeface="Be Vietnam Pro SemiBold"/>
              </a:rPr>
              <a:t>ĐẠI HỌC BÁCH KHOA HÀ NỘI</a:t>
            </a:r>
          </a:p>
          <a:p>
            <a:pPr algn="l">
              <a:lnSpc>
                <a:spcPct val="94000"/>
              </a:lnSpc>
              <a:spcBef>
                <a:spcPts val="0"/>
              </a:spcBef>
              <a:spcAft>
                <a:spcPts val="0"/>
              </a:spcAft>
            </a:pPr>
            <a:r>
              <a:rPr sz="750" b="0" i="0">
                <a:solidFill>
                  <a:srgbClr val="6B7280"/>
                </a:solidFill>
                <a:latin typeface="Be Vietnam Pro"/>
              </a:rPr>
              <a:t>Phần mềm Quản lý Khen thưởng  ·  Trần Anh Đức</a:t>
            </a:r>
          </a:p>
        </p:txBody>
      </p:sp>
      <p:sp>
        <p:nvSpPr>
          <p:cNvPr id="12" name="TextBox 11"/>
          <p:cNvSpPr txBox="1"/>
          <p:nvPr/>
        </p:nvSpPr>
        <p:spPr>
          <a:xfrm>
            <a:off x="7680960" y="6501384"/>
            <a:ext cx="1005840" cy="310896"/>
          </a:xfrm>
          <a:prstGeom prst="rect">
            <a:avLst/>
          </a:prstGeom>
          <a:noFill/>
        </p:spPr>
        <p:txBody>
          <a:bodyPr wrap="square" lIns="0" tIns="0" rIns="0" bIns="0" anchor="ctr">
            <a:spAutoFit/>
          </a:bodyPr>
          <a:lstStyle/>
          <a:p>
            <a:pPr algn="r">
              <a:spcBef>
                <a:spcPts val="0"/>
              </a:spcBef>
              <a:spcAft>
                <a:spcPts val="0"/>
              </a:spcAft>
            </a:pPr>
            <a:r>
              <a:rPr sz="1200" b="0" i="0">
                <a:solidFill>
                  <a:srgbClr val="C00000"/>
                </a:solidFill>
                <a:latin typeface="Be Vietnam Pro ExtraBold"/>
              </a:rPr>
              <a:t>29</a:t>
            </a:r>
            <a:r>
              <a:rPr sz="900" b="0" i="0">
                <a:solidFill>
                  <a:srgbClr val="6B7280"/>
                </a:solidFill>
                <a:latin typeface="Be Vietnam Pro"/>
              </a:rPr>
              <a:t> / 31</a:t>
            </a:r>
          </a:p>
        </p:txBody>
      </p:sp>
      <p:sp>
        <p:nvSpPr>
          <p:cNvPr id="13" name="Rounded Rectangle 12"/>
          <p:cNvSpPr/>
          <p:nvPr/>
        </p:nvSpPr>
        <p:spPr>
          <a:xfrm>
            <a:off x="502920" y="1591056"/>
            <a:ext cx="4114800" cy="4434840"/>
          </a:xfrm>
          <a:prstGeom prst="roundRect">
            <a:avLst>
              <a:gd name="adj" fmla="val 5000"/>
            </a:avLst>
          </a:prstGeom>
          <a:solidFill>
            <a:srgbClr val="FFFFFF"/>
          </a:solidFill>
          <a:ln w="12700">
            <a:solidFill>
              <a:srgbClr val="E5E7EB"/>
            </a:solidFill>
          </a:ln>
          <a:effectLst>
            <a:outerShdw blurRad="90000" dist="42000" dir="5400000" rotWithShape="0">
              <a:srgbClr val="98A2B3">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 Same Side Corner Rectangle 13"/>
          <p:cNvSpPr/>
          <p:nvPr/>
        </p:nvSpPr>
        <p:spPr>
          <a:xfrm>
            <a:off x="502920" y="1591056"/>
            <a:ext cx="4114800" cy="438912"/>
          </a:xfrm>
          <a:prstGeom prst="round2SameRect">
            <a:avLst>
              <a:gd name="adj1" fmla="val 12000"/>
              <a:gd name="adj2" fmla="val 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spcBef>
                <a:spcPts val="0"/>
              </a:spcBef>
              <a:spcAft>
                <a:spcPts val="0"/>
              </a:spcAft>
            </a:pPr>
            <a:r>
              <a:rPr sz="1450" b="1" i="0">
                <a:solidFill>
                  <a:srgbClr val="FFFFFF"/>
                </a:solidFill>
                <a:latin typeface="Be Vietnam Pro"/>
              </a:rPr>
              <a:t>Kiểm thử</a:t>
            </a:r>
          </a:p>
        </p:txBody>
      </p:sp>
      <p:sp>
        <p:nvSpPr>
          <p:cNvPr id="15" name="TextBox 14"/>
          <p:cNvSpPr txBox="1"/>
          <p:nvPr/>
        </p:nvSpPr>
        <p:spPr>
          <a:xfrm>
            <a:off x="758952" y="2157984"/>
            <a:ext cx="3611880" cy="1051560"/>
          </a:xfrm>
          <a:prstGeom prst="rect">
            <a:avLst/>
          </a:prstGeom>
          <a:noFill/>
        </p:spPr>
        <p:txBody>
          <a:bodyPr wrap="square" lIns="0" tIns="0" rIns="0" bIns="0" anchor="t">
            <a:spAutoFit/>
          </a:bodyPr>
          <a:lstStyle/>
          <a:p>
            <a:pPr algn="l">
              <a:lnSpc>
                <a:spcPct val="106000"/>
              </a:lnSpc>
              <a:spcBef>
                <a:spcPts val="0"/>
              </a:spcBef>
              <a:spcAft>
                <a:spcPts val="0"/>
              </a:spcAft>
            </a:pPr>
            <a:r>
              <a:rPr sz="1100" b="0" i="0">
                <a:solidFill>
                  <a:srgbClr val="1F2937"/>
                </a:solidFill>
                <a:latin typeface="Be Vietnam Pro"/>
              </a:rPr>
              <a:t>Hộp đen thủ công qua giao diện (tám nhóm chức năng) kết hợp tự động bằng </a:t>
            </a:r>
            <a:r>
              <a:rPr sz="1100" b="1" i="0">
                <a:solidFill>
                  <a:srgbClr val="C00000"/>
                </a:solidFill>
                <a:latin typeface="Be Vietnam Pro"/>
              </a:rPr>
              <a:t>Jest</a:t>
            </a:r>
            <a:r>
              <a:rPr sz="1100" b="0" i="0">
                <a:solidFill>
                  <a:srgbClr val="1F2937"/>
                </a:solidFill>
                <a:latin typeface="Be Vietnam Pro"/>
              </a:rPr>
              <a:t> cho các quy tắc xét chuỗi lõi; kiểm thử tương thích trên năm dòng máy và bốn trình duyệt.</a:t>
            </a:r>
          </a:p>
        </p:txBody>
      </p:sp>
      <p:sp>
        <p:nvSpPr>
          <p:cNvPr id="16" name="TextBox 15"/>
          <p:cNvSpPr txBox="1"/>
          <p:nvPr/>
        </p:nvSpPr>
        <p:spPr>
          <a:xfrm>
            <a:off x="758952" y="3218688"/>
            <a:ext cx="3611880" cy="274320"/>
          </a:xfrm>
          <a:prstGeom prst="rect">
            <a:avLst/>
          </a:prstGeom>
          <a:noFill/>
        </p:spPr>
        <p:txBody>
          <a:bodyPr wrap="square" lIns="0" tIns="0" rIns="0" bIns="0" anchor="t">
            <a:spAutoFit/>
          </a:bodyPr>
          <a:lstStyle/>
          <a:p>
            <a:pPr algn="l">
              <a:spcBef>
                <a:spcPts val="0"/>
              </a:spcBef>
              <a:spcAft>
                <a:spcPts val="0"/>
              </a:spcAft>
            </a:pPr>
            <a:r>
              <a:rPr sz="1150" b="1" i="0">
                <a:solidFill>
                  <a:srgbClr val="C00000"/>
                </a:solidFill>
                <a:latin typeface="Be Vietnam Pro"/>
              </a:rPr>
              <a:t>Kịch bản trọng yếu</a:t>
            </a:r>
          </a:p>
        </p:txBody>
      </p:sp>
      <p:sp>
        <p:nvSpPr>
          <p:cNvPr id="17" name="TextBox 16"/>
          <p:cNvSpPr txBox="1"/>
          <p:nvPr/>
        </p:nvSpPr>
        <p:spPr>
          <a:xfrm>
            <a:off x="758952" y="3529584"/>
            <a:ext cx="3611880" cy="2377440"/>
          </a:xfrm>
          <a:prstGeom prst="rect">
            <a:avLst/>
          </a:prstGeom>
          <a:noFill/>
        </p:spPr>
        <p:txBody>
          <a:bodyPr wrap="square" lIns="0" tIns="0" rIns="0" bIns="0" anchor="t">
            <a:spAutoFit/>
          </a:bodyPr>
          <a:lstStyle/>
          <a:p>
            <a:pPr marL="201168" indent="-201168" algn="l">
              <a:lnSpc>
                <a:spcPct val="106000"/>
              </a:lnSpc>
              <a:spcBef>
                <a:spcPts val="0"/>
              </a:spcBef>
              <a:spcAft>
                <a:spcPts val="700"/>
              </a:spcAft>
            </a:pPr>
            <a:r>
              <a:rPr sz="950" b="1">
                <a:solidFill>
                  <a:srgbClr val="C00000"/>
                </a:solidFill>
                <a:latin typeface="Arial"/>
              </a:rPr>
              <a:t>▪  </a:t>
            </a:r>
            <a:r>
              <a:rPr sz="1050" b="0" i="0">
                <a:solidFill>
                  <a:srgbClr val="1F2937"/>
                </a:solidFill>
                <a:latin typeface="Be Vietnam Pro"/>
              </a:rPr>
              <a:t>Tranh chấp ghi — hai cán bộ duyệt cùng lúc, chỉ một thành công.</a:t>
            </a:r>
          </a:p>
          <a:p>
            <a:pPr marL="201168" indent="-201168" algn="l">
              <a:lnSpc>
                <a:spcPct val="106000"/>
              </a:lnSpc>
              <a:spcBef>
                <a:spcPts val="0"/>
              </a:spcBef>
              <a:spcAft>
                <a:spcPts val="700"/>
              </a:spcAft>
            </a:pPr>
            <a:r>
              <a:rPr sz="950" b="1">
                <a:solidFill>
                  <a:srgbClr val="C00000"/>
                </a:solidFill>
                <a:latin typeface="Arial"/>
              </a:rPr>
              <a:t>▪  </a:t>
            </a:r>
            <a:r>
              <a:rPr sz="1050" b="0" i="0">
                <a:solidFill>
                  <a:srgbClr val="1F2937"/>
                </a:solidFill>
                <a:latin typeface="Be Vietnam Pro"/>
              </a:rPr>
              <a:t>BKTTCP — cửa sổ trượt 7 năm + ràng buộc một lần duy nhất.</a:t>
            </a:r>
          </a:p>
          <a:p>
            <a:pPr marL="201168" indent="-201168" algn="l">
              <a:lnSpc>
                <a:spcPct val="106000"/>
              </a:lnSpc>
              <a:spcBef>
                <a:spcPts val="0"/>
              </a:spcBef>
              <a:spcAft>
                <a:spcPts val="700"/>
              </a:spcAft>
            </a:pPr>
            <a:r>
              <a:rPr sz="950" b="1">
                <a:solidFill>
                  <a:srgbClr val="C00000"/>
                </a:solidFill>
                <a:latin typeface="Arial"/>
              </a:rPr>
              <a:t>▪  </a:t>
            </a:r>
            <a:r>
              <a:rPr sz="1050" b="0" i="0">
                <a:solidFill>
                  <a:srgbClr val="1F2937"/>
                </a:solidFill>
                <a:latin typeface="Be Vietnam Pro"/>
              </a:rPr>
              <a:t>Chống giả mạo — gửi thẳng dữ liệu sai qua API, backend vẫn xét lại và từ chối.</a:t>
            </a:r>
          </a:p>
          <a:p>
            <a:pPr marL="201168" indent="-201168" algn="l">
              <a:lnSpc>
                <a:spcPct val="106000"/>
              </a:lnSpc>
              <a:spcBef>
                <a:spcPts val="0"/>
              </a:spcBef>
              <a:spcAft>
                <a:spcPts val="700"/>
              </a:spcAft>
            </a:pPr>
            <a:r>
              <a:rPr sz="950" b="1">
                <a:solidFill>
                  <a:srgbClr val="C00000"/>
                </a:solidFill>
                <a:latin typeface="Arial"/>
              </a:rPr>
              <a:t>▪  </a:t>
            </a:r>
            <a:r>
              <a:rPr sz="1050" b="0" i="0">
                <a:solidFill>
                  <a:srgbClr val="1F2937"/>
                </a:solidFill>
                <a:latin typeface="Be Vietnam Pro"/>
              </a:rPr>
              <a:t>Lỡ đợt — bỏ lỡ mốc đề nghị, chu kỳ sau vẫn được xét đúng.</a:t>
            </a:r>
          </a:p>
        </p:txBody>
      </p:sp>
      <p:sp>
        <p:nvSpPr>
          <p:cNvPr id="18" name="Rounded Rectangle 17"/>
          <p:cNvSpPr/>
          <p:nvPr/>
        </p:nvSpPr>
        <p:spPr>
          <a:xfrm>
            <a:off x="4818888" y="1591056"/>
            <a:ext cx="3822191" cy="4434840"/>
          </a:xfrm>
          <a:prstGeom prst="roundRect">
            <a:avLst>
              <a:gd name="adj" fmla="val 5000"/>
            </a:avLst>
          </a:prstGeom>
          <a:solidFill>
            <a:srgbClr val="F7F7F8"/>
          </a:solidFill>
          <a:ln w="12700">
            <a:solidFill>
              <a:srgbClr val="E5E7EB"/>
            </a:solidFill>
          </a:ln>
          <a:effectLst>
            <a:outerShdw blurRad="90000" dist="42000" dir="5400000" rotWithShape="0">
              <a:srgbClr val="98A2B3">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 Same Side Corner Rectangle 18"/>
          <p:cNvSpPr/>
          <p:nvPr/>
        </p:nvSpPr>
        <p:spPr>
          <a:xfrm>
            <a:off x="4818888" y="1591056"/>
            <a:ext cx="3822191" cy="438912"/>
          </a:xfrm>
          <a:prstGeom prst="round2SameRect">
            <a:avLst>
              <a:gd name="adj1" fmla="val 12000"/>
              <a:gd name="adj2" fmla="val 0"/>
            </a:avLst>
          </a:prstGeom>
          <a:solidFill>
            <a:srgbClr val="8A0C20"/>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spcBef>
                <a:spcPts val="0"/>
              </a:spcBef>
              <a:spcAft>
                <a:spcPts val="0"/>
              </a:spcAft>
            </a:pPr>
            <a:r>
              <a:rPr sz="1450" b="1" i="0">
                <a:solidFill>
                  <a:srgbClr val="FFFFFF"/>
                </a:solidFill>
                <a:latin typeface="Be Vietnam Pro"/>
              </a:rPr>
              <a:t>Triển khai mạng nội bộ</a:t>
            </a:r>
          </a:p>
        </p:txBody>
      </p:sp>
      <p:sp>
        <p:nvSpPr>
          <p:cNvPr id="20" name="TextBox 19"/>
          <p:cNvSpPr txBox="1"/>
          <p:nvPr/>
        </p:nvSpPr>
        <p:spPr>
          <a:xfrm>
            <a:off x="5074920" y="2194560"/>
            <a:ext cx="3310128" cy="2468880"/>
          </a:xfrm>
          <a:prstGeom prst="rect">
            <a:avLst/>
          </a:prstGeom>
          <a:noFill/>
        </p:spPr>
        <p:txBody>
          <a:bodyPr wrap="square" lIns="0" tIns="0" rIns="0" bIns="0" anchor="t">
            <a:spAutoFit/>
          </a:bodyPr>
          <a:lstStyle/>
          <a:p>
            <a:pPr algn="l">
              <a:lnSpc>
                <a:spcPct val="100000"/>
              </a:lnSpc>
              <a:spcBef>
                <a:spcPts val="0"/>
              </a:spcBef>
              <a:spcAft>
                <a:spcPts val="400"/>
              </a:spcAft>
            </a:pPr>
            <a:r>
              <a:rPr sz="1200" b="1" i="0">
                <a:solidFill>
                  <a:srgbClr val="8A0C20"/>
                </a:solidFill>
                <a:latin typeface="Be Vietnam Pro"/>
              </a:rPr>
              <a:t>1. </a:t>
            </a:r>
            <a:r>
              <a:rPr sz="1200" b="1" i="0">
                <a:solidFill>
                  <a:srgbClr val="1F2937"/>
                </a:solidFill>
                <a:latin typeface="Be Vietnam Pro"/>
              </a:rPr>
              <a:t>Chuẩn bị máy chủ</a:t>
            </a:r>
          </a:p>
          <a:p>
            <a:pPr marL="201168" algn="l">
              <a:lnSpc>
                <a:spcPct val="105000"/>
              </a:lnSpc>
              <a:spcBef>
                <a:spcPts val="0"/>
              </a:spcBef>
              <a:spcAft>
                <a:spcPts val="900"/>
              </a:spcAft>
            </a:pPr>
            <a:r>
              <a:rPr sz="1050" b="0" i="0">
                <a:solidFill>
                  <a:srgbClr val="6B7280"/>
                </a:solidFill>
                <a:latin typeface="Be Vietnam Pro"/>
              </a:rPr>
              <a:t>Windows Server · Node.js 20 LTS · PostgreSQL 15.</a:t>
            </a:r>
          </a:p>
          <a:p>
            <a:pPr algn="l">
              <a:lnSpc>
                <a:spcPct val="100000"/>
              </a:lnSpc>
              <a:spcBef>
                <a:spcPts val="0"/>
              </a:spcBef>
              <a:spcAft>
                <a:spcPts val="400"/>
              </a:spcAft>
            </a:pPr>
            <a:r>
              <a:rPr sz="1200" b="1" i="0">
                <a:solidFill>
                  <a:srgbClr val="8A0C20"/>
                </a:solidFill>
                <a:latin typeface="Be Vietnam Pro"/>
              </a:rPr>
              <a:t>2. </a:t>
            </a:r>
            <a:r>
              <a:rPr sz="1200" b="1" i="0">
                <a:solidFill>
                  <a:srgbClr val="1F2937"/>
                </a:solidFill>
                <a:latin typeface="Be Vietnam Pro"/>
              </a:rPr>
              <a:t>Khởi tạo lược đồ</a:t>
            </a:r>
          </a:p>
          <a:p>
            <a:pPr marL="201168" algn="l">
              <a:lnSpc>
                <a:spcPct val="105000"/>
              </a:lnSpc>
              <a:spcBef>
                <a:spcPts val="0"/>
              </a:spcBef>
              <a:spcAft>
                <a:spcPts val="900"/>
              </a:spcAft>
            </a:pPr>
            <a:r>
              <a:rPr sz="1050" b="0" i="0">
                <a:solidFill>
                  <a:srgbClr val="6B7280"/>
                </a:solidFill>
                <a:latin typeface="Be Vietnam Pro"/>
              </a:rPr>
              <a:t>Cấu hình .env; chạy prisma migrate dev, tạo tài khoản Quản trị hệ thống.</a:t>
            </a:r>
          </a:p>
          <a:p>
            <a:pPr algn="l">
              <a:lnSpc>
                <a:spcPct val="100000"/>
              </a:lnSpc>
              <a:spcBef>
                <a:spcPts val="0"/>
              </a:spcBef>
              <a:spcAft>
                <a:spcPts val="400"/>
              </a:spcAft>
            </a:pPr>
            <a:r>
              <a:rPr sz="1200" b="1" i="0">
                <a:solidFill>
                  <a:srgbClr val="8A0C20"/>
                </a:solidFill>
                <a:latin typeface="Be Vietnam Pro"/>
              </a:rPr>
              <a:t>3. </a:t>
            </a:r>
            <a:r>
              <a:rPr sz="1200" b="1" i="0">
                <a:solidFill>
                  <a:srgbClr val="1F2937"/>
                </a:solidFill>
                <a:latin typeface="Be Vietnam Pro"/>
              </a:rPr>
              <a:t>Chạy dịch vụ</a:t>
            </a:r>
          </a:p>
          <a:p>
            <a:pPr marL="201168" algn="l">
              <a:lnSpc>
                <a:spcPct val="105000"/>
              </a:lnSpc>
              <a:spcBef>
                <a:spcPts val="0"/>
              </a:spcBef>
              <a:spcAft>
                <a:spcPts val="900"/>
              </a:spcAft>
            </a:pPr>
            <a:r>
              <a:rPr sz="1050" b="0" i="0">
                <a:solidFill>
                  <a:srgbClr val="6B7280"/>
                </a:solidFill>
                <a:latin typeface="Be Vietnam Pro"/>
              </a:rPr>
              <a:t>pm2 start ecosystem.config.js (backend 4000, frontend 3000); pm2 save tự khởi động.</a:t>
            </a:r>
          </a:p>
        </p:txBody>
      </p:sp>
      <p:sp>
        <p:nvSpPr>
          <p:cNvPr id="21" name="Rounded Rectangle 20"/>
          <p:cNvSpPr/>
          <p:nvPr/>
        </p:nvSpPr>
        <p:spPr>
          <a:xfrm>
            <a:off x="5074920" y="5138928"/>
            <a:ext cx="3310128" cy="749808"/>
          </a:xfrm>
          <a:prstGeom prst="roundRect">
            <a:avLst>
              <a:gd name="adj" fmla="val 7000"/>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l">
              <a:lnSpc>
                <a:spcPct val="105000"/>
              </a:lnSpc>
              <a:spcBef>
                <a:spcPts val="0"/>
              </a:spcBef>
              <a:spcAft>
                <a:spcPts val="0"/>
              </a:spcAft>
            </a:pPr>
            <a:r>
              <a:rPr sz="1050" b="1" i="0">
                <a:solidFill>
                  <a:srgbClr val="C00000"/>
                </a:solidFill>
                <a:latin typeface="Be Vietnam Pro"/>
              </a:rPr>
              <a:t>Vận hành: </a:t>
            </a:r>
            <a:r>
              <a:rPr sz="1050" b="0" i="0">
                <a:solidFill>
                  <a:srgbClr val="1F2937"/>
                </a:solidFill>
                <a:latin typeface="Be Vietnam Pro"/>
              </a:rPr>
              <a:t>PM2 tự khởi động lại khi tiến trình lỗi và ghi log có thời gian; chạy hoàn toàn nội bộ, không phụ thuộc Internet.</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 y="-45720"/>
            <a:ext cx="9235440" cy="6949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 y="-45720"/>
            <a:ext cx="9235440" cy="886968"/>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motif_white.png"/>
          <p:cNvPicPr>
            <a:picLocks noChangeAspect="1"/>
          </p:cNvPicPr>
          <p:nvPr/>
        </p:nvPicPr>
        <p:blipFill>
          <a:blip r:embed="rId2">
            <a:alphaModFix amt="34000"/>
          </a:blip>
          <a:stretch>
            <a:fillRect/>
          </a:stretch>
        </p:blipFill>
        <p:spPr>
          <a:xfrm>
            <a:off x="5989320" y="-1874519"/>
            <a:ext cx="4206240" cy="3154680"/>
          </a:xfrm>
          <a:prstGeom prst="rect">
            <a:avLst/>
          </a:prstGeom>
        </p:spPr>
      </p:pic>
      <p:sp>
        <p:nvSpPr>
          <p:cNvPr id="5" name="Rectangle 4"/>
          <p:cNvSpPr/>
          <p:nvPr/>
        </p:nvSpPr>
        <p:spPr>
          <a:xfrm>
            <a:off x="-45720" y="841248"/>
            <a:ext cx="9235440" cy="96012"/>
          </a:xfrm>
          <a:prstGeom prst="rect">
            <a:avLst/>
          </a:prstGeom>
          <a:solidFill>
            <a:srgbClr val="ECA7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 y="937260"/>
            <a:ext cx="9235440" cy="20116"/>
          </a:xfrm>
          <a:prstGeom prst="rect">
            <a:avLst/>
          </a:prstGeom>
          <a:solidFill>
            <a:srgbClr val="8A0C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8288"/>
            <a:ext cx="5897880" cy="822960"/>
          </a:xfrm>
          <a:prstGeom prst="rect">
            <a:avLst/>
          </a:prstGeom>
          <a:noFill/>
        </p:spPr>
        <p:txBody>
          <a:bodyPr wrap="square" lIns="0" tIns="0" rIns="0" bIns="0" anchor="ctr">
            <a:spAutoFit/>
          </a:bodyPr>
          <a:lstStyle/>
          <a:p>
            <a:pPr algn="l">
              <a:lnSpc>
                <a:spcPct val="96000"/>
              </a:lnSpc>
              <a:spcBef>
                <a:spcPts val="0"/>
              </a:spcBef>
              <a:spcAft>
                <a:spcPts val="0"/>
              </a:spcAft>
            </a:pPr>
            <a:r>
              <a:rPr sz="2300" b="0" i="0">
                <a:solidFill>
                  <a:srgbClr val="FFFFFF"/>
                </a:solidFill>
                <a:latin typeface="Be Vietnam Pro ExtraBold"/>
              </a:rPr>
              <a:t>Kết luận và hướng phát triển</a:t>
            </a:r>
          </a:p>
        </p:txBody>
      </p:sp>
      <p:sp>
        <p:nvSpPr>
          <p:cNvPr id="8" name="Rounded Rectangle 7"/>
          <p:cNvSpPr/>
          <p:nvPr/>
        </p:nvSpPr>
        <p:spPr>
          <a:xfrm>
            <a:off x="7505395" y="256032"/>
            <a:ext cx="1108252" cy="329184"/>
          </a:xfrm>
          <a:prstGeom prst="roundRect">
            <a:avLst>
              <a:gd name="adj" fmla="val 50000"/>
            </a:avLst>
          </a:prstGeom>
          <a:noFill/>
          <a:ln w="15875">
            <a:solidFill>
              <a:srgbClr val="F2C255"/>
            </a:solid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spcBef>
                <a:spcPts val="0"/>
              </a:spcBef>
              <a:spcAft>
                <a:spcPts val="0"/>
              </a:spcAft>
            </a:pPr>
            <a:r>
              <a:rPr sz="950" b="0" i="0" spc="80">
                <a:solidFill>
                  <a:srgbClr val="FFFFFF"/>
                </a:solidFill>
                <a:latin typeface="Be Vietnam Pro SemiBold"/>
              </a:rPr>
              <a:t>KẾT LUẬN</a:t>
            </a:r>
          </a:p>
        </p:txBody>
      </p:sp>
      <p:sp>
        <p:nvSpPr>
          <p:cNvPr id="9" name="Rectangle 8"/>
          <p:cNvSpPr/>
          <p:nvPr/>
        </p:nvSpPr>
        <p:spPr>
          <a:xfrm>
            <a:off x="457200" y="6446520"/>
            <a:ext cx="8229600" cy="9144"/>
          </a:xfrm>
          <a:prstGeom prst="rect">
            <a:avLst/>
          </a:prstGeom>
          <a:solidFill>
            <a:srgbClr val="E3C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hust_shield.png"/>
          <p:cNvPicPr>
            <a:picLocks noChangeAspect="1"/>
          </p:cNvPicPr>
          <p:nvPr/>
        </p:nvPicPr>
        <p:blipFill>
          <a:blip r:embed="rId3"/>
          <a:stretch>
            <a:fillRect/>
          </a:stretch>
        </p:blipFill>
        <p:spPr>
          <a:xfrm>
            <a:off x="457200" y="6519672"/>
            <a:ext cx="164822" cy="246888"/>
          </a:xfrm>
          <a:prstGeom prst="rect">
            <a:avLst/>
          </a:prstGeom>
        </p:spPr>
      </p:pic>
      <p:sp>
        <p:nvSpPr>
          <p:cNvPr id="11" name="TextBox 10"/>
          <p:cNvSpPr txBox="1"/>
          <p:nvPr/>
        </p:nvSpPr>
        <p:spPr>
          <a:xfrm>
            <a:off x="713232" y="6501384"/>
            <a:ext cx="4206240" cy="310896"/>
          </a:xfrm>
          <a:prstGeom prst="rect">
            <a:avLst/>
          </a:prstGeom>
          <a:noFill/>
        </p:spPr>
        <p:txBody>
          <a:bodyPr wrap="square" lIns="0" tIns="0" rIns="0" bIns="0" anchor="ctr">
            <a:spAutoFit/>
          </a:bodyPr>
          <a:lstStyle/>
          <a:p>
            <a:pPr algn="l">
              <a:lnSpc>
                <a:spcPct val="94000"/>
              </a:lnSpc>
              <a:spcBef>
                <a:spcPts val="0"/>
              </a:spcBef>
              <a:spcAft>
                <a:spcPts val="0"/>
              </a:spcAft>
            </a:pPr>
            <a:r>
              <a:rPr sz="800" b="0" i="0">
                <a:solidFill>
                  <a:srgbClr val="8A0C20"/>
                </a:solidFill>
                <a:latin typeface="Be Vietnam Pro SemiBold"/>
              </a:rPr>
              <a:t>ĐẠI HỌC BÁCH KHOA HÀ NỘI</a:t>
            </a:r>
          </a:p>
          <a:p>
            <a:pPr algn="l">
              <a:lnSpc>
                <a:spcPct val="94000"/>
              </a:lnSpc>
              <a:spcBef>
                <a:spcPts val="0"/>
              </a:spcBef>
              <a:spcAft>
                <a:spcPts val="0"/>
              </a:spcAft>
            </a:pPr>
            <a:r>
              <a:rPr sz="750" b="0" i="0">
                <a:solidFill>
                  <a:srgbClr val="6B7280"/>
                </a:solidFill>
                <a:latin typeface="Be Vietnam Pro"/>
              </a:rPr>
              <a:t>Phần mềm Quản lý Khen thưởng  ·  Trần Anh Đức</a:t>
            </a:r>
          </a:p>
        </p:txBody>
      </p:sp>
      <p:sp>
        <p:nvSpPr>
          <p:cNvPr id="12" name="TextBox 11"/>
          <p:cNvSpPr txBox="1"/>
          <p:nvPr/>
        </p:nvSpPr>
        <p:spPr>
          <a:xfrm>
            <a:off x="7680960" y="6501384"/>
            <a:ext cx="1005840" cy="310896"/>
          </a:xfrm>
          <a:prstGeom prst="rect">
            <a:avLst/>
          </a:prstGeom>
          <a:noFill/>
        </p:spPr>
        <p:txBody>
          <a:bodyPr wrap="square" lIns="0" tIns="0" rIns="0" bIns="0" anchor="ctr">
            <a:spAutoFit/>
          </a:bodyPr>
          <a:lstStyle/>
          <a:p>
            <a:pPr algn="r">
              <a:spcBef>
                <a:spcPts val="0"/>
              </a:spcBef>
              <a:spcAft>
                <a:spcPts val="0"/>
              </a:spcAft>
            </a:pPr>
            <a:r>
              <a:rPr sz="1200" b="0" i="0">
                <a:solidFill>
                  <a:srgbClr val="C00000"/>
                </a:solidFill>
                <a:latin typeface="Be Vietnam Pro ExtraBold"/>
              </a:rPr>
              <a:t>30</a:t>
            </a:r>
            <a:r>
              <a:rPr sz="900" b="0" i="0">
                <a:solidFill>
                  <a:srgbClr val="6B7280"/>
                </a:solidFill>
                <a:latin typeface="Be Vietnam Pro"/>
              </a:rPr>
              <a:t> / 31</a:t>
            </a:r>
          </a:p>
        </p:txBody>
      </p:sp>
      <p:sp>
        <p:nvSpPr>
          <p:cNvPr id="13" name="Rounded Rectangle 12"/>
          <p:cNvSpPr/>
          <p:nvPr/>
        </p:nvSpPr>
        <p:spPr>
          <a:xfrm>
            <a:off x="502920" y="1609344"/>
            <a:ext cx="2615184" cy="3703320"/>
          </a:xfrm>
          <a:prstGeom prst="roundRect">
            <a:avLst>
              <a:gd name="adj" fmla="val 5000"/>
            </a:avLst>
          </a:prstGeom>
          <a:solidFill>
            <a:srgbClr val="ECF6EF"/>
          </a:solidFill>
          <a:ln w="9525">
            <a:solidFill>
              <a:srgbClr val="E5E7EB"/>
            </a:solidFill>
          </a:ln>
          <a:effectLst>
            <a:outerShdw blurRad="90000" dist="42000" dir="5400000" rotWithShape="0">
              <a:srgbClr val="98A2B3">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685800" y="1792224"/>
            <a:ext cx="2249424" cy="384048"/>
          </a:xfrm>
          <a:prstGeom prst="roundRect">
            <a:avLst>
              <a:gd name="adj" fmla="val 50000"/>
            </a:avLst>
          </a:prstGeom>
          <a:solidFill>
            <a:srgbClr val="2E7D46"/>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spcBef>
                <a:spcPts val="0"/>
              </a:spcBef>
              <a:spcAft>
                <a:spcPts val="0"/>
              </a:spcAft>
            </a:pPr>
            <a:r>
              <a:rPr sz="1250" b="1" i="0">
                <a:solidFill>
                  <a:srgbClr val="FFFFFF"/>
                </a:solidFill>
                <a:latin typeface="Be Vietnam Pro"/>
              </a:rPr>
              <a:t>Đã đạt được</a:t>
            </a:r>
          </a:p>
        </p:txBody>
      </p:sp>
      <p:sp>
        <p:nvSpPr>
          <p:cNvPr id="15" name="TextBox 14"/>
          <p:cNvSpPr txBox="1"/>
          <p:nvPr/>
        </p:nvSpPr>
        <p:spPr>
          <a:xfrm>
            <a:off x="740664" y="2322576"/>
            <a:ext cx="2157984" cy="2834639"/>
          </a:xfrm>
          <a:prstGeom prst="rect">
            <a:avLst/>
          </a:prstGeom>
          <a:noFill/>
        </p:spPr>
        <p:txBody>
          <a:bodyPr wrap="square" lIns="0" tIns="0" rIns="0" bIns="0" anchor="t">
            <a:spAutoFit/>
          </a:bodyPr>
          <a:lstStyle/>
          <a:p>
            <a:pPr marL="182880" indent="-182880" algn="l">
              <a:lnSpc>
                <a:spcPct val="106000"/>
              </a:lnSpc>
              <a:spcBef>
                <a:spcPts val="0"/>
              </a:spcBef>
              <a:spcAft>
                <a:spcPts val="700"/>
              </a:spcAft>
            </a:pPr>
            <a:r>
              <a:rPr sz="950" b="1">
                <a:solidFill>
                  <a:srgbClr val="2E7D46"/>
                </a:solidFill>
                <a:latin typeface="Arial"/>
              </a:rPr>
              <a:t>▪  </a:t>
            </a:r>
            <a:r>
              <a:rPr sz="1050" b="0" i="0">
                <a:solidFill>
                  <a:srgbClr val="1F2937"/>
                </a:solidFill>
                <a:latin typeface="Be Vietnam Pro"/>
              </a:rPr>
              <a:t>Hoàn thành bảy nhóm khen thưởng, 4 vai trò.</a:t>
            </a:r>
          </a:p>
          <a:p>
            <a:pPr marL="182880" indent="-182880" algn="l">
              <a:lnSpc>
                <a:spcPct val="106000"/>
              </a:lnSpc>
              <a:spcBef>
                <a:spcPts val="0"/>
              </a:spcBef>
              <a:spcAft>
                <a:spcPts val="700"/>
              </a:spcAft>
            </a:pPr>
            <a:r>
              <a:rPr sz="950" b="1">
                <a:solidFill>
                  <a:srgbClr val="2E7D46"/>
                </a:solidFill>
                <a:latin typeface="Arial"/>
              </a:rPr>
              <a:t>▪  </a:t>
            </a:r>
            <a:r>
              <a:rPr sz="1050" b="0" i="0">
                <a:solidFill>
                  <a:srgbClr val="1F2937"/>
                </a:solidFill>
                <a:latin typeface="Be Vietnam Pro"/>
              </a:rPr>
              <a:t>Tự động hoá quy trình xét duyệt.</a:t>
            </a:r>
          </a:p>
          <a:p>
            <a:pPr marL="182880" indent="-182880" algn="l">
              <a:lnSpc>
                <a:spcPct val="106000"/>
              </a:lnSpc>
              <a:spcBef>
                <a:spcPts val="0"/>
              </a:spcBef>
              <a:spcAft>
                <a:spcPts val="700"/>
              </a:spcAft>
            </a:pPr>
            <a:r>
              <a:rPr sz="950" b="1">
                <a:solidFill>
                  <a:srgbClr val="2E7D46"/>
                </a:solidFill>
                <a:latin typeface="Arial"/>
              </a:rPr>
              <a:t>▪  </a:t>
            </a:r>
            <a:r>
              <a:rPr sz="1050" b="0" i="0">
                <a:solidFill>
                  <a:srgbClr val="1F2937"/>
                </a:solidFill>
                <a:latin typeface="Be Vietnam Pro"/>
              </a:rPr>
              <a:t>Kiểm thử kỹ các kịch bản nghiệp vụ trọng yếu.</a:t>
            </a:r>
          </a:p>
          <a:p>
            <a:pPr marL="182880" indent="-182880" algn="l">
              <a:lnSpc>
                <a:spcPct val="106000"/>
              </a:lnSpc>
              <a:spcBef>
                <a:spcPts val="0"/>
              </a:spcBef>
              <a:spcAft>
                <a:spcPts val="700"/>
              </a:spcAft>
            </a:pPr>
            <a:r>
              <a:rPr sz="950" b="1">
                <a:solidFill>
                  <a:srgbClr val="2E7D46"/>
                </a:solidFill>
                <a:latin typeface="Arial"/>
              </a:rPr>
              <a:t>▪  </a:t>
            </a:r>
            <a:r>
              <a:rPr sz="1050" b="0" i="0">
                <a:solidFill>
                  <a:srgbClr val="1F2937"/>
                </a:solidFill>
                <a:latin typeface="Be Vietnam Pro"/>
              </a:rPr>
              <a:t>Triển khai trên mạng nội bộ.</a:t>
            </a:r>
          </a:p>
          <a:p>
            <a:pPr marL="182880" indent="-182880" algn="l">
              <a:lnSpc>
                <a:spcPct val="106000"/>
              </a:lnSpc>
              <a:spcBef>
                <a:spcPts val="0"/>
              </a:spcBef>
              <a:spcAft>
                <a:spcPts val="700"/>
              </a:spcAft>
            </a:pPr>
            <a:r>
              <a:rPr sz="950" b="1">
                <a:solidFill>
                  <a:srgbClr val="2E7D46"/>
                </a:solidFill>
                <a:latin typeface="Arial"/>
              </a:rPr>
              <a:t>▪  </a:t>
            </a:r>
            <a:r>
              <a:rPr sz="1050" b="0" i="0">
                <a:solidFill>
                  <a:srgbClr val="1F2937"/>
                </a:solidFill>
                <a:latin typeface="Be Vietnam Pro"/>
              </a:rPr>
              <a:t>Kiến trúc phân tầng + mẫu Strategy, dễ mở rộng.</a:t>
            </a:r>
          </a:p>
        </p:txBody>
      </p:sp>
      <p:sp>
        <p:nvSpPr>
          <p:cNvPr id="16" name="Rounded Rectangle 15"/>
          <p:cNvSpPr/>
          <p:nvPr/>
        </p:nvSpPr>
        <p:spPr>
          <a:xfrm>
            <a:off x="3264408" y="1609344"/>
            <a:ext cx="2615184" cy="3703320"/>
          </a:xfrm>
          <a:prstGeom prst="roundRect">
            <a:avLst>
              <a:gd name="adj" fmla="val 5000"/>
            </a:avLst>
          </a:prstGeom>
          <a:solidFill>
            <a:srgbClr val="F7F7F8"/>
          </a:solidFill>
          <a:ln w="9525">
            <a:solidFill>
              <a:srgbClr val="E5E7EB"/>
            </a:solidFill>
          </a:ln>
          <a:effectLst>
            <a:outerShdw blurRad="90000" dist="42000" dir="5400000" rotWithShape="0">
              <a:srgbClr val="98A2B3">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3447288" y="1792224"/>
            <a:ext cx="2249424" cy="384048"/>
          </a:xfrm>
          <a:prstGeom prst="roundRect">
            <a:avLst>
              <a:gd name="adj" fmla="val 50000"/>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spcBef>
                <a:spcPts val="0"/>
              </a:spcBef>
              <a:spcAft>
                <a:spcPts val="0"/>
              </a:spcAft>
            </a:pPr>
            <a:r>
              <a:rPr sz="1250" b="1" i="0">
                <a:solidFill>
                  <a:srgbClr val="FFFFFF"/>
                </a:solidFill>
                <a:latin typeface="Be Vietnam Pro"/>
              </a:rPr>
              <a:t>Hạn chế</a:t>
            </a:r>
          </a:p>
        </p:txBody>
      </p:sp>
      <p:sp>
        <p:nvSpPr>
          <p:cNvPr id="18" name="TextBox 17"/>
          <p:cNvSpPr txBox="1"/>
          <p:nvPr/>
        </p:nvSpPr>
        <p:spPr>
          <a:xfrm>
            <a:off x="3502152" y="2322576"/>
            <a:ext cx="2157984" cy="2834639"/>
          </a:xfrm>
          <a:prstGeom prst="rect">
            <a:avLst/>
          </a:prstGeom>
          <a:noFill/>
        </p:spPr>
        <p:txBody>
          <a:bodyPr wrap="square" lIns="0" tIns="0" rIns="0" bIns="0" anchor="t">
            <a:spAutoFit/>
          </a:bodyPr>
          <a:lstStyle/>
          <a:p>
            <a:pPr marL="182880" indent="-182880" algn="l">
              <a:lnSpc>
                <a:spcPct val="106000"/>
              </a:lnSpc>
              <a:spcBef>
                <a:spcPts val="0"/>
              </a:spcBef>
              <a:spcAft>
                <a:spcPts val="700"/>
              </a:spcAft>
            </a:pPr>
            <a:r>
              <a:rPr sz="950" b="1">
                <a:solidFill>
                  <a:srgbClr val="6B7280"/>
                </a:solidFill>
                <a:latin typeface="Arial"/>
              </a:rPr>
              <a:t>▪  </a:t>
            </a:r>
            <a:r>
              <a:rPr sz="1050" b="0" i="0">
                <a:solidFill>
                  <a:srgbClr val="1F2937"/>
                </a:solidFill>
                <a:latin typeface="Be Vietnam Pro"/>
              </a:rPr>
              <a:t>BKTTCP cá nhân là lifetime — chưa hỗ trợ danh hiệu cao hơn.</a:t>
            </a:r>
          </a:p>
          <a:p>
            <a:pPr marL="182880" indent="-182880" algn="l">
              <a:lnSpc>
                <a:spcPct val="106000"/>
              </a:lnSpc>
              <a:spcBef>
                <a:spcPts val="0"/>
              </a:spcBef>
              <a:spcAft>
                <a:spcPts val="700"/>
              </a:spcAft>
            </a:pPr>
            <a:r>
              <a:rPr sz="950" b="1">
                <a:solidFill>
                  <a:srgbClr val="6B7280"/>
                </a:solidFill>
                <a:latin typeface="Arial"/>
              </a:rPr>
              <a:t>▪  </a:t>
            </a:r>
            <a:r>
              <a:rPr sz="1050" b="0" i="0">
                <a:solidFill>
                  <a:srgbClr val="1F2937"/>
                </a:solidFill>
                <a:latin typeface="Be Vietnam Pro"/>
              </a:rPr>
              <a:t>Chưa có module BI thống kê chi tiết.</a:t>
            </a:r>
          </a:p>
          <a:p>
            <a:pPr marL="182880" indent="-182880" algn="l">
              <a:lnSpc>
                <a:spcPct val="106000"/>
              </a:lnSpc>
              <a:spcBef>
                <a:spcPts val="0"/>
              </a:spcBef>
              <a:spcAft>
                <a:spcPts val="700"/>
              </a:spcAft>
            </a:pPr>
            <a:r>
              <a:rPr sz="950" b="1">
                <a:solidFill>
                  <a:srgbClr val="6B7280"/>
                </a:solidFill>
                <a:latin typeface="Arial"/>
              </a:rPr>
              <a:t>▪  </a:t>
            </a:r>
            <a:r>
              <a:rPr sz="1050" b="0" i="0">
                <a:solidFill>
                  <a:srgbClr val="1F2937"/>
                </a:solidFill>
                <a:latin typeface="Be Vietnam Pro"/>
              </a:rPr>
              <a:t>Chỉ chạy một tiến trình — chưa mở rộng theo chiều ngang.</a:t>
            </a:r>
          </a:p>
          <a:p>
            <a:pPr marL="182880" indent="-182880" algn="l">
              <a:lnSpc>
                <a:spcPct val="106000"/>
              </a:lnSpc>
              <a:spcBef>
                <a:spcPts val="0"/>
              </a:spcBef>
              <a:spcAft>
                <a:spcPts val="700"/>
              </a:spcAft>
            </a:pPr>
            <a:r>
              <a:rPr sz="950" b="1">
                <a:solidFill>
                  <a:srgbClr val="6B7280"/>
                </a:solidFill>
                <a:latin typeface="Arial"/>
              </a:rPr>
              <a:t>▪  </a:t>
            </a:r>
            <a:r>
              <a:rPr sz="1050" b="0" i="0">
                <a:solidFill>
                  <a:srgbClr val="1F2937"/>
                </a:solidFill>
                <a:latin typeface="Be Vietnam Pro"/>
              </a:rPr>
              <a:t>Ký số còn dưới dạng file PDF.</a:t>
            </a:r>
          </a:p>
        </p:txBody>
      </p:sp>
      <p:sp>
        <p:nvSpPr>
          <p:cNvPr id="19" name="Rounded Rectangle 18"/>
          <p:cNvSpPr/>
          <p:nvPr/>
        </p:nvSpPr>
        <p:spPr>
          <a:xfrm>
            <a:off x="6025896" y="1609344"/>
            <a:ext cx="2615184" cy="3703320"/>
          </a:xfrm>
          <a:prstGeom prst="roundRect">
            <a:avLst>
              <a:gd name="adj" fmla="val 5000"/>
            </a:avLst>
          </a:prstGeom>
          <a:solidFill>
            <a:srgbClr val="FBEAEA"/>
          </a:solidFill>
          <a:ln w="9525">
            <a:solidFill>
              <a:srgbClr val="E5E7EB"/>
            </a:solidFill>
          </a:ln>
          <a:effectLst>
            <a:outerShdw blurRad="90000" dist="42000" dir="5400000" rotWithShape="0">
              <a:srgbClr val="98A2B3">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6208776" y="1792224"/>
            <a:ext cx="2249424" cy="384048"/>
          </a:xfrm>
          <a:prstGeom prst="roundRect">
            <a:avLst>
              <a:gd name="adj" fmla="val 50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spcBef>
                <a:spcPts val="0"/>
              </a:spcBef>
              <a:spcAft>
                <a:spcPts val="0"/>
              </a:spcAft>
            </a:pPr>
            <a:r>
              <a:rPr sz="1250" b="1" i="0">
                <a:solidFill>
                  <a:srgbClr val="FFFFFF"/>
                </a:solidFill>
                <a:latin typeface="Be Vietnam Pro"/>
              </a:rPr>
              <a:t>Hướng phát triển</a:t>
            </a:r>
          </a:p>
        </p:txBody>
      </p:sp>
      <p:sp>
        <p:nvSpPr>
          <p:cNvPr id="21" name="TextBox 20"/>
          <p:cNvSpPr txBox="1"/>
          <p:nvPr/>
        </p:nvSpPr>
        <p:spPr>
          <a:xfrm>
            <a:off x="6263640" y="2322576"/>
            <a:ext cx="2157984" cy="2834639"/>
          </a:xfrm>
          <a:prstGeom prst="rect">
            <a:avLst/>
          </a:prstGeom>
          <a:noFill/>
        </p:spPr>
        <p:txBody>
          <a:bodyPr wrap="square" lIns="0" tIns="0" rIns="0" bIns="0" anchor="t">
            <a:spAutoFit/>
          </a:bodyPr>
          <a:lstStyle/>
          <a:p>
            <a:pPr marL="182880" indent="-182880" algn="l">
              <a:lnSpc>
                <a:spcPct val="106000"/>
              </a:lnSpc>
              <a:spcBef>
                <a:spcPts val="0"/>
              </a:spcBef>
              <a:spcAft>
                <a:spcPts val="700"/>
              </a:spcAft>
            </a:pPr>
            <a:r>
              <a:rPr sz="950" b="1">
                <a:solidFill>
                  <a:srgbClr val="C00000"/>
                </a:solidFill>
                <a:latin typeface="Arial"/>
              </a:rPr>
              <a:t>▪  </a:t>
            </a:r>
            <a:r>
              <a:rPr sz="1050" b="0" i="0">
                <a:solidFill>
                  <a:srgbClr val="1F2937"/>
                </a:solidFill>
                <a:latin typeface="Be Vietnam Pro"/>
              </a:rPr>
              <a:t>Ứng dụng di động cho cấp duyệt nhanh.</a:t>
            </a:r>
          </a:p>
          <a:p>
            <a:pPr marL="182880" indent="-182880" algn="l">
              <a:lnSpc>
                <a:spcPct val="106000"/>
              </a:lnSpc>
              <a:spcBef>
                <a:spcPts val="0"/>
              </a:spcBef>
              <a:spcAft>
                <a:spcPts val="700"/>
              </a:spcAft>
            </a:pPr>
            <a:r>
              <a:rPr sz="950" b="1">
                <a:solidFill>
                  <a:srgbClr val="C00000"/>
                </a:solidFill>
                <a:latin typeface="Arial"/>
              </a:rPr>
              <a:t>▪  </a:t>
            </a:r>
            <a:r>
              <a:rPr sz="1050" b="0" i="0">
                <a:solidFill>
                  <a:srgbClr val="1F2937"/>
                </a:solidFill>
                <a:latin typeface="Be Vietnam Pro"/>
              </a:rPr>
              <a:t>Module BI: biểu đồ xu hướng theo năm &amp; đơn vị.</a:t>
            </a:r>
          </a:p>
          <a:p>
            <a:pPr marL="182880" indent="-182880" algn="l">
              <a:lnSpc>
                <a:spcPct val="106000"/>
              </a:lnSpc>
              <a:spcBef>
                <a:spcPts val="0"/>
              </a:spcBef>
              <a:spcAft>
                <a:spcPts val="700"/>
              </a:spcAft>
            </a:pPr>
            <a:r>
              <a:rPr sz="950" b="1">
                <a:solidFill>
                  <a:srgbClr val="C00000"/>
                </a:solidFill>
                <a:latin typeface="Arial"/>
              </a:rPr>
              <a:t>▪  </a:t>
            </a:r>
            <a:r>
              <a:rPr sz="1050" b="0" i="0">
                <a:solidFill>
                  <a:srgbClr val="1F2937"/>
                </a:solidFill>
                <a:latin typeface="Be Vietnam Pro"/>
              </a:rPr>
              <a:t>Tích hợp Smart Card / USB token.</a:t>
            </a:r>
          </a:p>
          <a:p>
            <a:pPr marL="182880" indent="-182880" algn="l">
              <a:lnSpc>
                <a:spcPct val="106000"/>
              </a:lnSpc>
              <a:spcBef>
                <a:spcPts val="0"/>
              </a:spcBef>
              <a:spcAft>
                <a:spcPts val="700"/>
              </a:spcAft>
            </a:pPr>
            <a:r>
              <a:rPr sz="950" b="1">
                <a:solidFill>
                  <a:srgbClr val="C00000"/>
                </a:solidFill>
                <a:latin typeface="Arial"/>
              </a:rPr>
              <a:t>▪  </a:t>
            </a:r>
            <a:r>
              <a:rPr sz="1050" b="0" i="0">
                <a:solidFill>
                  <a:srgbClr val="1F2937"/>
                </a:solidFill>
                <a:latin typeface="Be Vietnam Pro"/>
              </a:rPr>
              <a:t>Chạy đa tiến trình (cluster) và dùng Redis cho Socket.IO.</a:t>
            </a:r>
          </a:p>
        </p:txBody>
      </p:sp>
      <p:sp>
        <p:nvSpPr>
          <p:cNvPr id="22" name="Rounded Rectangle 21"/>
          <p:cNvSpPr/>
          <p:nvPr/>
        </p:nvSpPr>
        <p:spPr>
          <a:xfrm>
            <a:off x="502920" y="5486400"/>
            <a:ext cx="8138160" cy="548640"/>
          </a:xfrm>
          <a:prstGeom prst="roundRect">
            <a:avLst>
              <a:gd name="adj" fmla="val 6000"/>
            </a:avLst>
          </a:prstGeom>
          <a:solidFill>
            <a:srgbClr val="C00000"/>
          </a:solidFill>
          <a:ln>
            <a:noFill/>
          </a:ln>
          <a:effectLst>
            <a:outerShdw blurRad="90000" dist="42000" dir="5400000" rotWithShape="0">
              <a:srgbClr val="98A2B3">
                <a:alpha val="20000"/>
              </a:srgbClr>
            </a:outerShdw>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spcBef>
                <a:spcPts val="0"/>
              </a:spcBef>
              <a:spcAft>
                <a:spcPts val="0"/>
              </a:spcAft>
            </a:pPr>
            <a:r>
              <a:rPr sz="1250" b="1" i="0">
                <a:solidFill>
                  <a:srgbClr val="FFFFFF"/>
                </a:solidFill>
                <a:latin typeface="Be Vietnam Pro"/>
              </a:rPr>
              <a:t>Phần mềm đã sẵn sàng triển khai thử nghiệm tại đơn vị, đáp ứng đầy đủ các mục tiêu đặt ra ban đầu.</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 y="-45720"/>
            <a:ext cx="9235440" cy="6949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 y="-45720"/>
            <a:ext cx="3703320" cy="694944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motif_white.png"/>
          <p:cNvPicPr>
            <a:picLocks noChangeAspect="1"/>
          </p:cNvPicPr>
          <p:nvPr/>
        </p:nvPicPr>
        <p:blipFill>
          <a:blip r:embed="rId2">
            <a:alphaModFix amt="42000"/>
          </a:blip>
          <a:stretch>
            <a:fillRect/>
          </a:stretch>
        </p:blipFill>
        <p:spPr>
          <a:xfrm>
            <a:off x="-1234440" y="640080"/>
            <a:ext cx="5486400" cy="4114800"/>
          </a:xfrm>
          <a:prstGeom prst="rect">
            <a:avLst/>
          </a:prstGeom>
        </p:spPr>
      </p:pic>
      <p:sp>
        <p:nvSpPr>
          <p:cNvPr id="5" name="TextBox 4"/>
          <p:cNvSpPr txBox="1"/>
          <p:nvPr/>
        </p:nvSpPr>
        <p:spPr>
          <a:xfrm>
            <a:off x="411480" y="2743200"/>
            <a:ext cx="3017520" cy="1188720"/>
          </a:xfrm>
          <a:prstGeom prst="rect">
            <a:avLst/>
          </a:prstGeom>
          <a:noFill/>
        </p:spPr>
        <p:txBody>
          <a:bodyPr wrap="square" lIns="0" tIns="0" rIns="0" bIns="0" anchor="t">
            <a:spAutoFit/>
          </a:bodyPr>
          <a:lstStyle/>
          <a:p>
            <a:pPr algn="l">
              <a:lnSpc>
                <a:spcPct val="90000"/>
              </a:lnSpc>
              <a:spcBef>
                <a:spcPts val="0"/>
              </a:spcBef>
              <a:spcAft>
                <a:spcPts val="0"/>
              </a:spcAft>
            </a:pPr>
            <a:r>
              <a:rPr sz="4800" b="0" i="0" spc="100">
                <a:solidFill>
                  <a:srgbClr val="FFFFFF"/>
                </a:solidFill>
                <a:latin typeface="Be Vietnam Pro Black"/>
              </a:rPr>
              <a:t>HUST</a:t>
            </a:r>
          </a:p>
          <a:p>
            <a:pPr algn="l">
              <a:lnSpc>
                <a:spcPct val="100000"/>
              </a:lnSpc>
              <a:spcBef>
                <a:spcPts val="0"/>
              </a:spcBef>
              <a:spcAft>
                <a:spcPts val="0"/>
              </a:spcAft>
            </a:pPr>
            <a:r>
              <a:rPr sz="1050" b="0" i="0" spc="50">
                <a:solidFill>
                  <a:srgbClr val="FFFFFF"/>
                </a:solidFill>
                <a:latin typeface="Be Vietnam Pro SemiBold"/>
              </a:rPr>
              <a:t>ĐẠI HỌC BÁCH KHOA HÀ NỘI</a:t>
            </a:r>
          </a:p>
          <a:p>
            <a:pPr algn="l">
              <a:lnSpc>
                <a:spcPct val="100000"/>
              </a:lnSpc>
              <a:spcBef>
                <a:spcPts val="0"/>
              </a:spcBef>
              <a:spcAft>
                <a:spcPts val="0"/>
              </a:spcAft>
            </a:pPr>
            <a:r>
              <a:rPr sz="800" b="0" i="0">
                <a:solidFill>
                  <a:srgbClr val="F2D0D0"/>
                </a:solidFill>
                <a:latin typeface="Be Vietnam Pro"/>
              </a:rPr>
              <a:t>Hanoi University of Science and Technology</a:t>
            </a:r>
          </a:p>
        </p:txBody>
      </p:sp>
      <p:sp>
        <p:nvSpPr>
          <p:cNvPr id="6" name="TextBox 5"/>
          <p:cNvSpPr txBox="1"/>
          <p:nvPr/>
        </p:nvSpPr>
        <p:spPr>
          <a:xfrm>
            <a:off x="411480" y="6126480"/>
            <a:ext cx="3017520" cy="274320"/>
          </a:xfrm>
          <a:prstGeom prst="rect">
            <a:avLst/>
          </a:prstGeom>
          <a:noFill/>
        </p:spPr>
        <p:txBody>
          <a:bodyPr wrap="square" lIns="0" tIns="0" rIns="0" bIns="0" anchor="t">
            <a:spAutoFit/>
          </a:bodyPr>
          <a:lstStyle/>
          <a:p>
            <a:pPr algn="l">
              <a:spcBef>
                <a:spcPts val="0"/>
              </a:spcBef>
              <a:spcAft>
                <a:spcPts val="0"/>
              </a:spcAft>
            </a:pPr>
            <a:r>
              <a:rPr sz="900" b="0" i="0">
                <a:solidFill>
                  <a:srgbClr val="F2D0D0"/>
                </a:solidFill>
                <a:latin typeface="Be Vietnam Pro"/>
              </a:rPr>
              <a:t>hust.edu.vn</a:t>
            </a:r>
          </a:p>
        </p:txBody>
      </p:sp>
      <p:sp>
        <p:nvSpPr>
          <p:cNvPr id="7" name="Rectangle 6"/>
          <p:cNvSpPr/>
          <p:nvPr/>
        </p:nvSpPr>
        <p:spPr>
          <a:xfrm>
            <a:off x="4160520" y="1993392"/>
            <a:ext cx="457200" cy="45720"/>
          </a:xfrm>
          <a:prstGeom prst="rect">
            <a:avLst/>
          </a:prstGeom>
          <a:solidFill>
            <a:srgbClr val="ECA7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160520" y="2139696"/>
            <a:ext cx="4297680" cy="310896"/>
          </a:xfrm>
          <a:prstGeom prst="rect">
            <a:avLst/>
          </a:prstGeom>
          <a:noFill/>
        </p:spPr>
        <p:txBody>
          <a:bodyPr wrap="square" lIns="0" tIns="0" rIns="0" bIns="0" anchor="t">
            <a:spAutoFit/>
          </a:bodyPr>
          <a:lstStyle/>
          <a:p>
            <a:pPr algn="l">
              <a:spcBef>
                <a:spcPts val="0"/>
              </a:spcBef>
              <a:spcAft>
                <a:spcPts val="0"/>
              </a:spcAft>
            </a:pPr>
            <a:r>
              <a:rPr sz="1200" b="0" i="0" spc="140">
                <a:solidFill>
                  <a:srgbClr val="8A0C20"/>
                </a:solidFill>
                <a:latin typeface="Be Vietnam Pro SemiBold"/>
              </a:rPr>
              <a:t>LỜI CẢM ƠN</a:t>
            </a:r>
          </a:p>
        </p:txBody>
      </p:sp>
      <p:sp>
        <p:nvSpPr>
          <p:cNvPr id="9" name="TextBox 8"/>
          <p:cNvSpPr txBox="1"/>
          <p:nvPr/>
        </p:nvSpPr>
        <p:spPr>
          <a:xfrm>
            <a:off x="4114800" y="2505456"/>
            <a:ext cx="4663440" cy="1188720"/>
          </a:xfrm>
          <a:prstGeom prst="rect">
            <a:avLst/>
          </a:prstGeom>
          <a:noFill/>
        </p:spPr>
        <p:txBody>
          <a:bodyPr wrap="square" lIns="0" tIns="0" rIns="0" bIns="0" anchor="t">
            <a:spAutoFit/>
          </a:bodyPr>
          <a:lstStyle/>
          <a:p>
            <a:pPr algn="l">
              <a:lnSpc>
                <a:spcPct val="100000"/>
              </a:lnSpc>
              <a:spcBef>
                <a:spcPts val="0"/>
              </a:spcBef>
              <a:spcAft>
                <a:spcPts val="0"/>
              </a:spcAft>
            </a:pPr>
            <a:r>
              <a:rPr sz="3400" b="0" i="0">
                <a:solidFill>
                  <a:srgbClr val="C00000"/>
                </a:solidFill>
                <a:latin typeface="Be Vietnam Pro ExtraBold"/>
              </a:rPr>
              <a:t>TRÂN TRỌNG</a:t>
            </a:r>
          </a:p>
          <a:p>
            <a:pPr algn="l">
              <a:lnSpc>
                <a:spcPct val="100000"/>
              </a:lnSpc>
              <a:spcBef>
                <a:spcPts val="0"/>
              </a:spcBef>
              <a:spcAft>
                <a:spcPts val="0"/>
              </a:spcAft>
            </a:pPr>
            <a:r>
              <a:rPr sz="3400" b="0" i="0">
                <a:solidFill>
                  <a:srgbClr val="C00000"/>
                </a:solidFill>
                <a:latin typeface="Be Vietnam Pro ExtraBold"/>
              </a:rPr>
              <a:t>CẢM ƠN!</a:t>
            </a:r>
          </a:p>
        </p:txBody>
      </p:sp>
      <p:sp>
        <p:nvSpPr>
          <p:cNvPr id="10" name="TextBox 9"/>
          <p:cNvSpPr txBox="1"/>
          <p:nvPr/>
        </p:nvSpPr>
        <p:spPr>
          <a:xfrm>
            <a:off x="4160520" y="4114800"/>
            <a:ext cx="4572000" cy="1097280"/>
          </a:xfrm>
          <a:prstGeom prst="rect">
            <a:avLst/>
          </a:prstGeom>
          <a:noFill/>
        </p:spPr>
        <p:txBody>
          <a:bodyPr wrap="square" lIns="0" tIns="0" rIns="0" bIns="0" anchor="t">
            <a:spAutoFit/>
          </a:bodyPr>
          <a:lstStyle/>
          <a:p>
            <a:pPr algn="l">
              <a:lnSpc>
                <a:spcPct val="125000"/>
              </a:lnSpc>
              <a:spcBef>
                <a:spcPts val="0"/>
              </a:spcBef>
              <a:spcAft>
                <a:spcPts val="500"/>
              </a:spcAft>
            </a:pPr>
            <a:r>
              <a:rPr sz="1300" b="0" i="0">
                <a:solidFill>
                  <a:srgbClr val="1F2937"/>
                </a:solidFill>
                <a:latin typeface="Be Vietnam Pro"/>
              </a:rPr>
              <a:t>Em xin cảm ơn Hội đồng đã lắng nghe phần trình bày.</a:t>
            </a:r>
          </a:p>
          <a:p>
            <a:pPr algn="l">
              <a:lnSpc>
                <a:spcPct val="125000"/>
              </a:lnSpc>
              <a:spcBef>
                <a:spcPts val="0"/>
              </a:spcBef>
              <a:spcAft>
                <a:spcPts val="0"/>
              </a:spcAft>
            </a:pPr>
            <a:r>
              <a:rPr sz="1300" b="0" i="0">
                <a:solidFill>
                  <a:srgbClr val="6B7280"/>
                </a:solidFill>
                <a:latin typeface="Be Vietnam Pro"/>
              </a:rPr>
              <a:t>Em rất mong nhận được nhận xét và câu hỏi từ Hội đồng.</a:t>
            </a:r>
          </a:p>
        </p:txBody>
      </p:sp>
      <p:sp>
        <p:nvSpPr>
          <p:cNvPr id="11" name="Rounded Rectangle 10"/>
          <p:cNvSpPr/>
          <p:nvPr/>
        </p:nvSpPr>
        <p:spPr>
          <a:xfrm>
            <a:off x="4160520" y="5349240"/>
            <a:ext cx="1234440" cy="512064"/>
          </a:xfrm>
          <a:prstGeom prst="roundRect">
            <a:avLst>
              <a:gd name="adj" fmla="val 50000"/>
            </a:avLst>
          </a:prstGeom>
          <a:solidFill>
            <a:srgbClr val="C00000"/>
          </a:solidFill>
          <a:ln>
            <a:noFill/>
          </a:ln>
          <a:effectLst>
            <a:outerShdw blurRad="90000" dist="42000" dir="5400000" rotWithShape="0">
              <a:srgbClr val="98A2B3">
                <a:alpha val="20000"/>
              </a:srgbClr>
            </a:outerShdw>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spcBef>
                <a:spcPts val="0"/>
              </a:spcBef>
              <a:spcAft>
                <a:spcPts val="0"/>
              </a:spcAft>
            </a:pPr>
            <a:r>
              <a:rPr sz="1500" b="1" i="0">
                <a:solidFill>
                  <a:srgbClr val="FFFFFF"/>
                </a:solidFill>
                <a:latin typeface="Be Vietnam Pro"/>
              </a:rPr>
              <a:t>Q &amp; A</a:t>
            </a:r>
          </a:p>
        </p:txBody>
      </p:sp>
      <p:sp>
        <p:nvSpPr>
          <p:cNvPr id="12" name="TextBox 11"/>
          <p:cNvSpPr txBox="1"/>
          <p:nvPr/>
        </p:nvSpPr>
        <p:spPr>
          <a:xfrm>
            <a:off x="4160520" y="6355080"/>
            <a:ext cx="4572000" cy="274320"/>
          </a:xfrm>
          <a:prstGeom prst="rect">
            <a:avLst/>
          </a:prstGeom>
          <a:noFill/>
        </p:spPr>
        <p:txBody>
          <a:bodyPr wrap="square" lIns="0" tIns="0" rIns="0" bIns="0" anchor="t">
            <a:spAutoFit/>
          </a:bodyPr>
          <a:lstStyle/>
          <a:p>
            <a:pPr algn="l">
              <a:spcBef>
                <a:spcPts val="0"/>
              </a:spcBef>
              <a:spcAft>
                <a:spcPts val="0"/>
              </a:spcAft>
            </a:pPr>
            <a:r>
              <a:rPr sz="950" b="0" i="0">
                <a:solidFill>
                  <a:srgbClr val="6B7280"/>
                </a:solidFill>
                <a:latin typeface="Be Vietnam Pro"/>
              </a:rPr>
              <a:t>Trần Anh Đức  ·  MSSV 20220120</a:t>
            </a:r>
          </a:p>
        </p:txBody>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634</TotalTime>
  <Words>4227</Words>
  <Application>Microsoft Macintosh PowerPoint</Application>
  <PresentationFormat>On-screen Show (4:3)</PresentationFormat>
  <Paragraphs>497</Paragraphs>
  <Slides>31</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31</vt:i4>
      </vt:variant>
    </vt:vector>
  </HeadingPairs>
  <TitlesOfParts>
    <vt:vector size="40" baseType="lpstr">
      <vt:lpstr>Be Vietnam Pro Black</vt:lpstr>
      <vt:lpstr>Be Vietnam Pro SemiBold</vt:lpstr>
      <vt:lpstr>Arial</vt:lpstr>
      <vt:lpstr>Be Vietnam Pro</vt:lpstr>
      <vt:lpstr>Calibri</vt:lpstr>
      <vt:lpstr>Consolas</vt:lpstr>
      <vt:lpstr>Be Vietnam Pro ExtraBold</vt:lpstr>
      <vt:lpstr>Lato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Phong TT &amp; QTTH</dc:creator>
  <cp:lastModifiedBy>Tran Anh Duc 20220120</cp:lastModifiedBy>
  <cp:revision>13</cp:revision>
  <dcterms:created xsi:type="dcterms:W3CDTF">2021-05-28T04:32:29Z</dcterms:created>
  <dcterms:modified xsi:type="dcterms:W3CDTF">2026-06-17T23:36:39Z</dcterms:modified>
</cp:coreProperties>
</file>