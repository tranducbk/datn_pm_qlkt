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Hội đồng, em là Trần Anh Đức. Hôm nay em xin trình bày đồ án tốt nghiệp với đề tài Phần mềm Quản lý Khen thưởng tại Học viện Khoa học Quân sự, dưới sự hướng dẫn của thầy Lê Đức Trung. Em xin phép được bắt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trình bày của em gồm bốn phần. Phần một, mở đầu, nêu mục tiêu và bài toán. Phần hai trình bày công nghệ và thiết kế hệ thống. Phần ba là các đóng góp nổi bật của đồ án. Và phần bốn là đánh giá, kết luận.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hết, em xin trình bày phần mở đầu: mục tiêu của đồ án, hệ thống khen thưởng cùng các chuỗi danh hiệu, và phân tích bài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Hiện nay, công tác khen thưởng ở đơn vị quân đội chủ yếu dựa trên Excel và hồ sơ giấy, rất khó tra cứu lịch sử nhiều năm và dễ sai khi tính các chuỗi danh hiệu phức tạp. Đồ án đặt mục tiêu quản lý bảy nhóm khen thưởng với bốn cấp vai trò, tự động hoá xét điều kiện, hỗ trợ trọn quy trình đề xuất đến phê duyệt, và bảo đảm truy vết, bảo mật trong mạng nội bộ. Mục tiêu cốt lõi là giảm sai sót thủ công và tiết kiệm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khen thưởng được chia thành các nhóm: hằng năm, niên hạn, cống hiến, thành tích và đột xuất. Bốn nhóm đầu gồm bảy loại đề xuất được xử lý qua Strategy pattern; riêng khen thưởng đột xuất quản lý ngoài luồng đề xuất.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phức tạp nhất. Trên nền tảng Chiến sĩ thi đua cơ sở và nghiên cứu khoa học liên tục mỗi năm, quân nhân tích luỹ Bằng khen Bộ Quốc phòng theo chu kỳ hai năm, rồi Chiến sĩ thi đua toàn quân chu kỳ ba năm, và cao nhất là Bằng khen Thủ tướng sau bảy năm. Điểm quan trọng: nếu lỡ một đợt đề nghị thì chu kỳ vẫn đếm tiếp, chu kỳ sau vẫn được xét.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dễ hình dung, đây là ví dụ một chu kỳ bảy năm. Nền tảng là Chiến sĩ thi đua cơ sở và nghiên cứu khoa học mỗi năm. Bằng khen Bộ Quốc phòng đạt vào năm hai, bốn, sáu; Chiến sĩ thi đua toàn quân vào năm ba và sáu; đến năm bảy đủ điều kiện nhận Bằng khen Thủ tướng.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đơn vị, chuỗi đơn giản hơn: nền tảng là Đơn vị Quyết thắng liên tục, không cần nghiên cứu khoa học. Từ đó đạt Bằng khen Bộ Quốc phòng chu kỳ hai năm và Bằng khen Thủ tướng chu kỳ bảy năm. Khác chuỗi cá nhân, không có cấp Chiến sĩ thi đua toàn quân và có thể nhận lặp lại sau mỗi chu kỳ.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Bên cạnh chuỗi hằng năm còn có các danh hiệu dài hạn. Nhóm niên hạn tính theo năm phục vụ: Huy chương Chiến sĩ vẻ vang ba hạng từ mười đến hai mươi năm, Huân chương Quân kỳ Quyết thắng hai lăm năm. Nhóm cống hiến tính theo số tháng giữ chức vụ trong từng nhóm hệ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bài toán, em rút ra bốn thách thức cốt lõi. Trọng tâm nhất là logic chuỗi danh hiệu nhiều năm với cửa sổ trượt và quy tắc nhận một lần, và bài toán nhất quán dữ liệu đa bảng đòi hỏi giao dịch. Ngoài ra là phân quyền theo cây tổ chức và vận hành hoàn toàn trong mạng nội bộ không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Tiếp theo là phần hai: công nghệ và thiết kế hệ thống. Em sẽ trình bày về ngăn xếp công nghệ, kiến trúc, thiết kế cơ sở dữ liệu, các use-case, quy trình duyệt và mẫu thiết kế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công nghệ: phía giao diện dùng Next.js với TypeScript, Ant Design và Tailwind, Zod để kiểm tra dữ liệu và Socket.IO nhận thông báo. Phía máy chủ dùng Express, Prisma ORM và PostgreSQL cho giao dịch ACID, xác thực bằng JWT hai token và bcrypt. Các thư viện phụ trợ gồm PM2, node-cron, ExcelJS, Multer, Helmet.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kiến trúc tổng quan. Trình duyệt tải giao diện từ Frontend nhưng gọi thẳng Backend qua REST API và Socket.IO. Backend được phân tầng rõ ràng: Controller, Service, Repository qua Prisma, rồi xuống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sở dữ liệu gồm hai mươi ba bảng, bốn mươi bảy khoá ngoại, khoá chính dùng kiểu CUID. Các bảng chia thành nhóm tổ chức, đề xuất và hồ sơ, tài khoản và phụ trợ. Điểm thiết kế đặc biệt là bảng FileQuyetDinh liên kết tám bảng khen thưởng qua cột số quyết định như một khoá tự nhiên, nên khi đổi số quyết định thì thay đổi tự lan truyền.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ERD tổng quan với hai mươi ba bảng chia thành sáu nhóm dữ liệu nghiệp vụ. Em sẽ đi vào quan hệ chi tiết của từng nhóm ở các slide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tổ chức và tài khoản: một cơ quan đơn vị có nhiều đơn vị trực thuộc. Mỗi quân nhân gắn một chức vụ và một đơn vị, có tối đa một tài khoản. Bảng lịch sử chức vụ lưu các giai đoạn giữ chức để tính tháng cống hiến.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đề xuất khen thưởng. Bảng BangDeXuat là trung tâm, gắn với đơn vị nộp, người đề xuất và người duyệt. Chi tiết từng loại đề xuất nằm trong cột JSON, chỉ được ghi thành bản ghi chính thức khi phê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khen thưởng và hồ sơ cá nhân. Một quân nhân có nhiều bản ghi danh hiệu hằng năm, nghiên cứu khoa học, huy chương chiến sĩ vẻ vang; và quan hệ một-một với ba bảng hồ sơ suy diễn. Có ràng buộc duy nhất theo cặp quân nhân và năm.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khen thưởng và hồ sơ đơn vị. Hai bảng đều gắn với một đơn vị được khen, là cơ quan hoặc đơn vị trực thuộc, với ràng buộc duy nhất theo cặp đơn vị và năm.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quyết định. FileQuyetDinh là tâm điểm: một quyết định gắn với nhiều bản ghi khen thưởng. Các khoá ngoại trỏ tới cột số quyết định, nên khi đổi số thì lan truyền, và không cho xoá khi vẫn còn bản ghi tham chiếu.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hệ thống. SystemLog gắn với tài khoản người thực hiện; ThongBao gắn người nhận và trỏ về nhật ký tương ứng. SystemSetting lưu cấu hình dạng khoá–giá trị, độc lập với các bảng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phân tích chức năng: hệ thống có bốn vai trò là Quản trị hệ thống, Cán bộ Phòng Chính trị, Chỉ huy đơn vị và Người dùng. Phân quyền gồm hai lớp: kiểm tra vai trò ngay ở route và lọc dữ liệu theo đơn vị quản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duyệt đề xuất gồm bốn bước: chỉ huy đơn vị tạo đề xuất, hệ thống tự động kiểm tra điều kiện và cảnh báo trùng, nhập số quyết định kèm file PDF đã ký, rồi phê duyệt và ghi nhận. Điểm quan trọng: toàn bộ bước phê duyệt nằm trong một giao dịch duy nhất — ghi danh hiệu, đổi trạng thái, tính lại hồ sơ, ghi nhật ký; nếu có lỗi thì hoàn tác toàn bộ.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kiến trúc phần mềm, em dùng mẫu thiết kế Strategy. Vấn đề là bảy loại đề xuất có logic khác nhau, nếu viết if-else sẽ tạo file rất dài và khó bảo trì. Giải pháp là định nghĩa một giao diện chung, mỗi loại một tệp riêng, điều phối qua một Registry. Khi cần thêm loại mới chỉ cần một tệp và một dòng đăng ký.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ba là phần em tâm đắc nhất: các đóng góp nổi bật của đồ án — tự động xét điều kiện và gợi ý chủ động, số hoá quy trình, nhập Excel có giao dịch, cùng cơ chế lưu vết, sao lưu và thông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Đóng góp thứ nhất: tự động xét điều kiện và gợi ý chủ động. Trước đây xét chuỗi thủ công với cửa sổ ba bảy năm rất tốn thời gian và dễ sai. Em mô hình hoá mỗi cấp danh hiệu thành một dòng cấu hình, dùng một hàm thuần đọc cấu hình và ngữ cảnh chuỗi, dùng chung cho cả tính lại hồ sơ và kiểm tra khi phê duyệt. Kết quả: thời gian xét mỗi quân nhân giảm từ vài chục phút xuống gần như tức thời, và bắt được cả những ca lỡ đợt dễ bị bỏ sót.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Đóng góp thứ hai: số hoá quy trình đề xuất và lưu vết. Quy trình giấy nhiều bước kéo dài năm đến mười ngày, sửa giữa chừng không truy được ai và vì sao. Em mô hình hoá đề xuất thành thực thể ba trạng thái, bảy loại theo một giao diện chung, nhập số quyết định và đính kèm PDF rồi phê duyệt trong một giao dịch. Kết quả là rút một đợt xét xuống còn trong ngày và truy vết được trọn vòng đời đề xuất.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Đóng góp thứ ba: nhập Excel hàng loạt có giao dịch. Đơn vị cần di trú dữ liệu lịch sử rất lớn, khoảng năm mươi nghìn danh hiệu và mười lăm nghìn lịch sử chức vụ, nếu nhập tay sẽ mất nhiều tháng. Em làm hai bước: xem trước để đối chiếu và liệt kê dòng lỗi mà chưa ghi, rồi xác nhận ghi trong một giao dịch, lỗi thì hoàn tác toàn bộ. Nhờ đó di trú khối lớn trong thời gian ngắn, không bản ghi nào dở dang.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Đóng góp thứ tư: lưu vết đầy đủ, sao lưu định kỳ và thông báo. Tệp dùng chung trước đây không lưu vết sửa xoá và sao lưu phụ thuộc kỷ luật cá nhân. Em ghi nhật ký mọi thao tác gồm người, hành động, đối tượng, IP và dữ liệu trước sau; sao lưu định kỳ tự động bằng node-cron; thông báo thời gian thực qua Socket.IO và lưu lại để xem. Nhờ đó mọi thay đổi đều truy vết được và luôn có bản sao lưu hằng ngày sẵn sàng khôi phục.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Cuối cùng là phần đánh giá và tổng kết: công tác kiểm thử, triển khai thực tế, kết luận và hướng phát triển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kiểm thử: em kiểm thử hộp đen thủ công qua giao diện cho tám nhóm chức năng, kết hợp kiểm thử tự động bằng Jest cho các quy tắc chuỗi lõi, kiểm tra tương thích trên năm dòng máy và bốn trình duyệt, và xây dựng các kịch bản trọng yếu như tranh chấp ghi, cửa sổ bảy năm, chống giả mạo qua API và lỡ đợt. Về triển khai, hệ thống chạy trên Windows Server với Node 20 và PostgreSQL 15, dùng Prisma migrate tạo lược đồ và PM2 để chạy backend và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lại, đồ án đã hoàn thành bảy nhóm khen thưởng với bốn vai trò, tự động hoá xét duyệt, kiểm thử kỹ và triển khai nội bộ. Một số hạn chế là chưa hỗ trợ danh hiệu cao hơn Bằng khen Thủ tướng, chưa có module thống kê chuyên sâu, chạy một tiến trình và ký số còn ở dạng PDF. Hướng phát triển gồm ứng dụng di động, module phân tích báo cáo, tích hợp ký số bằng Smart Card hoặc USB token, và mở rộng đa tiến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trình bày của em đến đây là hết. Em xin cảm ơn Hội đồng đã lắng nghe và rất mong nhận được các nhận xét, câu hỏi từ Hội đồng. Em xin chân thành cảm 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F213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12510" b="1251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78101C">
                  <a:alpha val="55000"/>
                </a:srgbClr>
              </a:gs>
              <a:gs pos="48000">
                <a:srgbClr val="78101C">
                  <a:alpha val="0"/>
                </a:srgbClr>
              </a:gs>
            </a:gsLst>
            <a:lin ang="900000" scaled="0"/>
          </a:gradFill>
          <a:ln/>
        </p:spPr>
      </p:sp>
      <p:pic>
        <p:nvPicPr>
          <p:cNvPr id="4" name="Image 1" descr="preencoded.png">    </p:cNvPr>
          <p:cNvPicPr>
            <a:picLocks noChangeAspect="1"/>
          </p:cNvPicPr>
          <p:nvPr/>
        </p:nvPicPr>
        <p:blipFill>
          <a:blip r:embed="rId2"/>
          <a:stretch>
            <a:fillRect/>
          </a:stretch>
        </p:blipFill>
        <p:spPr>
          <a:xfrm>
            <a:off x="914400" y="704850"/>
            <a:ext cx="2333104" cy="990600"/>
          </a:xfrm>
          <a:prstGeom prst="rect">
            <a:avLst/>
          </a:prstGeom>
        </p:spPr>
      </p:pic>
      <p:sp>
        <p:nvSpPr>
          <p:cNvPr id="5" name="Shape 1"/>
          <p:cNvSpPr/>
          <p:nvPr/>
        </p:nvSpPr>
        <p:spPr>
          <a:xfrm>
            <a:off x="914400" y="3533775"/>
            <a:ext cx="438150" cy="38100"/>
          </a:xfrm>
          <a:prstGeom prst="rect">
            <a:avLst/>
          </a:prstGeom>
          <a:solidFill>
            <a:srgbClr val="E59C0A"/>
          </a:solidFill>
          <a:ln/>
        </p:spPr>
      </p:sp>
      <p:sp>
        <p:nvSpPr>
          <p:cNvPr id="6" name="Text 2"/>
          <p:cNvSpPr/>
          <p:nvPr/>
        </p:nvSpPr>
        <p:spPr>
          <a:xfrm>
            <a:off x="1504950" y="3429000"/>
            <a:ext cx="8568794" cy="285750"/>
          </a:xfrm>
          <a:prstGeom prst="rect">
            <a:avLst/>
          </a:prstGeom>
          <a:noFill/>
          <a:ln/>
        </p:spPr>
        <p:txBody>
          <a:bodyPr wrap="square" lIns="25400" tIns="25400" rIns="25400" bIns="25400" rtlCol="0" anchor="t">
            <a:normAutofit/>
          </a:bodyPr>
          <a:lstStyle/>
          <a:p>
            <a:pPr algn="l" indent="0" marL="0">
              <a:buNone/>
            </a:pPr>
            <a:r>
              <a:rPr lang="en-US" sz="1800" b="1" spc="300" kern="0" dirty="0">
                <a:solidFill>
                  <a:srgbClr val="FCE3A0"/>
                </a:solidFill>
                <a:latin typeface="Archivo" pitchFamily="34" charset="0"/>
                <a:ea typeface="Archivo" pitchFamily="34" charset="-122"/>
                <a:cs typeface="Archivo" pitchFamily="34" charset="-120"/>
              </a:rPr>
              <a:t>ĐỒ ÁN TỐT NGHIỆP ĐẠI HỌC · NIÊN KHÓA 2025 / 2026</a:t>
            </a:r>
            <a:endParaRPr lang="en-US" sz="1800" dirty="0"/>
          </a:p>
        </p:txBody>
      </p:sp>
      <p:sp>
        <p:nvSpPr>
          <p:cNvPr id="7" name="Text 3"/>
          <p:cNvSpPr/>
          <p:nvPr/>
        </p:nvSpPr>
        <p:spPr>
          <a:xfrm>
            <a:off x="914400" y="3962400"/>
            <a:ext cx="16952976" cy="1979563"/>
          </a:xfrm>
          <a:prstGeom prst="rect">
            <a:avLst/>
          </a:prstGeom>
          <a:noFill/>
          <a:ln/>
        </p:spPr>
        <p:txBody>
          <a:bodyPr wrap="square" lIns="25400" tIns="25400" rIns="25400" bIns="25400" rtlCol="0" anchor="t">
            <a:normAutofit/>
          </a:bodyPr>
          <a:lstStyle/>
          <a:p>
            <a:pPr algn="l" indent="0" marL="0">
              <a:lnSpc>
                <a:spcPct val="98000"/>
              </a:lnSpc>
              <a:buNone/>
            </a:pPr>
            <a:r>
              <a:rPr lang="en-US" sz="7800" b="1" spc="-75" kern="0" dirty="0">
                <a:solidFill>
                  <a:srgbClr val="FFFFFF"/>
                </a:solidFill>
                <a:latin typeface="Archivo" pitchFamily="34" charset="0"/>
                <a:ea typeface="Archivo" pitchFamily="34" charset="-122"/>
                <a:cs typeface="Archivo" pitchFamily="34" charset="-120"/>
              </a:rPr>
              <a:t>PHẦN MỀM QUẢN LÝ KHEN THƯỞNG</a:t>
            </a:r>
            <a:endParaRPr lang="en-US" sz="7800" dirty="0"/>
          </a:p>
        </p:txBody>
      </p:sp>
      <p:sp>
        <p:nvSpPr>
          <p:cNvPr id="8" name="Text 4"/>
          <p:cNvSpPr/>
          <p:nvPr/>
        </p:nvSpPr>
        <p:spPr>
          <a:xfrm>
            <a:off x="914400" y="6189613"/>
            <a:ext cx="18105120" cy="519112"/>
          </a:xfrm>
          <a:prstGeom prst="rect">
            <a:avLst/>
          </a:prstGeom>
          <a:noFill/>
          <a:ln/>
        </p:spPr>
        <p:txBody>
          <a:bodyPr wrap="square" lIns="25400" tIns="25400" rIns="25400" bIns="25400" rtlCol="0" anchor="t">
            <a:normAutofit/>
          </a:bodyPr>
          <a:lstStyle/>
          <a:p>
            <a:pPr algn="l" indent="0" marL="0">
              <a:buNone/>
            </a:pPr>
            <a:r>
              <a:rPr lang="en-US" sz="3000" dirty="0">
                <a:solidFill>
                  <a:srgbClr val="FFFFFF">
                    <a:alpha val="92000"/>
                  </a:srgbClr>
                </a:solidFill>
                <a:latin typeface="Be Vietnam Pro" pitchFamily="34" charset="0"/>
                <a:ea typeface="Be Vietnam Pro" pitchFamily="34" charset="-122"/>
                <a:cs typeface="Be Vietnam Pro" pitchFamily="34" charset="-120"/>
              </a:rPr>
              <a:t>Tại Học viện Khoa học Quân sự</a:t>
            </a:r>
            <a:endParaRPr lang="en-US" sz="3000" dirty="0"/>
          </a:p>
        </p:txBody>
      </p:sp>
      <p:sp>
        <p:nvSpPr>
          <p:cNvPr id="9" name="Shape 5"/>
          <p:cNvSpPr/>
          <p:nvPr/>
        </p:nvSpPr>
        <p:spPr>
          <a:xfrm>
            <a:off x="914400" y="8662988"/>
            <a:ext cx="16459200" cy="9525"/>
          </a:xfrm>
          <a:prstGeom prst="rect">
            <a:avLst/>
          </a:prstGeom>
          <a:solidFill>
            <a:srgbClr val="FFFFFF">
              <a:alpha val="32000"/>
            </a:srgbClr>
          </a:solidFill>
          <a:ln/>
        </p:spPr>
      </p:sp>
      <p:sp>
        <p:nvSpPr>
          <p:cNvPr id="10" name="Text 6"/>
          <p:cNvSpPr/>
          <p:nvPr/>
        </p:nvSpPr>
        <p:spPr>
          <a:xfrm>
            <a:off x="914400" y="8958263"/>
            <a:ext cx="4941860" cy="242888"/>
          </a:xfrm>
          <a:prstGeom prst="rect">
            <a:avLst/>
          </a:prstGeom>
          <a:noFill/>
          <a:ln/>
        </p:spPr>
        <p:txBody>
          <a:bodyPr wrap="square" lIns="25400" tIns="25400" rIns="25400" bIns="25400" rtlCol="0" anchor="t">
            <a:normAutofit/>
          </a:bodyPr>
          <a:lstStyle/>
          <a:p>
            <a:pPr algn="l" indent="0" marL="0">
              <a:buNone/>
            </a:pPr>
            <a:r>
              <a:rPr lang="en-US" sz="1500" b="1" spc="150" kern="0" dirty="0">
                <a:solidFill>
                  <a:srgbClr val="FCE3A0"/>
                </a:solidFill>
                <a:latin typeface="Archivo" pitchFamily="34" charset="0"/>
                <a:ea typeface="Archivo" pitchFamily="34" charset="-122"/>
                <a:cs typeface="Archivo" pitchFamily="34" charset="-120"/>
              </a:rPr>
              <a:t>SINH VIÊN THỰC HIỆN</a:t>
            </a:r>
            <a:endParaRPr lang="en-US" sz="1500" dirty="0"/>
          </a:p>
        </p:txBody>
      </p:sp>
      <p:sp>
        <p:nvSpPr>
          <p:cNvPr id="11" name="Text 7"/>
          <p:cNvSpPr/>
          <p:nvPr/>
        </p:nvSpPr>
        <p:spPr>
          <a:xfrm>
            <a:off x="914400" y="9239250"/>
            <a:ext cx="4941860"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Be Vietnam Pro" pitchFamily="34" charset="0"/>
                <a:ea typeface="Be Vietnam Pro" pitchFamily="34" charset="-122"/>
                <a:cs typeface="Be Vietnam Pro" pitchFamily="34" charset="-120"/>
              </a:rPr>
              <a:t>Trần Anh Đức · MSSV 20220120</a:t>
            </a:r>
            <a:endParaRPr lang="en-US" sz="2250" dirty="0"/>
          </a:p>
        </p:txBody>
      </p:sp>
      <p:sp>
        <p:nvSpPr>
          <p:cNvPr id="12" name="Text 8"/>
          <p:cNvSpPr/>
          <p:nvPr/>
        </p:nvSpPr>
        <p:spPr>
          <a:xfrm>
            <a:off x="6169000" y="8958263"/>
            <a:ext cx="2975856" cy="242888"/>
          </a:xfrm>
          <a:prstGeom prst="rect">
            <a:avLst/>
          </a:prstGeom>
          <a:noFill/>
          <a:ln/>
        </p:spPr>
        <p:txBody>
          <a:bodyPr wrap="square" lIns="25400" tIns="25400" rIns="25400" bIns="25400" rtlCol="0" anchor="t">
            <a:normAutofit/>
          </a:bodyPr>
          <a:lstStyle/>
          <a:p>
            <a:pPr algn="l" indent="0" marL="0">
              <a:buNone/>
            </a:pPr>
            <a:r>
              <a:rPr lang="en-US" sz="1500" b="1" spc="150" kern="0" dirty="0">
                <a:solidFill>
                  <a:srgbClr val="FCE3A0"/>
                </a:solidFill>
                <a:latin typeface="Archivo" pitchFamily="34" charset="0"/>
                <a:ea typeface="Archivo" pitchFamily="34" charset="-122"/>
                <a:cs typeface="Archivo" pitchFamily="34" charset="-120"/>
              </a:rPr>
              <a:t>GIẢNG VIÊN HƯỚNG DẪN</a:t>
            </a:r>
            <a:endParaRPr lang="en-US" sz="1500" dirty="0"/>
          </a:p>
        </p:txBody>
      </p:sp>
      <p:sp>
        <p:nvSpPr>
          <p:cNvPr id="13" name="Text 9"/>
          <p:cNvSpPr/>
          <p:nvPr/>
        </p:nvSpPr>
        <p:spPr>
          <a:xfrm>
            <a:off x="6169000" y="9239250"/>
            <a:ext cx="2975856"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Be Vietnam Pro" pitchFamily="34" charset="0"/>
                <a:ea typeface="Be Vietnam Pro" pitchFamily="34" charset="-122"/>
                <a:cs typeface="Be Vietnam Pro" pitchFamily="34" charset="-120"/>
              </a:rPr>
              <a:t>ThS. Lê Đức Trung</a:t>
            </a:r>
            <a:endParaRPr lang="en-US" sz="2250" dirty="0"/>
          </a:p>
        </p:txBody>
      </p:sp>
      <p:sp>
        <p:nvSpPr>
          <p:cNvPr id="14" name="Text 10"/>
          <p:cNvSpPr/>
          <p:nvPr/>
        </p:nvSpPr>
        <p:spPr>
          <a:xfrm>
            <a:off x="14564402" y="8958263"/>
            <a:ext cx="2809198" cy="242888"/>
          </a:xfrm>
          <a:prstGeom prst="rect">
            <a:avLst/>
          </a:prstGeom>
          <a:noFill/>
          <a:ln/>
        </p:spPr>
        <p:txBody>
          <a:bodyPr wrap="square" lIns="25400" tIns="25400" rIns="25400" bIns="25400" rtlCol="0" anchor="t">
            <a:normAutofit/>
          </a:bodyPr>
          <a:lstStyle/>
          <a:p>
            <a:pPr algn="r" indent="0" marL="0">
              <a:buNone/>
            </a:pPr>
            <a:r>
              <a:rPr lang="en-US" sz="1500" b="1" spc="150" kern="0" dirty="0">
                <a:solidFill>
                  <a:srgbClr val="FCE3A0"/>
                </a:solidFill>
                <a:latin typeface="Archivo" pitchFamily="34" charset="0"/>
                <a:ea typeface="Archivo" pitchFamily="34" charset="-122"/>
                <a:cs typeface="Archivo" pitchFamily="34" charset="-120"/>
              </a:rPr>
              <a:t>ĐỊA ĐIỂM</a:t>
            </a:r>
            <a:endParaRPr lang="en-US" sz="1500" dirty="0"/>
          </a:p>
        </p:txBody>
      </p:sp>
      <p:sp>
        <p:nvSpPr>
          <p:cNvPr id="15" name="Text 11"/>
          <p:cNvSpPr/>
          <p:nvPr/>
        </p:nvSpPr>
        <p:spPr>
          <a:xfrm>
            <a:off x="14564402" y="9239250"/>
            <a:ext cx="2809198" cy="400050"/>
          </a:xfrm>
          <a:prstGeom prst="rect">
            <a:avLst/>
          </a:prstGeom>
          <a:noFill/>
          <a:ln/>
        </p:spPr>
        <p:txBody>
          <a:bodyPr wrap="square" lIns="25400" tIns="25400" rIns="25400" bIns="25400" rtlCol="0" anchor="t">
            <a:normAutofit/>
          </a:bodyPr>
          <a:lstStyle/>
          <a:p>
            <a:pPr algn="r" indent="0" marL="0">
              <a:buNone/>
            </a:pPr>
            <a:r>
              <a:rPr lang="en-US" sz="2250" b="1" dirty="0">
                <a:solidFill>
                  <a:srgbClr val="FFFFFF"/>
                </a:solidFill>
                <a:latin typeface="Be Vietnam Pro" pitchFamily="34" charset="0"/>
                <a:ea typeface="Be Vietnam Pro" pitchFamily="34" charset="-122"/>
                <a:cs typeface="Be Vietnam Pro" pitchFamily="34" charset="-120"/>
              </a:rPr>
              <a:t>Hà Nội, năm 2026</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2924696"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NỘI DUNG TRÌNH BÀY</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Bốn phần chính của báo cáo</a:t>
            </a:r>
            <a:endParaRPr lang="en-US" sz="3750" dirty="0"/>
          </a:p>
        </p:txBody>
      </p:sp>
      <p:sp>
        <p:nvSpPr>
          <p:cNvPr id="5" name="Shape 3"/>
          <p:cNvSpPr/>
          <p:nvPr/>
        </p:nvSpPr>
        <p:spPr>
          <a:xfrm>
            <a:off x="914400" y="1976438"/>
            <a:ext cx="16459200" cy="9525"/>
          </a:xfrm>
          <a:prstGeom prst="rect">
            <a:avLst/>
          </a:prstGeom>
          <a:solidFill>
            <a:srgbClr val="E8E2DE"/>
          </a:solidFill>
          <a:ln/>
        </p:spPr>
      </p:sp>
      <p:sp>
        <p:nvSpPr>
          <p:cNvPr id="6" name="Text 4"/>
          <p:cNvSpPr/>
          <p:nvPr/>
        </p:nvSpPr>
        <p:spPr>
          <a:xfrm>
            <a:off x="914400" y="2233613"/>
            <a:ext cx="1362075"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C02034"/>
                </a:solidFill>
                <a:latin typeface="Archivo" pitchFamily="34" charset="0"/>
                <a:ea typeface="Archivo" pitchFamily="34" charset="-122"/>
                <a:cs typeface="Archivo" pitchFamily="34" charset="-120"/>
              </a:rPr>
              <a:t>I</a:t>
            </a:r>
            <a:endParaRPr lang="en-US" sz="4800" dirty="0"/>
          </a:p>
        </p:txBody>
      </p:sp>
      <p:sp>
        <p:nvSpPr>
          <p:cNvPr id="7" name="Text 5"/>
          <p:cNvSpPr/>
          <p:nvPr/>
        </p:nvSpPr>
        <p:spPr>
          <a:xfrm>
            <a:off x="2495550" y="2438400"/>
            <a:ext cx="16365855" cy="409575"/>
          </a:xfrm>
          <a:prstGeom prst="rect">
            <a:avLst/>
          </a:prstGeom>
          <a:noFill/>
          <a:ln/>
        </p:spPr>
        <p:txBody>
          <a:bodyPr wrap="square" lIns="25400" tIns="25400" rIns="25400" bIns="25400" rtlCol="0" anchor="t">
            <a:normAutofit/>
          </a:bodyPr>
          <a:lstStyle/>
          <a:p>
            <a:pPr algn="l" indent="0" marL="0">
              <a:buNone/>
            </a:pPr>
            <a:r>
              <a:rPr lang="en-US" sz="2700" b="1" dirty="0">
                <a:solidFill>
                  <a:srgbClr val="1E1A1B"/>
                </a:solidFill>
                <a:latin typeface="Archivo" pitchFamily="34" charset="0"/>
                <a:ea typeface="Archivo" pitchFamily="34" charset="-122"/>
                <a:cs typeface="Archivo" pitchFamily="34" charset="-120"/>
              </a:rPr>
              <a:t>Mở đầu</a:t>
            </a:r>
            <a:endParaRPr lang="en-US" sz="2700" dirty="0"/>
          </a:p>
        </p:txBody>
      </p:sp>
      <p:sp>
        <p:nvSpPr>
          <p:cNvPr id="8" name="Text 6"/>
          <p:cNvSpPr/>
          <p:nvPr/>
        </p:nvSpPr>
        <p:spPr>
          <a:xfrm>
            <a:off x="2495550" y="2867025"/>
            <a:ext cx="16365855" cy="352425"/>
          </a:xfrm>
          <a:prstGeom prst="rect">
            <a:avLst/>
          </a:prstGeom>
          <a:noFill/>
          <a:ln/>
        </p:spPr>
        <p:txBody>
          <a:bodyPr wrap="square" lIns="25400" tIns="25400" rIns="25400" bIns="25400" rtlCol="0" anchor="t">
            <a:normAutofit/>
          </a:bodyPr>
          <a:lstStyle/>
          <a:p>
            <a:pPr algn="l" indent="0" marL="0">
              <a:buNone/>
            </a:pPr>
            <a:r>
              <a:rPr lang="en-US" sz="1950" dirty="0">
                <a:solidFill>
                  <a:srgbClr val="57514F"/>
                </a:solidFill>
                <a:latin typeface="Be Vietnam Pro" pitchFamily="34" charset="0"/>
                <a:ea typeface="Be Vietnam Pro" pitchFamily="34" charset="-122"/>
                <a:cs typeface="Be Vietnam Pro" pitchFamily="34" charset="-120"/>
              </a:rPr>
              <a:t>Mục tiêu · hệ thống &amp; chuỗi danh hiệu · phân tích bài toán</a:t>
            </a:r>
            <a:endParaRPr lang="en-US" sz="1950" dirty="0"/>
          </a:p>
        </p:txBody>
      </p:sp>
      <p:sp>
        <p:nvSpPr>
          <p:cNvPr id="9" name="Shape 7"/>
          <p:cNvSpPr/>
          <p:nvPr/>
        </p:nvSpPr>
        <p:spPr>
          <a:xfrm>
            <a:off x="914400" y="3429000"/>
            <a:ext cx="16459200" cy="9525"/>
          </a:xfrm>
          <a:prstGeom prst="rect">
            <a:avLst/>
          </a:prstGeom>
          <a:solidFill>
            <a:srgbClr val="E8E2DE"/>
          </a:solidFill>
          <a:ln/>
        </p:spPr>
      </p:sp>
      <p:sp>
        <p:nvSpPr>
          <p:cNvPr id="10" name="Text 8"/>
          <p:cNvSpPr/>
          <p:nvPr/>
        </p:nvSpPr>
        <p:spPr>
          <a:xfrm>
            <a:off x="914400" y="3686175"/>
            <a:ext cx="1362075"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C02034"/>
                </a:solidFill>
                <a:latin typeface="Archivo" pitchFamily="34" charset="0"/>
                <a:ea typeface="Archivo" pitchFamily="34" charset="-122"/>
                <a:cs typeface="Archivo" pitchFamily="34" charset="-120"/>
              </a:rPr>
              <a:t>II</a:t>
            </a:r>
            <a:endParaRPr lang="en-US" sz="4800" dirty="0"/>
          </a:p>
        </p:txBody>
      </p:sp>
      <p:sp>
        <p:nvSpPr>
          <p:cNvPr id="11" name="Text 9"/>
          <p:cNvSpPr/>
          <p:nvPr/>
        </p:nvSpPr>
        <p:spPr>
          <a:xfrm>
            <a:off x="2495550" y="3890962"/>
            <a:ext cx="16365855" cy="409575"/>
          </a:xfrm>
          <a:prstGeom prst="rect">
            <a:avLst/>
          </a:prstGeom>
          <a:noFill/>
          <a:ln/>
        </p:spPr>
        <p:txBody>
          <a:bodyPr wrap="square" lIns="25400" tIns="25400" rIns="25400" bIns="25400" rtlCol="0" anchor="t">
            <a:normAutofit/>
          </a:bodyPr>
          <a:lstStyle/>
          <a:p>
            <a:pPr algn="l" indent="0" marL="0">
              <a:buNone/>
            </a:pPr>
            <a:r>
              <a:rPr lang="en-US" sz="2700" b="1" dirty="0">
                <a:solidFill>
                  <a:srgbClr val="1E1A1B"/>
                </a:solidFill>
                <a:latin typeface="Archivo" pitchFamily="34" charset="0"/>
                <a:ea typeface="Archivo" pitchFamily="34" charset="-122"/>
                <a:cs typeface="Archivo" pitchFamily="34" charset="-120"/>
              </a:rPr>
              <a:t>Công nghệ &amp; Thiết kế</a:t>
            </a:r>
            <a:endParaRPr lang="en-US" sz="2700" dirty="0"/>
          </a:p>
        </p:txBody>
      </p:sp>
      <p:sp>
        <p:nvSpPr>
          <p:cNvPr id="12" name="Text 10"/>
          <p:cNvSpPr/>
          <p:nvPr/>
        </p:nvSpPr>
        <p:spPr>
          <a:xfrm>
            <a:off x="2495550" y="4319588"/>
            <a:ext cx="16365855" cy="352425"/>
          </a:xfrm>
          <a:prstGeom prst="rect">
            <a:avLst/>
          </a:prstGeom>
          <a:noFill/>
          <a:ln/>
        </p:spPr>
        <p:txBody>
          <a:bodyPr wrap="square" lIns="25400" tIns="25400" rIns="25400" bIns="25400" rtlCol="0" anchor="t">
            <a:normAutofit/>
          </a:bodyPr>
          <a:lstStyle/>
          <a:p>
            <a:pPr algn="l" indent="0" marL="0">
              <a:buNone/>
            </a:pPr>
            <a:r>
              <a:rPr lang="en-US" sz="1950" dirty="0">
                <a:solidFill>
                  <a:srgbClr val="57514F"/>
                </a:solidFill>
                <a:latin typeface="Be Vietnam Pro" pitchFamily="34" charset="0"/>
                <a:ea typeface="Be Vietnam Pro" pitchFamily="34" charset="-122"/>
                <a:cs typeface="Be Vietnam Pro" pitchFamily="34" charset="-120"/>
              </a:rPr>
              <a:t>Công nghệ · kiến trúc · CSDL (ERD) · use-case · quy trình · Strategy</a:t>
            </a:r>
            <a:endParaRPr lang="en-US" sz="1950" dirty="0"/>
          </a:p>
        </p:txBody>
      </p:sp>
      <p:sp>
        <p:nvSpPr>
          <p:cNvPr id="13" name="Shape 11"/>
          <p:cNvSpPr/>
          <p:nvPr/>
        </p:nvSpPr>
        <p:spPr>
          <a:xfrm>
            <a:off x="914400" y="4881563"/>
            <a:ext cx="16459200" cy="9525"/>
          </a:xfrm>
          <a:prstGeom prst="rect">
            <a:avLst/>
          </a:prstGeom>
          <a:solidFill>
            <a:srgbClr val="E8E2DE"/>
          </a:solidFill>
          <a:ln/>
        </p:spPr>
      </p:sp>
      <p:sp>
        <p:nvSpPr>
          <p:cNvPr id="14" name="Text 12"/>
          <p:cNvSpPr/>
          <p:nvPr/>
        </p:nvSpPr>
        <p:spPr>
          <a:xfrm>
            <a:off x="914400" y="5138738"/>
            <a:ext cx="1362075"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C02034"/>
                </a:solidFill>
                <a:latin typeface="Archivo" pitchFamily="34" charset="0"/>
                <a:ea typeface="Archivo" pitchFamily="34" charset="-122"/>
                <a:cs typeface="Archivo" pitchFamily="34" charset="-120"/>
              </a:rPr>
              <a:t>III</a:t>
            </a:r>
            <a:endParaRPr lang="en-US" sz="4800" dirty="0"/>
          </a:p>
        </p:txBody>
      </p:sp>
      <p:sp>
        <p:nvSpPr>
          <p:cNvPr id="15" name="Text 13"/>
          <p:cNvSpPr/>
          <p:nvPr/>
        </p:nvSpPr>
        <p:spPr>
          <a:xfrm>
            <a:off x="2495550" y="5343525"/>
            <a:ext cx="16365855" cy="409575"/>
          </a:xfrm>
          <a:prstGeom prst="rect">
            <a:avLst/>
          </a:prstGeom>
          <a:noFill/>
          <a:ln/>
        </p:spPr>
        <p:txBody>
          <a:bodyPr wrap="square" lIns="25400" tIns="25400" rIns="25400" bIns="25400" rtlCol="0" anchor="t">
            <a:normAutofit/>
          </a:bodyPr>
          <a:lstStyle/>
          <a:p>
            <a:pPr algn="l" indent="0" marL="0">
              <a:buNone/>
            </a:pPr>
            <a:r>
              <a:rPr lang="en-US" sz="2700" b="1" dirty="0">
                <a:solidFill>
                  <a:srgbClr val="1E1A1B"/>
                </a:solidFill>
                <a:latin typeface="Archivo" pitchFamily="34" charset="0"/>
                <a:ea typeface="Archivo" pitchFamily="34" charset="-122"/>
                <a:cs typeface="Archivo" pitchFamily="34" charset="-120"/>
              </a:rPr>
              <a:t>Các đóng góp nổi bật</a:t>
            </a:r>
            <a:endParaRPr lang="en-US" sz="2700" dirty="0"/>
          </a:p>
        </p:txBody>
      </p:sp>
      <p:sp>
        <p:nvSpPr>
          <p:cNvPr id="16" name="Text 14"/>
          <p:cNvSpPr/>
          <p:nvPr/>
        </p:nvSpPr>
        <p:spPr>
          <a:xfrm>
            <a:off x="2495550" y="5772150"/>
            <a:ext cx="16365855" cy="352425"/>
          </a:xfrm>
          <a:prstGeom prst="rect">
            <a:avLst/>
          </a:prstGeom>
          <a:noFill/>
          <a:ln/>
        </p:spPr>
        <p:txBody>
          <a:bodyPr wrap="square" lIns="25400" tIns="25400" rIns="25400" bIns="25400" rtlCol="0" anchor="t">
            <a:normAutofit/>
          </a:bodyPr>
          <a:lstStyle/>
          <a:p>
            <a:pPr algn="l" indent="0" marL="0">
              <a:buNone/>
            </a:pPr>
            <a:r>
              <a:rPr lang="en-US" sz="1950" dirty="0">
                <a:solidFill>
                  <a:srgbClr val="57514F"/>
                </a:solidFill>
                <a:latin typeface="Be Vietnam Pro" pitchFamily="34" charset="0"/>
                <a:ea typeface="Be Vietnam Pro" pitchFamily="34" charset="-122"/>
                <a:cs typeface="Be Vietnam Pro" pitchFamily="34" charset="-120"/>
              </a:rPr>
              <a:t>Tự động xét điều kiện · số hoá quy trình · nhập Excel · lưu vết &amp; sao lưu</a:t>
            </a:r>
            <a:endParaRPr lang="en-US" sz="1950" dirty="0"/>
          </a:p>
        </p:txBody>
      </p:sp>
      <p:sp>
        <p:nvSpPr>
          <p:cNvPr id="17" name="Shape 15"/>
          <p:cNvSpPr/>
          <p:nvPr/>
        </p:nvSpPr>
        <p:spPr>
          <a:xfrm>
            <a:off x="914400" y="7786688"/>
            <a:ext cx="16459200" cy="9525"/>
          </a:xfrm>
          <a:prstGeom prst="rect">
            <a:avLst/>
          </a:prstGeom>
          <a:solidFill>
            <a:srgbClr val="E8E2DE"/>
          </a:solidFill>
          <a:ln/>
        </p:spPr>
      </p:sp>
      <p:sp>
        <p:nvSpPr>
          <p:cNvPr id="18" name="Shape 16"/>
          <p:cNvSpPr/>
          <p:nvPr/>
        </p:nvSpPr>
        <p:spPr>
          <a:xfrm>
            <a:off x="914400" y="6334125"/>
            <a:ext cx="16459200" cy="9525"/>
          </a:xfrm>
          <a:prstGeom prst="rect">
            <a:avLst/>
          </a:prstGeom>
          <a:solidFill>
            <a:srgbClr val="E8E2DE"/>
          </a:solidFill>
          <a:ln/>
        </p:spPr>
      </p:sp>
      <p:sp>
        <p:nvSpPr>
          <p:cNvPr id="19" name="Text 17"/>
          <p:cNvSpPr/>
          <p:nvPr/>
        </p:nvSpPr>
        <p:spPr>
          <a:xfrm>
            <a:off x="914400" y="6591300"/>
            <a:ext cx="1362075"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C02034"/>
                </a:solidFill>
                <a:latin typeface="Archivo" pitchFamily="34" charset="0"/>
                <a:ea typeface="Archivo" pitchFamily="34" charset="-122"/>
                <a:cs typeface="Archivo" pitchFamily="34" charset="-120"/>
              </a:rPr>
              <a:t>IV</a:t>
            </a:r>
            <a:endParaRPr lang="en-US" sz="4800" dirty="0"/>
          </a:p>
        </p:txBody>
      </p:sp>
      <p:sp>
        <p:nvSpPr>
          <p:cNvPr id="20" name="Text 18"/>
          <p:cNvSpPr/>
          <p:nvPr/>
        </p:nvSpPr>
        <p:spPr>
          <a:xfrm>
            <a:off x="2495550" y="6796088"/>
            <a:ext cx="16365855" cy="409575"/>
          </a:xfrm>
          <a:prstGeom prst="rect">
            <a:avLst/>
          </a:prstGeom>
          <a:noFill/>
          <a:ln/>
        </p:spPr>
        <p:txBody>
          <a:bodyPr wrap="square" lIns="25400" tIns="25400" rIns="25400" bIns="25400" rtlCol="0" anchor="t">
            <a:normAutofit/>
          </a:bodyPr>
          <a:lstStyle/>
          <a:p>
            <a:pPr algn="l" indent="0" marL="0">
              <a:buNone/>
            </a:pPr>
            <a:r>
              <a:rPr lang="en-US" sz="2700" b="1" dirty="0">
                <a:solidFill>
                  <a:srgbClr val="1E1A1B"/>
                </a:solidFill>
                <a:latin typeface="Archivo" pitchFamily="34" charset="0"/>
                <a:ea typeface="Archivo" pitchFamily="34" charset="-122"/>
                <a:cs typeface="Archivo" pitchFamily="34" charset="-120"/>
              </a:rPr>
              <a:t>Đánh giá &amp; Tổng kết</a:t>
            </a:r>
            <a:endParaRPr lang="en-US" sz="2700" dirty="0"/>
          </a:p>
        </p:txBody>
      </p:sp>
      <p:sp>
        <p:nvSpPr>
          <p:cNvPr id="21" name="Text 19"/>
          <p:cNvSpPr/>
          <p:nvPr/>
        </p:nvSpPr>
        <p:spPr>
          <a:xfrm>
            <a:off x="2495550" y="7224713"/>
            <a:ext cx="16365855" cy="352425"/>
          </a:xfrm>
          <a:prstGeom prst="rect">
            <a:avLst/>
          </a:prstGeom>
          <a:noFill/>
          <a:ln/>
        </p:spPr>
        <p:txBody>
          <a:bodyPr wrap="square" lIns="25400" tIns="25400" rIns="25400" bIns="25400" rtlCol="0" anchor="t">
            <a:normAutofit/>
          </a:bodyPr>
          <a:lstStyle/>
          <a:p>
            <a:pPr algn="l" indent="0" marL="0">
              <a:buNone/>
            </a:pPr>
            <a:r>
              <a:rPr lang="en-US" sz="1950" dirty="0">
                <a:solidFill>
                  <a:srgbClr val="57514F"/>
                </a:solidFill>
                <a:latin typeface="Be Vietnam Pro" pitchFamily="34" charset="0"/>
                <a:ea typeface="Be Vietnam Pro" pitchFamily="34" charset="-122"/>
                <a:cs typeface="Be Vietnam Pro" pitchFamily="34" charset="-120"/>
              </a:rPr>
              <a:t>Kiểm thử · triển khai · kết luận &amp; hướng phát triển</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BF213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12510" b="1251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78101C">
                  <a:alpha val="50000"/>
                </a:srgbClr>
              </a:gs>
              <a:gs pos="55000">
                <a:srgbClr val="78101C">
                  <a:alpha val="0"/>
                </a:srgbClr>
              </a:gs>
            </a:gsLst>
            <a:lin ang="1500000" scaled="0"/>
          </a:gradFill>
          <a:ln/>
        </p:spPr>
      </p:sp>
      <p:pic>
        <p:nvPicPr>
          <p:cNvPr id="4" name="Image 1" descr="preencoded.png">    </p:cNvPr>
          <p:cNvPicPr>
            <a:picLocks noChangeAspect="1"/>
          </p:cNvPicPr>
          <p:nvPr/>
        </p:nvPicPr>
        <p:blipFill>
          <a:blip r:embed="rId2">
            <a:alphaModFix amt="96000"/>
          </a:blip>
          <a:stretch>
            <a:fillRect/>
          </a:stretch>
        </p:blipFill>
        <p:spPr>
          <a:xfrm>
            <a:off x="914400" y="609600"/>
            <a:ext cx="1794718" cy="762000"/>
          </a:xfrm>
          <a:prstGeom prst="rect">
            <a:avLst/>
          </a:prstGeom>
        </p:spPr>
      </p:pic>
      <p:sp>
        <p:nvSpPr>
          <p:cNvPr id="5" name="Text 1"/>
          <p:cNvSpPr/>
          <p:nvPr/>
        </p:nvSpPr>
        <p:spPr>
          <a:xfrm>
            <a:off x="15960105" y="5810250"/>
            <a:ext cx="1932035" cy="5372100"/>
          </a:xfrm>
          <a:prstGeom prst="rect">
            <a:avLst/>
          </a:prstGeom>
          <a:noFill/>
          <a:ln/>
        </p:spPr>
        <p:txBody>
          <a:bodyPr wrap="square" lIns="25400" tIns="25400" rIns="25400" bIns="25400" rtlCol="0" anchor="t">
            <a:normAutofit/>
          </a:bodyPr>
          <a:lstStyle/>
          <a:p>
            <a:pPr algn="l" indent="0" marL="0">
              <a:lnSpc>
                <a:spcPct val="105000"/>
              </a:lnSpc>
              <a:buNone/>
            </a:pPr>
            <a:r>
              <a:rPr lang="en-US" sz="40000" b="1" dirty="0">
                <a:solidFill>
                  <a:srgbClr val="FFFFFF">
                    <a:alpha val="13000"/>
                  </a:srgbClr>
                </a:solidFill>
                <a:latin typeface="Archivo" pitchFamily="34" charset="0"/>
                <a:ea typeface="Archivo" pitchFamily="34" charset="-122"/>
                <a:cs typeface="Archivo" pitchFamily="34" charset="-120"/>
              </a:rPr>
              <a:t>I</a:t>
            </a:r>
            <a:endParaRPr lang="en-US" sz="40000" dirty="0"/>
          </a:p>
        </p:txBody>
      </p:sp>
      <p:sp>
        <p:nvSpPr>
          <p:cNvPr id="6" name="Text 2"/>
          <p:cNvSpPr/>
          <p:nvPr/>
        </p:nvSpPr>
        <p:spPr>
          <a:xfrm>
            <a:off x="914400" y="3540919"/>
            <a:ext cx="18105120" cy="309563"/>
          </a:xfrm>
          <a:prstGeom prst="rect">
            <a:avLst/>
          </a:prstGeom>
          <a:noFill/>
          <a:ln/>
        </p:spPr>
        <p:txBody>
          <a:bodyPr wrap="square" lIns="25400" tIns="25400" rIns="25400" bIns="25400" rtlCol="0" anchor="t">
            <a:normAutofit/>
          </a:bodyPr>
          <a:lstStyle/>
          <a:p>
            <a:pPr algn="l" indent="0" marL="0">
              <a:buNone/>
            </a:pPr>
            <a:r>
              <a:rPr lang="en-US" sz="1950" b="1" spc="375" kern="0" dirty="0">
                <a:solidFill>
                  <a:srgbClr val="FCE3A0"/>
                </a:solidFill>
                <a:latin typeface="Archivo" pitchFamily="34" charset="0"/>
                <a:ea typeface="Archivo" pitchFamily="34" charset="-122"/>
                <a:cs typeface="Archivo" pitchFamily="34" charset="-120"/>
              </a:rPr>
              <a:t>PHẦN I</a:t>
            </a:r>
            <a:endParaRPr lang="en-US" sz="1950" dirty="0"/>
          </a:p>
        </p:txBody>
      </p:sp>
      <p:sp>
        <p:nvSpPr>
          <p:cNvPr id="7" name="Text 3"/>
          <p:cNvSpPr/>
          <p:nvPr/>
        </p:nvSpPr>
        <p:spPr>
          <a:xfrm>
            <a:off x="914400" y="4021931"/>
            <a:ext cx="1810512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dirty="0">
                <a:solidFill>
                  <a:srgbClr val="FFFFFF"/>
                </a:solidFill>
                <a:latin typeface="Archivo" pitchFamily="34" charset="0"/>
                <a:ea typeface="Archivo" pitchFamily="34" charset="-122"/>
                <a:cs typeface="Archivo" pitchFamily="34" charset="-120"/>
              </a:rPr>
              <a:t>Mở đầu</a:t>
            </a:r>
            <a:endParaRPr lang="en-US" sz="7200" dirty="0"/>
          </a:p>
        </p:txBody>
      </p:sp>
      <p:sp>
        <p:nvSpPr>
          <p:cNvPr id="8" name="Shape 4"/>
          <p:cNvSpPr/>
          <p:nvPr/>
        </p:nvSpPr>
        <p:spPr>
          <a:xfrm>
            <a:off x="914400" y="5441156"/>
            <a:ext cx="114300" cy="114300"/>
          </a:xfrm>
          <a:prstGeom prst="rect">
            <a:avLst/>
          </a:prstGeom>
          <a:solidFill>
            <a:srgbClr val="E59C0A"/>
          </a:solidFill>
          <a:ln/>
        </p:spPr>
      </p:sp>
      <p:sp>
        <p:nvSpPr>
          <p:cNvPr id="9" name="Text 5"/>
          <p:cNvSpPr/>
          <p:nvPr/>
        </p:nvSpPr>
        <p:spPr>
          <a:xfrm>
            <a:off x="1200150" y="5317331"/>
            <a:ext cx="2716658" cy="400050"/>
          </a:xfrm>
          <a:prstGeom prst="rect">
            <a:avLst/>
          </a:prstGeom>
          <a:noFill/>
          <a:ln/>
        </p:spPr>
        <p:txBody>
          <a:bodyPr wrap="square" lIns="0" tIns="0" rIns="0" bIns="0" rtlCol="0" anchor="t">
            <a:normAutofit/>
          </a:bodyPr>
          <a:lstStyle/>
          <a:p>
            <a:pPr algn="l" indent="0" marL="0">
              <a:buNone/>
            </a:pPr>
            <a:r>
              <a:rPr lang="en-US" sz="2250" dirty="0">
                <a:solidFill>
                  <a:srgbClr val="FFFFFF">
                    <a:alpha val="94000"/>
                  </a:srgbClr>
                </a:solidFill>
                <a:latin typeface="Be Vietnam Pro" pitchFamily="34" charset="0"/>
                <a:ea typeface="Be Vietnam Pro" pitchFamily="34" charset="-122"/>
                <a:cs typeface="Be Vietnam Pro" pitchFamily="34" charset="-120"/>
              </a:rPr>
              <a:t>Mục tiêu của đồ án</a:t>
            </a:r>
            <a:endParaRPr lang="en-US" sz="2250" dirty="0"/>
          </a:p>
        </p:txBody>
      </p:sp>
      <p:sp>
        <p:nvSpPr>
          <p:cNvPr id="10" name="Shape 6"/>
          <p:cNvSpPr/>
          <p:nvPr/>
        </p:nvSpPr>
        <p:spPr>
          <a:xfrm>
            <a:off x="914400" y="5974556"/>
            <a:ext cx="114300" cy="114300"/>
          </a:xfrm>
          <a:prstGeom prst="rect">
            <a:avLst/>
          </a:prstGeom>
          <a:solidFill>
            <a:srgbClr val="E59C0A"/>
          </a:solidFill>
          <a:ln/>
        </p:spPr>
      </p:sp>
      <p:sp>
        <p:nvSpPr>
          <p:cNvPr id="11" name="Text 7"/>
          <p:cNvSpPr/>
          <p:nvPr/>
        </p:nvSpPr>
        <p:spPr>
          <a:xfrm>
            <a:off x="1200150" y="5850731"/>
            <a:ext cx="5866215" cy="400050"/>
          </a:xfrm>
          <a:prstGeom prst="rect">
            <a:avLst/>
          </a:prstGeom>
          <a:noFill/>
          <a:ln/>
        </p:spPr>
        <p:txBody>
          <a:bodyPr wrap="square" lIns="0" tIns="0" rIns="0" bIns="0" rtlCol="0" anchor="t">
            <a:normAutofit/>
          </a:bodyPr>
          <a:lstStyle/>
          <a:p>
            <a:pPr algn="l" indent="0" marL="0">
              <a:buNone/>
            </a:pPr>
            <a:r>
              <a:rPr lang="en-US" sz="2250" dirty="0">
                <a:solidFill>
                  <a:srgbClr val="FFFFFF">
                    <a:alpha val="94000"/>
                  </a:srgbClr>
                </a:solidFill>
                <a:latin typeface="Be Vietnam Pro" pitchFamily="34" charset="0"/>
                <a:ea typeface="Be Vietnam Pro" pitchFamily="34" charset="-122"/>
                <a:cs typeface="Be Vietnam Pro" pitchFamily="34" charset="-120"/>
              </a:rPr>
              <a:t>Hệ thống và chuỗi danh hiệu khen thưởng</a:t>
            </a:r>
            <a:endParaRPr lang="en-US" sz="2250" dirty="0"/>
          </a:p>
        </p:txBody>
      </p:sp>
      <p:sp>
        <p:nvSpPr>
          <p:cNvPr id="12" name="Shape 8"/>
          <p:cNvSpPr/>
          <p:nvPr/>
        </p:nvSpPr>
        <p:spPr>
          <a:xfrm>
            <a:off x="914400" y="6507956"/>
            <a:ext cx="114300" cy="114300"/>
          </a:xfrm>
          <a:prstGeom prst="rect">
            <a:avLst/>
          </a:prstGeom>
          <a:solidFill>
            <a:srgbClr val="E59C0A"/>
          </a:solidFill>
          <a:ln/>
        </p:spPr>
      </p:sp>
      <p:sp>
        <p:nvSpPr>
          <p:cNvPr id="13" name="Text 9"/>
          <p:cNvSpPr/>
          <p:nvPr/>
        </p:nvSpPr>
        <p:spPr>
          <a:xfrm>
            <a:off x="1200150" y="6384131"/>
            <a:ext cx="5286385" cy="400050"/>
          </a:xfrm>
          <a:prstGeom prst="rect">
            <a:avLst/>
          </a:prstGeom>
          <a:noFill/>
          <a:ln/>
        </p:spPr>
        <p:txBody>
          <a:bodyPr wrap="square" lIns="0" tIns="0" rIns="0" bIns="0" rtlCol="0" anchor="t">
            <a:normAutofit/>
          </a:bodyPr>
          <a:lstStyle/>
          <a:p>
            <a:pPr algn="l" indent="0" marL="0">
              <a:buNone/>
            </a:pPr>
            <a:r>
              <a:rPr lang="en-US" sz="2250" dirty="0">
                <a:solidFill>
                  <a:srgbClr val="FFFFFF">
                    <a:alpha val="94000"/>
                  </a:srgbClr>
                </a:solidFill>
                <a:latin typeface="Be Vietnam Pro" pitchFamily="34" charset="0"/>
                <a:ea typeface="Be Vietnam Pro" pitchFamily="34" charset="-122"/>
                <a:cs typeface="Be Vietnam Pro" pitchFamily="34" charset="-120"/>
              </a:rPr>
              <a:t>Phân tích bài toán và các thách thức</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2276892"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 · MỞ ĐẦU</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Mục tiêu của đồ án</a:t>
            </a:r>
            <a:endParaRPr lang="en-US" sz="3750" dirty="0"/>
          </a:p>
        </p:txBody>
      </p:sp>
      <p:sp>
        <p:nvSpPr>
          <p:cNvPr id="5" name="Shape 3"/>
          <p:cNvSpPr/>
          <p:nvPr/>
        </p:nvSpPr>
        <p:spPr>
          <a:xfrm>
            <a:off x="914400" y="1938337"/>
            <a:ext cx="8039100" cy="3466951"/>
          </a:xfrm>
          <a:prstGeom prst="rect">
            <a:avLst/>
          </a:prstGeom>
          <a:solidFill>
            <a:srgbClr val="FFFFFF"/>
          </a:solidFill>
          <a:ln/>
        </p:spPr>
      </p:sp>
      <p:sp>
        <p:nvSpPr>
          <p:cNvPr id="6" name="Shape 4"/>
          <p:cNvSpPr/>
          <p:nvPr/>
        </p:nvSpPr>
        <p:spPr>
          <a:xfrm>
            <a:off x="914400" y="5395764"/>
            <a:ext cx="8039100" cy="9525"/>
          </a:xfrm>
          <a:prstGeom prst="rect">
            <a:avLst/>
          </a:prstGeom>
          <a:solidFill>
            <a:srgbClr val="ECE6E2"/>
          </a:solidFill>
          <a:ln/>
        </p:spPr>
      </p:sp>
      <p:sp>
        <p:nvSpPr>
          <p:cNvPr id="7" name="Shape 5"/>
          <p:cNvSpPr/>
          <p:nvPr/>
        </p:nvSpPr>
        <p:spPr>
          <a:xfrm>
            <a:off x="914400" y="1938337"/>
            <a:ext cx="8039100" cy="38100"/>
          </a:xfrm>
          <a:prstGeom prst="rect">
            <a:avLst/>
          </a:prstGeom>
          <a:solidFill>
            <a:srgbClr val="C02034"/>
          </a:solidFill>
          <a:ln/>
        </p:spPr>
      </p:sp>
      <p:sp>
        <p:nvSpPr>
          <p:cNvPr id="8" name="Shape 6"/>
          <p:cNvSpPr/>
          <p:nvPr/>
        </p:nvSpPr>
        <p:spPr>
          <a:xfrm>
            <a:off x="914400" y="1938337"/>
            <a:ext cx="9525" cy="3466951"/>
          </a:xfrm>
          <a:prstGeom prst="rect">
            <a:avLst/>
          </a:prstGeom>
          <a:solidFill>
            <a:srgbClr val="ECE6E2"/>
          </a:solidFill>
          <a:ln/>
        </p:spPr>
      </p:sp>
      <p:sp>
        <p:nvSpPr>
          <p:cNvPr id="9" name="Shape 7"/>
          <p:cNvSpPr/>
          <p:nvPr/>
        </p:nvSpPr>
        <p:spPr>
          <a:xfrm>
            <a:off x="8943975" y="1938337"/>
            <a:ext cx="9525" cy="3466951"/>
          </a:xfrm>
          <a:prstGeom prst="rect">
            <a:avLst/>
          </a:prstGeom>
          <a:solidFill>
            <a:srgbClr val="ECE6E2"/>
          </a:solidFill>
          <a:ln/>
        </p:spPr>
      </p:sp>
      <p:sp>
        <p:nvSpPr>
          <p:cNvPr id="10" name="Text 8"/>
          <p:cNvSpPr/>
          <p:nvPr/>
        </p:nvSpPr>
        <p:spPr>
          <a:xfrm>
            <a:off x="1285875" y="2300288"/>
            <a:ext cx="8025765" cy="28575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C02034"/>
                </a:solidFill>
                <a:latin typeface="Archivo" pitchFamily="34" charset="0"/>
                <a:ea typeface="Archivo" pitchFamily="34" charset="-122"/>
                <a:cs typeface="Archivo" pitchFamily="34" charset="-120"/>
              </a:rPr>
              <a:t>BỐI CẢNH VÀ ĐỘNG LỰC</a:t>
            </a:r>
            <a:endParaRPr lang="en-US" sz="1800" dirty="0"/>
          </a:p>
        </p:txBody>
      </p:sp>
      <p:sp>
        <p:nvSpPr>
          <p:cNvPr id="11" name="Text 9"/>
          <p:cNvSpPr/>
          <p:nvPr/>
        </p:nvSpPr>
        <p:spPr>
          <a:xfrm>
            <a:off x="1285875" y="2757488"/>
            <a:ext cx="299740" cy="758130"/>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C02034"/>
                </a:solidFill>
                <a:latin typeface="Be Vietnam Pro" pitchFamily="34" charset="0"/>
                <a:ea typeface="Be Vietnam Pro" pitchFamily="34" charset="-122"/>
                <a:cs typeface="Be Vietnam Pro" pitchFamily="34" charset="-120"/>
              </a:rPr>
              <a:t>—</a:t>
            </a:r>
            <a:endParaRPr lang="en-US" sz="2025" dirty="0"/>
          </a:p>
        </p:txBody>
      </p:sp>
      <p:sp>
        <p:nvSpPr>
          <p:cNvPr id="12" name="Text 10"/>
          <p:cNvSpPr/>
          <p:nvPr/>
        </p:nvSpPr>
        <p:spPr>
          <a:xfrm>
            <a:off x="1642765" y="2757488"/>
            <a:ext cx="7147438" cy="758130"/>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3537"/>
                </a:solidFill>
                <a:latin typeface="Be Vietnam Pro" pitchFamily="34" charset="0"/>
                <a:ea typeface="Be Vietnam Pro" pitchFamily="34" charset="-122"/>
                <a:cs typeface="Be Vietnam Pro" pitchFamily="34" charset="-120"/>
              </a:rPr>
              <a:t>Khen thưởng tại đơn vị quân đội hiện chủ yếu dựa trên Excel và hồ sơ giấy</a:t>
            </a:r>
            <a:endParaRPr lang="en-US" sz="2025" dirty="0"/>
          </a:p>
        </p:txBody>
      </p:sp>
      <p:sp>
        <p:nvSpPr>
          <p:cNvPr id="13" name="Text 11"/>
          <p:cNvSpPr/>
          <p:nvPr/>
        </p:nvSpPr>
        <p:spPr>
          <a:xfrm>
            <a:off x="1285875" y="3648968"/>
            <a:ext cx="299740" cy="398115"/>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C02034"/>
                </a:solidFill>
                <a:latin typeface="Be Vietnam Pro" pitchFamily="34" charset="0"/>
                <a:ea typeface="Be Vietnam Pro" pitchFamily="34" charset="-122"/>
                <a:cs typeface="Be Vietnam Pro" pitchFamily="34" charset="-120"/>
              </a:rPr>
              <a:t>—</a:t>
            </a:r>
            <a:endParaRPr lang="en-US" sz="2025" dirty="0"/>
          </a:p>
        </p:txBody>
      </p:sp>
      <p:sp>
        <p:nvSpPr>
          <p:cNvPr id="14" name="Text 12"/>
          <p:cNvSpPr/>
          <p:nvPr/>
        </p:nvSpPr>
        <p:spPr>
          <a:xfrm>
            <a:off x="1642765" y="3648968"/>
            <a:ext cx="7178970" cy="398115"/>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3537"/>
                </a:solidFill>
                <a:latin typeface="Be Vietnam Pro" pitchFamily="34" charset="0"/>
                <a:ea typeface="Be Vietnam Pro" pitchFamily="34" charset="-122"/>
                <a:cs typeface="Be Vietnam Pro" pitchFamily="34" charset="-120"/>
              </a:rPr>
              <a:t>Khó tra cứu lịch sử khen thưởng nhiều năm; dễ bỏ sót</a:t>
            </a:r>
            <a:endParaRPr lang="en-US" sz="2025" dirty="0"/>
          </a:p>
        </p:txBody>
      </p:sp>
      <p:sp>
        <p:nvSpPr>
          <p:cNvPr id="15" name="Text 13"/>
          <p:cNvSpPr/>
          <p:nvPr/>
        </p:nvSpPr>
        <p:spPr>
          <a:xfrm>
            <a:off x="1285875" y="4180433"/>
            <a:ext cx="299740" cy="758130"/>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C02034"/>
                </a:solidFill>
                <a:latin typeface="Be Vietnam Pro" pitchFamily="34" charset="0"/>
                <a:ea typeface="Be Vietnam Pro" pitchFamily="34" charset="-122"/>
                <a:cs typeface="Be Vietnam Pro" pitchFamily="34" charset="-120"/>
              </a:rPr>
              <a:t>—</a:t>
            </a:r>
            <a:endParaRPr lang="en-US" sz="2025" dirty="0"/>
          </a:p>
        </p:txBody>
      </p:sp>
      <p:sp>
        <p:nvSpPr>
          <p:cNvPr id="16" name="Text 14"/>
          <p:cNvSpPr/>
          <p:nvPr/>
        </p:nvSpPr>
        <p:spPr>
          <a:xfrm>
            <a:off x="1642765" y="4180433"/>
            <a:ext cx="7147438" cy="758130"/>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3537"/>
                </a:solidFill>
                <a:latin typeface="Be Vietnam Pro" pitchFamily="34" charset="0"/>
                <a:ea typeface="Be Vietnam Pro" pitchFamily="34" charset="-122"/>
                <a:cs typeface="Be Vietnam Pro" pitchFamily="34" charset="-120"/>
              </a:rPr>
              <a:t>Quy định chuỗi danh hiệu phức tạp (BKBQP, CSTĐTQ, BKTTCP) dễ sai khi tính tay</a:t>
            </a:r>
            <a:endParaRPr lang="en-US" sz="2025" dirty="0"/>
          </a:p>
        </p:txBody>
      </p:sp>
      <p:sp>
        <p:nvSpPr>
          <p:cNvPr id="17" name="Shape 15"/>
          <p:cNvSpPr/>
          <p:nvPr/>
        </p:nvSpPr>
        <p:spPr>
          <a:xfrm>
            <a:off x="9334500" y="1938337"/>
            <a:ext cx="8039100" cy="3466951"/>
          </a:xfrm>
          <a:prstGeom prst="rect">
            <a:avLst/>
          </a:prstGeom>
          <a:solidFill>
            <a:srgbClr val="FFFFFF"/>
          </a:solidFill>
          <a:ln/>
        </p:spPr>
      </p:sp>
      <p:sp>
        <p:nvSpPr>
          <p:cNvPr id="18" name="Shape 16"/>
          <p:cNvSpPr/>
          <p:nvPr/>
        </p:nvSpPr>
        <p:spPr>
          <a:xfrm>
            <a:off x="9334500" y="5395764"/>
            <a:ext cx="8039100" cy="9525"/>
          </a:xfrm>
          <a:prstGeom prst="rect">
            <a:avLst/>
          </a:prstGeom>
          <a:solidFill>
            <a:srgbClr val="ECE6E2"/>
          </a:solidFill>
          <a:ln/>
        </p:spPr>
      </p:sp>
      <p:sp>
        <p:nvSpPr>
          <p:cNvPr id="19" name="Shape 17"/>
          <p:cNvSpPr/>
          <p:nvPr/>
        </p:nvSpPr>
        <p:spPr>
          <a:xfrm>
            <a:off x="9334500" y="1938337"/>
            <a:ext cx="8039100" cy="38100"/>
          </a:xfrm>
          <a:prstGeom prst="rect">
            <a:avLst/>
          </a:prstGeom>
          <a:solidFill>
            <a:srgbClr val="E59C0A"/>
          </a:solidFill>
          <a:ln/>
        </p:spPr>
      </p:sp>
      <p:sp>
        <p:nvSpPr>
          <p:cNvPr id="20" name="Shape 18"/>
          <p:cNvSpPr/>
          <p:nvPr/>
        </p:nvSpPr>
        <p:spPr>
          <a:xfrm>
            <a:off x="9334500" y="1938337"/>
            <a:ext cx="9525" cy="3466951"/>
          </a:xfrm>
          <a:prstGeom prst="rect">
            <a:avLst/>
          </a:prstGeom>
          <a:solidFill>
            <a:srgbClr val="ECE6E2"/>
          </a:solidFill>
          <a:ln/>
        </p:spPr>
      </p:sp>
      <p:sp>
        <p:nvSpPr>
          <p:cNvPr id="21" name="Shape 19"/>
          <p:cNvSpPr/>
          <p:nvPr/>
        </p:nvSpPr>
        <p:spPr>
          <a:xfrm>
            <a:off x="17364075" y="1938337"/>
            <a:ext cx="9525" cy="3466951"/>
          </a:xfrm>
          <a:prstGeom prst="rect">
            <a:avLst/>
          </a:prstGeom>
          <a:solidFill>
            <a:srgbClr val="ECE6E2"/>
          </a:solidFill>
          <a:ln/>
        </p:spPr>
      </p:sp>
      <p:sp>
        <p:nvSpPr>
          <p:cNvPr id="22" name="Text 20"/>
          <p:cNvSpPr/>
          <p:nvPr/>
        </p:nvSpPr>
        <p:spPr>
          <a:xfrm>
            <a:off x="9705975" y="2300288"/>
            <a:ext cx="8025765" cy="28575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B07A09"/>
                </a:solidFill>
                <a:latin typeface="Archivo" pitchFamily="34" charset="0"/>
                <a:ea typeface="Archivo" pitchFamily="34" charset="-122"/>
                <a:cs typeface="Archivo" pitchFamily="34" charset="-120"/>
              </a:rPr>
              <a:t>MỤC TIÊU CỤ THỂ</a:t>
            </a:r>
            <a:endParaRPr lang="en-US" sz="1800" dirty="0"/>
          </a:p>
        </p:txBody>
      </p:sp>
      <p:sp>
        <p:nvSpPr>
          <p:cNvPr id="23" name="Text 21"/>
          <p:cNvSpPr/>
          <p:nvPr/>
        </p:nvSpPr>
        <p:spPr>
          <a:xfrm>
            <a:off x="9705975" y="2757488"/>
            <a:ext cx="299740" cy="398115"/>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E59C0A"/>
                </a:solidFill>
                <a:latin typeface="Be Vietnam Pro" pitchFamily="34" charset="0"/>
                <a:ea typeface="Be Vietnam Pro" pitchFamily="34" charset="-122"/>
                <a:cs typeface="Be Vietnam Pro" pitchFamily="34" charset="-120"/>
              </a:rPr>
              <a:t>—</a:t>
            </a:r>
            <a:endParaRPr lang="en-US" sz="2025" dirty="0"/>
          </a:p>
        </p:txBody>
      </p:sp>
      <p:sp>
        <p:nvSpPr>
          <p:cNvPr id="24" name="Text 22"/>
          <p:cNvSpPr/>
          <p:nvPr/>
        </p:nvSpPr>
        <p:spPr>
          <a:xfrm>
            <a:off x="10062865" y="2757488"/>
            <a:ext cx="6870621" cy="398115"/>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3537"/>
                </a:solidFill>
                <a:latin typeface="Be Vietnam Pro" pitchFamily="34" charset="0"/>
                <a:ea typeface="Be Vietnam Pro" pitchFamily="34" charset="-122"/>
                <a:cs typeface="Be Vietnam Pro" pitchFamily="34" charset="-120"/>
              </a:rPr>
              <a:t>Quản lý bảy nhóm khen thưởng với bốn cấp vai trò</a:t>
            </a:r>
            <a:endParaRPr lang="en-US" sz="2025" dirty="0"/>
          </a:p>
        </p:txBody>
      </p:sp>
      <p:sp>
        <p:nvSpPr>
          <p:cNvPr id="25" name="Text 23"/>
          <p:cNvSpPr/>
          <p:nvPr/>
        </p:nvSpPr>
        <p:spPr>
          <a:xfrm>
            <a:off x="9705975" y="3288953"/>
            <a:ext cx="299740" cy="398115"/>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E59C0A"/>
                </a:solidFill>
                <a:latin typeface="Be Vietnam Pro" pitchFamily="34" charset="0"/>
                <a:ea typeface="Be Vietnam Pro" pitchFamily="34" charset="-122"/>
                <a:cs typeface="Be Vietnam Pro" pitchFamily="34" charset="-120"/>
              </a:rPr>
              <a:t>—</a:t>
            </a:r>
            <a:endParaRPr lang="en-US" sz="2025" dirty="0"/>
          </a:p>
        </p:txBody>
      </p:sp>
      <p:sp>
        <p:nvSpPr>
          <p:cNvPr id="26" name="Text 24"/>
          <p:cNvSpPr/>
          <p:nvPr/>
        </p:nvSpPr>
        <p:spPr>
          <a:xfrm>
            <a:off x="10062865" y="3288953"/>
            <a:ext cx="6836159" cy="398115"/>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3537"/>
                </a:solidFill>
                <a:latin typeface="Be Vietnam Pro" pitchFamily="34" charset="0"/>
                <a:ea typeface="Be Vietnam Pro" pitchFamily="34" charset="-122"/>
                <a:cs typeface="Be Vietnam Pro" pitchFamily="34" charset="-120"/>
              </a:rPr>
              <a:t>Tự động hoá xét điều kiện theo quy định hiện hành</a:t>
            </a:r>
            <a:endParaRPr lang="en-US" sz="2025" dirty="0"/>
          </a:p>
        </p:txBody>
      </p:sp>
      <p:sp>
        <p:nvSpPr>
          <p:cNvPr id="27" name="Text 25"/>
          <p:cNvSpPr/>
          <p:nvPr/>
        </p:nvSpPr>
        <p:spPr>
          <a:xfrm>
            <a:off x="9705975" y="3820418"/>
            <a:ext cx="299740" cy="758130"/>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E59C0A"/>
                </a:solidFill>
                <a:latin typeface="Be Vietnam Pro" pitchFamily="34" charset="0"/>
                <a:ea typeface="Be Vietnam Pro" pitchFamily="34" charset="-122"/>
                <a:cs typeface="Be Vietnam Pro" pitchFamily="34" charset="-120"/>
              </a:rPr>
              <a:t>—</a:t>
            </a:r>
            <a:endParaRPr lang="en-US" sz="2025" dirty="0"/>
          </a:p>
        </p:txBody>
      </p:sp>
      <p:sp>
        <p:nvSpPr>
          <p:cNvPr id="28" name="Text 26"/>
          <p:cNvSpPr/>
          <p:nvPr/>
        </p:nvSpPr>
        <p:spPr>
          <a:xfrm>
            <a:off x="10062865" y="3820418"/>
            <a:ext cx="7147438" cy="758130"/>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3537"/>
                </a:solidFill>
                <a:latin typeface="Be Vietnam Pro" pitchFamily="34" charset="0"/>
                <a:ea typeface="Be Vietnam Pro" pitchFamily="34" charset="-122"/>
                <a:cs typeface="Be Vietnam Pro" pitchFamily="34" charset="-120"/>
              </a:rPr>
              <a:t>Hỗ trợ quy trình: đề xuất → đính kèm quyết định → phê duyệt</a:t>
            </a:r>
            <a:endParaRPr lang="en-US" sz="2025" dirty="0"/>
          </a:p>
        </p:txBody>
      </p:sp>
      <p:sp>
        <p:nvSpPr>
          <p:cNvPr id="29" name="Text 27"/>
          <p:cNvSpPr/>
          <p:nvPr/>
        </p:nvSpPr>
        <p:spPr>
          <a:xfrm>
            <a:off x="9705975" y="4711898"/>
            <a:ext cx="299740" cy="398115"/>
          </a:xfrm>
          <a:prstGeom prst="rect">
            <a:avLst/>
          </a:prstGeom>
          <a:noFill/>
          <a:ln/>
        </p:spPr>
        <p:txBody>
          <a:bodyPr wrap="square" lIns="25400" tIns="25400" rIns="25400" bIns="25400" rtlCol="0" anchor="t">
            <a:normAutofit/>
          </a:bodyPr>
          <a:lstStyle/>
          <a:p>
            <a:pPr algn="l" indent="0" marL="0">
              <a:lnSpc>
                <a:spcPct val="140000"/>
              </a:lnSpc>
              <a:buNone/>
            </a:pPr>
            <a:r>
              <a:rPr lang="en-US" sz="2025" b="1" dirty="0">
                <a:solidFill>
                  <a:srgbClr val="E59C0A"/>
                </a:solidFill>
                <a:latin typeface="Be Vietnam Pro" pitchFamily="34" charset="0"/>
                <a:ea typeface="Be Vietnam Pro" pitchFamily="34" charset="-122"/>
                <a:cs typeface="Be Vietnam Pro" pitchFamily="34" charset="-120"/>
              </a:rPr>
              <a:t>—</a:t>
            </a:r>
            <a:endParaRPr lang="en-US" sz="2025" dirty="0"/>
          </a:p>
        </p:txBody>
      </p:sp>
      <p:sp>
        <p:nvSpPr>
          <p:cNvPr id="30" name="Text 28"/>
          <p:cNvSpPr/>
          <p:nvPr/>
        </p:nvSpPr>
        <p:spPr>
          <a:xfrm>
            <a:off x="10062865" y="4711898"/>
            <a:ext cx="7132067" cy="398115"/>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3A3537"/>
                </a:solidFill>
                <a:latin typeface="Be Vietnam Pro" pitchFamily="34" charset="0"/>
                <a:ea typeface="Be Vietnam Pro" pitchFamily="34" charset="-122"/>
                <a:cs typeface="Be Vietnam Pro" pitchFamily="34" charset="-120"/>
              </a:rPr>
              <a:t>Bảo đảm truy vết, bảo mật; chạy trong mạng nội bộ</a:t>
            </a:r>
            <a:endParaRPr lang="en-US" sz="2025" dirty="0"/>
          </a:p>
        </p:txBody>
      </p:sp>
      <p:sp>
        <p:nvSpPr>
          <p:cNvPr id="31" name="Shape 29"/>
          <p:cNvSpPr/>
          <p:nvPr/>
        </p:nvSpPr>
        <p:spPr>
          <a:xfrm>
            <a:off x="914400" y="5729139"/>
            <a:ext cx="16459200" cy="833438"/>
          </a:xfrm>
          <a:prstGeom prst="rect">
            <a:avLst/>
          </a:prstGeom>
          <a:solidFill>
            <a:srgbClr val="2A1416"/>
          </a:solidFill>
          <a:ln/>
        </p:spPr>
      </p:sp>
      <p:sp>
        <p:nvSpPr>
          <p:cNvPr id="32" name="Text 30"/>
          <p:cNvSpPr/>
          <p:nvPr/>
        </p:nvSpPr>
        <p:spPr>
          <a:xfrm>
            <a:off x="1276350" y="6031557"/>
            <a:ext cx="2273536" cy="26670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FCE3A0"/>
                </a:solidFill>
                <a:latin typeface="Archivo" pitchFamily="34" charset="0"/>
                <a:ea typeface="Archivo" pitchFamily="34" charset="-122"/>
                <a:cs typeface="Archivo" pitchFamily="34" charset="-120"/>
              </a:rPr>
              <a:t>MỤC TIÊU CỐT LÕI</a:t>
            </a:r>
            <a:endParaRPr lang="en-US" sz="1650" dirty="0"/>
          </a:p>
        </p:txBody>
      </p:sp>
      <p:sp>
        <p:nvSpPr>
          <p:cNvPr id="33" name="Text 31"/>
          <p:cNvSpPr/>
          <p:nvPr/>
        </p:nvSpPr>
        <p:spPr>
          <a:xfrm>
            <a:off x="3533701" y="5976789"/>
            <a:ext cx="7993514" cy="376238"/>
          </a:xfrm>
          <a:prstGeom prst="rect">
            <a:avLst/>
          </a:prstGeom>
          <a:noFill/>
          <a:ln/>
        </p:spPr>
        <p:txBody>
          <a:bodyPr wrap="square" lIns="25400" tIns="25400" rIns="25400" bIns="25400" rtlCol="0" anchor="t">
            <a:normAutofit/>
          </a:bodyPr>
          <a:lstStyle/>
          <a:p>
            <a:pPr algn="l" indent="0" marL="0">
              <a:buNone/>
            </a:pPr>
            <a:r>
              <a:rPr lang="en-US" sz="2100" dirty="0">
                <a:solidFill>
                  <a:srgbClr val="FFFFFF"/>
                </a:solidFill>
                <a:latin typeface="Be Vietnam Pro" pitchFamily="34" charset="0"/>
                <a:ea typeface="Be Vietnam Pro" pitchFamily="34" charset="-122"/>
                <a:cs typeface="Be Vietnam Pro" pitchFamily="34" charset="-120"/>
              </a:rPr>
              <a:t>Giảm sai sót thủ công, tiết kiệm thời gian, đúng quy định</a:t>
            </a:r>
            <a:endParaRPr lang="en-US" sz="2100" dirty="0"/>
          </a:p>
        </p:txBody>
      </p:sp>
      <p:sp>
        <p:nvSpPr>
          <p:cNvPr id="34" name="Shape 32"/>
          <p:cNvSpPr/>
          <p:nvPr/>
        </p:nvSpPr>
        <p:spPr>
          <a:xfrm>
            <a:off x="914400" y="9477375"/>
            <a:ext cx="16459200" cy="9525"/>
          </a:xfrm>
          <a:prstGeom prst="rect">
            <a:avLst/>
          </a:prstGeom>
          <a:solidFill>
            <a:srgbClr val="E8E2DE"/>
          </a:solidFill>
          <a:ln/>
        </p:spPr>
      </p:sp>
      <p:pic>
        <p:nvPicPr>
          <p:cNvPr id="35"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36" name="Text 33"/>
          <p:cNvSpPr/>
          <p:nvPr/>
        </p:nvSpPr>
        <p:spPr>
          <a:xfrm>
            <a:off x="6637213"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37" name="Text 34"/>
          <p:cNvSpPr/>
          <p:nvPr/>
        </p:nvSpPr>
        <p:spPr>
          <a:xfrm>
            <a:off x="17123866" y="9658350"/>
            <a:ext cx="325934"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04</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2276892"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 · MỞ ĐẦU</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Hệ thống khen thưởng</a:t>
            </a:r>
            <a:endParaRPr lang="en-US" sz="3750" dirty="0"/>
          </a:p>
        </p:txBody>
      </p:sp>
      <p:sp>
        <p:nvSpPr>
          <p:cNvPr id="5" name="Shape 3"/>
          <p:cNvSpPr/>
          <p:nvPr/>
        </p:nvSpPr>
        <p:spPr>
          <a:xfrm>
            <a:off x="914400" y="1862138"/>
            <a:ext cx="16459200" cy="4691063"/>
          </a:xfrm>
          <a:prstGeom prst="rect">
            <a:avLst/>
          </a:prstGeom>
          <a:ln w="9525">
            <a:solidFill>
              <a:srgbClr val="E8E2DE"/>
            </a:solidFill>
            <a:prstDash val="solid"/>
          </a:ln>
        </p:spPr>
      </p:sp>
      <p:sp>
        <p:nvSpPr>
          <p:cNvPr id="6" name="Shape 4"/>
          <p:cNvSpPr/>
          <p:nvPr/>
        </p:nvSpPr>
        <p:spPr>
          <a:xfrm>
            <a:off x="923925" y="1871663"/>
            <a:ext cx="16440150" cy="628650"/>
          </a:xfrm>
          <a:prstGeom prst="rect">
            <a:avLst/>
          </a:prstGeom>
          <a:solidFill>
            <a:srgbClr val="C02034"/>
          </a:solidFill>
          <a:ln/>
        </p:spPr>
      </p:sp>
      <p:sp>
        <p:nvSpPr>
          <p:cNvPr id="7" name="Text 5"/>
          <p:cNvSpPr/>
          <p:nvPr/>
        </p:nvSpPr>
        <p:spPr>
          <a:xfrm>
            <a:off x="1190625" y="2062163"/>
            <a:ext cx="2734423" cy="28575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FFFF"/>
                </a:solidFill>
                <a:latin typeface="Archivo" pitchFamily="34" charset="0"/>
                <a:ea typeface="Archivo" pitchFamily="34" charset="-122"/>
                <a:cs typeface="Archivo" pitchFamily="34" charset="-120"/>
              </a:rPr>
              <a:t>NHÓM KHEN THƯỞNG</a:t>
            </a:r>
            <a:endParaRPr lang="en-US" sz="1800" dirty="0"/>
          </a:p>
        </p:txBody>
      </p:sp>
      <p:sp>
        <p:nvSpPr>
          <p:cNvPr id="8" name="Shape 6"/>
          <p:cNvSpPr/>
          <p:nvPr/>
        </p:nvSpPr>
        <p:spPr>
          <a:xfrm>
            <a:off x="4096569" y="1871663"/>
            <a:ext cx="9525" cy="628650"/>
          </a:xfrm>
          <a:prstGeom prst="rect">
            <a:avLst/>
          </a:prstGeom>
          <a:solidFill>
            <a:srgbClr val="FFFFFF">
              <a:alpha val="25000"/>
            </a:srgbClr>
          </a:solidFill>
          <a:ln/>
        </p:spPr>
      </p:sp>
      <p:sp>
        <p:nvSpPr>
          <p:cNvPr id="9" name="Text 7"/>
          <p:cNvSpPr/>
          <p:nvPr/>
        </p:nvSpPr>
        <p:spPr>
          <a:xfrm>
            <a:off x="4372794" y="2062163"/>
            <a:ext cx="8369375" cy="28575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FFFF"/>
                </a:solidFill>
                <a:latin typeface="Archivo" pitchFamily="34" charset="0"/>
                <a:ea typeface="Archivo" pitchFamily="34" charset="-122"/>
                <a:cs typeface="Archivo" pitchFamily="34" charset="-120"/>
              </a:rPr>
              <a:t>PHÂN RÃ</a:t>
            </a:r>
            <a:endParaRPr lang="en-US" sz="1800" dirty="0"/>
          </a:p>
        </p:txBody>
      </p:sp>
      <p:sp>
        <p:nvSpPr>
          <p:cNvPr id="10" name="Shape 8"/>
          <p:cNvSpPr/>
          <p:nvPr/>
        </p:nvSpPr>
        <p:spPr>
          <a:xfrm>
            <a:off x="12749287" y="1871663"/>
            <a:ext cx="9525" cy="628650"/>
          </a:xfrm>
          <a:prstGeom prst="rect">
            <a:avLst/>
          </a:prstGeom>
          <a:solidFill>
            <a:srgbClr val="FFFFFF">
              <a:alpha val="25000"/>
            </a:srgbClr>
          </a:solidFill>
          <a:ln/>
        </p:spPr>
      </p:sp>
      <p:sp>
        <p:nvSpPr>
          <p:cNvPr id="11" name="Text 9"/>
          <p:cNvSpPr/>
          <p:nvPr/>
        </p:nvSpPr>
        <p:spPr>
          <a:xfrm>
            <a:off x="13025512" y="2062163"/>
            <a:ext cx="4210307" cy="28575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FFFF"/>
                </a:solidFill>
                <a:latin typeface="Archivo" pitchFamily="34" charset="0"/>
                <a:ea typeface="Archivo" pitchFamily="34" charset="-122"/>
                <a:cs typeface="Archivo" pitchFamily="34" charset="-120"/>
              </a:rPr>
              <a:t>TIÊU CHÍ XÉT</a:t>
            </a:r>
            <a:endParaRPr lang="en-US" sz="1800" dirty="0"/>
          </a:p>
        </p:txBody>
      </p:sp>
      <p:sp>
        <p:nvSpPr>
          <p:cNvPr id="12" name="Shape 10"/>
          <p:cNvSpPr/>
          <p:nvPr/>
        </p:nvSpPr>
        <p:spPr>
          <a:xfrm>
            <a:off x="923925" y="2500313"/>
            <a:ext cx="16440150" cy="1095375"/>
          </a:xfrm>
          <a:prstGeom prst="rect">
            <a:avLst/>
          </a:prstGeom>
          <a:solidFill>
            <a:srgbClr val="FFFFFF"/>
          </a:solidFill>
          <a:ln/>
        </p:spPr>
      </p:sp>
      <p:sp>
        <p:nvSpPr>
          <p:cNvPr id="13" name="Shape 11"/>
          <p:cNvSpPr/>
          <p:nvPr/>
        </p:nvSpPr>
        <p:spPr>
          <a:xfrm>
            <a:off x="923925" y="2500313"/>
            <a:ext cx="16440150" cy="9525"/>
          </a:xfrm>
          <a:prstGeom prst="rect">
            <a:avLst/>
          </a:prstGeom>
          <a:solidFill>
            <a:srgbClr val="E8E2DE"/>
          </a:solidFill>
          <a:ln/>
        </p:spPr>
      </p:sp>
      <p:sp>
        <p:nvSpPr>
          <p:cNvPr id="14" name="Text 12"/>
          <p:cNvSpPr/>
          <p:nvPr/>
        </p:nvSpPr>
        <p:spPr>
          <a:xfrm>
            <a:off x="1190625" y="2719387"/>
            <a:ext cx="2734423" cy="704850"/>
          </a:xfrm>
          <a:prstGeom prst="rect">
            <a:avLst/>
          </a:prstGeom>
          <a:noFill/>
          <a:ln/>
        </p:spPr>
        <p:txBody>
          <a:bodyPr wrap="square" lIns="25400" tIns="25400" rIns="25400" bIns="25400" rtlCol="0" anchor="t">
            <a:normAutofit/>
          </a:bodyPr>
          <a:lstStyle/>
          <a:p>
            <a:pPr algn="l" indent="0" marL="0">
              <a:buNone/>
            </a:pPr>
            <a:r>
              <a:rPr lang="en-US" sz="1875" b="1" dirty="0">
                <a:solidFill>
                  <a:srgbClr val="1E1A1B"/>
                </a:solidFill>
                <a:latin typeface="Be Vietnam Pro" pitchFamily="34" charset="0"/>
                <a:ea typeface="Be Vietnam Pro" pitchFamily="34" charset="-122"/>
                <a:cs typeface="Be Vietnam Pro" pitchFamily="34" charset="-120"/>
              </a:rPr>
              <a:t>Hằng năm</a:t>
            </a:r>
            <a:endParaRPr lang="en-US" sz="1875" dirty="0"/>
          </a:p>
        </p:txBody>
      </p:sp>
      <p:sp>
        <p:nvSpPr>
          <p:cNvPr id="15" name="Shape 13"/>
          <p:cNvSpPr/>
          <p:nvPr/>
        </p:nvSpPr>
        <p:spPr>
          <a:xfrm>
            <a:off x="4096569" y="2509838"/>
            <a:ext cx="9525" cy="1085850"/>
          </a:xfrm>
          <a:prstGeom prst="rect">
            <a:avLst/>
          </a:prstGeom>
          <a:solidFill>
            <a:srgbClr val="E8E2DE"/>
          </a:solidFill>
          <a:ln/>
        </p:spPr>
      </p:sp>
      <p:sp>
        <p:nvSpPr>
          <p:cNvPr id="16" name="Text 14"/>
          <p:cNvSpPr/>
          <p:nvPr/>
        </p:nvSpPr>
        <p:spPr>
          <a:xfrm>
            <a:off x="4372794" y="2719387"/>
            <a:ext cx="8369375"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3A3537"/>
                </a:solidFill>
                <a:latin typeface="Be Vietnam Pro" pitchFamily="34" charset="0"/>
                <a:ea typeface="Be Vietnam Pro" pitchFamily="34" charset="-122"/>
                <a:cs typeface="Be Vietnam Pro" pitchFamily="34" charset="-120"/>
              </a:rPr>
              <a:t>Cá nhân (CSTĐCS, CSTT, BKBQP, CSTĐTQ, BKTTCP); Đơn vị (ĐVQT, ĐVTT, BKBQP, BKTTCP)</a:t>
            </a:r>
            <a:endParaRPr lang="en-US" sz="1875" dirty="0"/>
          </a:p>
        </p:txBody>
      </p:sp>
      <p:sp>
        <p:nvSpPr>
          <p:cNvPr id="17" name="Shape 15"/>
          <p:cNvSpPr/>
          <p:nvPr/>
        </p:nvSpPr>
        <p:spPr>
          <a:xfrm>
            <a:off x="12749287" y="2509838"/>
            <a:ext cx="9525" cy="1085850"/>
          </a:xfrm>
          <a:prstGeom prst="rect">
            <a:avLst/>
          </a:prstGeom>
          <a:solidFill>
            <a:srgbClr val="E8E2DE"/>
          </a:solidFill>
          <a:ln/>
        </p:spPr>
      </p:sp>
      <p:sp>
        <p:nvSpPr>
          <p:cNvPr id="18" name="Text 16"/>
          <p:cNvSpPr/>
          <p:nvPr/>
        </p:nvSpPr>
        <p:spPr>
          <a:xfrm>
            <a:off x="13025512" y="2719387"/>
            <a:ext cx="4210307" cy="704850"/>
          </a:xfrm>
          <a:prstGeom prst="rect">
            <a:avLst/>
          </a:prstGeom>
          <a:noFill/>
          <a:ln/>
        </p:spPr>
        <p:txBody>
          <a:bodyPr wrap="square" lIns="25400" tIns="25400" rIns="25400" bIns="25400" rtlCol="0" anchor="t">
            <a:normAutofit/>
          </a:bodyPr>
          <a:lstStyle/>
          <a:p>
            <a:pPr algn="l" indent="0" marL="0">
              <a:buNone/>
            </a:pPr>
            <a:r>
              <a:rPr lang="en-US" sz="1875" dirty="0">
                <a:solidFill>
                  <a:srgbClr val="3A3537"/>
                </a:solidFill>
                <a:latin typeface="Be Vietnam Pro" pitchFamily="34" charset="0"/>
                <a:ea typeface="Be Vietnam Pro" pitchFamily="34" charset="-122"/>
                <a:cs typeface="Be Vietnam Pro" pitchFamily="34" charset="-120"/>
              </a:rPr>
              <a:t>Theo năm</a:t>
            </a:r>
            <a:endParaRPr lang="en-US" sz="1875" dirty="0"/>
          </a:p>
        </p:txBody>
      </p:sp>
      <p:sp>
        <p:nvSpPr>
          <p:cNvPr id="19" name="Shape 17"/>
          <p:cNvSpPr/>
          <p:nvPr/>
        </p:nvSpPr>
        <p:spPr>
          <a:xfrm>
            <a:off x="923925" y="3595688"/>
            <a:ext cx="16440150" cy="762000"/>
          </a:xfrm>
          <a:prstGeom prst="rect">
            <a:avLst/>
          </a:prstGeom>
          <a:solidFill>
            <a:srgbClr val="FAF6F2"/>
          </a:solidFill>
          <a:ln/>
        </p:spPr>
      </p:sp>
      <p:sp>
        <p:nvSpPr>
          <p:cNvPr id="20" name="Shape 18"/>
          <p:cNvSpPr/>
          <p:nvPr/>
        </p:nvSpPr>
        <p:spPr>
          <a:xfrm>
            <a:off x="923925" y="3595688"/>
            <a:ext cx="16440150" cy="9525"/>
          </a:xfrm>
          <a:prstGeom prst="rect">
            <a:avLst/>
          </a:prstGeom>
          <a:solidFill>
            <a:srgbClr val="E8E2DE"/>
          </a:solidFill>
          <a:ln/>
        </p:spPr>
      </p:sp>
      <p:sp>
        <p:nvSpPr>
          <p:cNvPr id="21" name="Text 19"/>
          <p:cNvSpPr/>
          <p:nvPr/>
        </p:nvSpPr>
        <p:spPr>
          <a:xfrm>
            <a:off x="1190625" y="3814763"/>
            <a:ext cx="2734423" cy="371475"/>
          </a:xfrm>
          <a:prstGeom prst="rect">
            <a:avLst/>
          </a:prstGeom>
          <a:noFill/>
          <a:ln/>
        </p:spPr>
        <p:txBody>
          <a:bodyPr wrap="square" lIns="25400" tIns="25400" rIns="25400" bIns="25400" rtlCol="0" anchor="t">
            <a:normAutofit/>
          </a:bodyPr>
          <a:lstStyle/>
          <a:p>
            <a:pPr algn="l" indent="0" marL="0">
              <a:buNone/>
            </a:pPr>
            <a:r>
              <a:rPr lang="en-US" sz="1875" b="1" dirty="0">
                <a:solidFill>
                  <a:srgbClr val="1E1A1B"/>
                </a:solidFill>
                <a:latin typeface="Be Vietnam Pro" pitchFamily="34" charset="0"/>
                <a:ea typeface="Be Vietnam Pro" pitchFamily="34" charset="-122"/>
                <a:cs typeface="Be Vietnam Pro" pitchFamily="34" charset="-120"/>
              </a:rPr>
              <a:t>Niên hạn</a:t>
            </a:r>
            <a:endParaRPr lang="en-US" sz="1875" dirty="0"/>
          </a:p>
        </p:txBody>
      </p:sp>
      <p:sp>
        <p:nvSpPr>
          <p:cNvPr id="22" name="Shape 20"/>
          <p:cNvSpPr/>
          <p:nvPr/>
        </p:nvSpPr>
        <p:spPr>
          <a:xfrm>
            <a:off x="4096569" y="3605213"/>
            <a:ext cx="9525" cy="752475"/>
          </a:xfrm>
          <a:prstGeom prst="rect">
            <a:avLst/>
          </a:prstGeom>
          <a:solidFill>
            <a:srgbClr val="E8E2DE"/>
          </a:solidFill>
          <a:ln/>
        </p:spPr>
      </p:sp>
      <p:sp>
        <p:nvSpPr>
          <p:cNvPr id="23" name="Text 21"/>
          <p:cNvSpPr/>
          <p:nvPr/>
        </p:nvSpPr>
        <p:spPr>
          <a:xfrm>
            <a:off x="4372794" y="3814763"/>
            <a:ext cx="8369375"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3A3537"/>
                </a:solidFill>
                <a:latin typeface="Be Vietnam Pro" pitchFamily="34" charset="0"/>
                <a:ea typeface="Be Vietnam Pro" pitchFamily="34" charset="-122"/>
                <a:cs typeface="Be Vietnam Pro" pitchFamily="34" charset="-120"/>
              </a:rPr>
              <a:t>HCCSVV (3 hạng), HCQKQT, KNC VSNXD QĐNDVN</a:t>
            </a:r>
            <a:endParaRPr lang="en-US" sz="1875" dirty="0"/>
          </a:p>
        </p:txBody>
      </p:sp>
      <p:sp>
        <p:nvSpPr>
          <p:cNvPr id="24" name="Shape 22"/>
          <p:cNvSpPr/>
          <p:nvPr/>
        </p:nvSpPr>
        <p:spPr>
          <a:xfrm>
            <a:off x="12749287" y="3605213"/>
            <a:ext cx="9525" cy="752475"/>
          </a:xfrm>
          <a:prstGeom prst="rect">
            <a:avLst/>
          </a:prstGeom>
          <a:solidFill>
            <a:srgbClr val="E8E2DE"/>
          </a:solidFill>
          <a:ln/>
        </p:spPr>
      </p:sp>
      <p:sp>
        <p:nvSpPr>
          <p:cNvPr id="25" name="Text 23"/>
          <p:cNvSpPr/>
          <p:nvPr/>
        </p:nvSpPr>
        <p:spPr>
          <a:xfrm>
            <a:off x="13025512" y="3814763"/>
            <a:ext cx="4210307" cy="371475"/>
          </a:xfrm>
          <a:prstGeom prst="rect">
            <a:avLst/>
          </a:prstGeom>
          <a:noFill/>
          <a:ln/>
        </p:spPr>
        <p:txBody>
          <a:bodyPr wrap="square" lIns="25400" tIns="25400" rIns="25400" bIns="25400" rtlCol="0" anchor="t">
            <a:normAutofit/>
          </a:bodyPr>
          <a:lstStyle/>
          <a:p>
            <a:pPr algn="l" indent="0" marL="0">
              <a:buNone/>
            </a:pPr>
            <a:r>
              <a:rPr lang="en-US" sz="1875" dirty="0">
                <a:solidFill>
                  <a:srgbClr val="3A3537"/>
                </a:solidFill>
                <a:latin typeface="Be Vietnam Pro" pitchFamily="34" charset="0"/>
                <a:ea typeface="Be Vietnam Pro" pitchFamily="34" charset="-122"/>
                <a:cs typeface="Be Vietnam Pro" pitchFamily="34" charset="-120"/>
              </a:rPr>
              <a:t>Theo năm phục vụ</a:t>
            </a:r>
            <a:endParaRPr lang="en-US" sz="1875" dirty="0"/>
          </a:p>
        </p:txBody>
      </p:sp>
      <p:sp>
        <p:nvSpPr>
          <p:cNvPr id="26" name="Shape 24"/>
          <p:cNvSpPr/>
          <p:nvPr/>
        </p:nvSpPr>
        <p:spPr>
          <a:xfrm>
            <a:off x="923925" y="4357688"/>
            <a:ext cx="16440150" cy="728663"/>
          </a:xfrm>
          <a:prstGeom prst="rect">
            <a:avLst/>
          </a:prstGeom>
          <a:solidFill>
            <a:srgbClr val="FFFFFF"/>
          </a:solidFill>
          <a:ln/>
        </p:spPr>
      </p:sp>
      <p:sp>
        <p:nvSpPr>
          <p:cNvPr id="27" name="Shape 25"/>
          <p:cNvSpPr/>
          <p:nvPr/>
        </p:nvSpPr>
        <p:spPr>
          <a:xfrm>
            <a:off x="923925" y="4357688"/>
            <a:ext cx="16440150" cy="9525"/>
          </a:xfrm>
          <a:prstGeom prst="rect">
            <a:avLst/>
          </a:prstGeom>
          <a:solidFill>
            <a:srgbClr val="E8E2DE"/>
          </a:solidFill>
          <a:ln/>
        </p:spPr>
      </p:sp>
      <p:sp>
        <p:nvSpPr>
          <p:cNvPr id="28" name="Text 26"/>
          <p:cNvSpPr/>
          <p:nvPr/>
        </p:nvSpPr>
        <p:spPr>
          <a:xfrm>
            <a:off x="1190625" y="4576763"/>
            <a:ext cx="2734423" cy="338138"/>
          </a:xfrm>
          <a:prstGeom prst="rect">
            <a:avLst/>
          </a:prstGeom>
          <a:noFill/>
          <a:ln/>
        </p:spPr>
        <p:txBody>
          <a:bodyPr wrap="square" lIns="25400" tIns="25400" rIns="25400" bIns="25400" rtlCol="0" anchor="t">
            <a:normAutofit/>
          </a:bodyPr>
          <a:lstStyle/>
          <a:p>
            <a:pPr algn="l" indent="0" marL="0">
              <a:buNone/>
            </a:pPr>
            <a:r>
              <a:rPr lang="en-US" sz="1875" b="1" dirty="0">
                <a:solidFill>
                  <a:srgbClr val="1E1A1B"/>
                </a:solidFill>
                <a:latin typeface="Be Vietnam Pro" pitchFamily="34" charset="0"/>
                <a:ea typeface="Be Vietnam Pro" pitchFamily="34" charset="-122"/>
                <a:cs typeface="Be Vietnam Pro" pitchFamily="34" charset="-120"/>
              </a:rPr>
              <a:t>Cống hiến</a:t>
            </a:r>
            <a:endParaRPr lang="en-US" sz="1875" dirty="0"/>
          </a:p>
        </p:txBody>
      </p:sp>
      <p:sp>
        <p:nvSpPr>
          <p:cNvPr id="29" name="Shape 27"/>
          <p:cNvSpPr/>
          <p:nvPr/>
        </p:nvSpPr>
        <p:spPr>
          <a:xfrm>
            <a:off x="4096569" y="4367213"/>
            <a:ext cx="9525" cy="719138"/>
          </a:xfrm>
          <a:prstGeom prst="rect">
            <a:avLst/>
          </a:prstGeom>
          <a:solidFill>
            <a:srgbClr val="E8E2DE"/>
          </a:solidFill>
          <a:ln/>
        </p:spPr>
      </p:sp>
      <p:sp>
        <p:nvSpPr>
          <p:cNvPr id="30" name="Text 28"/>
          <p:cNvSpPr/>
          <p:nvPr/>
        </p:nvSpPr>
        <p:spPr>
          <a:xfrm>
            <a:off x="4372794" y="4576763"/>
            <a:ext cx="8369375" cy="338138"/>
          </a:xfrm>
          <a:prstGeom prst="rect">
            <a:avLst/>
          </a:prstGeom>
          <a:noFill/>
          <a:ln/>
        </p:spPr>
        <p:txBody>
          <a:bodyPr wrap="square" lIns="25400" tIns="25400" rIns="25400" bIns="25400" rtlCol="0" anchor="t">
            <a:normAutofit/>
          </a:bodyPr>
          <a:lstStyle/>
          <a:p>
            <a:pPr algn="l" indent="0" marL="0">
              <a:buNone/>
            </a:pPr>
            <a:r>
              <a:rPr lang="en-US" sz="1875" dirty="0">
                <a:solidFill>
                  <a:srgbClr val="3A3537"/>
                </a:solidFill>
                <a:latin typeface="Be Vietnam Pro" pitchFamily="34" charset="0"/>
                <a:ea typeface="Be Vietnam Pro" pitchFamily="34" charset="-122"/>
                <a:cs typeface="Be Vietnam Pro" pitchFamily="34" charset="-120"/>
              </a:rPr>
              <a:t>HCBVTQ (3 hạng)</a:t>
            </a:r>
            <a:endParaRPr lang="en-US" sz="1875" dirty="0"/>
          </a:p>
        </p:txBody>
      </p:sp>
      <p:sp>
        <p:nvSpPr>
          <p:cNvPr id="31" name="Shape 29"/>
          <p:cNvSpPr/>
          <p:nvPr/>
        </p:nvSpPr>
        <p:spPr>
          <a:xfrm>
            <a:off x="12749287" y="4367213"/>
            <a:ext cx="9525" cy="719138"/>
          </a:xfrm>
          <a:prstGeom prst="rect">
            <a:avLst/>
          </a:prstGeom>
          <a:solidFill>
            <a:srgbClr val="E8E2DE"/>
          </a:solidFill>
          <a:ln/>
        </p:spPr>
      </p:sp>
      <p:sp>
        <p:nvSpPr>
          <p:cNvPr id="32" name="Text 30"/>
          <p:cNvSpPr/>
          <p:nvPr/>
        </p:nvSpPr>
        <p:spPr>
          <a:xfrm>
            <a:off x="13025512" y="4576763"/>
            <a:ext cx="4210307" cy="338138"/>
          </a:xfrm>
          <a:prstGeom prst="rect">
            <a:avLst/>
          </a:prstGeom>
          <a:noFill/>
          <a:ln/>
        </p:spPr>
        <p:txBody>
          <a:bodyPr wrap="square" lIns="25400" tIns="25400" rIns="25400" bIns="25400" rtlCol="0" anchor="t">
            <a:normAutofit/>
          </a:bodyPr>
          <a:lstStyle/>
          <a:p>
            <a:pPr algn="l" indent="0" marL="0">
              <a:buNone/>
            </a:pPr>
            <a:r>
              <a:rPr lang="en-US" sz="1875" dirty="0">
                <a:solidFill>
                  <a:srgbClr val="3A3537"/>
                </a:solidFill>
                <a:latin typeface="Be Vietnam Pro" pitchFamily="34" charset="0"/>
                <a:ea typeface="Be Vietnam Pro" pitchFamily="34" charset="-122"/>
                <a:cs typeface="Be Vietnam Pro" pitchFamily="34" charset="-120"/>
              </a:rPr>
              <a:t>120 tháng (nam) / 80 (nữ)</a:t>
            </a:r>
            <a:endParaRPr lang="en-US" sz="1875" dirty="0"/>
          </a:p>
        </p:txBody>
      </p:sp>
      <p:sp>
        <p:nvSpPr>
          <p:cNvPr id="33" name="Shape 31"/>
          <p:cNvSpPr/>
          <p:nvPr/>
        </p:nvSpPr>
        <p:spPr>
          <a:xfrm>
            <a:off x="923925" y="5086350"/>
            <a:ext cx="16440150" cy="728663"/>
          </a:xfrm>
          <a:prstGeom prst="rect">
            <a:avLst/>
          </a:prstGeom>
          <a:solidFill>
            <a:srgbClr val="FAF6F2"/>
          </a:solidFill>
          <a:ln/>
        </p:spPr>
      </p:sp>
      <p:sp>
        <p:nvSpPr>
          <p:cNvPr id="34" name="Shape 32"/>
          <p:cNvSpPr/>
          <p:nvPr/>
        </p:nvSpPr>
        <p:spPr>
          <a:xfrm>
            <a:off x="923925" y="5086350"/>
            <a:ext cx="16440150" cy="9525"/>
          </a:xfrm>
          <a:prstGeom prst="rect">
            <a:avLst/>
          </a:prstGeom>
          <a:solidFill>
            <a:srgbClr val="E8E2DE"/>
          </a:solidFill>
          <a:ln/>
        </p:spPr>
      </p:sp>
      <p:sp>
        <p:nvSpPr>
          <p:cNvPr id="35" name="Text 33"/>
          <p:cNvSpPr/>
          <p:nvPr/>
        </p:nvSpPr>
        <p:spPr>
          <a:xfrm>
            <a:off x="1190625" y="5305425"/>
            <a:ext cx="2734423" cy="338138"/>
          </a:xfrm>
          <a:prstGeom prst="rect">
            <a:avLst/>
          </a:prstGeom>
          <a:noFill/>
          <a:ln/>
        </p:spPr>
        <p:txBody>
          <a:bodyPr wrap="square" lIns="25400" tIns="25400" rIns="25400" bIns="25400" rtlCol="0" anchor="t">
            <a:normAutofit/>
          </a:bodyPr>
          <a:lstStyle/>
          <a:p>
            <a:pPr algn="l" indent="0" marL="0">
              <a:buNone/>
            </a:pPr>
            <a:r>
              <a:rPr lang="en-US" sz="1875" b="1" dirty="0">
                <a:solidFill>
                  <a:srgbClr val="1E1A1B"/>
                </a:solidFill>
                <a:latin typeface="Be Vietnam Pro" pitchFamily="34" charset="0"/>
                <a:ea typeface="Be Vietnam Pro" pitchFamily="34" charset="-122"/>
                <a:cs typeface="Be Vietnam Pro" pitchFamily="34" charset="-120"/>
              </a:rPr>
              <a:t>Thành tích</a:t>
            </a:r>
            <a:endParaRPr lang="en-US" sz="1875" dirty="0"/>
          </a:p>
        </p:txBody>
      </p:sp>
      <p:sp>
        <p:nvSpPr>
          <p:cNvPr id="36" name="Shape 34"/>
          <p:cNvSpPr/>
          <p:nvPr/>
        </p:nvSpPr>
        <p:spPr>
          <a:xfrm>
            <a:off x="4096569" y="5095875"/>
            <a:ext cx="9525" cy="719138"/>
          </a:xfrm>
          <a:prstGeom prst="rect">
            <a:avLst/>
          </a:prstGeom>
          <a:solidFill>
            <a:srgbClr val="E8E2DE"/>
          </a:solidFill>
          <a:ln/>
        </p:spPr>
      </p:sp>
      <p:sp>
        <p:nvSpPr>
          <p:cNvPr id="37" name="Text 35"/>
          <p:cNvSpPr/>
          <p:nvPr/>
        </p:nvSpPr>
        <p:spPr>
          <a:xfrm>
            <a:off x="4372794" y="5305425"/>
            <a:ext cx="8369375" cy="338138"/>
          </a:xfrm>
          <a:prstGeom prst="rect">
            <a:avLst/>
          </a:prstGeom>
          <a:noFill/>
          <a:ln/>
        </p:spPr>
        <p:txBody>
          <a:bodyPr wrap="square" lIns="25400" tIns="25400" rIns="25400" bIns="25400" rtlCol="0" anchor="t">
            <a:normAutofit/>
          </a:bodyPr>
          <a:lstStyle/>
          <a:p>
            <a:pPr algn="l" indent="0" marL="0">
              <a:buNone/>
            </a:pPr>
            <a:r>
              <a:rPr lang="en-US" sz="1875" dirty="0">
                <a:solidFill>
                  <a:srgbClr val="3A3537"/>
                </a:solidFill>
                <a:latin typeface="Be Vietnam Pro" pitchFamily="34" charset="0"/>
                <a:ea typeface="Be Vietnam Pro" pitchFamily="34" charset="-122"/>
                <a:cs typeface="Be Vietnam Pro" pitchFamily="34" charset="-120"/>
              </a:rPr>
              <a:t>NCKH (đề tài, sáng kiến)</a:t>
            </a:r>
            <a:endParaRPr lang="en-US" sz="1875" dirty="0"/>
          </a:p>
        </p:txBody>
      </p:sp>
      <p:sp>
        <p:nvSpPr>
          <p:cNvPr id="38" name="Shape 36"/>
          <p:cNvSpPr/>
          <p:nvPr/>
        </p:nvSpPr>
        <p:spPr>
          <a:xfrm>
            <a:off x="12749287" y="5095875"/>
            <a:ext cx="9525" cy="719138"/>
          </a:xfrm>
          <a:prstGeom prst="rect">
            <a:avLst/>
          </a:prstGeom>
          <a:solidFill>
            <a:srgbClr val="E8E2DE"/>
          </a:solidFill>
          <a:ln/>
        </p:spPr>
      </p:sp>
      <p:sp>
        <p:nvSpPr>
          <p:cNvPr id="39" name="Text 37"/>
          <p:cNvSpPr/>
          <p:nvPr/>
        </p:nvSpPr>
        <p:spPr>
          <a:xfrm>
            <a:off x="13025512" y="5305425"/>
            <a:ext cx="4210307" cy="338138"/>
          </a:xfrm>
          <a:prstGeom prst="rect">
            <a:avLst/>
          </a:prstGeom>
          <a:noFill/>
          <a:ln/>
        </p:spPr>
        <p:txBody>
          <a:bodyPr wrap="square" lIns="25400" tIns="25400" rIns="25400" bIns="25400" rtlCol="0" anchor="t">
            <a:normAutofit/>
          </a:bodyPr>
          <a:lstStyle/>
          <a:p>
            <a:pPr algn="l" indent="0" marL="0">
              <a:buNone/>
            </a:pPr>
            <a:r>
              <a:rPr lang="en-US" sz="1875" dirty="0">
                <a:solidFill>
                  <a:srgbClr val="3A3537"/>
                </a:solidFill>
                <a:latin typeface="Be Vietnam Pro" pitchFamily="34" charset="0"/>
                <a:ea typeface="Be Vietnam Pro" pitchFamily="34" charset="-122"/>
                <a:cs typeface="Be Vietnam Pro" pitchFamily="34" charset="-120"/>
              </a:rPr>
              <a:t>Theo công trình</a:t>
            </a:r>
            <a:endParaRPr lang="en-US" sz="1875" dirty="0"/>
          </a:p>
        </p:txBody>
      </p:sp>
      <p:sp>
        <p:nvSpPr>
          <p:cNvPr id="40" name="Shape 38"/>
          <p:cNvSpPr/>
          <p:nvPr/>
        </p:nvSpPr>
        <p:spPr>
          <a:xfrm>
            <a:off x="923925" y="5815013"/>
            <a:ext cx="16440150" cy="728663"/>
          </a:xfrm>
          <a:prstGeom prst="rect">
            <a:avLst/>
          </a:prstGeom>
          <a:solidFill>
            <a:srgbClr val="FFFFFF"/>
          </a:solidFill>
          <a:ln/>
        </p:spPr>
      </p:sp>
      <p:sp>
        <p:nvSpPr>
          <p:cNvPr id="41" name="Shape 39"/>
          <p:cNvSpPr/>
          <p:nvPr/>
        </p:nvSpPr>
        <p:spPr>
          <a:xfrm>
            <a:off x="923925" y="5815013"/>
            <a:ext cx="16440150" cy="9525"/>
          </a:xfrm>
          <a:prstGeom prst="rect">
            <a:avLst/>
          </a:prstGeom>
          <a:solidFill>
            <a:srgbClr val="E8E2DE"/>
          </a:solidFill>
          <a:ln/>
        </p:spPr>
      </p:sp>
      <p:sp>
        <p:nvSpPr>
          <p:cNvPr id="42" name="Text 40"/>
          <p:cNvSpPr/>
          <p:nvPr/>
        </p:nvSpPr>
        <p:spPr>
          <a:xfrm>
            <a:off x="1190625" y="6034088"/>
            <a:ext cx="2734423" cy="338138"/>
          </a:xfrm>
          <a:prstGeom prst="rect">
            <a:avLst/>
          </a:prstGeom>
          <a:noFill/>
          <a:ln/>
        </p:spPr>
        <p:txBody>
          <a:bodyPr wrap="square" lIns="25400" tIns="25400" rIns="25400" bIns="25400" rtlCol="0" anchor="t">
            <a:normAutofit/>
          </a:bodyPr>
          <a:lstStyle/>
          <a:p>
            <a:pPr algn="l" indent="0" marL="0">
              <a:buNone/>
            </a:pPr>
            <a:r>
              <a:rPr lang="en-US" sz="1875" b="1" dirty="0">
                <a:solidFill>
                  <a:srgbClr val="1E1A1B"/>
                </a:solidFill>
                <a:latin typeface="Be Vietnam Pro" pitchFamily="34" charset="0"/>
                <a:ea typeface="Be Vietnam Pro" pitchFamily="34" charset="-122"/>
                <a:cs typeface="Be Vietnam Pro" pitchFamily="34" charset="-120"/>
              </a:rPr>
              <a:t>Đột xuất</a:t>
            </a:r>
            <a:endParaRPr lang="en-US" sz="1875" dirty="0"/>
          </a:p>
        </p:txBody>
      </p:sp>
      <p:sp>
        <p:nvSpPr>
          <p:cNvPr id="43" name="Shape 41"/>
          <p:cNvSpPr/>
          <p:nvPr/>
        </p:nvSpPr>
        <p:spPr>
          <a:xfrm>
            <a:off x="4096569" y="5824538"/>
            <a:ext cx="9525" cy="719138"/>
          </a:xfrm>
          <a:prstGeom prst="rect">
            <a:avLst/>
          </a:prstGeom>
          <a:solidFill>
            <a:srgbClr val="E8E2DE"/>
          </a:solidFill>
          <a:ln/>
        </p:spPr>
      </p:sp>
      <p:sp>
        <p:nvSpPr>
          <p:cNvPr id="44" name="Text 42"/>
          <p:cNvSpPr/>
          <p:nvPr/>
        </p:nvSpPr>
        <p:spPr>
          <a:xfrm>
            <a:off x="4372794" y="6034088"/>
            <a:ext cx="8369375" cy="338138"/>
          </a:xfrm>
          <a:prstGeom prst="rect">
            <a:avLst/>
          </a:prstGeom>
          <a:noFill/>
          <a:ln/>
        </p:spPr>
        <p:txBody>
          <a:bodyPr wrap="square" lIns="25400" tIns="25400" rIns="25400" bIns="25400" rtlCol="0" anchor="t">
            <a:normAutofit/>
          </a:bodyPr>
          <a:lstStyle/>
          <a:p>
            <a:pPr algn="l" indent="0" marL="0">
              <a:buNone/>
            </a:pPr>
            <a:r>
              <a:rPr lang="en-US" sz="1875" dirty="0">
                <a:solidFill>
                  <a:srgbClr val="3A3537"/>
                </a:solidFill>
                <a:latin typeface="Be Vietnam Pro" pitchFamily="34" charset="0"/>
                <a:ea typeface="Be Vietnam Pro" pitchFamily="34" charset="-122"/>
                <a:cs typeface="Be Vietnam Pro" pitchFamily="34" charset="-120"/>
              </a:rPr>
              <a:t>Theo sự kiện / chiến công</a:t>
            </a:r>
            <a:endParaRPr lang="en-US" sz="1875" dirty="0"/>
          </a:p>
        </p:txBody>
      </p:sp>
      <p:sp>
        <p:nvSpPr>
          <p:cNvPr id="45" name="Shape 43"/>
          <p:cNvSpPr/>
          <p:nvPr/>
        </p:nvSpPr>
        <p:spPr>
          <a:xfrm>
            <a:off x="12749287" y="5824538"/>
            <a:ext cx="9525" cy="719138"/>
          </a:xfrm>
          <a:prstGeom prst="rect">
            <a:avLst/>
          </a:prstGeom>
          <a:solidFill>
            <a:srgbClr val="E8E2DE"/>
          </a:solidFill>
          <a:ln/>
        </p:spPr>
      </p:sp>
      <p:sp>
        <p:nvSpPr>
          <p:cNvPr id="46" name="Text 44"/>
          <p:cNvSpPr/>
          <p:nvPr/>
        </p:nvSpPr>
        <p:spPr>
          <a:xfrm>
            <a:off x="13025512" y="6034088"/>
            <a:ext cx="4210307" cy="338138"/>
          </a:xfrm>
          <a:prstGeom prst="rect">
            <a:avLst/>
          </a:prstGeom>
          <a:noFill/>
          <a:ln/>
        </p:spPr>
        <p:txBody>
          <a:bodyPr wrap="square" lIns="25400" tIns="25400" rIns="25400" bIns="25400" rtlCol="0" anchor="t">
            <a:normAutofit/>
          </a:bodyPr>
          <a:lstStyle/>
          <a:p>
            <a:pPr algn="l" indent="0" marL="0">
              <a:buNone/>
            </a:pPr>
            <a:r>
              <a:rPr lang="en-US" sz="1875" dirty="0">
                <a:solidFill>
                  <a:srgbClr val="3A3537"/>
                </a:solidFill>
                <a:latin typeface="Be Vietnam Pro" pitchFamily="34" charset="0"/>
                <a:ea typeface="Be Vietnam Pro" pitchFamily="34" charset="-122"/>
                <a:cs typeface="Be Vietnam Pro" pitchFamily="34" charset="-120"/>
              </a:rPr>
              <a:t>Phi định kỳ</a:t>
            </a:r>
            <a:endParaRPr lang="en-US" sz="1875" dirty="0"/>
          </a:p>
        </p:txBody>
      </p:sp>
      <p:sp>
        <p:nvSpPr>
          <p:cNvPr id="47" name="Shape 45"/>
          <p:cNvSpPr/>
          <p:nvPr/>
        </p:nvSpPr>
        <p:spPr>
          <a:xfrm>
            <a:off x="914400" y="6800850"/>
            <a:ext cx="38100" cy="333375"/>
          </a:xfrm>
          <a:prstGeom prst="rect">
            <a:avLst/>
          </a:prstGeom>
          <a:solidFill>
            <a:srgbClr val="E59C0A"/>
          </a:solidFill>
          <a:ln/>
        </p:spPr>
      </p:sp>
      <p:sp>
        <p:nvSpPr>
          <p:cNvPr id="48" name="Text 46"/>
          <p:cNvSpPr/>
          <p:nvPr/>
        </p:nvSpPr>
        <p:spPr>
          <a:xfrm>
            <a:off x="1162050" y="6800850"/>
            <a:ext cx="17857470"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57514F"/>
                </a:solidFill>
                <a:latin typeface="Be Vietnam Pro" pitchFamily="34" charset="0"/>
                <a:ea typeface="Be Vietnam Pro" pitchFamily="34" charset="-122"/>
                <a:cs typeface="Be Vietnam Pro" pitchFamily="34" charset="-120"/>
              </a:rPr>
              <a:t>Bốn nhóm đầu gồm bảy loại đề xuất xử lý qua </a:t>
            </a:r>
            <a:pPr algn="l" indent="0" marL="0">
              <a:lnSpc>
                <a:spcPct val="140000"/>
              </a:lnSpc>
              <a:buNone/>
            </a:pPr>
            <a:r>
              <a:rPr lang="en-US" sz="1875" b="1" dirty="0">
                <a:solidFill>
                  <a:srgbClr val="1E1A1B"/>
                </a:solidFill>
                <a:latin typeface="Be Vietnam Pro" pitchFamily="34" charset="0"/>
                <a:ea typeface="Be Vietnam Pro" pitchFamily="34" charset="-122"/>
                <a:cs typeface="Be Vietnam Pro" pitchFamily="34" charset="-120"/>
              </a:rPr>
              <a:t>Strategy pattern</a:t>
            </a:r>
            <a:pPr algn="l" indent="0" marL="0">
              <a:lnSpc>
                <a:spcPct val="140000"/>
              </a:lnSpc>
              <a:buNone/>
            </a:pPr>
            <a:r>
              <a:rPr lang="en-US" sz="1875" dirty="0">
                <a:solidFill>
                  <a:srgbClr val="57514F"/>
                </a:solidFill>
                <a:latin typeface="Be Vietnam Pro" pitchFamily="34" charset="0"/>
                <a:ea typeface="Be Vietnam Pro" pitchFamily="34" charset="-122"/>
                <a:cs typeface="Be Vietnam Pro" pitchFamily="34" charset="-120"/>
              </a:rPr>
              <a:t>; khen thưởng đột xuất quản lý riêng, ngoài luồng đề xuất.</a:t>
            </a:r>
            <a:endParaRPr lang="en-US" sz="1875" dirty="0"/>
          </a:p>
        </p:txBody>
      </p:sp>
      <p:sp>
        <p:nvSpPr>
          <p:cNvPr id="49" name="Shape 47"/>
          <p:cNvSpPr/>
          <p:nvPr/>
        </p:nvSpPr>
        <p:spPr>
          <a:xfrm>
            <a:off x="914400" y="9477375"/>
            <a:ext cx="16459200" cy="9525"/>
          </a:xfrm>
          <a:prstGeom prst="rect">
            <a:avLst/>
          </a:prstGeom>
          <a:solidFill>
            <a:srgbClr val="E8E2DE"/>
          </a:solidFill>
          <a:ln/>
        </p:spPr>
      </p:sp>
      <p:pic>
        <p:nvPicPr>
          <p:cNvPr id="50"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51" name="Text 48"/>
          <p:cNvSpPr/>
          <p:nvPr/>
        </p:nvSpPr>
        <p:spPr>
          <a:xfrm>
            <a:off x="6637362"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52" name="Text 49"/>
          <p:cNvSpPr/>
          <p:nvPr/>
        </p:nvSpPr>
        <p:spPr>
          <a:xfrm>
            <a:off x="17124164" y="9658350"/>
            <a:ext cx="325636"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05</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2276892"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 · MỞ ĐẦU</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Chuỗi danh hiệu hằng năm — cá nhân</a:t>
            </a:r>
            <a:endParaRPr lang="en-US" sz="3750" dirty="0"/>
          </a:p>
        </p:txBody>
      </p:sp>
      <p:sp>
        <p:nvSpPr>
          <p:cNvPr id="5" name="Shape 3"/>
          <p:cNvSpPr/>
          <p:nvPr/>
        </p:nvSpPr>
        <p:spPr>
          <a:xfrm>
            <a:off x="914400" y="1843088"/>
            <a:ext cx="16459200" cy="695325"/>
          </a:xfrm>
          <a:prstGeom prst="rect">
            <a:avLst/>
          </a:prstGeom>
          <a:solidFill>
            <a:srgbClr val="2A1416"/>
          </a:solidFill>
          <a:ln/>
        </p:spPr>
      </p:sp>
      <p:sp>
        <p:nvSpPr>
          <p:cNvPr id="6" name="Text 4"/>
          <p:cNvSpPr/>
          <p:nvPr/>
        </p:nvSpPr>
        <p:spPr>
          <a:xfrm>
            <a:off x="1200150" y="2081212"/>
            <a:ext cx="1214214" cy="257175"/>
          </a:xfrm>
          <a:prstGeom prst="rect">
            <a:avLst/>
          </a:prstGeom>
          <a:noFill/>
          <a:ln/>
        </p:spPr>
        <p:txBody>
          <a:bodyPr wrap="square" lIns="25400" tIns="25400" rIns="25400" bIns="25400" rtlCol="0" anchor="t">
            <a:normAutofit/>
          </a:bodyPr>
          <a:lstStyle/>
          <a:p>
            <a:pPr algn="l" indent="0" marL="0">
              <a:buNone/>
            </a:pPr>
            <a:r>
              <a:rPr lang="en-US" sz="1575" b="1" spc="75" kern="0" dirty="0">
                <a:solidFill>
                  <a:srgbClr val="FCE3A0"/>
                </a:solidFill>
                <a:latin typeface="Archivo" pitchFamily="34" charset="0"/>
                <a:ea typeface="Archivo" pitchFamily="34" charset="-122"/>
                <a:cs typeface="Archivo" pitchFamily="34" charset="-120"/>
              </a:rPr>
              <a:t>NỀN TẢNG</a:t>
            </a:r>
            <a:endParaRPr lang="en-US" sz="1575" dirty="0"/>
          </a:p>
        </p:txBody>
      </p:sp>
      <p:sp>
        <p:nvSpPr>
          <p:cNvPr id="7" name="Text 5"/>
          <p:cNvSpPr/>
          <p:nvPr/>
        </p:nvSpPr>
        <p:spPr>
          <a:xfrm>
            <a:off x="2490564" y="2033588"/>
            <a:ext cx="6024030" cy="352425"/>
          </a:xfrm>
          <a:prstGeom prst="rect">
            <a:avLst/>
          </a:prstGeom>
          <a:noFill/>
          <a:ln/>
        </p:spPr>
        <p:txBody>
          <a:bodyPr wrap="square" lIns="0" tIns="0" rIns="0" bIns="0" rtlCol="0" anchor="t">
            <a:normAutofit/>
          </a:bodyPr>
          <a:lstStyle/>
          <a:p>
            <a:pPr algn="l" indent="0" marL="0">
              <a:buNone/>
            </a:pPr>
            <a:r>
              <a:rPr lang="en-US" sz="1950" dirty="0">
                <a:solidFill>
                  <a:srgbClr val="FFFFFF"/>
                </a:solidFill>
                <a:latin typeface="Be Vietnam Pro" pitchFamily="34" charset="0"/>
                <a:ea typeface="Be Vietnam Pro" pitchFamily="34" charset="-122"/>
                <a:cs typeface="Be Vietnam Pro" pitchFamily="34" charset="-120"/>
              </a:rPr>
              <a:t>CSTĐCS + Nghiên cứu khoa học liên tục mỗi năm</a:t>
            </a:r>
            <a:endParaRPr lang="en-US" sz="1950" dirty="0"/>
          </a:p>
        </p:txBody>
      </p:sp>
      <p:sp>
        <p:nvSpPr>
          <p:cNvPr id="8" name="Shape 6"/>
          <p:cNvSpPr/>
          <p:nvPr/>
        </p:nvSpPr>
        <p:spPr>
          <a:xfrm>
            <a:off x="914400" y="2862263"/>
            <a:ext cx="5130775" cy="1874044"/>
          </a:xfrm>
          <a:prstGeom prst="rect">
            <a:avLst/>
          </a:prstGeom>
          <a:solidFill>
            <a:srgbClr val="FFFFFF"/>
          </a:solidFill>
          <a:ln/>
        </p:spPr>
      </p:sp>
      <p:sp>
        <p:nvSpPr>
          <p:cNvPr id="9" name="Shape 7"/>
          <p:cNvSpPr/>
          <p:nvPr/>
        </p:nvSpPr>
        <p:spPr>
          <a:xfrm>
            <a:off x="914400" y="4726781"/>
            <a:ext cx="5130775" cy="9525"/>
          </a:xfrm>
          <a:prstGeom prst="rect">
            <a:avLst/>
          </a:prstGeom>
          <a:solidFill>
            <a:srgbClr val="ECE6E2"/>
          </a:solidFill>
          <a:ln/>
        </p:spPr>
      </p:sp>
      <p:sp>
        <p:nvSpPr>
          <p:cNvPr id="10" name="Shape 8"/>
          <p:cNvSpPr/>
          <p:nvPr/>
        </p:nvSpPr>
        <p:spPr>
          <a:xfrm>
            <a:off x="914400" y="2862263"/>
            <a:ext cx="5130775" cy="47625"/>
          </a:xfrm>
          <a:prstGeom prst="rect">
            <a:avLst/>
          </a:prstGeom>
          <a:solidFill>
            <a:srgbClr val="C02034"/>
          </a:solidFill>
          <a:ln/>
        </p:spPr>
      </p:sp>
      <p:sp>
        <p:nvSpPr>
          <p:cNvPr id="11" name="Shape 9"/>
          <p:cNvSpPr/>
          <p:nvPr/>
        </p:nvSpPr>
        <p:spPr>
          <a:xfrm>
            <a:off x="914400" y="2862263"/>
            <a:ext cx="9525" cy="1874044"/>
          </a:xfrm>
          <a:prstGeom prst="rect">
            <a:avLst/>
          </a:prstGeom>
          <a:solidFill>
            <a:srgbClr val="ECE6E2"/>
          </a:solidFill>
          <a:ln/>
        </p:spPr>
      </p:sp>
      <p:sp>
        <p:nvSpPr>
          <p:cNvPr id="12" name="Shape 10"/>
          <p:cNvSpPr/>
          <p:nvPr/>
        </p:nvSpPr>
        <p:spPr>
          <a:xfrm>
            <a:off x="6035650" y="2862263"/>
            <a:ext cx="9525" cy="1874044"/>
          </a:xfrm>
          <a:prstGeom prst="rect">
            <a:avLst/>
          </a:prstGeom>
          <a:solidFill>
            <a:srgbClr val="ECE6E2"/>
          </a:solidFill>
          <a:ln/>
        </p:spPr>
      </p:sp>
      <p:sp>
        <p:nvSpPr>
          <p:cNvPr id="13" name="Text 11"/>
          <p:cNvSpPr/>
          <p:nvPr/>
        </p:nvSpPr>
        <p:spPr>
          <a:xfrm>
            <a:off x="1209675" y="3195638"/>
            <a:ext cx="4994248" cy="476250"/>
          </a:xfrm>
          <a:prstGeom prst="rect">
            <a:avLst/>
          </a:prstGeom>
          <a:noFill/>
          <a:ln/>
        </p:spPr>
        <p:txBody>
          <a:bodyPr wrap="square" lIns="25400" tIns="25400" rIns="25400" bIns="25400" rtlCol="0" anchor="t">
            <a:normAutofit/>
          </a:bodyPr>
          <a:lstStyle/>
          <a:p>
            <a:pPr algn="l" indent="0" marL="0">
              <a:buNone/>
            </a:pPr>
            <a:r>
              <a:rPr lang="en-US" sz="3150" b="1" dirty="0">
                <a:solidFill>
                  <a:srgbClr val="C02034"/>
                </a:solidFill>
                <a:latin typeface="Archivo" pitchFamily="34" charset="0"/>
                <a:ea typeface="Archivo" pitchFamily="34" charset="-122"/>
                <a:cs typeface="Archivo" pitchFamily="34" charset="-120"/>
              </a:rPr>
              <a:t>BKBQP</a:t>
            </a:r>
            <a:endParaRPr lang="en-US" sz="3150" dirty="0"/>
          </a:p>
        </p:txBody>
      </p:sp>
      <p:sp>
        <p:nvSpPr>
          <p:cNvPr id="14" name="Text 12"/>
          <p:cNvSpPr/>
          <p:nvPr/>
        </p:nvSpPr>
        <p:spPr>
          <a:xfrm>
            <a:off x="1209675" y="3690937"/>
            <a:ext cx="4994248" cy="314325"/>
          </a:xfrm>
          <a:prstGeom prst="rect">
            <a:avLst/>
          </a:prstGeom>
          <a:noFill/>
          <a:ln/>
        </p:spPr>
        <p:txBody>
          <a:bodyPr wrap="square" lIns="25400" tIns="25400" rIns="25400" bIns="25400" rtlCol="0" anchor="t">
            <a:normAutofit/>
          </a:bodyPr>
          <a:lstStyle/>
          <a:p>
            <a:pPr algn="l" indent="0" marL="0">
              <a:buNone/>
            </a:pPr>
            <a:r>
              <a:rPr lang="en-US" sz="1725" b="1" spc="75" kern="0" dirty="0">
                <a:solidFill>
                  <a:srgbClr val="9A938F"/>
                </a:solidFill>
                <a:latin typeface="Be Vietnam Pro" pitchFamily="34" charset="0"/>
                <a:ea typeface="Be Vietnam Pro" pitchFamily="34" charset="-122"/>
                <a:cs typeface="Be Vietnam Pro" pitchFamily="34" charset="-120"/>
              </a:rPr>
              <a:t>CHU KỲ 2 NĂM</a:t>
            </a:r>
            <a:endParaRPr lang="en-US" sz="1725" dirty="0"/>
          </a:p>
        </p:txBody>
      </p:sp>
      <p:sp>
        <p:nvSpPr>
          <p:cNvPr id="15" name="Text 13"/>
          <p:cNvSpPr/>
          <p:nvPr/>
        </p:nvSpPr>
        <p:spPr>
          <a:xfrm>
            <a:off x="1209675" y="4119562"/>
            <a:ext cx="4994248"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3A3537"/>
                </a:solidFill>
                <a:latin typeface="Be Vietnam Pro" pitchFamily="34" charset="0"/>
                <a:ea typeface="Be Vietnam Pro" pitchFamily="34" charset="-122"/>
                <a:cs typeface="Be Vietnam Pro" pitchFamily="34" charset="-120"/>
              </a:rPr>
              <a:t>Tích luỹ 2 năm CSTĐCS</a:t>
            </a:r>
            <a:endParaRPr lang="en-US" sz="1875" dirty="0"/>
          </a:p>
        </p:txBody>
      </p:sp>
      <p:sp>
        <p:nvSpPr>
          <p:cNvPr id="16" name="Text 14"/>
          <p:cNvSpPr/>
          <p:nvPr/>
        </p:nvSpPr>
        <p:spPr>
          <a:xfrm>
            <a:off x="6007075" y="2862263"/>
            <a:ext cx="609600" cy="1912144"/>
          </a:xfrm>
          <a:prstGeom prst="rect">
            <a:avLst/>
          </a:prstGeom>
          <a:noFill/>
          <a:ln/>
        </p:spPr>
        <p:txBody>
          <a:bodyPr wrap="square" lIns="25400" tIns="25400" rIns="25400" bIns="25400" rtlCol="0" anchor="ctr">
            <a:normAutofit/>
          </a:bodyPr>
          <a:lstStyle/>
          <a:p>
            <a:pPr algn="ctr" indent="0" marL="0">
              <a:buNone/>
            </a:pPr>
            <a:r>
              <a:rPr lang="en-US" sz="3450" dirty="0">
                <a:solidFill>
                  <a:srgbClr val="C8C0BB"/>
                </a:solidFill>
                <a:latin typeface="Be Vietnam Pro" pitchFamily="34" charset="0"/>
                <a:ea typeface="Be Vietnam Pro" pitchFamily="34" charset="-122"/>
                <a:cs typeface="Be Vietnam Pro" pitchFamily="34" charset="-120"/>
              </a:rPr>
              <a:t>→</a:t>
            </a:r>
            <a:endParaRPr lang="en-US" sz="3450" dirty="0"/>
          </a:p>
        </p:txBody>
      </p:sp>
      <p:sp>
        <p:nvSpPr>
          <p:cNvPr id="17" name="Shape 15"/>
          <p:cNvSpPr/>
          <p:nvPr/>
        </p:nvSpPr>
        <p:spPr>
          <a:xfrm>
            <a:off x="6578575" y="2862263"/>
            <a:ext cx="5130775" cy="1874044"/>
          </a:xfrm>
          <a:prstGeom prst="rect">
            <a:avLst/>
          </a:prstGeom>
          <a:solidFill>
            <a:srgbClr val="FFFFFF"/>
          </a:solidFill>
          <a:ln/>
        </p:spPr>
      </p:sp>
      <p:sp>
        <p:nvSpPr>
          <p:cNvPr id="18" name="Shape 16"/>
          <p:cNvSpPr/>
          <p:nvPr/>
        </p:nvSpPr>
        <p:spPr>
          <a:xfrm>
            <a:off x="6578575" y="4726781"/>
            <a:ext cx="5130775" cy="9525"/>
          </a:xfrm>
          <a:prstGeom prst="rect">
            <a:avLst/>
          </a:prstGeom>
          <a:solidFill>
            <a:srgbClr val="ECE6E2"/>
          </a:solidFill>
          <a:ln/>
        </p:spPr>
      </p:sp>
      <p:sp>
        <p:nvSpPr>
          <p:cNvPr id="19" name="Shape 17"/>
          <p:cNvSpPr/>
          <p:nvPr/>
        </p:nvSpPr>
        <p:spPr>
          <a:xfrm>
            <a:off x="6578575" y="2862263"/>
            <a:ext cx="5130775" cy="47625"/>
          </a:xfrm>
          <a:prstGeom prst="rect">
            <a:avLst/>
          </a:prstGeom>
          <a:solidFill>
            <a:srgbClr val="C02034"/>
          </a:solidFill>
          <a:ln/>
        </p:spPr>
      </p:sp>
      <p:sp>
        <p:nvSpPr>
          <p:cNvPr id="20" name="Shape 18"/>
          <p:cNvSpPr/>
          <p:nvPr/>
        </p:nvSpPr>
        <p:spPr>
          <a:xfrm>
            <a:off x="6578575" y="2862263"/>
            <a:ext cx="9525" cy="1874044"/>
          </a:xfrm>
          <a:prstGeom prst="rect">
            <a:avLst/>
          </a:prstGeom>
          <a:solidFill>
            <a:srgbClr val="ECE6E2"/>
          </a:solidFill>
          <a:ln/>
        </p:spPr>
      </p:sp>
      <p:sp>
        <p:nvSpPr>
          <p:cNvPr id="21" name="Shape 19"/>
          <p:cNvSpPr/>
          <p:nvPr/>
        </p:nvSpPr>
        <p:spPr>
          <a:xfrm>
            <a:off x="11699825" y="2862263"/>
            <a:ext cx="9525" cy="1874044"/>
          </a:xfrm>
          <a:prstGeom prst="rect">
            <a:avLst/>
          </a:prstGeom>
          <a:solidFill>
            <a:srgbClr val="ECE6E2"/>
          </a:solidFill>
          <a:ln/>
        </p:spPr>
      </p:sp>
      <p:sp>
        <p:nvSpPr>
          <p:cNvPr id="22" name="Text 20"/>
          <p:cNvSpPr/>
          <p:nvPr/>
        </p:nvSpPr>
        <p:spPr>
          <a:xfrm>
            <a:off x="6873850" y="3195638"/>
            <a:ext cx="4994248" cy="476250"/>
          </a:xfrm>
          <a:prstGeom prst="rect">
            <a:avLst/>
          </a:prstGeom>
          <a:noFill/>
          <a:ln/>
        </p:spPr>
        <p:txBody>
          <a:bodyPr wrap="square" lIns="25400" tIns="25400" rIns="25400" bIns="25400" rtlCol="0" anchor="t">
            <a:normAutofit/>
          </a:bodyPr>
          <a:lstStyle/>
          <a:p>
            <a:pPr algn="l" indent="0" marL="0">
              <a:buNone/>
            </a:pPr>
            <a:r>
              <a:rPr lang="en-US" sz="3150" b="1" dirty="0">
                <a:solidFill>
                  <a:srgbClr val="C02034"/>
                </a:solidFill>
                <a:latin typeface="Archivo" pitchFamily="34" charset="0"/>
                <a:ea typeface="Archivo" pitchFamily="34" charset="-122"/>
                <a:cs typeface="Archivo" pitchFamily="34" charset="-120"/>
              </a:rPr>
              <a:t>CSTĐTQ</a:t>
            </a:r>
            <a:endParaRPr lang="en-US" sz="3150" dirty="0"/>
          </a:p>
        </p:txBody>
      </p:sp>
      <p:sp>
        <p:nvSpPr>
          <p:cNvPr id="23" name="Text 21"/>
          <p:cNvSpPr/>
          <p:nvPr/>
        </p:nvSpPr>
        <p:spPr>
          <a:xfrm>
            <a:off x="6873850" y="3690937"/>
            <a:ext cx="4994248" cy="314325"/>
          </a:xfrm>
          <a:prstGeom prst="rect">
            <a:avLst/>
          </a:prstGeom>
          <a:noFill/>
          <a:ln/>
        </p:spPr>
        <p:txBody>
          <a:bodyPr wrap="square" lIns="25400" tIns="25400" rIns="25400" bIns="25400" rtlCol="0" anchor="t">
            <a:normAutofit/>
          </a:bodyPr>
          <a:lstStyle/>
          <a:p>
            <a:pPr algn="l" indent="0" marL="0">
              <a:buNone/>
            </a:pPr>
            <a:r>
              <a:rPr lang="en-US" sz="1725" b="1" spc="75" kern="0" dirty="0">
                <a:solidFill>
                  <a:srgbClr val="9A938F"/>
                </a:solidFill>
                <a:latin typeface="Be Vietnam Pro" pitchFamily="34" charset="0"/>
                <a:ea typeface="Be Vietnam Pro" pitchFamily="34" charset="-122"/>
                <a:cs typeface="Be Vietnam Pro" pitchFamily="34" charset="-120"/>
              </a:rPr>
              <a:t>CHU KỲ 3 NĂM</a:t>
            </a:r>
            <a:endParaRPr lang="en-US" sz="1725" dirty="0"/>
          </a:p>
        </p:txBody>
      </p:sp>
      <p:sp>
        <p:nvSpPr>
          <p:cNvPr id="24" name="Text 22"/>
          <p:cNvSpPr/>
          <p:nvPr/>
        </p:nvSpPr>
        <p:spPr>
          <a:xfrm>
            <a:off x="6873850" y="4119562"/>
            <a:ext cx="4994248"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3A3537"/>
                </a:solidFill>
                <a:latin typeface="Be Vietnam Pro" pitchFamily="34" charset="0"/>
                <a:ea typeface="Be Vietnam Pro" pitchFamily="34" charset="-122"/>
                <a:cs typeface="Be Vietnam Pro" pitchFamily="34" charset="-120"/>
              </a:rPr>
              <a:t>+ ≥ 1 BKBQP (cửa sổ 3 năm)</a:t>
            </a:r>
            <a:endParaRPr lang="en-US" sz="1875" dirty="0"/>
          </a:p>
        </p:txBody>
      </p:sp>
      <p:sp>
        <p:nvSpPr>
          <p:cNvPr id="25" name="Text 23"/>
          <p:cNvSpPr/>
          <p:nvPr/>
        </p:nvSpPr>
        <p:spPr>
          <a:xfrm>
            <a:off x="11671250" y="2862263"/>
            <a:ext cx="609600" cy="1912144"/>
          </a:xfrm>
          <a:prstGeom prst="rect">
            <a:avLst/>
          </a:prstGeom>
          <a:noFill/>
          <a:ln/>
        </p:spPr>
        <p:txBody>
          <a:bodyPr wrap="square" lIns="25400" tIns="25400" rIns="25400" bIns="25400" rtlCol="0" anchor="ctr">
            <a:normAutofit/>
          </a:bodyPr>
          <a:lstStyle/>
          <a:p>
            <a:pPr algn="ctr" indent="0" marL="0">
              <a:buNone/>
            </a:pPr>
            <a:r>
              <a:rPr lang="en-US" sz="3450" dirty="0">
                <a:solidFill>
                  <a:srgbClr val="C8C0BB"/>
                </a:solidFill>
                <a:latin typeface="Be Vietnam Pro" pitchFamily="34" charset="0"/>
                <a:ea typeface="Be Vietnam Pro" pitchFamily="34" charset="-122"/>
                <a:cs typeface="Be Vietnam Pro" pitchFamily="34" charset="-120"/>
              </a:rPr>
              <a:t>→</a:t>
            </a:r>
            <a:endParaRPr lang="en-US" sz="3450" dirty="0"/>
          </a:p>
        </p:txBody>
      </p:sp>
      <p:sp>
        <p:nvSpPr>
          <p:cNvPr id="26" name="Shape 24"/>
          <p:cNvSpPr/>
          <p:nvPr/>
        </p:nvSpPr>
        <p:spPr>
          <a:xfrm>
            <a:off x="12242750" y="2862263"/>
            <a:ext cx="5130850" cy="1874044"/>
          </a:xfrm>
          <a:prstGeom prst="rect">
            <a:avLst/>
          </a:prstGeom>
          <a:solidFill>
            <a:srgbClr val="C02034"/>
          </a:solidFill>
          <a:ln/>
        </p:spPr>
      </p:sp>
      <p:sp>
        <p:nvSpPr>
          <p:cNvPr id="27" name="Shape 25"/>
          <p:cNvSpPr/>
          <p:nvPr/>
        </p:nvSpPr>
        <p:spPr>
          <a:xfrm>
            <a:off x="12242750" y="2862263"/>
            <a:ext cx="5130850" cy="47625"/>
          </a:xfrm>
          <a:prstGeom prst="rect">
            <a:avLst/>
          </a:prstGeom>
          <a:solidFill>
            <a:srgbClr val="8E1622"/>
          </a:solidFill>
          <a:ln/>
        </p:spPr>
      </p:sp>
      <p:sp>
        <p:nvSpPr>
          <p:cNvPr id="28" name="Text 26"/>
          <p:cNvSpPr/>
          <p:nvPr/>
        </p:nvSpPr>
        <p:spPr>
          <a:xfrm>
            <a:off x="12528500" y="3195638"/>
            <a:ext cx="5015285" cy="476250"/>
          </a:xfrm>
          <a:prstGeom prst="rect">
            <a:avLst/>
          </a:prstGeom>
          <a:noFill/>
          <a:ln/>
        </p:spPr>
        <p:txBody>
          <a:bodyPr wrap="square" lIns="25400" tIns="25400" rIns="25400" bIns="25400" rtlCol="0" anchor="t">
            <a:normAutofit/>
          </a:bodyPr>
          <a:lstStyle/>
          <a:p>
            <a:pPr algn="l" indent="0" marL="0">
              <a:buNone/>
            </a:pPr>
            <a:r>
              <a:rPr lang="en-US" sz="3150" b="1" dirty="0">
                <a:solidFill>
                  <a:srgbClr val="FFFFFF"/>
                </a:solidFill>
                <a:latin typeface="Archivo" pitchFamily="34" charset="0"/>
                <a:ea typeface="Archivo" pitchFamily="34" charset="-122"/>
                <a:cs typeface="Archivo" pitchFamily="34" charset="-120"/>
              </a:rPr>
              <a:t>BKTTCP</a:t>
            </a:r>
            <a:endParaRPr lang="en-US" sz="3150" dirty="0"/>
          </a:p>
        </p:txBody>
      </p:sp>
      <p:sp>
        <p:nvSpPr>
          <p:cNvPr id="29" name="Text 27"/>
          <p:cNvSpPr/>
          <p:nvPr/>
        </p:nvSpPr>
        <p:spPr>
          <a:xfrm>
            <a:off x="12528500" y="3690937"/>
            <a:ext cx="5015285" cy="314325"/>
          </a:xfrm>
          <a:prstGeom prst="rect">
            <a:avLst/>
          </a:prstGeom>
          <a:noFill/>
          <a:ln/>
        </p:spPr>
        <p:txBody>
          <a:bodyPr wrap="square" lIns="25400" tIns="25400" rIns="25400" bIns="25400" rtlCol="0" anchor="t">
            <a:normAutofit/>
          </a:bodyPr>
          <a:lstStyle/>
          <a:p>
            <a:pPr algn="l" indent="0" marL="0">
              <a:buNone/>
            </a:pPr>
            <a:r>
              <a:rPr lang="en-US" sz="1725" b="1" spc="75" kern="0" dirty="0">
                <a:solidFill>
                  <a:srgbClr val="FCE3A0"/>
                </a:solidFill>
                <a:latin typeface="Be Vietnam Pro" pitchFamily="34" charset="0"/>
                <a:ea typeface="Be Vietnam Pro" pitchFamily="34" charset="-122"/>
                <a:cs typeface="Be Vietnam Pro" pitchFamily="34" charset="-120"/>
              </a:rPr>
              <a:t>CHU KỲ 7 NĂM · MỘT LẦN</a:t>
            </a:r>
            <a:endParaRPr lang="en-US" sz="1725" dirty="0"/>
          </a:p>
        </p:txBody>
      </p:sp>
      <p:sp>
        <p:nvSpPr>
          <p:cNvPr id="30" name="Text 28"/>
          <p:cNvSpPr/>
          <p:nvPr/>
        </p:nvSpPr>
        <p:spPr>
          <a:xfrm>
            <a:off x="12528500" y="4119562"/>
            <a:ext cx="5015285" cy="359569"/>
          </a:xfrm>
          <a:prstGeom prst="rect">
            <a:avLst/>
          </a:prstGeom>
          <a:noFill/>
          <a:ln/>
        </p:spPr>
        <p:txBody>
          <a:bodyPr wrap="square" lIns="25400" tIns="25400" rIns="25400" bIns="25400" rtlCol="0" anchor="t">
            <a:normAutofit/>
          </a:bodyPr>
          <a:lstStyle/>
          <a:p>
            <a:pPr algn="l" indent="0" marL="0">
              <a:lnSpc>
                <a:spcPct val="135000"/>
              </a:lnSpc>
              <a:buNone/>
            </a:pPr>
            <a:r>
              <a:rPr lang="en-US" sz="1875" dirty="0">
                <a:solidFill>
                  <a:srgbClr val="FFFFFF">
                    <a:alpha val="94000"/>
                  </a:srgbClr>
                </a:solidFill>
                <a:latin typeface="Be Vietnam Pro" pitchFamily="34" charset="0"/>
                <a:ea typeface="Be Vietnam Pro" pitchFamily="34" charset="-122"/>
                <a:cs typeface="Be Vietnam Pro" pitchFamily="34" charset="-120"/>
              </a:rPr>
              <a:t>+ 3 BKBQP + 2 CSTĐTQ</a:t>
            </a:r>
            <a:endParaRPr lang="en-US" sz="1875" dirty="0"/>
          </a:p>
        </p:txBody>
      </p:sp>
      <p:sp>
        <p:nvSpPr>
          <p:cNvPr id="31" name="Shape 29"/>
          <p:cNvSpPr/>
          <p:nvPr/>
        </p:nvSpPr>
        <p:spPr>
          <a:xfrm>
            <a:off x="914400" y="5022056"/>
            <a:ext cx="38100" cy="639961"/>
          </a:xfrm>
          <a:prstGeom prst="rect">
            <a:avLst/>
          </a:prstGeom>
          <a:solidFill>
            <a:srgbClr val="E59C0A"/>
          </a:solidFill>
          <a:ln/>
        </p:spPr>
      </p:sp>
      <p:sp>
        <p:nvSpPr>
          <p:cNvPr id="32" name="Text 30"/>
          <p:cNvSpPr/>
          <p:nvPr/>
        </p:nvSpPr>
        <p:spPr>
          <a:xfrm>
            <a:off x="1143000" y="5022056"/>
            <a:ext cx="8120348"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E1A1B"/>
                </a:solidFill>
                <a:latin typeface="Be Vietnam Pro" pitchFamily="34" charset="0"/>
                <a:ea typeface="Be Vietnam Pro" pitchFamily="34" charset="-122"/>
                <a:cs typeface="Be Vietnam Pro" pitchFamily="34" charset="-120"/>
              </a:rPr>
              <a:t>Đơn vị: </a:t>
            </a:r>
            <a:pPr algn="l" indent="0" marL="0">
              <a:lnSpc>
                <a:spcPct val="140000"/>
              </a:lnSpc>
              <a:buNone/>
            </a:pPr>
            <a:r>
              <a:rPr lang="en-US" sz="1800" dirty="0">
                <a:solidFill>
                  <a:srgbClr val="3A3537"/>
                </a:solidFill>
                <a:latin typeface="Be Vietnam Pro" pitchFamily="34" charset="0"/>
                <a:ea typeface="Be Vietnam Pro" pitchFamily="34" charset="-122"/>
                <a:cs typeface="Be Vietnam Pro" pitchFamily="34" charset="-120"/>
              </a:rPr>
              <a:t>ĐVQT → BKBQP (2 năm) → BKTTCP (7 năm) · có thể nhận lặp lại</a:t>
            </a:r>
            <a:endParaRPr lang="en-US" sz="1800" dirty="0"/>
          </a:p>
        </p:txBody>
      </p:sp>
      <p:sp>
        <p:nvSpPr>
          <p:cNvPr id="33" name="Shape 31"/>
          <p:cNvSpPr/>
          <p:nvPr/>
        </p:nvSpPr>
        <p:spPr>
          <a:xfrm>
            <a:off x="9267825" y="5022056"/>
            <a:ext cx="38100" cy="639961"/>
          </a:xfrm>
          <a:prstGeom prst="rect">
            <a:avLst/>
          </a:prstGeom>
          <a:solidFill>
            <a:srgbClr val="C02034"/>
          </a:solidFill>
          <a:ln/>
        </p:spPr>
      </p:sp>
      <p:sp>
        <p:nvSpPr>
          <p:cNvPr id="34" name="Text 32"/>
          <p:cNvSpPr/>
          <p:nvPr/>
        </p:nvSpPr>
        <p:spPr>
          <a:xfrm>
            <a:off x="9496425" y="5022056"/>
            <a:ext cx="8120348"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E1A1B"/>
                </a:solidFill>
                <a:latin typeface="Be Vietnam Pro" pitchFamily="34" charset="0"/>
                <a:ea typeface="Be Vietnam Pro" pitchFamily="34" charset="-122"/>
                <a:cs typeface="Be Vietnam Pro" pitchFamily="34" charset="-120"/>
              </a:rPr>
              <a:t>Lỡ đợt: </a:t>
            </a:r>
            <a:pPr algn="l" indent="0" marL="0">
              <a:lnSpc>
                <a:spcPct val="140000"/>
              </a:lnSpc>
              <a:buNone/>
            </a:pPr>
            <a:r>
              <a:rPr lang="en-US" sz="1800" dirty="0">
                <a:solidFill>
                  <a:srgbClr val="3A3537"/>
                </a:solidFill>
                <a:latin typeface="Be Vietnam Pro" pitchFamily="34" charset="0"/>
                <a:ea typeface="Be Vietnam Pro" pitchFamily="34" charset="-122"/>
                <a:cs typeface="Be Vietnam Pro" pitchFamily="34" charset="-120"/>
              </a:rPr>
              <a:t>bỏ lỡ mốc đề nghị thì chu kỳ vẫn đếm tiếp — chu kỳ sau vẫn được xét</a:t>
            </a:r>
            <a:endParaRPr lang="en-US" sz="1800" dirty="0"/>
          </a:p>
        </p:txBody>
      </p:sp>
      <p:sp>
        <p:nvSpPr>
          <p:cNvPr id="35" name="Shape 33"/>
          <p:cNvSpPr/>
          <p:nvPr/>
        </p:nvSpPr>
        <p:spPr>
          <a:xfrm>
            <a:off x="914400" y="9477375"/>
            <a:ext cx="16459200" cy="9525"/>
          </a:xfrm>
          <a:prstGeom prst="rect">
            <a:avLst/>
          </a:prstGeom>
          <a:solidFill>
            <a:srgbClr val="E8E2DE"/>
          </a:solidFill>
          <a:ln/>
        </p:spPr>
      </p:sp>
      <p:pic>
        <p:nvPicPr>
          <p:cNvPr id="36"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37" name="Text 34"/>
          <p:cNvSpPr/>
          <p:nvPr/>
        </p:nvSpPr>
        <p:spPr>
          <a:xfrm>
            <a:off x="6637288"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38" name="Text 35"/>
          <p:cNvSpPr/>
          <p:nvPr/>
        </p:nvSpPr>
        <p:spPr>
          <a:xfrm>
            <a:off x="17124015" y="9658350"/>
            <a:ext cx="325785"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06</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2276892"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 · MỞ ĐẦU</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Minh hoạ chuỗi cá nhân — ví dụ 7 năm</a:t>
            </a:r>
            <a:endParaRPr lang="en-US" sz="3750" dirty="0"/>
          </a:p>
        </p:txBody>
      </p:sp>
      <p:sp>
        <p:nvSpPr>
          <p:cNvPr id="5" name="Shape 3"/>
          <p:cNvSpPr/>
          <p:nvPr/>
        </p:nvSpPr>
        <p:spPr>
          <a:xfrm>
            <a:off x="914400" y="1804988"/>
            <a:ext cx="16459200" cy="642938"/>
          </a:xfrm>
          <a:prstGeom prst="rect">
            <a:avLst/>
          </a:prstGeom>
          <a:solidFill>
            <a:srgbClr val="2A1416"/>
          </a:solidFill>
          <a:ln/>
        </p:spPr>
      </p:sp>
      <p:sp>
        <p:nvSpPr>
          <p:cNvPr id="6" name="Text 4"/>
          <p:cNvSpPr/>
          <p:nvPr/>
        </p:nvSpPr>
        <p:spPr>
          <a:xfrm>
            <a:off x="1200150" y="2016919"/>
            <a:ext cx="1214214" cy="257175"/>
          </a:xfrm>
          <a:prstGeom prst="rect">
            <a:avLst/>
          </a:prstGeom>
          <a:noFill/>
          <a:ln/>
        </p:spPr>
        <p:txBody>
          <a:bodyPr wrap="square" lIns="25400" tIns="25400" rIns="25400" bIns="25400" rtlCol="0" anchor="t">
            <a:normAutofit/>
          </a:bodyPr>
          <a:lstStyle/>
          <a:p>
            <a:pPr algn="l" indent="0" marL="0">
              <a:buNone/>
            </a:pPr>
            <a:r>
              <a:rPr lang="en-US" sz="1575" b="1" spc="75" kern="0" dirty="0">
                <a:solidFill>
                  <a:srgbClr val="FCE3A0"/>
                </a:solidFill>
                <a:latin typeface="Archivo" pitchFamily="34" charset="0"/>
                <a:ea typeface="Archivo" pitchFamily="34" charset="-122"/>
                <a:cs typeface="Archivo" pitchFamily="34" charset="-120"/>
              </a:rPr>
              <a:t>NỀN TẢNG</a:t>
            </a:r>
            <a:endParaRPr lang="en-US" sz="1575" dirty="0"/>
          </a:p>
        </p:txBody>
      </p:sp>
      <p:sp>
        <p:nvSpPr>
          <p:cNvPr id="7" name="Text 5"/>
          <p:cNvSpPr/>
          <p:nvPr/>
        </p:nvSpPr>
        <p:spPr>
          <a:xfrm>
            <a:off x="2490564" y="1976438"/>
            <a:ext cx="4018039" cy="338138"/>
          </a:xfrm>
          <a:prstGeom prst="rect">
            <a:avLst/>
          </a:prstGeom>
          <a:noFill/>
          <a:ln/>
        </p:spPr>
        <p:txBody>
          <a:bodyPr wrap="square" lIns="0" tIns="0" rIns="0" bIns="0" rtlCol="0" anchor="t">
            <a:normAutofit/>
          </a:bodyPr>
          <a:lstStyle/>
          <a:p>
            <a:pPr algn="l" indent="0" marL="0">
              <a:buNone/>
            </a:pPr>
            <a:r>
              <a:rPr lang="en-US" sz="1875" dirty="0">
                <a:solidFill>
                  <a:srgbClr val="FFFFFF"/>
                </a:solidFill>
                <a:latin typeface="Be Vietnam Pro" pitchFamily="34" charset="0"/>
                <a:ea typeface="Be Vietnam Pro" pitchFamily="34" charset="-122"/>
                <a:cs typeface="Be Vietnam Pro" pitchFamily="34" charset="-120"/>
              </a:rPr>
              <a:t>CSTĐCS + NCKH liên tục mỗi năm</a:t>
            </a:r>
            <a:endParaRPr lang="en-US" sz="1875" dirty="0"/>
          </a:p>
        </p:txBody>
      </p:sp>
      <p:sp>
        <p:nvSpPr>
          <p:cNvPr id="8" name="Shape 6"/>
          <p:cNvSpPr/>
          <p:nvPr/>
        </p:nvSpPr>
        <p:spPr>
          <a:xfrm>
            <a:off x="914400" y="3609975"/>
            <a:ext cx="2220664" cy="552450"/>
          </a:xfrm>
          <a:prstGeom prst="roundRect">
            <a:avLst>
              <a:gd name="adj" fmla="val 6897"/>
            </a:avLst>
          </a:prstGeom>
          <a:solidFill>
            <a:srgbClr val="F2ECE7"/>
          </a:solidFill>
          <a:ln w="9525">
            <a:solidFill>
              <a:srgbClr val="D8D0CA"/>
            </a:solidFill>
            <a:prstDash val="dash"/>
          </a:ln>
        </p:spPr>
      </p:sp>
      <p:sp>
        <p:nvSpPr>
          <p:cNvPr id="9" name="Text 7"/>
          <p:cNvSpPr/>
          <p:nvPr/>
        </p:nvSpPr>
        <p:spPr>
          <a:xfrm>
            <a:off x="962025" y="3752850"/>
            <a:ext cx="2125414" cy="304800"/>
          </a:xfrm>
          <a:prstGeom prst="rect">
            <a:avLst/>
          </a:prstGeom>
          <a:noFill/>
          <a:ln/>
        </p:spPr>
        <p:txBody>
          <a:bodyPr wrap="square" lIns="25400" tIns="25400" rIns="25400" bIns="25400" rtlCol="0" anchor="t">
            <a:normAutofit/>
          </a:bodyPr>
          <a:lstStyle/>
          <a:p>
            <a:pPr algn="ctr" indent="0" marL="0">
              <a:buNone/>
            </a:pPr>
            <a:r>
              <a:rPr lang="en-US" sz="1650" b="1" dirty="0">
                <a:solidFill>
                  <a:srgbClr val="9A938F"/>
                </a:solidFill>
                <a:latin typeface="Be Vietnam Pro" pitchFamily="34" charset="0"/>
                <a:ea typeface="Be Vietnam Pro" pitchFamily="34" charset="-122"/>
                <a:cs typeface="Be Vietnam Pro" pitchFamily="34" charset="-120"/>
              </a:rPr>
              <a:t>CSTĐCS</a:t>
            </a:r>
            <a:endParaRPr lang="en-US" sz="1650" dirty="0"/>
          </a:p>
        </p:txBody>
      </p:sp>
      <p:sp>
        <p:nvSpPr>
          <p:cNvPr id="10" name="Shape 8"/>
          <p:cNvSpPr/>
          <p:nvPr/>
        </p:nvSpPr>
        <p:spPr>
          <a:xfrm>
            <a:off x="914400" y="4295775"/>
            <a:ext cx="2220664" cy="28575"/>
          </a:xfrm>
          <a:prstGeom prst="rect">
            <a:avLst/>
          </a:prstGeom>
          <a:solidFill>
            <a:srgbClr val="E8E2DE"/>
          </a:solidFill>
          <a:ln/>
        </p:spPr>
      </p:sp>
      <p:sp>
        <p:nvSpPr>
          <p:cNvPr id="11" name="Text 9"/>
          <p:cNvSpPr/>
          <p:nvPr/>
        </p:nvSpPr>
        <p:spPr>
          <a:xfrm>
            <a:off x="876300" y="4438650"/>
            <a:ext cx="2296864" cy="300038"/>
          </a:xfrm>
          <a:prstGeom prst="rect">
            <a:avLst/>
          </a:prstGeom>
          <a:noFill/>
          <a:ln/>
        </p:spPr>
        <p:txBody>
          <a:bodyPr wrap="square" lIns="25400" tIns="25400" rIns="25400" bIns="25400" rtlCol="0" anchor="t">
            <a:normAutofit/>
          </a:bodyPr>
          <a:lstStyle/>
          <a:p>
            <a:pPr algn="ctr" indent="0" marL="0">
              <a:buNone/>
            </a:pPr>
            <a:r>
              <a:rPr lang="en-US" sz="1875" b="1" dirty="0">
                <a:solidFill>
                  <a:srgbClr val="1E1A1B"/>
                </a:solidFill>
                <a:latin typeface="Archivo" pitchFamily="34" charset="0"/>
                <a:ea typeface="Archivo" pitchFamily="34" charset="-122"/>
                <a:cs typeface="Archivo" pitchFamily="34" charset="-120"/>
              </a:rPr>
              <a:t>Năm 1</a:t>
            </a:r>
            <a:endParaRPr lang="en-US" sz="1875" dirty="0"/>
          </a:p>
        </p:txBody>
      </p:sp>
      <p:sp>
        <p:nvSpPr>
          <p:cNvPr id="12" name="Shape 10"/>
          <p:cNvSpPr/>
          <p:nvPr/>
        </p:nvSpPr>
        <p:spPr>
          <a:xfrm>
            <a:off x="3287464" y="3590925"/>
            <a:ext cx="2220664" cy="571500"/>
          </a:xfrm>
          <a:prstGeom prst="roundRect">
            <a:avLst>
              <a:gd name="adj" fmla="val 6667"/>
            </a:avLst>
          </a:prstGeom>
          <a:solidFill>
            <a:srgbClr val="C02034"/>
          </a:solidFill>
          <a:ln/>
        </p:spPr>
      </p:sp>
      <p:sp>
        <p:nvSpPr>
          <p:cNvPr id="13" name="Text 11"/>
          <p:cNvSpPr/>
          <p:nvPr/>
        </p:nvSpPr>
        <p:spPr>
          <a:xfrm>
            <a:off x="3325564" y="3743325"/>
            <a:ext cx="2144464" cy="304800"/>
          </a:xfrm>
          <a:prstGeom prst="rect">
            <a:avLst/>
          </a:prstGeom>
          <a:noFill/>
          <a:ln/>
        </p:spPr>
        <p:txBody>
          <a:bodyPr wrap="square" lIns="25400" tIns="25400" rIns="25400" bIns="25400" rtlCol="0" anchor="t">
            <a:normAutofit/>
          </a:bodyPr>
          <a:lstStyle/>
          <a:p>
            <a:pPr algn="ctr" indent="0" marL="0">
              <a:buNone/>
            </a:pPr>
            <a:r>
              <a:rPr lang="en-US" sz="1650" b="1" dirty="0">
                <a:solidFill>
                  <a:srgbClr val="FFFFFF"/>
                </a:solidFill>
                <a:latin typeface="Be Vietnam Pro" pitchFamily="34" charset="0"/>
                <a:ea typeface="Be Vietnam Pro" pitchFamily="34" charset="-122"/>
                <a:cs typeface="Be Vietnam Pro" pitchFamily="34" charset="-120"/>
              </a:rPr>
              <a:t>BKBQP</a:t>
            </a:r>
            <a:endParaRPr lang="en-US" sz="1650" dirty="0"/>
          </a:p>
        </p:txBody>
      </p:sp>
      <p:sp>
        <p:nvSpPr>
          <p:cNvPr id="14" name="Shape 12"/>
          <p:cNvSpPr/>
          <p:nvPr/>
        </p:nvSpPr>
        <p:spPr>
          <a:xfrm>
            <a:off x="3287464" y="4295775"/>
            <a:ext cx="2220664" cy="28575"/>
          </a:xfrm>
          <a:prstGeom prst="rect">
            <a:avLst/>
          </a:prstGeom>
          <a:solidFill>
            <a:srgbClr val="C02034"/>
          </a:solidFill>
          <a:ln/>
        </p:spPr>
      </p:sp>
      <p:sp>
        <p:nvSpPr>
          <p:cNvPr id="15" name="Text 13"/>
          <p:cNvSpPr/>
          <p:nvPr/>
        </p:nvSpPr>
        <p:spPr>
          <a:xfrm>
            <a:off x="3249364" y="4438650"/>
            <a:ext cx="2296864" cy="300038"/>
          </a:xfrm>
          <a:prstGeom prst="rect">
            <a:avLst/>
          </a:prstGeom>
          <a:noFill/>
          <a:ln/>
        </p:spPr>
        <p:txBody>
          <a:bodyPr wrap="square" lIns="25400" tIns="25400" rIns="25400" bIns="25400" rtlCol="0" anchor="t">
            <a:normAutofit/>
          </a:bodyPr>
          <a:lstStyle/>
          <a:p>
            <a:pPr algn="ctr" indent="0" marL="0">
              <a:buNone/>
            </a:pPr>
            <a:r>
              <a:rPr lang="en-US" sz="1875" b="1" dirty="0">
                <a:solidFill>
                  <a:srgbClr val="C02034"/>
                </a:solidFill>
                <a:latin typeface="Archivo" pitchFamily="34" charset="0"/>
                <a:ea typeface="Archivo" pitchFamily="34" charset="-122"/>
                <a:cs typeface="Archivo" pitchFamily="34" charset="-120"/>
              </a:rPr>
              <a:t>Năm 2</a:t>
            </a:r>
            <a:endParaRPr lang="en-US" sz="1875" dirty="0"/>
          </a:p>
        </p:txBody>
      </p:sp>
      <p:sp>
        <p:nvSpPr>
          <p:cNvPr id="16" name="Shape 14"/>
          <p:cNvSpPr/>
          <p:nvPr/>
        </p:nvSpPr>
        <p:spPr>
          <a:xfrm>
            <a:off x="5660529" y="3590925"/>
            <a:ext cx="2220664" cy="571500"/>
          </a:xfrm>
          <a:prstGeom prst="roundRect">
            <a:avLst>
              <a:gd name="adj" fmla="val 6667"/>
            </a:avLst>
          </a:prstGeom>
          <a:solidFill>
            <a:srgbClr val="E59C0A"/>
          </a:solidFill>
          <a:ln/>
        </p:spPr>
      </p:sp>
      <p:sp>
        <p:nvSpPr>
          <p:cNvPr id="17" name="Text 15"/>
          <p:cNvSpPr/>
          <p:nvPr/>
        </p:nvSpPr>
        <p:spPr>
          <a:xfrm>
            <a:off x="5698629" y="3743325"/>
            <a:ext cx="2144464" cy="304800"/>
          </a:xfrm>
          <a:prstGeom prst="rect">
            <a:avLst/>
          </a:prstGeom>
          <a:noFill/>
          <a:ln/>
        </p:spPr>
        <p:txBody>
          <a:bodyPr wrap="square" lIns="25400" tIns="25400" rIns="25400" bIns="25400" rtlCol="0" anchor="t">
            <a:normAutofit/>
          </a:bodyPr>
          <a:lstStyle/>
          <a:p>
            <a:pPr algn="ctr" indent="0" marL="0">
              <a:buNone/>
            </a:pPr>
            <a:r>
              <a:rPr lang="en-US" sz="1650" b="1" dirty="0">
                <a:solidFill>
                  <a:srgbClr val="FFFFFF"/>
                </a:solidFill>
                <a:latin typeface="Be Vietnam Pro" pitchFamily="34" charset="0"/>
                <a:ea typeface="Be Vietnam Pro" pitchFamily="34" charset="-122"/>
                <a:cs typeface="Be Vietnam Pro" pitchFamily="34" charset="-120"/>
              </a:rPr>
              <a:t>CSTĐTQ</a:t>
            </a:r>
            <a:endParaRPr lang="en-US" sz="1650" dirty="0"/>
          </a:p>
        </p:txBody>
      </p:sp>
      <p:sp>
        <p:nvSpPr>
          <p:cNvPr id="18" name="Shape 16"/>
          <p:cNvSpPr/>
          <p:nvPr/>
        </p:nvSpPr>
        <p:spPr>
          <a:xfrm>
            <a:off x="5660529" y="4295775"/>
            <a:ext cx="2220664" cy="28575"/>
          </a:xfrm>
          <a:prstGeom prst="rect">
            <a:avLst/>
          </a:prstGeom>
          <a:solidFill>
            <a:srgbClr val="E59C0A"/>
          </a:solidFill>
          <a:ln/>
        </p:spPr>
      </p:sp>
      <p:sp>
        <p:nvSpPr>
          <p:cNvPr id="19" name="Text 17"/>
          <p:cNvSpPr/>
          <p:nvPr/>
        </p:nvSpPr>
        <p:spPr>
          <a:xfrm>
            <a:off x="5622429" y="4438650"/>
            <a:ext cx="2296864" cy="300038"/>
          </a:xfrm>
          <a:prstGeom prst="rect">
            <a:avLst/>
          </a:prstGeom>
          <a:noFill/>
          <a:ln/>
        </p:spPr>
        <p:txBody>
          <a:bodyPr wrap="square" lIns="25400" tIns="25400" rIns="25400" bIns="25400" rtlCol="0" anchor="t">
            <a:normAutofit/>
          </a:bodyPr>
          <a:lstStyle/>
          <a:p>
            <a:pPr algn="ctr" indent="0" marL="0">
              <a:buNone/>
            </a:pPr>
            <a:r>
              <a:rPr lang="en-US" sz="1875" b="1" dirty="0">
                <a:solidFill>
                  <a:srgbClr val="B07A09"/>
                </a:solidFill>
                <a:latin typeface="Archivo" pitchFamily="34" charset="0"/>
                <a:ea typeface="Archivo" pitchFamily="34" charset="-122"/>
                <a:cs typeface="Archivo" pitchFamily="34" charset="-120"/>
              </a:rPr>
              <a:t>Năm 3</a:t>
            </a:r>
            <a:endParaRPr lang="en-US" sz="1875" dirty="0"/>
          </a:p>
        </p:txBody>
      </p:sp>
      <p:sp>
        <p:nvSpPr>
          <p:cNvPr id="20" name="Shape 18"/>
          <p:cNvSpPr/>
          <p:nvPr/>
        </p:nvSpPr>
        <p:spPr>
          <a:xfrm>
            <a:off x="8033593" y="3590925"/>
            <a:ext cx="2220739" cy="571500"/>
          </a:xfrm>
          <a:prstGeom prst="roundRect">
            <a:avLst>
              <a:gd name="adj" fmla="val 6667"/>
            </a:avLst>
          </a:prstGeom>
          <a:solidFill>
            <a:srgbClr val="C02034"/>
          </a:solidFill>
          <a:ln/>
        </p:spPr>
      </p:sp>
      <p:sp>
        <p:nvSpPr>
          <p:cNvPr id="21" name="Text 19"/>
          <p:cNvSpPr/>
          <p:nvPr/>
        </p:nvSpPr>
        <p:spPr>
          <a:xfrm>
            <a:off x="8071693" y="3743325"/>
            <a:ext cx="2144539" cy="304800"/>
          </a:xfrm>
          <a:prstGeom prst="rect">
            <a:avLst/>
          </a:prstGeom>
          <a:noFill/>
          <a:ln/>
        </p:spPr>
        <p:txBody>
          <a:bodyPr wrap="square" lIns="25400" tIns="25400" rIns="25400" bIns="25400" rtlCol="0" anchor="t">
            <a:normAutofit/>
          </a:bodyPr>
          <a:lstStyle/>
          <a:p>
            <a:pPr algn="ctr" indent="0" marL="0">
              <a:buNone/>
            </a:pPr>
            <a:r>
              <a:rPr lang="en-US" sz="1650" b="1" dirty="0">
                <a:solidFill>
                  <a:srgbClr val="FFFFFF"/>
                </a:solidFill>
                <a:latin typeface="Be Vietnam Pro" pitchFamily="34" charset="0"/>
                <a:ea typeface="Be Vietnam Pro" pitchFamily="34" charset="-122"/>
                <a:cs typeface="Be Vietnam Pro" pitchFamily="34" charset="-120"/>
              </a:rPr>
              <a:t>BKBQP</a:t>
            </a:r>
            <a:endParaRPr lang="en-US" sz="1650" dirty="0"/>
          </a:p>
        </p:txBody>
      </p:sp>
      <p:sp>
        <p:nvSpPr>
          <p:cNvPr id="22" name="Shape 20"/>
          <p:cNvSpPr/>
          <p:nvPr/>
        </p:nvSpPr>
        <p:spPr>
          <a:xfrm>
            <a:off x="8033593" y="4295775"/>
            <a:ext cx="2220739" cy="28575"/>
          </a:xfrm>
          <a:prstGeom prst="rect">
            <a:avLst/>
          </a:prstGeom>
          <a:solidFill>
            <a:srgbClr val="C02034"/>
          </a:solidFill>
          <a:ln/>
        </p:spPr>
      </p:sp>
      <p:sp>
        <p:nvSpPr>
          <p:cNvPr id="23" name="Text 21"/>
          <p:cNvSpPr/>
          <p:nvPr/>
        </p:nvSpPr>
        <p:spPr>
          <a:xfrm>
            <a:off x="7995493" y="4438650"/>
            <a:ext cx="2296939" cy="300038"/>
          </a:xfrm>
          <a:prstGeom prst="rect">
            <a:avLst/>
          </a:prstGeom>
          <a:noFill/>
          <a:ln/>
        </p:spPr>
        <p:txBody>
          <a:bodyPr wrap="square" lIns="25400" tIns="25400" rIns="25400" bIns="25400" rtlCol="0" anchor="t">
            <a:normAutofit/>
          </a:bodyPr>
          <a:lstStyle/>
          <a:p>
            <a:pPr algn="ctr" indent="0" marL="0">
              <a:buNone/>
            </a:pPr>
            <a:r>
              <a:rPr lang="en-US" sz="1875" b="1" dirty="0">
                <a:solidFill>
                  <a:srgbClr val="C02034"/>
                </a:solidFill>
                <a:latin typeface="Archivo" pitchFamily="34" charset="0"/>
                <a:ea typeface="Archivo" pitchFamily="34" charset="-122"/>
                <a:cs typeface="Archivo" pitchFamily="34" charset="-120"/>
              </a:rPr>
              <a:t>Năm 4</a:t>
            </a:r>
            <a:endParaRPr lang="en-US" sz="1875" dirty="0"/>
          </a:p>
        </p:txBody>
      </p:sp>
      <p:sp>
        <p:nvSpPr>
          <p:cNvPr id="24" name="Shape 22"/>
          <p:cNvSpPr/>
          <p:nvPr/>
        </p:nvSpPr>
        <p:spPr>
          <a:xfrm>
            <a:off x="10406732" y="3609975"/>
            <a:ext cx="2220664" cy="552450"/>
          </a:xfrm>
          <a:prstGeom prst="roundRect">
            <a:avLst>
              <a:gd name="adj" fmla="val 6897"/>
            </a:avLst>
          </a:prstGeom>
          <a:solidFill>
            <a:srgbClr val="F2ECE7"/>
          </a:solidFill>
          <a:ln w="9525">
            <a:solidFill>
              <a:srgbClr val="D8D0CA"/>
            </a:solidFill>
            <a:prstDash val="dash"/>
          </a:ln>
        </p:spPr>
      </p:sp>
      <p:sp>
        <p:nvSpPr>
          <p:cNvPr id="25" name="Text 23"/>
          <p:cNvSpPr/>
          <p:nvPr/>
        </p:nvSpPr>
        <p:spPr>
          <a:xfrm>
            <a:off x="10454357" y="3752850"/>
            <a:ext cx="2125414" cy="304800"/>
          </a:xfrm>
          <a:prstGeom prst="rect">
            <a:avLst/>
          </a:prstGeom>
          <a:noFill/>
          <a:ln/>
        </p:spPr>
        <p:txBody>
          <a:bodyPr wrap="square" lIns="25400" tIns="25400" rIns="25400" bIns="25400" rtlCol="0" anchor="t">
            <a:normAutofit/>
          </a:bodyPr>
          <a:lstStyle/>
          <a:p>
            <a:pPr algn="ctr" indent="0" marL="0">
              <a:buNone/>
            </a:pPr>
            <a:r>
              <a:rPr lang="en-US" sz="1650" b="1" dirty="0">
                <a:solidFill>
                  <a:srgbClr val="9A938F"/>
                </a:solidFill>
                <a:latin typeface="Be Vietnam Pro" pitchFamily="34" charset="0"/>
                <a:ea typeface="Be Vietnam Pro" pitchFamily="34" charset="-122"/>
                <a:cs typeface="Be Vietnam Pro" pitchFamily="34" charset="-120"/>
              </a:rPr>
              <a:t>CSTĐCS</a:t>
            </a:r>
            <a:endParaRPr lang="en-US" sz="1650" dirty="0"/>
          </a:p>
        </p:txBody>
      </p:sp>
      <p:sp>
        <p:nvSpPr>
          <p:cNvPr id="26" name="Shape 24"/>
          <p:cNvSpPr/>
          <p:nvPr/>
        </p:nvSpPr>
        <p:spPr>
          <a:xfrm>
            <a:off x="10406732" y="4295775"/>
            <a:ext cx="2220664" cy="28575"/>
          </a:xfrm>
          <a:prstGeom prst="rect">
            <a:avLst/>
          </a:prstGeom>
          <a:solidFill>
            <a:srgbClr val="E8E2DE"/>
          </a:solidFill>
          <a:ln/>
        </p:spPr>
      </p:sp>
      <p:sp>
        <p:nvSpPr>
          <p:cNvPr id="27" name="Text 25"/>
          <p:cNvSpPr/>
          <p:nvPr/>
        </p:nvSpPr>
        <p:spPr>
          <a:xfrm>
            <a:off x="10368632" y="4438650"/>
            <a:ext cx="2296864" cy="300038"/>
          </a:xfrm>
          <a:prstGeom prst="rect">
            <a:avLst/>
          </a:prstGeom>
          <a:noFill/>
          <a:ln/>
        </p:spPr>
        <p:txBody>
          <a:bodyPr wrap="square" lIns="25400" tIns="25400" rIns="25400" bIns="25400" rtlCol="0" anchor="t">
            <a:normAutofit/>
          </a:bodyPr>
          <a:lstStyle/>
          <a:p>
            <a:pPr algn="ctr" indent="0" marL="0">
              <a:buNone/>
            </a:pPr>
            <a:r>
              <a:rPr lang="en-US" sz="1875" b="1" dirty="0">
                <a:solidFill>
                  <a:srgbClr val="1E1A1B"/>
                </a:solidFill>
                <a:latin typeface="Archivo" pitchFamily="34" charset="0"/>
                <a:ea typeface="Archivo" pitchFamily="34" charset="-122"/>
                <a:cs typeface="Archivo" pitchFamily="34" charset="-120"/>
              </a:rPr>
              <a:t>Năm 5</a:t>
            </a:r>
            <a:endParaRPr lang="en-US" sz="1875" dirty="0"/>
          </a:p>
        </p:txBody>
      </p:sp>
      <p:sp>
        <p:nvSpPr>
          <p:cNvPr id="28" name="Shape 26"/>
          <p:cNvSpPr/>
          <p:nvPr/>
        </p:nvSpPr>
        <p:spPr>
          <a:xfrm>
            <a:off x="12779797" y="3028950"/>
            <a:ext cx="2220664" cy="519113"/>
          </a:xfrm>
          <a:prstGeom prst="roundRect">
            <a:avLst>
              <a:gd name="adj" fmla="val 7339"/>
            </a:avLst>
          </a:prstGeom>
          <a:solidFill>
            <a:srgbClr val="E59C0A"/>
          </a:solidFill>
          <a:ln/>
        </p:spPr>
      </p:sp>
      <p:sp>
        <p:nvSpPr>
          <p:cNvPr id="29" name="Text 27"/>
          <p:cNvSpPr/>
          <p:nvPr/>
        </p:nvSpPr>
        <p:spPr>
          <a:xfrm>
            <a:off x="12817897" y="3162300"/>
            <a:ext cx="2144464" cy="290513"/>
          </a:xfrm>
          <a:prstGeom prst="rect">
            <a:avLst/>
          </a:prstGeom>
          <a:noFill/>
          <a:ln/>
        </p:spPr>
        <p:txBody>
          <a:bodyPr wrap="square" lIns="25400" tIns="25400" rIns="25400" bIns="25400" rtlCol="0" anchor="t">
            <a:normAutofit/>
          </a:bodyPr>
          <a:lstStyle/>
          <a:p>
            <a:pPr algn="ctr" indent="0" marL="0">
              <a:buNone/>
            </a:pPr>
            <a:r>
              <a:rPr lang="en-US" sz="1575" b="1" dirty="0">
                <a:solidFill>
                  <a:srgbClr val="FFFFFF"/>
                </a:solidFill>
                <a:latin typeface="Be Vietnam Pro" pitchFamily="34" charset="0"/>
                <a:ea typeface="Be Vietnam Pro" pitchFamily="34" charset="-122"/>
                <a:cs typeface="Be Vietnam Pro" pitchFamily="34" charset="-120"/>
              </a:rPr>
              <a:t>CSTĐTQ</a:t>
            </a:r>
            <a:endParaRPr lang="en-US" sz="1575" dirty="0"/>
          </a:p>
        </p:txBody>
      </p:sp>
      <p:sp>
        <p:nvSpPr>
          <p:cNvPr id="30" name="Shape 28"/>
          <p:cNvSpPr/>
          <p:nvPr/>
        </p:nvSpPr>
        <p:spPr>
          <a:xfrm>
            <a:off x="12779797" y="3643313"/>
            <a:ext cx="2220664" cy="519113"/>
          </a:xfrm>
          <a:prstGeom prst="roundRect">
            <a:avLst>
              <a:gd name="adj" fmla="val 7339"/>
            </a:avLst>
          </a:prstGeom>
          <a:solidFill>
            <a:srgbClr val="C02034"/>
          </a:solidFill>
          <a:ln/>
        </p:spPr>
      </p:sp>
      <p:sp>
        <p:nvSpPr>
          <p:cNvPr id="31" name="Text 29"/>
          <p:cNvSpPr/>
          <p:nvPr/>
        </p:nvSpPr>
        <p:spPr>
          <a:xfrm>
            <a:off x="12817897" y="3776662"/>
            <a:ext cx="2144464" cy="290513"/>
          </a:xfrm>
          <a:prstGeom prst="rect">
            <a:avLst/>
          </a:prstGeom>
          <a:noFill/>
          <a:ln/>
        </p:spPr>
        <p:txBody>
          <a:bodyPr wrap="square" lIns="25400" tIns="25400" rIns="25400" bIns="25400" rtlCol="0" anchor="t">
            <a:normAutofit/>
          </a:bodyPr>
          <a:lstStyle/>
          <a:p>
            <a:pPr algn="ctr" indent="0" marL="0">
              <a:buNone/>
            </a:pPr>
            <a:r>
              <a:rPr lang="en-US" sz="1575" b="1" dirty="0">
                <a:solidFill>
                  <a:srgbClr val="FFFFFF"/>
                </a:solidFill>
                <a:latin typeface="Be Vietnam Pro" pitchFamily="34" charset="0"/>
                <a:ea typeface="Be Vietnam Pro" pitchFamily="34" charset="-122"/>
                <a:cs typeface="Be Vietnam Pro" pitchFamily="34" charset="-120"/>
              </a:rPr>
              <a:t>BKBQP</a:t>
            </a:r>
            <a:endParaRPr lang="en-US" sz="1575" dirty="0"/>
          </a:p>
        </p:txBody>
      </p:sp>
      <p:sp>
        <p:nvSpPr>
          <p:cNvPr id="32" name="Shape 30"/>
          <p:cNvSpPr/>
          <p:nvPr/>
        </p:nvSpPr>
        <p:spPr>
          <a:xfrm>
            <a:off x="12779797" y="4295775"/>
            <a:ext cx="2220664" cy="28575"/>
          </a:xfrm>
          <a:prstGeom prst="rect">
            <a:avLst/>
          </a:prstGeom>
          <a:solidFill>
            <a:srgbClr val="C02034"/>
          </a:solidFill>
          <a:ln/>
        </p:spPr>
      </p:sp>
      <p:sp>
        <p:nvSpPr>
          <p:cNvPr id="33" name="Text 31"/>
          <p:cNvSpPr/>
          <p:nvPr/>
        </p:nvSpPr>
        <p:spPr>
          <a:xfrm>
            <a:off x="12741697" y="4438650"/>
            <a:ext cx="2296864" cy="300038"/>
          </a:xfrm>
          <a:prstGeom prst="rect">
            <a:avLst/>
          </a:prstGeom>
          <a:noFill/>
          <a:ln/>
        </p:spPr>
        <p:txBody>
          <a:bodyPr wrap="square" lIns="25400" tIns="25400" rIns="25400" bIns="25400" rtlCol="0" anchor="t">
            <a:normAutofit/>
          </a:bodyPr>
          <a:lstStyle/>
          <a:p>
            <a:pPr algn="ctr" indent="0" marL="0">
              <a:buNone/>
            </a:pPr>
            <a:r>
              <a:rPr lang="en-US" sz="1875" b="1" dirty="0">
                <a:solidFill>
                  <a:srgbClr val="C02034"/>
                </a:solidFill>
                <a:latin typeface="Archivo" pitchFamily="34" charset="0"/>
                <a:ea typeface="Archivo" pitchFamily="34" charset="-122"/>
                <a:cs typeface="Archivo" pitchFamily="34" charset="-120"/>
              </a:rPr>
              <a:t>Năm 6</a:t>
            </a:r>
            <a:endParaRPr lang="en-US" sz="1875" dirty="0"/>
          </a:p>
        </p:txBody>
      </p:sp>
      <p:sp>
        <p:nvSpPr>
          <p:cNvPr id="34" name="Shape 32"/>
          <p:cNvSpPr/>
          <p:nvPr/>
        </p:nvSpPr>
        <p:spPr>
          <a:xfrm>
            <a:off x="15152861" y="3552825"/>
            <a:ext cx="2220664" cy="609600"/>
          </a:xfrm>
          <a:prstGeom prst="roundRect">
            <a:avLst>
              <a:gd name="adj" fmla="val 6250"/>
            </a:avLst>
          </a:prstGeom>
          <a:solidFill>
            <a:srgbClr val="1E1A1B"/>
          </a:solidFill>
          <a:ln w="19050">
            <a:solidFill>
              <a:srgbClr val="E59C0A"/>
            </a:solidFill>
            <a:prstDash val="solid"/>
          </a:ln>
        </p:spPr>
      </p:sp>
      <p:sp>
        <p:nvSpPr>
          <p:cNvPr id="35" name="Text 33"/>
          <p:cNvSpPr/>
          <p:nvPr/>
        </p:nvSpPr>
        <p:spPr>
          <a:xfrm>
            <a:off x="15210011" y="3724275"/>
            <a:ext cx="2106364" cy="304800"/>
          </a:xfrm>
          <a:prstGeom prst="rect">
            <a:avLst/>
          </a:prstGeom>
          <a:noFill/>
          <a:ln/>
        </p:spPr>
        <p:txBody>
          <a:bodyPr wrap="square" lIns="25400" tIns="25400" rIns="25400" bIns="25400" rtlCol="0" anchor="t">
            <a:normAutofit/>
          </a:bodyPr>
          <a:lstStyle/>
          <a:p>
            <a:pPr algn="ctr" indent="0" marL="0">
              <a:buNone/>
            </a:pPr>
            <a:r>
              <a:rPr lang="en-US" sz="1650" b="1" dirty="0">
                <a:solidFill>
                  <a:srgbClr val="FFFFFF"/>
                </a:solidFill>
                <a:latin typeface="Be Vietnam Pro" pitchFamily="34" charset="0"/>
                <a:ea typeface="Be Vietnam Pro" pitchFamily="34" charset="-122"/>
                <a:cs typeface="Be Vietnam Pro" pitchFamily="34" charset="-120"/>
              </a:rPr>
              <a:t>BKTTCP</a:t>
            </a:r>
            <a:endParaRPr lang="en-US" sz="1650" dirty="0"/>
          </a:p>
        </p:txBody>
      </p:sp>
      <p:sp>
        <p:nvSpPr>
          <p:cNvPr id="36" name="Shape 34"/>
          <p:cNvSpPr/>
          <p:nvPr/>
        </p:nvSpPr>
        <p:spPr>
          <a:xfrm>
            <a:off x="15152861" y="4295775"/>
            <a:ext cx="2220664" cy="28575"/>
          </a:xfrm>
          <a:prstGeom prst="rect">
            <a:avLst/>
          </a:prstGeom>
          <a:solidFill>
            <a:srgbClr val="1E1A1B"/>
          </a:solidFill>
          <a:ln/>
        </p:spPr>
      </p:sp>
      <p:sp>
        <p:nvSpPr>
          <p:cNvPr id="37" name="Text 35"/>
          <p:cNvSpPr/>
          <p:nvPr/>
        </p:nvSpPr>
        <p:spPr>
          <a:xfrm>
            <a:off x="15114761" y="4438650"/>
            <a:ext cx="2296864" cy="300038"/>
          </a:xfrm>
          <a:prstGeom prst="rect">
            <a:avLst/>
          </a:prstGeom>
          <a:noFill/>
          <a:ln/>
        </p:spPr>
        <p:txBody>
          <a:bodyPr wrap="square" lIns="25400" tIns="25400" rIns="25400" bIns="25400" rtlCol="0" anchor="t">
            <a:normAutofit/>
          </a:bodyPr>
          <a:lstStyle/>
          <a:p>
            <a:pPr algn="ctr" indent="0" marL="0">
              <a:buNone/>
            </a:pPr>
            <a:r>
              <a:rPr lang="en-US" sz="1875" b="1" dirty="0">
                <a:solidFill>
                  <a:srgbClr val="1E1A1B"/>
                </a:solidFill>
                <a:latin typeface="Archivo" pitchFamily="34" charset="0"/>
                <a:ea typeface="Archivo" pitchFamily="34" charset="-122"/>
                <a:cs typeface="Archivo" pitchFamily="34" charset="-120"/>
              </a:rPr>
              <a:t>Năm 7</a:t>
            </a:r>
            <a:endParaRPr lang="en-US" sz="1875" dirty="0"/>
          </a:p>
        </p:txBody>
      </p:sp>
      <p:sp>
        <p:nvSpPr>
          <p:cNvPr id="38" name="Shape 36"/>
          <p:cNvSpPr/>
          <p:nvPr/>
        </p:nvSpPr>
        <p:spPr>
          <a:xfrm>
            <a:off x="914400" y="5083969"/>
            <a:ext cx="171450" cy="171450"/>
          </a:xfrm>
          <a:prstGeom prst="roundRect">
            <a:avLst>
              <a:gd name="adj" fmla="val 16667"/>
            </a:avLst>
          </a:prstGeom>
          <a:solidFill>
            <a:srgbClr val="C02034"/>
          </a:solidFill>
          <a:ln/>
        </p:spPr>
      </p:sp>
      <p:sp>
        <p:nvSpPr>
          <p:cNvPr id="39" name="Text 37"/>
          <p:cNvSpPr/>
          <p:nvPr/>
        </p:nvSpPr>
        <p:spPr>
          <a:xfrm>
            <a:off x="1200150" y="5024438"/>
            <a:ext cx="2076971" cy="328613"/>
          </a:xfrm>
          <a:prstGeom prst="rect">
            <a:avLst/>
          </a:prstGeom>
          <a:noFill/>
          <a:ln/>
        </p:spPr>
        <p:txBody>
          <a:bodyPr wrap="square" lIns="0" tIns="0" rIns="0" bIns="0" rtlCol="0" anchor="t">
            <a:normAutofit/>
          </a:bodyPr>
          <a:lstStyle/>
          <a:p>
            <a:pPr algn="l" indent="0" marL="0">
              <a:buNone/>
            </a:pPr>
            <a:r>
              <a:rPr lang="en-US" sz="1800" dirty="0">
                <a:solidFill>
                  <a:srgbClr val="57514F"/>
                </a:solidFill>
                <a:latin typeface="Be Vietnam Pro" pitchFamily="34" charset="0"/>
                <a:ea typeface="Be Vietnam Pro" pitchFamily="34" charset="-122"/>
                <a:cs typeface="Be Vietnam Pro" pitchFamily="34" charset="-120"/>
              </a:rPr>
              <a:t>BKBQP mỗi 2 năm</a:t>
            </a:r>
            <a:endParaRPr lang="en-US" sz="1800" dirty="0"/>
          </a:p>
        </p:txBody>
      </p:sp>
      <p:sp>
        <p:nvSpPr>
          <p:cNvPr id="40" name="Shape 38"/>
          <p:cNvSpPr/>
          <p:nvPr/>
        </p:nvSpPr>
        <p:spPr>
          <a:xfrm>
            <a:off x="3581921" y="5083969"/>
            <a:ext cx="171450" cy="171450"/>
          </a:xfrm>
          <a:prstGeom prst="roundRect">
            <a:avLst>
              <a:gd name="adj" fmla="val 16667"/>
            </a:avLst>
          </a:prstGeom>
          <a:solidFill>
            <a:srgbClr val="E59C0A"/>
          </a:solidFill>
          <a:ln/>
        </p:spPr>
      </p:sp>
      <p:sp>
        <p:nvSpPr>
          <p:cNvPr id="41" name="Text 39"/>
          <p:cNvSpPr/>
          <p:nvPr/>
        </p:nvSpPr>
        <p:spPr>
          <a:xfrm>
            <a:off x="3867671" y="5024438"/>
            <a:ext cx="2249760" cy="328613"/>
          </a:xfrm>
          <a:prstGeom prst="rect">
            <a:avLst/>
          </a:prstGeom>
          <a:noFill/>
          <a:ln/>
        </p:spPr>
        <p:txBody>
          <a:bodyPr wrap="square" lIns="0" tIns="0" rIns="0" bIns="0" rtlCol="0" anchor="t">
            <a:normAutofit/>
          </a:bodyPr>
          <a:lstStyle/>
          <a:p>
            <a:pPr algn="l" indent="0" marL="0">
              <a:buNone/>
            </a:pPr>
            <a:r>
              <a:rPr lang="en-US" sz="1800" dirty="0">
                <a:solidFill>
                  <a:srgbClr val="57514F"/>
                </a:solidFill>
                <a:latin typeface="Be Vietnam Pro" pitchFamily="34" charset="0"/>
                <a:ea typeface="Be Vietnam Pro" pitchFamily="34" charset="-122"/>
                <a:cs typeface="Be Vietnam Pro" pitchFamily="34" charset="-120"/>
              </a:rPr>
              <a:t>CSTĐTQ mỗi 3 năm</a:t>
            </a:r>
            <a:endParaRPr lang="en-US" sz="1800" dirty="0"/>
          </a:p>
        </p:txBody>
      </p:sp>
      <p:sp>
        <p:nvSpPr>
          <p:cNvPr id="42" name="Shape 40"/>
          <p:cNvSpPr/>
          <p:nvPr/>
        </p:nvSpPr>
        <p:spPr>
          <a:xfrm>
            <a:off x="6422231" y="5083969"/>
            <a:ext cx="171450" cy="171450"/>
          </a:xfrm>
          <a:prstGeom prst="roundRect">
            <a:avLst>
              <a:gd name="adj" fmla="val 16667"/>
            </a:avLst>
          </a:prstGeom>
          <a:solidFill>
            <a:srgbClr val="1E1A1B"/>
          </a:solidFill>
          <a:ln/>
        </p:spPr>
      </p:sp>
      <p:sp>
        <p:nvSpPr>
          <p:cNvPr id="43" name="Text 41"/>
          <p:cNvSpPr/>
          <p:nvPr/>
        </p:nvSpPr>
        <p:spPr>
          <a:xfrm>
            <a:off x="6707981" y="5024438"/>
            <a:ext cx="5239937" cy="328613"/>
          </a:xfrm>
          <a:prstGeom prst="rect">
            <a:avLst/>
          </a:prstGeom>
          <a:noFill/>
          <a:ln/>
        </p:spPr>
        <p:txBody>
          <a:bodyPr wrap="square" lIns="0" tIns="0" rIns="0" bIns="0" rtlCol="0" anchor="t">
            <a:normAutofit/>
          </a:bodyPr>
          <a:lstStyle/>
          <a:p>
            <a:pPr algn="l" indent="0" marL="0">
              <a:buNone/>
            </a:pPr>
            <a:r>
              <a:rPr lang="en-US" sz="1800" dirty="0">
                <a:solidFill>
                  <a:srgbClr val="57514F"/>
                </a:solidFill>
                <a:latin typeface="Be Vietnam Pro" pitchFamily="34" charset="0"/>
                <a:ea typeface="Be Vietnam Pro" pitchFamily="34" charset="-122"/>
                <a:cs typeface="Be Vietnam Pro" pitchFamily="34" charset="-120"/>
              </a:rPr>
              <a:t>BKTTCP sau 7 năm (đủ 3 BKBQP + 2 CSTĐTQ)</a:t>
            </a:r>
            <a:endParaRPr lang="en-US" sz="1800" dirty="0"/>
          </a:p>
        </p:txBody>
      </p:sp>
      <p:sp>
        <p:nvSpPr>
          <p:cNvPr id="44" name="Shape 42"/>
          <p:cNvSpPr/>
          <p:nvPr/>
        </p:nvSpPr>
        <p:spPr>
          <a:xfrm>
            <a:off x="914400" y="9477375"/>
            <a:ext cx="16459200" cy="9525"/>
          </a:xfrm>
          <a:prstGeom prst="rect">
            <a:avLst/>
          </a:prstGeom>
          <a:solidFill>
            <a:srgbClr val="E8E2DE"/>
          </a:solidFill>
          <a:ln/>
        </p:spPr>
      </p:sp>
      <p:pic>
        <p:nvPicPr>
          <p:cNvPr id="45"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46" name="Text 43"/>
          <p:cNvSpPr/>
          <p:nvPr/>
        </p:nvSpPr>
        <p:spPr>
          <a:xfrm>
            <a:off x="6637288"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47" name="Text 44"/>
          <p:cNvSpPr/>
          <p:nvPr/>
        </p:nvSpPr>
        <p:spPr>
          <a:xfrm>
            <a:off x="17124015" y="9658350"/>
            <a:ext cx="325785"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07</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2276892"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 · MỞ ĐẦU</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Chuỗi danh hiệu hằng năm — đơn vị</a:t>
            </a:r>
            <a:endParaRPr lang="en-US" sz="3750" dirty="0"/>
          </a:p>
        </p:txBody>
      </p:sp>
      <p:sp>
        <p:nvSpPr>
          <p:cNvPr id="5" name="Shape 3"/>
          <p:cNvSpPr/>
          <p:nvPr/>
        </p:nvSpPr>
        <p:spPr>
          <a:xfrm>
            <a:off x="914400" y="1843088"/>
            <a:ext cx="16459200" cy="695325"/>
          </a:xfrm>
          <a:prstGeom prst="rect">
            <a:avLst/>
          </a:prstGeom>
          <a:solidFill>
            <a:srgbClr val="2A1416"/>
          </a:solidFill>
          <a:ln/>
        </p:spPr>
      </p:sp>
      <p:sp>
        <p:nvSpPr>
          <p:cNvPr id="6" name="Text 4"/>
          <p:cNvSpPr/>
          <p:nvPr/>
        </p:nvSpPr>
        <p:spPr>
          <a:xfrm>
            <a:off x="1200150" y="2081212"/>
            <a:ext cx="1214214" cy="257175"/>
          </a:xfrm>
          <a:prstGeom prst="rect">
            <a:avLst/>
          </a:prstGeom>
          <a:noFill/>
          <a:ln/>
        </p:spPr>
        <p:txBody>
          <a:bodyPr wrap="square" lIns="25400" tIns="25400" rIns="25400" bIns="25400" rtlCol="0" anchor="t">
            <a:normAutofit/>
          </a:bodyPr>
          <a:lstStyle/>
          <a:p>
            <a:pPr algn="l" indent="0" marL="0">
              <a:buNone/>
            </a:pPr>
            <a:r>
              <a:rPr lang="en-US" sz="1575" b="1" spc="75" kern="0" dirty="0">
                <a:solidFill>
                  <a:srgbClr val="FCE3A0"/>
                </a:solidFill>
                <a:latin typeface="Archivo" pitchFamily="34" charset="0"/>
                <a:ea typeface="Archivo" pitchFamily="34" charset="-122"/>
                <a:cs typeface="Archivo" pitchFamily="34" charset="-120"/>
              </a:rPr>
              <a:t>NỀN TẢNG</a:t>
            </a:r>
            <a:endParaRPr lang="en-US" sz="1575" dirty="0"/>
          </a:p>
        </p:txBody>
      </p:sp>
      <p:sp>
        <p:nvSpPr>
          <p:cNvPr id="7" name="Text 5"/>
          <p:cNvSpPr/>
          <p:nvPr/>
        </p:nvSpPr>
        <p:spPr>
          <a:xfrm>
            <a:off x="2490564" y="2033588"/>
            <a:ext cx="6838169" cy="352425"/>
          </a:xfrm>
          <a:prstGeom prst="rect">
            <a:avLst/>
          </a:prstGeom>
          <a:noFill/>
          <a:ln/>
        </p:spPr>
        <p:txBody>
          <a:bodyPr wrap="square" lIns="0" tIns="0" rIns="0" bIns="0" rtlCol="0" anchor="t">
            <a:normAutofit/>
          </a:bodyPr>
          <a:lstStyle/>
          <a:p>
            <a:pPr algn="l" indent="0" marL="0">
              <a:buNone/>
            </a:pPr>
            <a:r>
              <a:rPr lang="en-US" sz="1950" dirty="0">
                <a:solidFill>
                  <a:srgbClr val="FFFFFF"/>
                </a:solidFill>
                <a:latin typeface="Be Vietnam Pro" pitchFamily="34" charset="0"/>
                <a:ea typeface="Be Vietnam Pro" pitchFamily="34" charset="-122"/>
                <a:cs typeface="Be Vietnam Pro" pitchFamily="34" charset="-120"/>
              </a:rPr>
              <a:t>ĐVQT (Đơn vị Quyết thắng) liên tục — không cần NCKH</a:t>
            </a:r>
            <a:endParaRPr lang="en-US" sz="1950" dirty="0"/>
          </a:p>
        </p:txBody>
      </p:sp>
      <p:sp>
        <p:nvSpPr>
          <p:cNvPr id="8" name="Shape 6"/>
          <p:cNvSpPr/>
          <p:nvPr/>
        </p:nvSpPr>
        <p:spPr>
          <a:xfrm>
            <a:off x="914400" y="2862263"/>
            <a:ext cx="7924800" cy="2066404"/>
          </a:xfrm>
          <a:prstGeom prst="rect">
            <a:avLst/>
          </a:prstGeom>
          <a:solidFill>
            <a:srgbClr val="FFFFFF"/>
          </a:solidFill>
          <a:ln/>
        </p:spPr>
      </p:sp>
      <p:sp>
        <p:nvSpPr>
          <p:cNvPr id="9" name="Shape 7"/>
          <p:cNvSpPr/>
          <p:nvPr/>
        </p:nvSpPr>
        <p:spPr>
          <a:xfrm>
            <a:off x="914400" y="4919142"/>
            <a:ext cx="7924800" cy="9525"/>
          </a:xfrm>
          <a:prstGeom prst="rect">
            <a:avLst/>
          </a:prstGeom>
          <a:solidFill>
            <a:srgbClr val="ECE6E2"/>
          </a:solidFill>
          <a:ln/>
        </p:spPr>
      </p:sp>
      <p:sp>
        <p:nvSpPr>
          <p:cNvPr id="10" name="Shape 8"/>
          <p:cNvSpPr/>
          <p:nvPr/>
        </p:nvSpPr>
        <p:spPr>
          <a:xfrm>
            <a:off x="914400" y="2862263"/>
            <a:ext cx="7924800" cy="47625"/>
          </a:xfrm>
          <a:prstGeom prst="rect">
            <a:avLst/>
          </a:prstGeom>
          <a:solidFill>
            <a:srgbClr val="C02034"/>
          </a:solidFill>
          <a:ln/>
        </p:spPr>
      </p:sp>
      <p:sp>
        <p:nvSpPr>
          <p:cNvPr id="11" name="Shape 9"/>
          <p:cNvSpPr/>
          <p:nvPr/>
        </p:nvSpPr>
        <p:spPr>
          <a:xfrm>
            <a:off x="914400" y="2862263"/>
            <a:ext cx="9525" cy="2066404"/>
          </a:xfrm>
          <a:prstGeom prst="rect">
            <a:avLst/>
          </a:prstGeom>
          <a:solidFill>
            <a:srgbClr val="ECE6E2"/>
          </a:solidFill>
          <a:ln/>
        </p:spPr>
      </p:sp>
      <p:sp>
        <p:nvSpPr>
          <p:cNvPr id="12" name="Shape 10"/>
          <p:cNvSpPr/>
          <p:nvPr/>
        </p:nvSpPr>
        <p:spPr>
          <a:xfrm>
            <a:off x="8829675" y="2862263"/>
            <a:ext cx="9525" cy="2066404"/>
          </a:xfrm>
          <a:prstGeom prst="rect">
            <a:avLst/>
          </a:prstGeom>
          <a:solidFill>
            <a:srgbClr val="ECE6E2"/>
          </a:solidFill>
          <a:ln/>
        </p:spPr>
      </p:sp>
      <p:sp>
        <p:nvSpPr>
          <p:cNvPr id="13" name="Text 11"/>
          <p:cNvSpPr/>
          <p:nvPr/>
        </p:nvSpPr>
        <p:spPr>
          <a:xfrm>
            <a:off x="1266825" y="3233738"/>
            <a:ext cx="7941945" cy="514350"/>
          </a:xfrm>
          <a:prstGeom prst="rect">
            <a:avLst/>
          </a:prstGeom>
          <a:noFill/>
          <a:ln/>
        </p:spPr>
        <p:txBody>
          <a:bodyPr wrap="square" lIns="25400" tIns="25400" rIns="25400" bIns="25400" rtlCol="0" anchor="t">
            <a:normAutofit/>
          </a:bodyPr>
          <a:lstStyle/>
          <a:p>
            <a:pPr algn="l" indent="0" marL="0">
              <a:buNone/>
            </a:pPr>
            <a:r>
              <a:rPr lang="en-US" sz="3450" b="1" dirty="0">
                <a:solidFill>
                  <a:srgbClr val="C02034"/>
                </a:solidFill>
                <a:latin typeface="Archivo" pitchFamily="34" charset="0"/>
                <a:ea typeface="Archivo" pitchFamily="34" charset="-122"/>
                <a:cs typeface="Archivo" pitchFamily="34" charset="-120"/>
              </a:rPr>
              <a:t>BKBQP đơn vị</a:t>
            </a:r>
            <a:endParaRPr lang="en-US" sz="3450" dirty="0"/>
          </a:p>
        </p:txBody>
      </p:sp>
      <p:sp>
        <p:nvSpPr>
          <p:cNvPr id="14" name="Text 12"/>
          <p:cNvSpPr/>
          <p:nvPr/>
        </p:nvSpPr>
        <p:spPr>
          <a:xfrm>
            <a:off x="1266825" y="3786188"/>
            <a:ext cx="7941945" cy="328613"/>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9A938F"/>
                </a:solidFill>
                <a:latin typeface="Be Vietnam Pro" pitchFamily="34" charset="0"/>
                <a:ea typeface="Be Vietnam Pro" pitchFamily="34" charset="-122"/>
                <a:cs typeface="Be Vietnam Pro" pitchFamily="34" charset="-120"/>
              </a:rPr>
              <a:t>CHU KỲ 2 NĂM</a:t>
            </a:r>
            <a:endParaRPr lang="en-US" sz="1800" dirty="0"/>
          </a:p>
        </p:txBody>
      </p:sp>
      <p:sp>
        <p:nvSpPr>
          <p:cNvPr id="15" name="Text 13"/>
          <p:cNvSpPr/>
          <p:nvPr/>
        </p:nvSpPr>
        <p:spPr>
          <a:xfrm>
            <a:off x="1266825" y="4248150"/>
            <a:ext cx="7941945" cy="385242"/>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3A3537"/>
                </a:solidFill>
                <a:latin typeface="Be Vietnam Pro" pitchFamily="34" charset="0"/>
                <a:ea typeface="Be Vietnam Pro" pitchFamily="34" charset="-122"/>
                <a:cs typeface="Be Vietnam Pro" pitchFamily="34" charset="-120"/>
              </a:rPr>
              <a:t>ĐVQT liên tục trong cửa sổ 2 năm</a:t>
            </a:r>
            <a:endParaRPr lang="en-US" sz="2025" dirty="0"/>
          </a:p>
        </p:txBody>
      </p:sp>
      <p:sp>
        <p:nvSpPr>
          <p:cNvPr id="16" name="Text 14"/>
          <p:cNvSpPr/>
          <p:nvPr/>
        </p:nvSpPr>
        <p:spPr>
          <a:xfrm>
            <a:off x="8801100" y="2862263"/>
            <a:ext cx="685800" cy="2104504"/>
          </a:xfrm>
          <a:prstGeom prst="rect">
            <a:avLst/>
          </a:prstGeom>
          <a:noFill/>
          <a:ln/>
        </p:spPr>
        <p:txBody>
          <a:bodyPr wrap="square" lIns="25400" tIns="25400" rIns="25400" bIns="25400" rtlCol="0" anchor="ctr">
            <a:normAutofit/>
          </a:bodyPr>
          <a:lstStyle/>
          <a:p>
            <a:pPr algn="ctr" indent="0" marL="0">
              <a:buNone/>
            </a:pPr>
            <a:r>
              <a:rPr lang="en-US" sz="3900" dirty="0">
                <a:solidFill>
                  <a:srgbClr val="C8C0BB"/>
                </a:solidFill>
                <a:latin typeface="Be Vietnam Pro" pitchFamily="34" charset="0"/>
                <a:ea typeface="Be Vietnam Pro" pitchFamily="34" charset="-122"/>
                <a:cs typeface="Be Vietnam Pro" pitchFamily="34" charset="-120"/>
              </a:rPr>
              <a:t>→</a:t>
            </a:r>
            <a:endParaRPr lang="en-US" sz="3900" dirty="0"/>
          </a:p>
        </p:txBody>
      </p:sp>
      <p:sp>
        <p:nvSpPr>
          <p:cNvPr id="17" name="Shape 15"/>
          <p:cNvSpPr/>
          <p:nvPr/>
        </p:nvSpPr>
        <p:spPr>
          <a:xfrm>
            <a:off x="9448800" y="2862263"/>
            <a:ext cx="7924800" cy="2066404"/>
          </a:xfrm>
          <a:prstGeom prst="rect">
            <a:avLst/>
          </a:prstGeom>
          <a:solidFill>
            <a:srgbClr val="C02034"/>
          </a:solidFill>
          <a:ln/>
        </p:spPr>
      </p:sp>
      <p:sp>
        <p:nvSpPr>
          <p:cNvPr id="18" name="Shape 16"/>
          <p:cNvSpPr/>
          <p:nvPr/>
        </p:nvSpPr>
        <p:spPr>
          <a:xfrm>
            <a:off x="9448800" y="2862263"/>
            <a:ext cx="7924800" cy="47625"/>
          </a:xfrm>
          <a:prstGeom prst="rect">
            <a:avLst/>
          </a:prstGeom>
          <a:solidFill>
            <a:srgbClr val="8E1622"/>
          </a:solidFill>
          <a:ln/>
        </p:spPr>
      </p:sp>
      <p:sp>
        <p:nvSpPr>
          <p:cNvPr id="19" name="Text 17"/>
          <p:cNvSpPr/>
          <p:nvPr/>
        </p:nvSpPr>
        <p:spPr>
          <a:xfrm>
            <a:off x="9791700" y="3233738"/>
            <a:ext cx="7962900" cy="514350"/>
          </a:xfrm>
          <a:prstGeom prst="rect">
            <a:avLst/>
          </a:prstGeom>
          <a:noFill/>
          <a:ln/>
        </p:spPr>
        <p:txBody>
          <a:bodyPr wrap="square" lIns="25400" tIns="25400" rIns="25400" bIns="25400" rtlCol="0" anchor="t">
            <a:normAutofit/>
          </a:bodyPr>
          <a:lstStyle/>
          <a:p>
            <a:pPr algn="l" indent="0" marL="0">
              <a:buNone/>
            </a:pPr>
            <a:r>
              <a:rPr lang="en-US" sz="3450" b="1" dirty="0">
                <a:solidFill>
                  <a:srgbClr val="FFFFFF"/>
                </a:solidFill>
                <a:latin typeface="Archivo" pitchFamily="34" charset="0"/>
                <a:ea typeface="Archivo" pitchFamily="34" charset="-122"/>
                <a:cs typeface="Archivo" pitchFamily="34" charset="-120"/>
              </a:rPr>
              <a:t>BKTTCP đơn vị</a:t>
            </a:r>
            <a:endParaRPr lang="en-US" sz="3450" dirty="0"/>
          </a:p>
        </p:txBody>
      </p:sp>
      <p:sp>
        <p:nvSpPr>
          <p:cNvPr id="20" name="Text 18"/>
          <p:cNvSpPr/>
          <p:nvPr/>
        </p:nvSpPr>
        <p:spPr>
          <a:xfrm>
            <a:off x="9791700" y="3786188"/>
            <a:ext cx="7962900" cy="328613"/>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FCE3A0"/>
                </a:solidFill>
                <a:latin typeface="Be Vietnam Pro" pitchFamily="34" charset="0"/>
                <a:ea typeface="Be Vietnam Pro" pitchFamily="34" charset="-122"/>
                <a:cs typeface="Be Vietnam Pro" pitchFamily="34" charset="-120"/>
              </a:rPr>
              <a:t>CHU KỲ 7 NĂM</a:t>
            </a:r>
            <a:endParaRPr lang="en-US" sz="1800" dirty="0"/>
          </a:p>
        </p:txBody>
      </p:sp>
      <p:sp>
        <p:nvSpPr>
          <p:cNvPr id="21" name="Text 19"/>
          <p:cNvSpPr/>
          <p:nvPr/>
        </p:nvSpPr>
        <p:spPr>
          <a:xfrm>
            <a:off x="9791700" y="4248150"/>
            <a:ext cx="7962900" cy="385242"/>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FFFFFF">
                    <a:alpha val="94000"/>
                  </a:srgbClr>
                </a:solidFill>
                <a:latin typeface="Be Vietnam Pro" pitchFamily="34" charset="0"/>
                <a:ea typeface="Be Vietnam Pro" pitchFamily="34" charset="-122"/>
                <a:cs typeface="Be Vietnam Pro" pitchFamily="34" charset="-120"/>
              </a:rPr>
              <a:t>+ 3 BKBQP (cửa sổ 7 năm cuối)</a:t>
            </a:r>
            <a:endParaRPr lang="en-US" sz="2025" dirty="0"/>
          </a:p>
        </p:txBody>
      </p:sp>
      <p:sp>
        <p:nvSpPr>
          <p:cNvPr id="22" name="Shape 20"/>
          <p:cNvSpPr/>
          <p:nvPr/>
        </p:nvSpPr>
        <p:spPr>
          <a:xfrm>
            <a:off x="914400" y="5309667"/>
            <a:ext cx="16459200" cy="1266825"/>
          </a:xfrm>
          <a:prstGeom prst="rect">
            <a:avLst/>
          </a:prstGeom>
          <a:solidFill>
            <a:srgbClr val="FFFFFF"/>
          </a:solidFill>
          <a:ln w="9525">
            <a:solidFill>
              <a:srgbClr val="ECE6E2"/>
            </a:solidFill>
            <a:prstDash val="solid"/>
          </a:ln>
        </p:spPr>
      </p:sp>
      <p:sp>
        <p:nvSpPr>
          <p:cNvPr id="23" name="Text 21"/>
          <p:cNvSpPr/>
          <p:nvPr/>
        </p:nvSpPr>
        <p:spPr>
          <a:xfrm>
            <a:off x="1285875" y="5585892"/>
            <a:ext cx="17287875" cy="26670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C02034"/>
                </a:solidFill>
                <a:latin typeface="Archivo" pitchFamily="34" charset="0"/>
                <a:ea typeface="Archivo" pitchFamily="34" charset="-122"/>
                <a:cs typeface="Archivo" pitchFamily="34" charset="-120"/>
              </a:rPr>
              <a:t>KHÁC VỚI CHUỖI CÁ NHÂN</a:t>
            </a:r>
            <a:endParaRPr lang="en-US" sz="1650" dirty="0"/>
          </a:p>
        </p:txBody>
      </p:sp>
      <p:sp>
        <p:nvSpPr>
          <p:cNvPr id="24" name="Text 22"/>
          <p:cNvSpPr/>
          <p:nvPr/>
        </p:nvSpPr>
        <p:spPr>
          <a:xfrm>
            <a:off x="1285875" y="5985942"/>
            <a:ext cx="225847" cy="352425"/>
          </a:xfrm>
          <a:prstGeom prst="rect">
            <a:avLst/>
          </a:prstGeom>
          <a:noFill/>
          <a:ln/>
        </p:spPr>
        <p:txBody>
          <a:bodyPr wrap="square" lIns="25400" tIns="25400" rIns="25400" bIns="25400" rtlCol="0" anchor="t">
            <a:normAutofit/>
          </a:bodyPr>
          <a:lstStyle/>
          <a:p>
            <a:pPr algn="l" indent="0" marL="0">
              <a:buNone/>
            </a:pPr>
            <a:r>
              <a:rPr lang="en-US" sz="1950" dirty="0">
                <a:solidFill>
                  <a:srgbClr val="C02034"/>
                </a:solidFill>
                <a:latin typeface="Be Vietnam Pro" pitchFamily="34" charset="0"/>
                <a:ea typeface="Be Vietnam Pro" pitchFamily="34" charset="-122"/>
                <a:cs typeface="Be Vietnam Pro" pitchFamily="34" charset="-120"/>
              </a:rPr>
              <a:t>●</a:t>
            </a:r>
            <a:endParaRPr lang="en-US" sz="1950" dirty="0"/>
          </a:p>
        </p:txBody>
      </p:sp>
      <p:sp>
        <p:nvSpPr>
          <p:cNvPr id="25" name="Text 23"/>
          <p:cNvSpPr/>
          <p:nvPr/>
        </p:nvSpPr>
        <p:spPr>
          <a:xfrm>
            <a:off x="1549822" y="5985942"/>
            <a:ext cx="2865352" cy="352425"/>
          </a:xfrm>
          <a:prstGeom prst="rect">
            <a:avLst/>
          </a:prstGeom>
          <a:noFill/>
          <a:ln/>
        </p:spPr>
        <p:txBody>
          <a:bodyPr wrap="square" lIns="0" tIns="0" rIns="0" bIns="0" rtlCol="0" anchor="t">
            <a:normAutofit/>
          </a:bodyPr>
          <a:lstStyle/>
          <a:p>
            <a:pPr algn="l" indent="0" marL="0">
              <a:buNone/>
            </a:pPr>
            <a:r>
              <a:rPr lang="en-US" sz="1950" dirty="0">
                <a:solidFill>
                  <a:srgbClr val="3A3537"/>
                </a:solidFill>
                <a:latin typeface="Be Vietnam Pro" pitchFamily="34" charset="0"/>
                <a:ea typeface="Be Vietnam Pro" pitchFamily="34" charset="-122"/>
                <a:cs typeface="Be Vietnam Pro" pitchFamily="34" charset="-120"/>
              </a:rPr>
              <a:t>Không có cấp CSTĐTQ</a:t>
            </a:r>
            <a:endParaRPr lang="en-US" sz="1950" dirty="0"/>
          </a:p>
        </p:txBody>
      </p:sp>
      <p:sp>
        <p:nvSpPr>
          <p:cNvPr id="26" name="Text 24"/>
          <p:cNvSpPr/>
          <p:nvPr/>
        </p:nvSpPr>
        <p:spPr>
          <a:xfrm>
            <a:off x="4788917" y="5985942"/>
            <a:ext cx="225847" cy="352425"/>
          </a:xfrm>
          <a:prstGeom prst="rect">
            <a:avLst/>
          </a:prstGeom>
          <a:noFill/>
          <a:ln/>
        </p:spPr>
        <p:txBody>
          <a:bodyPr wrap="square" lIns="25400" tIns="25400" rIns="25400" bIns="25400" rtlCol="0" anchor="t">
            <a:normAutofit/>
          </a:bodyPr>
          <a:lstStyle/>
          <a:p>
            <a:pPr algn="l" indent="0" marL="0">
              <a:buNone/>
            </a:pPr>
            <a:r>
              <a:rPr lang="en-US" sz="1950" dirty="0">
                <a:solidFill>
                  <a:srgbClr val="C02034"/>
                </a:solidFill>
                <a:latin typeface="Be Vietnam Pro" pitchFamily="34" charset="0"/>
                <a:ea typeface="Be Vietnam Pro" pitchFamily="34" charset="-122"/>
                <a:cs typeface="Be Vietnam Pro" pitchFamily="34" charset="-120"/>
              </a:rPr>
              <a:t>●</a:t>
            </a:r>
            <a:endParaRPr lang="en-US" sz="1950" dirty="0"/>
          </a:p>
        </p:txBody>
      </p:sp>
      <p:sp>
        <p:nvSpPr>
          <p:cNvPr id="27" name="Text 25"/>
          <p:cNvSpPr/>
          <p:nvPr/>
        </p:nvSpPr>
        <p:spPr>
          <a:xfrm>
            <a:off x="5052864" y="5985942"/>
            <a:ext cx="4592964" cy="352425"/>
          </a:xfrm>
          <a:prstGeom prst="rect">
            <a:avLst/>
          </a:prstGeom>
          <a:noFill/>
          <a:ln/>
        </p:spPr>
        <p:txBody>
          <a:bodyPr wrap="square" lIns="0" tIns="0" rIns="0" bIns="0" rtlCol="0" anchor="t">
            <a:normAutofit/>
          </a:bodyPr>
          <a:lstStyle/>
          <a:p>
            <a:pPr algn="l" indent="0" marL="0">
              <a:buNone/>
            </a:pPr>
            <a:r>
              <a:rPr lang="en-US" sz="1950" dirty="0">
                <a:solidFill>
                  <a:srgbClr val="3A3537"/>
                </a:solidFill>
                <a:latin typeface="Be Vietnam Pro" pitchFamily="34" charset="0"/>
                <a:ea typeface="Be Vietnam Pro" pitchFamily="34" charset="-122"/>
                <a:cs typeface="Be Vietnam Pro" pitchFamily="34" charset="-120"/>
              </a:rPr>
              <a:t>Không bắt buộc nghiên cứu khoa học</a:t>
            </a:r>
            <a:endParaRPr lang="en-US" sz="1950" dirty="0"/>
          </a:p>
        </p:txBody>
      </p:sp>
      <p:sp>
        <p:nvSpPr>
          <p:cNvPr id="28" name="Text 26"/>
          <p:cNvSpPr/>
          <p:nvPr/>
        </p:nvSpPr>
        <p:spPr>
          <a:xfrm>
            <a:off x="9969252" y="5985942"/>
            <a:ext cx="225847" cy="352425"/>
          </a:xfrm>
          <a:prstGeom prst="rect">
            <a:avLst/>
          </a:prstGeom>
          <a:noFill/>
          <a:ln/>
        </p:spPr>
        <p:txBody>
          <a:bodyPr wrap="square" lIns="25400" tIns="25400" rIns="25400" bIns="25400" rtlCol="0" anchor="t">
            <a:normAutofit/>
          </a:bodyPr>
          <a:lstStyle/>
          <a:p>
            <a:pPr algn="l" indent="0" marL="0">
              <a:buNone/>
            </a:pPr>
            <a:r>
              <a:rPr lang="en-US" sz="1950" dirty="0">
                <a:solidFill>
                  <a:srgbClr val="C02034"/>
                </a:solidFill>
                <a:latin typeface="Be Vietnam Pro" pitchFamily="34" charset="0"/>
                <a:ea typeface="Be Vietnam Pro" pitchFamily="34" charset="-122"/>
                <a:cs typeface="Be Vietnam Pro" pitchFamily="34" charset="-120"/>
              </a:rPr>
              <a:t>●</a:t>
            </a:r>
            <a:endParaRPr lang="en-US" sz="1950" dirty="0"/>
          </a:p>
        </p:txBody>
      </p:sp>
      <p:sp>
        <p:nvSpPr>
          <p:cNvPr id="29" name="Text 27"/>
          <p:cNvSpPr/>
          <p:nvPr/>
        </p:nvSpPr>
        <p:spPr>
          <a:xfrm>
            <a:off x="10233199" y="5985942"/>
            <a:ext cx="5367707" cy="352425"/>
          </a:xfrm>
          <a:prstGeom prst="rect">
            <a:avLst/>
          </a:prstGeom>
          <a:noFill/>
          <a:ln/>
        </p:spPr>
        <p:txBody>
          <a:bodyPr wrap="square" lIns="0" tIns="0" rIns="0" bIns="0" rtlCol="0" anchor="t">
            <a:normAutofit/>
          </a:bodyPr>
          <a:lstStyle/>
          <a:p>
            <a:pPr algn="l" indent="0" marL="0">
              <a:buNone/>
            </a:pPr>
            <a:r>
              <a:rPr lang="en-US" sz="1950" dirty="0">
                <a:solidFill>
                  <a:srgbClr val="3A3537"/>
                </a:solidFill>
                <a:latin typeface="Be Vietnam Pro" pitchFamily="34" charset="0"/>
                <a:ea typeface="Be Vietnam Pro" pitchFamily="34" charset="-122"/>
                <a:cs typeface="Be Vietnam Pro" pitchFamily="34" charset="-120"/>
              </a:rPr>
              <a:t>BKBQP &amp; BKTTCP đơn vị có thể nhận lặp lại</a:t>
            </a:r>
            <a:endParaRPr lang="en-US" sz="1950" dirty="0"/>
          </a:p>
        </p:txBody>
      </p:sp>
      <p:sp>
        <p:nvSpPr>
          <p:cNvPr id="30" name="Shape 28"/>
          <p:cNvSpPr/>
          <p:nvPr/>
        </p:nvSpPr>
        <p:spPr>
          <a:xfrm>
            <a:off x="914400" y="9477375"/>
            <a:ext cx="16459200" cy="9525"/>
          </a:xfrm>
          <a:prstGeom prst="rect">
            <a:avLst/>
          </a:prstGeom>
          <a:solidFill>
            <a:srgbClr val="E8E2DE"/>
          </a:solidFill>
          <a:ln/>
        </p:spPr>
      </p:sp>
      <p:pic>
        <p:nvPicPr>
          <p:cNvPr id="31"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32" name="Text 29"/>
          <p:cNvSpPr/>
          <p:nvPr/>
        </p:nvSpPr>
        <p:spPr>
          <a:xfrm>
            <a:off x="6637288"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33" name="Text 30"/>
          <p:cNvSpPr/>
          <p:nvPr/>
        </p:nvSpPr>
        <p:spPr>
          <a:xfrm>
            <a:off x="17124015" y="9658350"/>
            <a:ext cx="325785"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08</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2276892"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 · MỞ ĐẦU</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Các danh hiệu dài hạn</a:t>
            </a:r>
            <a:endParaRPr lang="en-US" sz="3750" dirty="0"/>
          </a:p>
        </p:txBody>
      </p:sp>
      <p:sp>
        <p:nvSpPr>
          <p:cNvPr id="5" name="Shape 3"/>
          <p:cNvSpPr/>
          <p:nvPr/>
        </p:nvSpPr>
        <p:spPr>
          <a:xfrm>
            <a:off x="914400" y="1881187"/>
            <a:ext cx="8039100" cy="4791075"/>
          </a:xfrm>
          <a:prstGeom prst="rect">
            <a:avLst/>
          </a:prstGeom>
          <a:solidFill>
            <a:srgbClr val="FFFFFF"/>
          </a:solidFill>
          <a:ln/>
        </p:spPr>
      </p:sp>
      <p:sp>
        <p:nvSpPr>
          <p:cNvPr id="6" name="Shape 4"/>
          <p:cNvSpPr/>
          <p:nvPr/>
        </p:nvSpPr>
        <p:spPr>
          <a:xfrm>
            <a:off x="914400" y="6662738"/>
            <a:ext cx="8039100" cy="9525"/>
          </a:xfrm>
          <a:prstGeom prst="rect">
            <a:avLst/>
          </a:prstGeom>
          <a:solidFill>
            <a:srgbClr val="ECE6E2"/>
          </a:solidFill>
          <a:ln/>
        </p:spPr>
      </p:sp>
      <p:sp>
        <p:nvSpPr>
          <p:cNvPr id="7" name="Shape 5"/>
          <p:cNvSpPr/>
          <p:nvPr/>
        </p:nvSpPr>
        <p:spPr>
          <a:xfrm>
            <a:off x="914400" y="1881187"/>
            <a:ext cx="8039100" cy="38100"/>
          </a:xfrm>
          <a:prstGeom prst="rect">
            <a:avLst/>
          </a:prstGeom>
          <a:solidFill>
            <a:srgbClr val="C02034"/>
          </a:solidFill>
          <a:ln/>
        </p:spPr>
      </p:sp>
      <p:sp>
        <p:nvSpPr>
          <p:cNvPr id="8" name="Shape 6"/>
          <p:cNvSpPr/>
          <p:nvPr/>
        </p:nvSpPr>
        <p:spPr>
          <a:xfrm>
            <a:off x="914400" y="1881187"/>
            <a:ext cx="9525" cy="4791075"/>
          </a:xfrm>
          <a:prstGeom prst="rect">
            <a:avLst/>
          </a:prstGeom>
          <a:solidFill>
            <a:srgbClr val="ECE6E2"/>
          </a:solidFill>
          <a:ln/>
        </p:spPr>
      </p:sp>
      <p:sp>
        <p:nvSpPr>
          <p:cNvPr id="9" name="Shape 7"/>
          <p:cNvSpPr/>
          <p:nvPr/>
        </p:nvSpPr>
        <p:spPr>
          <a:xfrm>
            <a:off x="8943975" y="1881187"/>
            <a:ext cx="9525" cy="4791075"/>
          </a:xfrm>
          <a:prstGeom prst="rect">
            <a:avLst/>
          </a:prstGeom>
          <a:solidFill>
            <a:srgbClr val="ECE6E2"/>
          </a:solidFill>
          <a:ln/>
        </p:spPr>
      </p:sp>
      <p:sp>
        <p:nvSpPr>
          <p:cNvPr id="10" name="Text 8"/>
          <p:cNvSpPr/>
          <p:nvPr/>
        </p:nvSpPr>
        <p:spPr>
          <a:xfrm>
            <a:off x="1285875" y="2243138"/>
            <a:ext cx="8025765" cy="28575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C02034"/>
                </a:solidFill>
                <a:latin typeface="Archivo" pitchFamily="34" charset="0"/>
                <a:ea typeface="Archivo" pitchFamily="34" charset="-122"/>
                <a:cs typeface="Archivo" pitchFamily="34" charset="-120"/>
              </a:rPr>
              <a:t>NIÊN HẠN — THEO NĂM PHỤC VỤ</a:t>
            </a:r>
            <a:endParaRPr lang="en-US" sz="1800" dirty="0"/>
          </a:p>
        </p:txBody>
      </p:sp>
      <p:sp>
        <p:nvSpPr>
          <p:cNvPr id="11" name="Shape 9"/>
          <p:cNvSpPr/>
          <p:nvPr/>
        </p:nvSpPr>
        <p:spPr>
          <a:xfrm>
            <a:off x="1285875" y="3348038"/>
            <a:ext cx="7296150" cy="9525"/>
          </a:xfrm>
          <a:prstGeom prst="rect">
            <a:avLst/>
          </a:prstGeom>
          <a:solidFill>
            <a:srgbClr val="EFEAE6"/>
          </a:solidFill>
          <a:ln/>
        </p:spPr>
      </p:sp>
      <p:sp>
        <p:nvSpPr>
          <p:cNvPr id="12" name="Text 10"/>
          <p:cNvSpPr/>
          <p:nvPr/>
        </p:nvSpPr>
        <p:spPr>
          <a:xfrm>
            <a:off x="1285875" y="2871788"/>
            <a:ext cx="2417110" cy="361950"/>
          </a:xfrm>
          <a:prstGeom prst="rect">
            <a:avLst/>
          </a:prstGeom>
          <a:noFill/>
          <a:ln/>
        </p:spPr>
        <p:txBody>
          <a:bodyPr wrap="square" lIns="25400" tIns="25400" rIns="25400" bIns="25400" rtlCol="0" anchor="t">
            <a:normAutofit/>
          </a:bodyPr>
          <a:lstStyle/>
          <a:p>
            <a:pPr algn="l" indent="0" marL="0">
              <a:buNone/>
            </a:pPr>
            <a:r>
              <a:rPr lang="en-US" sz="2025" dirty="0">
                <a:solidFill>
                  <a:srgbClr val="1E1A1B"/>
                </a:solidFill>
                <a:latin typeface="Be Vietnam Pro" pitchFamily="34" charset="0"/>
                <a:ea typeface="Be Vietnam Pro" pitchFamily="34" charset="-122"/>
                <a:cs typeface="Be Vietnam Pro" pitchFamily="34" charset="-120"/>
              </a:rPr>
              <a:t>HCCSVV hạng Ba</a:t>
            </a:r>
            <a:endParaRPr lang="en-US" sz="2025" dirty="0"/>
          </a:p>
        </p:txBody>
      </p:sp>
      <p:sp>
        <p:nvSpPr>
          <p:cNvPr id="13" name="Text 11"/>
          <p:cNvSpPr/>
          <p:nvPr/>
        </p:nvSpPr>
        <p:spPr>
          <a:xfrm>
            <a:off x="7692182" y="2895600"/>
            <a:ext cx="966043" cy="314325"/>
          </a:xfrm>
          <a:prstGeom prst="rect">
            <a:avLst/>
          </a:prstGeom>
          <a:noFill/>
          <a:ln/>
        </p:spPr>
        <p:txBody>
          <a:bodyPr wrap="square" lIns="25400" tIns="25400" rIns="25400" bIns="25400" rtlCol="0" anchor="t">
            <a:normAutofit/>
          </a:bodyPr>
          <a:lstStyle/>
          <a:p>
            <a:pPr algn="l" indent="0" marL="0">
              <a:buNone/>
            </a:pPr>
            <a:r>
              <a:rPr lang="en-US" sz="2025" b="1" dirty="0">
                <a:solidFill>
                  <a:srgbClr val="C02034"/>
                </a:solidFill>
                <a:latin typeface="Archivo" pitchFamily="34" charset="0"/>
                <a:ea typeface="Archivo" pitchFamily="34" charset="-122"/>
                <a:cs typeface="Archivo" pitchFamily="34" charset="-120"/>
              </a:rPr>
              <a:t>10 năm</a:t>
            </a:r>
            <a:endParaRPr lang="en-US" sz="2025" dirty="0"/>
          </a:p>
        </p:txBody>
      </p:sp>
      <p:sp>
        <p:nvSpPr>
          <p:cNvPr id="14" name="Shape 12"/>
          <p:cNvSpPr/>
          <p:nvPr/>
        </p:nvSpPr>
        <p:spPr>
          <a:xfrm>
            <a:off x="1285875" y="3986213"/>
            <a:ext cx="7296150" cy="9525"/>
          </a:xfrm>
          <a:prstGeom prst="rect">
            <a:avLst/>
          </a:prstGeom>
          <a:solidFill>
            <a:srgbClr val="EFEAE6"/>
          </a:solidFill>
          <a:ln/>
        </p:spPr>
      </p:sp>
      <p:sp>
        <p:nvSpPr>
          <p:cNvPr id="15" name="Text 13"/>
          <p:cNvSpPr/>
          <p:nvPr/>
        </p:nvSpPr>
        <p:spPr>
          <a:xfrm>
            <a:off x="1285875" y="3509963"/>
            <a:ext cx="2494873" cy="361950"/>
          </a:xfrm>
          <a:prstGeom prst="rect">
            <a:avLst/>
          </a:prstGeom>
          <a:noFill/>
          <a:ln/>
        </p:spPr>
        <p:txBody>
          <a:bodyPr wrap="square" lIns="25400" tIns="25400" rIns="25400" bIns="25400" rtlCol="0" anchor="t">
            <a:normAutofit/>
          </a:bodyPr>
          <a:lstStyle/>
          <a:p>
            <a:pPr algn="l" indent="0" marL="0">
              <a:buNone/>
            </a:pPr>
            <a:r>
              <a:rPr lang="en-US" sz="2025" dirty="0">
                <a:solidFill>
                  <a:srgbClr val="1E1A1B"/>
                </a:solidFill>
                <a:latin typeface="Be Vietnam Pro" pitchFamily="34" charset="0"/>
                <a:ea typeface="Be Vietnam Pro" pitchFamily="34" charset="-122"/>
                <a:cs typeface="Be Vietnam Pro" pitchFamily="34" charset="-120"/>
              </a:rPr>
              <a:t>HCCSVV hạng Nhì</a:t>
            </a:r>
            <a:endParaRPr lang="en-US" sz="2025" dirty="0"/>
          </a:p>
        </p:txBody>
      </p:sp>
      <p:sp>
        <p:nvSpPr>
          <p:cNvPr id="16" name="Text 14"/>
          <p:cNvSpPr/>
          <p:nvPr/>
        </p:nvSpPr>
        <p:spPr>
          <a:xfrm>
            <a:off x="7692182" y="3533775"/>
            <a:ext cx="966043" cy="314325"/>
          </a:xfrm>
          <a:prstGeom prst="rect">
            <a:avLst/>
          </a:prstGeom>
          <a:noFill/>
          <a:ln/>
        </p:spPr>
        <p:txBody>
          <a:bodyPr wrap="square" lIns="25400" tIns="25400" rIns="25400" bIns="25400" rtlCol="0" anchor="t">
            <a:normAutofit/>
          </a:bodyPr>
          <a:lstStyle/>
          <a:p>
            <a:pPr algn="l" indent="0" marL="0">
              <a:buNone/>
            </a:pPr>
            <a:r>
              <a:rPr lang="en-US" sz="2025" b="1" dirty="0">
                <a:solidFill>
                  <a:srgbClr val="C02034"/>
                </a:solidFill>
                <a:latin typeface="Archivo" pitchFamily="34" charset="0"/>
                <a:ea typeface="Archivo" pitchFamily="34" charset="-122"/>
                <a:cs typeface="Archivo" pitchFamily="34" charset="-120"/>
              </a:rPr>
              <a:t>15 năm</a:t>
            </a:r>
            <a:endParaRPr lang="en-US" sz="2025" dirty="0"/>
          </a:p>
        </p:txBody>
      </p:sp>
      <p:sp>
        <p:nvSpPr>
          <p:cNvPr id="17" name="Shape 15"/>
          <p:cNvSpPr/>
          <p:nvPr/>
        </p:nvSpPr>
        <p:spPr>
          <a:xfrm>
            <a:off x="1285875" y="4624388"/>
            <a:ext cx="7296150" cy="9525"/>
          </a:xfrm>
          <a:prstGeom prst="rect">
            <a:avLst/>
          </a:prstGeom>
          <a:solidFill>
            <a:srgbClr val="EFEAE6"/>
          </a:solidFill>
          <a:ln/>
        </p:spPr>
      </p:sp>
      <p:sp>
        <p:nvSpPr>
          <p:cNvPr id="18" name="Text 16"/>
          <p:cNvSpPr/>
          <p:nvPr/>
        </p:nvSpPr>
        <p:spPr>
          <a:xfrm>
            <a:off x="1285875" y="4148137"/>
            <a:ext cx="2722595" cy="361950"/>
          </a:xfrm>
          <a:prstGeom prst="rect">
            <a:avLst/>
          </a:prstGeom>
          <a:noFill/>
          <a:ln/>
        </p:spPr>
        <p:txBody>
          <a:bodyPr wrap="square" lIns="25400" tIns="25400" rIns="25400" bIns="25400" rtlCol="0" anchor="t">
            <a:normAutofit/>
          </a:bodyPr>
          <a:lstStyle/>
          <a:p>
            <a:pPr algn="l" indent="0" marL="0">
              <a:buNone/>
            </a:pPr>
            <a:r>
              <a:rPr lang="en-US" sz="2025" dirty="0">
                <a:solidFill>
                  <a:srgbClr val="1E1A1B"/>
                </a:solidFill>
                <a:latin typeface="Be Vietnam Pro" pitchFamily="34" charset="0"/>
                <a:ea typeface="Be Vietnam Pro" pitchFamily="34" charset="-122"/>
                <a:cs typeface="Be Vietnam Pro" pitchFamily="34" charset="-120"/>
              </a:rPr>
              <a:t>HCCSVV hạng Nhất</a:t>
            </a:r>
            <a:endParaRPr lang="en-US" sz="2025" dirty="0"/>
          </a:p>
        </p:txBody>
      </p:sp>
      <p:sp>
        <p:nvSpPr>
          <p:cNvPr id="19" name="Text 17"/>
          <p:cNvSpPr/>
          <p:nvPr/>
        </p:nvSpPr>
        <p:spPr>
          <a:xfrm>
            <a:off x="7692182" y="4171950"/>
            <a:ext cx="966043" cy="314325"/>
          </a:xfrm>
          <a:prstGeom prst="rect">
            <a:avLst/>
          </a:prstGeom>
          <a:noFill/>
          <a:ln/>
        </p:spPr>
        <p:txBody>
          <a:bodyPr wrap="square" lIns="25400" tIns="25400" rIns="25400" bIns="25400" rtlCol="0" anchor="t">
            <a:normAutofit/>
          </a:bodyPr>
          <a:lstStyle/>
          <a:p>
            <a:pPr algn="l" indent="0" marL="0">
              <a:buNone/>
            </a:pPr>
            <a:r>
              <a:rPr lang="en-US" sz="2025" b="1" dirty="0">
                <a:solidFill>
                  <a:srgbClr val="C02034"/>
                </a:solidFill>
                <a:latin typeface="Archivo" pitchFamily="34" charset="0"/>
                <a:ea typeface="Archivo" pitchFamily="34" charset="-122"/>
                <a:cs typeface="Archivo" pitchFamily="34" charset="-120"/>
              </a:rPr>
              <a:t>20 năm</a:t>
            </a:r>
            <a:endParaRPr lang="en-US" sz="2025" dirty="0"/>
          </a:p>
        </p:txBody>
      </p:sp>
      <p:sp>
        <p:nvSpPr>
          <p:cNvPr id="20" name="Shape 18"/>
          <p:cNvSpPr/>
          <p:nvPr/>
        </p:nvSpPr>
        <p:spPr>
          <a:xfrm>
            <a:off x="1285875" y="5262563"/>
            <a:ext cx="7296150" cy="9525"/>
          </a:xfrm>
          <a:prstGeom prst="rect">
            <a:avLst/>
          </a:prstGeom>
          <a:solidFill>
            <a:srgbClr val="EFEAE6"/>
          </a:solidFill>
          <a:ln/>
        </p:spPr>
      </p:sp>
      <p:sp>
        <p:nvSpPr>
          <p:cNvPr id="21" name="Text 19"/>
          <p:cNvSpPr/>
          <p:nvPr/>
        </p:nvSpPr>
        <p:spPr>
          <a:xfrm>
            <a:off x="1285875" y="4786313"/>
            <a:ext cx="1207071" cy="361950"/>
          </a:xfrm>
          <a:prstGeom prst="rect">
            <a:avLst/>
          </a:prstGeom>
          <a:noFill/>
          <a:ln/>
        </p:spPr>
        <p:txBody>
          <a:bodyPr wrap="square" lIns="25400" tIns="25400" rIns="25400" bIns="25400" rtlCol="0" anchor="t">
            <a:normAutofit/>
          </a:bodyPr>
          <a:lstStyle/>
          <a:p>
            <a:pPr algn="l" indent="0" marL="0">
              <a:buNone/>
            </a:pPr>
            <a:r>
              <a:rPr lang="en-US" sz="2025" dirty="0">
                <a:solidFill>
                  <a:srgbClr val="1E1A1B"/>
                </a:solidFill>
                <a:latin typeface="Be Vietnam Pro" pitchFamily="34" charset="0"/>
                <a:ea typeface="Be Vietnam Pro" pitchFamily="34" charset="-122"/>
                <a:cs typeface="Be Vietnam Pro" pitchFamily="34" charset="-120"/>
              </a:rPr>
              <a:t>HCQKQT</a:t>
            </a:r>
            <a:endParaRPr lang="en-US" sz="2025" dirty="0"/>
          </a:p>
        </p:txBody>
      </p:sp>
      <p:sp>
        <p:nvSpPr>
          <p:cNvPr id="22" name="Text 20"/>
          <p:cNvSpPr/>
          <p:nvPr/>
        </p:nvSpPr>
        <p:spPr>
          <a:xfrm>
            <a:off x="7692182" y="4810125"/>
            <a:ext cx="966043" cy="314325"/>
          </a:xfrm>
          <a:prstGeom prst="rect">
            <a:avLst/>
          </a:prstGeom>
          <a:noFill/>
          <a:ln/>
        </p:spPr>
        <p:txBody>
          <a:bodyPr wrap="square" lIns="25400" tIns="25400" rIns="25400" bIns="25400" rtlCol="0" anchor="t">
            <a:normAutofit/>
          </a:bodyPr>
          <a:lstStyle/>
          <a:p>
            <a:pPr algn="l" indent="0" marL="0">
              <a:buNone/>
            </a:pPr>
            <a:r>
              <a:rPr lang="en-US" sz="2025" b="1" dirty="0">
                <a:solidFill>
                  <a:srgbClr val="C02034"/>
                </a:solidFill>
                <a:latin typeface="Archivo" pitchFamily="34" charset="0"/>
                <a:ea typeface="Archivo" pitchFamily="34" charset="-122"/>
                <a:cs typeface="Archivo" pitchFamily="34" charset="-120"/>
              </a:rPr>
              <a:t>25 năm</a:t>
            </a:r>
            <a:endParaRPr lang="en-US" sz="2025" dirty="0"/>
          </a:p>
        </p:txBody>
      </p:sp>
      <p:sp>
        <p:nvSpPr>
          <p:cNvPr id="23" name="Text 21"/>
          <p:cNvSpPr/>
          <p:nvPr/>
        </p:nvSpPr>
        <p:spPr>
          <a:xfrm>
            <a:off x="1285875" y="5424488"/>
            <a:ext cx="3014246" cy="361950"/>
          </a:xfrm>
          <a:prstGeom prst="rect">
            <a:avLst/>
          </a:prstGeom>
          <a:noFill/>
          <a:ln/>
        </p:spPr>
        <p:txBody>
          <a:bodyPr wrap="square" lIns="25400" tIns="25400" rIns="25400" bIns="25400" rtlCol="0" anchor="t">
            <a:normAutofit/>
          </a:bodyPr>
          <a:lstStyle/>
          <a:p>
            <a:pPr algn="l" indent="0" marL="0">
              <a:buNone/>
            </a:pPr>
            <a:r>
              <a:rPr lang="en-US" sz="2025" dirty="0">
                <a:solidFill>
                  <a:srgbClr val="1E1A1B"/>
                </a:solidFill>
                <a:latin typeface="Be Vietnam Pro" pitchFamily="34" charset="0"/>
                <a:ea typeface="Be Vietnam Pro" pitchFamily="34" charset="-122"/>
                <a:cs typeface="Be Vietnam Pro" pitchFamily="34" charset="-120"/>
              </a:rPr>
              <a:t>KNC VSNXD QĐNDVN</a:t>
            </a:r>
            <a:endParaRPr lang="en-US" sz="2025" dirty="0"/>
          </a:p>
        </p:txBody>
      </p:sp>
      <p:sp>
        <p:nvSpPr>
          <p:cNvPr id="24" name="Text 22"/>
          <p:cNvSpPr/>
          <p:nvPr/>
        </p:nvSpPr>
        <p:spPr>
          <a:xfrm>
            <a:off x="6848475" y="5448300"/>
            <a:ext cx="1906905" cy="314325"/>
          </a:xfrm>
          <a:prstGeom prst="rect">
            <a:avLst/>
          </a:prstGeom>
          <a:noFill/>
          <a:ln/>
        </p:spPr>
        <p:txBody>
          <a:bodyPr wrap="square" lIns="25400" tIns="25400" rIns="25400" bIns="25400" rtlCol="0" anchor="t">
            <a:normAutofit/>
          </a:bodyPr>
          <a:lstStyle/>
          <a:p>
            <a:pPr algn="l" indent="0" marL="0">
              <a:buNone/>
            </a:pPr>
            <a:r>
              <a:rPr lang="en-US" sz="2025" b="1" dirty="0">
                <a:solidFill>
                  <a:srgbClr val="C02034"/>
                </a:solidFill>
                <a:latin typeface="Archivo" pitchFamily="34" charset="0"/>
                <a:ea typeface="Archivo" pitchFamily="34" charset="-122"/>
                <a:cs typeface="Archivo" pitchFamily="34" charset="-120"/>
              </a:rPr>
              <a:t>nam 25 / nữ 20</a:t>
            </a:r>
            <a:endParaRPr lang="en-US" sz="2025" dirty="0"/>
          </a:p>
        </p:txBody>
      </p:sp>
      <p:sp>
        <p:nvSpPr>
          <p:cNvPr id="25" name="Text 23"/>
          <p:cNvSpPr/>
          <p:nvPr/>
        </p:nvSpPr>
        <p:spPr>
          <a:xfrm>
            <a:off x="1285875" y="6072188"/>
            <a:ext cx="8025765" cy="304800"/>
          </a:xfrm>
          <a:prstGeom prst="rect">
            <a:avLst/>
          </a:prstGeom>
          <a:noFill/>
          <a:ln/>
        </p:spPr>
        <p:txBody>
          <a:bodyPr wrap="square" lIns="25400" tIns="25400" rIns="25400" bIns="25400" rtlCol="0" anchor="t">
            <a:normAutofit/>
          </a:bodyPr>
          <a:lstStyle/>
          <a:p>
            <a:pPr algn="l" indent="0" marL="0">
              <a:buNone/>
            </a:pPr>
            <a:r>
              <a:rPr lang="en-US" sz="1650" i="1" dirty="0">
                <a:solidFill>
                  <a:srgbClr val="9A938F"/>
                </a:solidFill>
                <a:latin typeface="Be Vietnam Pro" pitchFamily="34" charset="0"/>
                <a:ea typeface="Be Vietnam Pro" pitchFamily="34" charset="-122"/>
                <a:cs typeface="Be Vietnam Pro" pitchFamily="34" charset="-120"/>
              </a:rPr>
              <a:t>đều nhận một lần duy nhất</a:t>
            </a:r>
            <a:endParaRPr lang="en-US" sz="1650" dirty="0"/>
          </a:p>
        </p:txBody>
      </p:sp>
      <p:sp>
        <p:nvSpPr>
          <p:cNvPr id="26" name="Shape 24"/>
          <p:cNvSpPr/>
          <p:nvPr/>
        </p:nvSpPr>
        <p:spPr>
          <a:xfrm>
            <a:off x="9334500" y="1881187"/>
            <a:ext cx="8039100" cy="4791075"/>
          </a:xfrm>
          <a:prstGeom prst="rect">
            <a:avLst/>
          </a:prstGeom>
          <a:solidFill>
            <a:srgbClr val="FFFFFF"/>
          </a:solidFill>
          <a:ln/>
        </p:spPr>
      </p:sp>
      <p:sp>
        <p:nvSpPr>
          <p:cNvPr id="27" name="Shape 25"/>
          <p:cNvSpPr/>
          <p:nvPr/>
        </p:nvSpPr>
        <p:spPr>
          <a:xfrm>
            <a:off x="9334500" y="6662738"/>
            <a:ext cx="8039100" cy="9525"/>
          </a:xfrm>
          <a:prstGeom prst="rect">
            <a:avLst/>
          </a:prstGeom>
          <a:solidFill>
            <a:srgbClr val="ECE6E2"/>
          </a:solidFill>
          <a:ln/>
        </p:spPr>
      </p:sp>
      <p:sp>
        <p:nvSpPr>
          <p:cNvPr id="28" name="Shape 26"/>
          <p:cNvSpPr/>
          <p:nvPr/>
        </p:nvSpPr>
        <p:spPr>
          <a:xfrm>
            <a:off x="9334500" y="1881187"/>
            <a:ext cx="8039100" cy="38100"/>
          </a:xfrm>
          <a:prstGeom prst="rect">
            <a:avLst/>
          </a:prstGeom>
          <a:solidFill>
            <a:srgbClr val="E59C0A"/>
          </a:solidFill>
          <a:ln/>
        </p:spPr>
      </p:sp>
      <p:sp>
        <p:nvSpPr>
          <p:cNvPr id="29" name="Shape 27"/>
          <p:cNvSpPr/>
          <p:nvPr/>
        </p:nvSpPr>
        <p:spPr>
          <a:xfrm>
            <a:off x="9334500" y="1881187"/>
            <a:ext cx="9525" cy="4791075"/>
          </a:xfrm>
          <a:prstGeom prst="rect">
            <a:avLst/>
          </a:prstGeom>
          <a:solidFill>
            <a:srgbClr val="ECE6E2"/>
          </a:solidFill>
          <a:ln/>
        </p:spPr>
      </p:sp>
      <p:sp>
        <p:nvSpPr>
          <p:cNvPr id="30" name="Shape 28"/>
          <p:cNvSpPr/>
          <p:nvPr/>
        </p:nvSpPr>
        <p:spPr>
          <a:xfrm>
            <a:off x="17364075" y="1881187"/>
            <a:ext cx="9525" cy="4791075"/>
          </a:xfrm>
          <a:prstGeom prst="rect">
            <a:avLst/>
          </a:prstGeom>
          <a:solidFill>
            <a:srgbClr val="ECE6E2"/>
          </a:solidFill>
          <a:ln/>
        </p:spPr>
      </p:sp>
      <p:sp>
        <p:nvSpPr>
          <p:cNvPr id="31" name="Text 29"/>
          <p:cNvSpPr/>
          <p:nvPr/>
        </p:nvSpPr>
        <p:spPr>
          <a:xfrm>
            <a:off x="9705975" y="2243138"/>
            <a:ext cx="8025765" cy="28575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B07A09"/>
                </a:solidFill>
                <a:latin typeface="Archivo" pitchFamily="34" charset="0"/>
                <a:ea typeface="Archivo" pitchFamily="34" charset="-122"/>
                <a:cs typeface="Archivo" pitchFamily="34" charset="-120"/>
              </a:rPr>
              <a:t>CỐNG HIẾN — HCBVTQ THEO THÁNG GIỮ CHỨC</a:t>
            </a:r>
            <a:endParaRPr lang="en-US" sz="1800" dirty="0"/>
          </a:p>
        </p:txBody>
      </p:sp>
      <p:sp>
        <p:nvSpPr>
          <p:cNvPr id="32" name="Shape 30"/>
          <p:cNvSpPr/>
          <p:nvPr/>
        </p:nvSpPr>
        <p:spPr>
          <a:xfrm>
            <a:off x="9705975" y="3386138"/>
            <a:ext cx="7296150" cy="9525"/>
          </a:xfrm>
          <a:prstGeom prst="rect">
            <a:avLst/>
          </a:prstGeom>
          <a:solidFill>
            <a:srgbClr val="EFEAE6"/>
          </a:solidFill>
          <a:ln/>
        </p:spPr>
      </p:sp>
      <p:sp>
        <p:nvSpPr>
          <p:cNvPr id="33" name="Text 31"/>
          <p:cNvSpPr/>
          <p:nvPr/>
        </p:nvSpPr>
        <p:spPr>
          <a:xfrm>
            <a:off x="9705975" y="2890838"/>
            <a:ext cx="2109825" cy="361950"/>
          </a:xfrm>
          <a:prstGeom prst="rect">
            <a:avLst/>
          </a:prstGeom>
          <a:noFill/>
          <a:ln/>
        </p:spPr>
        <p:txBody>
          <a:bodyPr wrap="square" lIns="25400" tIns="25400" rIns="25400" bIns="25400" rtlCol="0" anchor="t">
            <a:normAutofit/>
          </a:bodyPr>
          <a:lstStyle/>
          <a:p>
            <a:pPr algn="l" indent="0" marL="0">
              <a:buNone/>
            </a:pPr>
            <a:r>
              <a:rPr lang="en-US" sz="2025" dirty="0">
                <a:solidFill>
                  <a:srgbClr val="1E1A1B"/>
                </a:solidFill>
                <a:latin typeface="Be Vietnam Pro" pitchFamily="34" charset="0"/>
                <a:ea typeface="Be Vietnam Pro" pitchFamily="34" charset="-122"/>
                <a:cs typeface="Be Vietnam Pro" pitchFamily="34" charset="-120"/>
              </a:rPr>
              <a:t>Nhóm hệ số 0.7</a:t>
            </a:r>
            <a:endParaRPr lang="en-US" sz="2025" dirty="0"/>
          </a:p>
        </p:txBody>
      </p:sp>
      <p:sp>
        <p:nvSpPr>
          <p:cNvPr id="34" name="Text 32"/>
          <p:cNvSpPr/>
          <p:nvPr/>
        </p:nvSpPr>
        <p:spPr>
          <a:xfrm>
            <a:off x="15694447" y="2902744"/>
            <a:ext cx="1438446" cy="338138"/>
          </a:xfrm>
          <a:prstGeom prst="rect">
            <a:avLst/>
          </a:prstGeom>
          <a:noFill/>
          <a:ln/>
        </p:spPr>
        <p:txBody>
          <a:bodyPr wrap="square" lIns="25400" tIns="25400" rIns="25400" bIns="25400" rtlCol="0" anchor="t">
            <a:normAutofit/>
          </a:bodyPr>
          <a:lstStyle/>
          <a:p>
            <a:pPr algn="l" indent="0" marL="0">
              <a:buNone/>
            </a:pPr>
            <a:r>
              <a:rPr lang="en-US" sz="2025" b="1" dirty="0">
                <a:solidFill>
                  <a:srgbClr val="B07A09"/>
                </a:solidFill>
                <a:latin typeface="Archivo" pitchFamily="34" charset="0"/>
                <a:ea typeface="Archivo" pitchFamily="34" charset="-122"/>
                <a:cs typeface="Archivo" pitchFamily="34" charset="-120"/>
              </a:rPr>
              <a:t>→ hạng Ba</a:t>
            </a:r>
            <a:endParaRPr lang="en-US" sz="2025" dirty="0"/>
          </a:p>
        </p:txBody>
      </p:sp>
      <p:sp>
        <p:nvSpPr>
          <p:cNvPr id="35" name="Shape 33"/>
          <p:cNvSpPr/>
          <p:nvPr/>
        </p:nvSpPr>
        <p:spPr>
          <a:xfrm>
            <a:off x="9705975" y="4062412"/>
            <a:ext cx="7296150" cy="9525"/>
          </a:xfrm>
          <a:prstGeom prst="rect">
            <a:avLst/>
          </a:prstGeom>
          <a:solidFill>
            <a:srgbClr val="EFEAE6"/>
          </a:solidFill>
          <a:ln/>
        </p:spPr>
      </p:sp>
      <p:sp>
        <p:nvSpPr>
          <p:cNvPr id="36" name="Text 34"/>
          <p:cNvSpPr/>
          <p:nvPr/>
        </p:nvSpPr>
        <p:spPr>
          <a:xfrm>
            <a:off x="9705975" y="3567113"/>
            <a:ext cx="2121203" cy="361950"/>
          </a:xfrm>
          <a:prstGeom prst="rect">
            <a:avLst/>
          </a:prstGeom>
          <a:noFill/>
          <a:ln/>
        </p:spPr>
        <p:txBody>
          <a:bodyPr wrap="square" lIns="25400" tIns="25400" rIns="25400" bIns="25400" rtlCol="0" anchor="t">
            <a:normAutofit/>
          </a:bodyPr>
          <a:lstStyle/>
          <a:p>
            <a:pPr algn="l" indent="0" marL="0">
              <a:buNone/>
            </a:pPr>
            <a:r>
              <a:rPr lang="en-US" sz="2025" dirty="0">
                <a:solidFill>
                  <a:srgbClr val="1E1A1B"/>
                </a:solidFill>
                <a:latin typeface="Be Vietnam Pro" pitchFamily="34" charset="0"/>
                <a:ea typeface="Be Vietnam Pro" pitchFamily="34" charset="-122"/>
                <a:cs typeface="Be Vietnam Pro" pitchFamily="34" charset="-120"/>
              </a:rPr>
              <a:t>Nhóm hệ số 0.8</a:t>
            </a:r>
            <a:endParaRPr lang="en-US" sz="2025" dirty="0"/>
          </a:p>
        </p:txBody>
      </p:sp>
      <p:sp>
        <p:nvSpPr>
          <p:cNvPr id="37" name="Text 35"/>
          <p:cNvSpPr/>
          <p:nvPr/>
        </p:nvSpPr>
        <p:spPr>
          <a:xfrm>
            <a:off x="15611921" y="3579019"/>
            <a:ext cx="1529224" cy="338138"/>
          </a:xfrm>
          <a:prstGeom prst="rect">
            <a:avLst/>
          </a:prstGeom>
          <a:noFill/>
          <a:ln/>
        </p:spPr>
        <p:txBody>
          <a:bodyPr wrap="square" lIns="25400" tIns="25400" rIns="25400" bIns="25400" rtlCol="0" anchor="t">
            <a:normAutofit/>
          </a:bodyPr>
          <a:lstStyle/>
          <a:p>
            <a:pPr algn="l" indent="0" marL="0">
              <a:buNone/>
            </a:pPr>
            <a:r>
              <a:rPr lang="en-US" sz="2025" b="1" dirty="0">
                <a:solidFill>
                  <a:srgbClr val="B07A09"/>
                </a:solidFill>
                <a:latin typeface="Archivo" pitchFamily="34" charset="0"/>
                <a:ea typeface="Archivo" pitchFamily="34" charset="-122"/>
                <a:cs typeface="Archivo" pitchFamily="34" charset="-120"/>
              </a:rPr>
              <a:t>→ hạng Nhì</a:t>
            </a:r>
            <a:endParaRPr lang="en-US" sz="2025" dirty="0"/>
          </a:p>
        </p:txBody>
      </p:sp>
      <p:sp>
        <p:nvSpPr>
          <p:cNvPr id="38" name="Shape 36"/>
          <p:cNvSpPr/>
          <p:nvPr/>
        </p:nvSpPr>
        <p:spPr>
          <a:xfrm>
            <a:off x="9705975" y="4738688"/>
            <a:ext cx="7296150" cy="9525"/>
          </a:xfrm>
          <a:prstGeom prst="rect">
            <a:avLst/>
          </a:prstGeom>
          <a:solidFill>
            <a:srgbClr val="EFEAE6"/>
          </a:solidFill>
          <a:ln/>
        </p:spPr>
      </p:sp>
      <p:sp>
        <p:nvSpPr>
          <p:cNvPr id="39" name="Text 37"/>
          <p:cNvSpPr/>
          <p:nvPr/>
        </p:nvSpPr>
        <p:spPr>
          <a:xfrm>
            <a:off x="9705975" y="4243388"/>
            <a:ext cx="2838338" cy="361950"/>
          </a:xfrm>
          <a:prstGeom prst="rect">
            <a:avLst/>
          </a:prstGeom>
          <a:noFill/>
          <a:ln/>
        </p:spPr>
        <p:txBody>
          <a:bodyPr wrap="square" lIns="25400" tIns="25400" rIns="25400" bIns="25400" rtlCol="0" anchor="t">
            <a:normAutofit/>
          </a:bodyPr>
          <a:lstStyle/>
          <a:p>
            <a:pPr algn="l" indent="0" marL="0">
              <a:buNone/>
            </a:pPr>
            <a:r>
              <a:rPr lang="en-US" sz="2025" dirty="0">
                <a:solidFill>
                  <a:srgbClr val="1E1A1B"/>
                </a:solidFill>
                <a:latin typeface="Be Vietnam Pro" pitchFamily="34" charset="0"/>
                <a:ea typeface="Be Vietnam Pro" pitchFamily="34" charset="-122"/>
                <a:cs typeface="Be Vietnam Pro" pitchFamily="34" charset="-120"/>
              </a:rPr>
              <a:t>Nhóm hệ số 0.9 – 1.0</a:t>
            </a:r>
            <a:endParaRPr lang="en-US" sz="2025" dirty="0"/>
          </a:p>
        </p:txBody>
      </p:sp>
      <p:sp>
        <p:nvSpPr>
          <p:cNvPr id="40" name="Text 38"/>
          <p:cNvSpPr/>
          <p:nvPr/>
        </p:nvSpPr>
        <p:spPr>
          <a:xfrm>
            <a:off x="15443299" y="4255294"/>
            <a:ext cx="1714708" cy="338138"/>
          </a:xfrm>
          <a:prstGeom prst="rect">
            <a:avLst/>
          </a:prstGeom>
          <a:noFill/>
          <a:ln/>
        </p:spPr>
        <p:txBody>
          <a:bodyPr wrap="square" lIns="25400" tIns="25400" rIns="25400" bIns="25400" rtlCol="0" anchor="t">
            <a:normAutofit/>
          </a:bodyPr>
          <a:lstStyle/>
          <a:p>
            <a:pPr algn="l" indent="0" marL="0">
              <a:buNone/>
            </a:pPr>
            <a:r>
              <a:rPr lang="en-US" sz="2025" b="1" dirty="0">
                <a:solidFill>
                  <a:srgbClr val="B07A09"/>
                </a:solidFill>
                <a:latin typeface="Archivo" pitchFamily="34" charset="0"/>
                <a:ea typeface="Archivo" pitchFamily="34" charset="-122"/>
                <a:cs typeface="Archivo" pitchFamily="34" charset="-120"/>
              </a:rPr>
              <a:t>→ hạng Nhất</a:t>
            </a:r>
            <a:endParaRPr lang="en-US" sz="2025" dirty="0"/>
          </a:p>
        </p:txBody>
      </p:sp>
      <p:sp>
        <p:nvSpPr>
          <p:cNvPr id="41" name="Shape 39"/>
          <p:cNvSpPr/>
          <p:nvPr/>
        </p:nvSpPr>
        <p:spPr>
          <a:xfrm>
            <a:off x="9705975" y="4995863"/>
            <a:ext cx="7296150" cy="1085850"/>
          </a:xfrm>
          <a:prstGeom prst="rect">
            <a:avLst/>
          </a:prstGeom>
          <a:solidFill>
            <a:srgbClr val="FBF3E2"/>
          </a:solidFill>
          <a:ln/>
        </p:spPr>
      </p:sp>
      <p:sp>
        <p:nvSpPr>
          <p:cNvPr id="42" name="Text 40"/>
          <p:cNvSpPr/>
          <p:nvPr/>
        </p:nvSpPr>
        <p:spPr>
          <a:xfrm>
            <a:off x="9953625" y="5205413"/>
            <a:ext cx="7019735"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3A3537"/>
                </a:solidFill>
                <a:highlight>
                  <a:srgbClr val="FBF3E2"/>
                </a:highlight>
                <a:latin typeface="Be Vietnam Pro" pitchFamily="34" charset="0"/>
                <a:ea typeface="Be Vietnam Pro" pitchFamily="34" charset="-122"/>
                <a:cs typeface="Be Vietnam Pro" pitchFamily="34" charset="-120"/>
              </a:rPr>
              <a:t>Tích luỹ </a:t>
            </a:r>
            <a:pPr algn="l" indent="0" marL="0">
              <a:lnSpc>
                <a:spcPct val="140000"/>
              </a:lnSpc>
              <a:buNone/>
            </a:pPr>
            <a:r>
              <a:rPr lang="en-US" sz="1875" b="1" dirty="0">
                <a:solidFill>
                  <a:srgbClr val="1E1A1B"/>
                </a:solidFill>
                <a:latin typeface="Be Vietnam Pro" pitchFamily="34" charset="0"/>
                <a:ea typeface="Be Vietnam Pro" pitchFamily="34" charset="-122"/>
                <a:cs typeface="Be Vietnam Pro" pitchFamily="34" charset="-120"/>
              </a:rPr>
              <a:t>120 tháng (nam) </a:t>
            </a:r>
            <a:pPr algn="l" indent="0" marL="0">
              <a:lnSpc>
                <a:spcPct val="140000"/>
              </a:lnSpc>
              <a:buNone/>
            </a:pPr>
            <a:r>
              <a:rPr lang="en-US" sz="1875" dirty="0">
                <a:solidFill>
                  <a:srgbClr val="3A3537"/>
                </a:solidFill>
                <a:highlight>
                  <a:srgbClr val="FBF3E2"/>
                </a:highlight>
                <a:latin typeface="Be Vietnam Pro" pitchFamily="34" charset="0"/>
                <a:ea typeface="Be Vietnam Pro" pitchFamily="34" charset="-122"/>
                <a:cs typeface="Be Vietnam Pro" pitchFamily="34" charset="-120"/>
              </a:rPr>
              <a:t>hoặc </a:t>
            </a:r>
            <a:pPr algn="l" indent="0" marL="0">
              <a:lnSpc>
                <a:spcPct val="140000"/>
              </a:lnSpc>
              <a:buNone/>
            </a:pPr>
            <a:r>
              <a:rPr lang="en-US" sz="1875" b="1" dirty="0">
                <a:solidFill>
                  <a:srgbClr val="1E1A1B"/>
                </a:solidFill>
                <a:latin typeface="Be Vietnam Pro" pitchFamily="34" charset="0"/>
                <a:ea typeface="Be Vietnam Pro" pitchFamily="34" charset="-122"/>
                <a:cs typeface="Be Vietnam Pro" pitchFamily="34" charset="-120"/>
              </a:rPr>
              <a:t>80 tháng (nữ) </a:t>
            </a:r>
            <a:pPr algn="l" indent="0" marL="0">
              <a:lnSpc>
                <a:spcPct val="140000"/>
              </a:lnSpc>
              <a:buNone/>
            </a:pPr>
            <a:r>
              <a:rPr lang="en-US" sz="1875" dirty="0">
                <a:solidFill>
                  <a:srgbClr val="3A3537"/>
                </a:solidFill>
                <a:highlight>
                  <a:srgbClr val="FBF3E2"/>
                </a:highlight>
                <a:latin typeface="Be Vietnam Pro" pitchFamily="34" charset="0"/>
                <a:ea typeface="Be Vietnam Pro" pitchFamily="34" charset="-122"/>
                <a:cs typeface="Be Vietnam Pro" pitchFamily="34" charset="-120"/>
              </a:rPr>
              <a:t>giữ chức vụ trong từng nhóm hệ số</a:t>
            </a:r>
            <a:endParaRPr lang="en-US" sz="1875" dirty="0"/>
          </a:p>
        </p:txBody>
      </p:sp>
      <p:sp>
        <p:nvSpPr>
          <p:cNvPr id="43" name="Shape 41"/>
          <p:cNvSpPr/>
          <p:nvPr/>
        </p:nvSpPr>
        <p:spPr>
          <a:xfrm>
            <a:off x="914400" y="9477375"/>
            <a:ext cx="16459200" cy="9525"/>
          </a:xfrm>
          <a:prstGeom prst="rect">
            <a:avLst/>
          </a:prstGeom>
          <a:solidFill>
            <a:srgbClr val="E8E2DE"/>
          </a:solidFill>
          <a:ln/>
        </p:spPr>
      </p:sp>
      <p:pic>
        <p:nvPicPr>
          <p:cNvPr id="44"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45" name="Text 42"/>
          <p:cNvSpPr/>
          <p:nvPr/>
        </p:nvSpPr>
        <p:spPr>
          <a:xfrm>
            <a:off x="6637362"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46" name="Text 43"/>
          <p:cNvSpPr/>
          <p:nvPr/>
        </p:nvSpPr>
        <p:spPr>
          <a:xfrm>
            <a:off x="17124164" y="9658350"/>
            <a:ext cx="325636"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09</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2276892"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 · MỞ ĐẦU</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Phân tích bài toán — bốn thách thức cốt lõi</a:t>
            </a:r>
            <a:endParaRPr lang="en-US" sz="3750" dirty="0"/>
          </a:p>
        </p:txBody>
      </p:sp>
      <p:sp>
        <p:nvSpPr>
          <p:cNvPr id="5" name="Shape 3"/>
          <p:cNvSpPr/>
          <p:nvPr/>
        </p:nvSpPr>
        <p:spPr>
          <a:xfrm>
            <a:off x="914400" y="1881187"/>
            <a:ext cx="8086725" cy="1640086"/>
          </a:xfrm>
          <a:prstGeom prst="rect">
            <a:avLst/>
          </a:prstGeom>
          <a:solidFill>
            <a:srgbClr val="FFFFFF"/>
          </a:solidFill>
          <a:ln w="9525">
            <a:solidFill>
              <a:srgbClr val="ECE6E2"/>
            </a:solidFill>
            <a:prstDash val="solid"/>
          </a:ln>
        </p:spPr>
      </p:sp>
      <p:sp>
        <p:nvSpPr>
          <p:cNvPr id="6" name="Text 4"/>
          <p:cNvSpPr/>
          <p:nvPr/>
        </p:nvSpPr>
        <p:spPr>
          <a:xfrm>
            <a:off x="1247775" y="2176463"/>
            <a:ext cx="409873" cy="1087636"/>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F0D9C9"/>
                </a:solidFill>
                <a:latin typeface="Archivo" pitchFamily="34" charset="0"/>
                <a:ea typeface="Archivo" pitchFamily="34" charset="-122"/>
                <a:cs typeface="Archivo" pitchFamily="34" charset="-120"/>
              </a:rPr>
              <a:t>1</a:t>
            </a:r>
            <a:endParaRPr lang="en-US" sz="4200" dirty="0"/>
          </a:p>
        </p:txBody>
      </p:sp>
      <p:sp>
        <p:nvSpPr>
          <p:cNvPr id="7" name="Text 5"/>
          <p:cNvSpPr/>
          <p:nvPr/>
        </p:nvSpPr>
        <p:spPr>
          <a:xfrm>
            <a:off x="1810048" y="2176463"/>
            <a:ext cx="7543473" cy="352425"/>
          </a:xfrm>
          <a:prstGeom prst="rect">
            <a:avLst/>
          </a:prstGeom>
          <a:noFill/>
          <a:ln/>
        </p:spPr>
        <p:txBody>
          <a:bodyPr wrap="square" lIns="25400" tIns="25400" rIns="25400" bIns="25400" rtlCol="0" anchor="t">
            <a:normAutofit/>
          </a:bodyPr>
          <a:lstStyle/>
          <a:p>
            <a:pPr algn="l" indent="0" marL="0">
              <a:buNone/>
            </a:pPr>
            <a:r>
              <a:rPr lang="en-US" sz="2250" b="1" dirty="0">
                <a:solidFill>
                  <a:srgbClr val="1E1A1B"/>
                </a:solidFill>
                <a:latin typeface="Archivo" pitchFamily="34" charset="0"/>
                <a:ea typeface="Archivo" pitchFamily="34" charset="-122"/>
                <a:cs typeface="Archivo" pitchFamily="34" charset="-120"/>
              </a:rPr>
              <a:t>Logic chuỗi danh hiệu nhiều năm</a:t>
            </a:r>
            <a:endParaRPr lang="en-US" sz="2250" dirty="0"/>
          </a:p>
        </p:txBody>
      </p:sp>
      <p:sp>
        <p:nvSpPr>
          <p:cNvPr id="8" name="Text 6"/>
          <p:cNvSpPr/>
          <p:nvPr/>
        </p:nvSpPr>
        <p:spPr>
          <a:xfrm>
            <a:off x="1810048" y="2586038"/>
            <a:ext cx="7063433"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7514F"/>
                </a:solidFill>
                <a:latin typeface="Be Vietnam Pro" pitchFamily="34" charset="0"/>
                <a:ea typeface="Be Vietnam Pro" pitchFamily="34" charset="-122"/>
                <a:cs typeface="Be Vietnam Pro" pitchFamily="34" charset="-120"/>
              </a:rPr>
              <a:t>Cửa sổ trượt 3/7 năm, nhận một lần duy nhất, lỡ đợt → phải xét trên toàn dòng thời gian.</a:t>
            </a:r>
            <a:endParaRPr lang="en-US" sz="1800" dirty="0"/>
          </a:p>
        </p:txBody>
      </p:sp>
      <p:sp>
        <p:nvSpPr>
          <p:cNvPr id="9" name="Shape 7"/>
          <p:cNvSpPr/>
          <p:nvPr/>
        </p:nvSpPr>
        <p:spPr>
          <a:xfrm>
            <a:off x="7461647" y="2119313"/>
            <a:ext cx="1282303" cy="280988"/>
          </a:xfrm>
          <a:prstGeom prst="rect">
            <a:avLst/>
          </a:prstGeom>
          <a:solidFill>
            <a:srgbClr val="C02034"/>
          </a:solidFill>
          <a:ln/>
        </p:spPr>
      </p:sp>
      <p:sp>
        <p:nvSpPr>
          <p:cNvPr id="10" name="Text 8"/>
          <p:cNvSpPr/>
          <p:nvPr/>
        </p:nvSpPr>
        <p:spPr>
          <a:xfrm>
            <a:off x="7575947" y="2176463"/>
            <a:ext cx="1129903" cy="204788"/>
          </a:xfrm>
          <a:prstGeom prst="rect">
            <a:avLst/>
          </a:prstGeom>
          <a:noFill/>
          <a:ln/>
        </p:spPr>
        <p:txBody>
          <a:bodyPr wrap="square" lIns="25400" tIns="25400" rIns="25400" bIns="25400" rtlCol="0" anchor="t">
            <a:normAutofit/>
          </a:bodyPr>
          <a:lstStyle/>
          <a:p>
            <a:pPr algn="l" indent="0" marL="0">
              <a:buNone/>
            </a:pPr>
            <a:r>
              <a:rPr lang="en-US" sz="1200" b="1" spc="113" kern="0" dirty="0">
                <a:solidFill>
                  <a:srgbClr val="FFFFFF"/>
                </a:solidFill>
                <a:latin typeface="Archivo" pitchFamily="34" charset="0"/>
                <a:ea typeface="Archivo" pitchFamily="34" charset="-122"/>
                <a:cs typeface="Archivo" pitchFamily="34" charset="-120"/>
              </a:rPr>
              <a:t>TRỌNG TÂM</a:t>
            </a:r>
            <a:endParaRPr lang="en-US" sz="1200" dirty="0"/>
          </a:p>
        </p:txBody>
      </p:sp>
      <p:sp>
        <p:nvSpPr>
          <p:cNvPr id="11" name="Shape 9"/>
          <p:cNvSpPr/>
          <p:nvPr/>
        </p:nvSpPr>
        <p:spPr>
          <a:xfrm>
            <a:off x="9286875" y="1881187"/>
            <a:ext cx="8086725" cy="1640086"/>
          </a:xfrm>
          <a:prstGeom prst="rect">
            <a:avLst/>
          </a:prstGeom>
          <a:solidFill>
            <a:srgbClr val="FFFFFF"/>
          </a:solidFill>
          <a:ln w="9525">
            <a:solidFill>
              <a:srgbClr val="ECE6E2"/>
            </a:solidFill>
            <a:prstDash val="solid"/>
          </a:ln>
        </p:spPr>
      </p:sp>
      <p:sp>
        <p:nvSpPr>
          <p:cNvPr id="12" name="Text 10"/>
          <p:cNvSpPr/>
          <p:nvPr/>
        </p:nvSpPr>
        <p:spPr>
          <a:xfrm>
            <a:off x="9620250" y="2176463"/>
            <a:ext cx="409873" cy="1087636"/>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F0D9C9"/>
                </a:solidFill>
                <a:latin typeface="Archivo" pitchFamily="34" charset="0"/>
                <a:ea typeface="Archivo" pitchFamily="34" charset="-122"/>
                <a:cs typeface="Archivo" pitchFamily="34" charset="-120"/>
              </a:rPr>
              <a:t>2</a:t>
            </a:r>
            <a:endParaRPr lang="en-US" sz="4200" dirty="0"/>
          </a:p>
        </p:txBody>
      </p:sp>
      <p:sp>
        <p:nvSpPr>
          <p:cNvPr id="13" name="Text 11"/>
          <p:cNvSpPr/>
          <p:nvPr/>
        </p:nvSpPr>
        <p:spPr>
          <a:xfrm>
            <a:off x="10182523" y="2176463"/>
            <a:ext cx="7543473" cy="352425"/>
          </a:xfrm>
          <a:prstGeom prst="rect">
            <a:avLst/>
          </a:prstGeom>
          <a:noFill/>
          <a:ln/>
        </p:spPr>
        <p:txBody>
          <a:bodyPr wrap="square" lIns="25400" tIns="25400" rIns="25400" bIns="25400" rtlCol="0" anchor="t">
            <a:normAutofit/>
          </a:bodyPr>
          <a:lstStyle/>
          <a:p>
            <a:pPr algn="l" indent="0" marL="0">
              <a:buNone/>
            </a:pPr>
            <a:r>
              <a:rPr lang="en-US" sz="2250" b="1" dirty="0">
                <a:solidFill>
                  <a:srgbClr val="1E1A1B"/>
                </a:solidFill>
                <a:latin typeface="Archivo" pitchFamily="34" charset="0"/>
                <a:ea typeface="Archivo" pitchFamily="34" charset="-122"/>
                <a:cs typeface="Archivo" pitchFamily="34" charset="-120"/>
              </a:rPr>
              <a:t>Nhất quán dữ liệu đa bảng</a:t>
            </a:r>
            <a:endParaRPr lang="en-US" sz="2250" dirty="0"/>
          </a:p>
        </p:txBody>
      </p:sp>
      <p:sp>
        <p:nvSpPr>
          <p:cNvPr id="14" name="Text 12"/>
          <p:cNvSpPr/>
          <p:nvPr/>
        </p:nvSpPr>
        <p:spPr>
          <a:xfrm>
            <a:off x="10182523" y="2586038"/>
            <a:ext cx="7063433"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7514F"/>
                </a:solidFill>
                <a:latin typeface="Be Vietnam Pro" pitchFamily="34" charset="0"/>
                <a:ea typeface="Be Vietnam Pro" pitchFamily="34" charset="-122"/>
                <a:cs typeface="Be Vietnam Pro" pitchFamily="34" charset="-120"/>
              </a:rPr>
              <a:t>Mỗi lần duyệt cập nhật nhiều bảng → cần giao dịch và chống tranh chấp ghi.</a:t>
            </a:r>
            <a:endParaRPr lang="en-US" sz="1800" dirty="0"/>
          </a:p>
        </p:txBody>
      </p:sp>
      <p:sp>
        <p:nvSpPr>
          <p:cNvPr id="15" name="Shape 13"/>
          <p:cNvSpPr/>
          <p:nvPr/>
        </p:nvSpPr>
        <p:spPr>
          <a:xfrm>
            <a:off x="15834122" y="2119313"/>
            <a:ext cx="1282303" cy="280988"/>
          </a:xfrm>
          <a:prstGeom prst="rect">
            <a:avLst/>
          </a:prstGeom>
          <a:solidFill>
            <a:srgbClr val="C02034"/>
          </a:solidFill>
          <a:ln/>
        </p:spPr>
      </p:sp>
      <p:sp>
        <p:nvSpPr>
          <p:cNvPr id="16" name="Text 14"/>
          <p:cNvSpPr/>
          <p:nvPr/>
        </p:nvSpPr>
        <p:spPr>
          <a:xfrm>
            <a:off x="15948422" y="2176463"/>
            <a:ext cx="1129903" cy="204788"/>
          </a:xfrm>
          <a:prstGeom prst="rect">
            <a:avLst/>
          </a:prstGeom>
          <a:noFill/>
          <a:ln/>
        </p:spPr>
        <p:txBody>
          <a:bodyPr wrap="square" lIns="25400" tIns="25400" rIns="25400" bIns="25400" rtlCol="0" anchor="t">
            <a:normAutofit/>
          </a:bodyPr>
          <a:lstStyle/>
          <a:p>
            <a:pPr algn="l" indent="0" marL="0">
              <a:buNone/>
            </a:pPr>
            <a:r>
              <a:rPr lang="en-US" sz="1200" b="1" spc="113" kern="0" dirty="0">
                <a:solidFill>
                  <a:srgbClr val="FFFFFF"/>
                </a:solidFill>
                <a:latin typeface="Archivo" pitchFamily="34" charset="0"/>
                <a:ea typeface="Archivo" pitchFamily="34" charset="-122"/>
                <a:cs typeface="Archivo" pitchFamily="34" charset="-120"/>
              </a:rPr>
              <a:t>TRỌNG TÂM</a:t>
            </a:r>
            <a:endParaRPr lang="en-US" sz="1200" dirty="0"/>
          </a:p>
        </p:txBody>
      </p:sp>
      <p:sp>
        <p:nvSpPr>
          <p:cNvPr id="17" name="Shape 15"/>
          <p:cNvSpPr/>
          <p:nvPr/>
        </p:nvSpPr>
        <p:spPr>
          <a:xfrm>
            <a:off x="914400" y="3807023"/>
            <a:ext cx="8086725" cy="1640086"/>
          </a:xfrm>
          <a:prstGeom prst="rect">
            <a:avLst/>
          </a:prstGeom>
          <a:solidFill>
            <a:srgbClr val="FFFFFF"/>
          </a:solidFill>
          <a:ln w="9525">
            <a:solidFill>
              <a:srgbClr val="ECE6E2"/>
            </a:solidFill>
            <a:prstDash val="solid"/>
          </a:ln>
        </p:spPr>
      </p:sp>
      <p:sp>
        <p:nvSpPr>
          <p:cNvPr id="18" name="Text 16"/>
          <p:cNvSpPr/>
          <p:nvPr/>
        </p:nvSpPr>
        <p:spPr>
          <a:xfrm>
            <a:off x="1247775" y="4102298"/>
            <a:ext cx="409873" cy="1087636"/>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E7DFD9"/>
                </a:solidFill>
                <a:latin typeface="Archivo" pitchFamily="34" charset="0"/>
                <a:ea typeface="Archivo" pitchFamily="34" charset="-122"/>
                <a:cs typeface="Archivo" pitchFamily="34" charset="-120"/>
              </a:rPr>
              <a:t>3</a:t>
            </a:r>
            <a:endParaRPr lang="en-US" sz="4200" dirty="0"/>
          </a:p>
        </p:txBody>
      </p:sp>
      <p:sp>
        <p:nvSpPr>
          <p:cNvPr id="19" name="Text 17"/>
          <p:cNvSpPr/>
          <p:nvPr/>
        </p:nvSpPr>
        <p:spPr>
          <a:xfrm>
            <a:off x="1810048" y="4102298"/>
            <a:ext cx="7543473" cy="352425"/>
          </a:xfrm>
          <a:prstGeom prst="rect">
            <a:avLst/>
          </a:prstGeom>
          <a:noFill/>
          <a:ln/>
        </p:spPr>
        <p:txBody>
          <a:bodyPr wrap="square" lIns="25400" tIns="25400" rIns="25400" bIns="25400" rtlCol="0" anchor="t">
            <a:normAutofit/>
          </a:bodyPr>
          <a:lstStyle/>
          <a:p>
            <a:pPr algn="l" indent="0" marL="0">
              <a:buNone/>
            </a:pPr>
            <a:r>
              <a:rPr lang="en-US" sz="2250" b="1" dirty="0">
                <a:solidFill>
                  <a:srgbClr val="1E1A1B"/>
                </a:solidFill>
                <a:latin typeface="Archivo" pitchFamily="34" charset="0"/>
                <a:ea typeface="Archivo" pitchFamily="34" charset="-122"/>
                <a:cs typeface="Archivo" pitchFamily="34" charset="-120"/>
              </a:rPr>
              <a:t>Phân quyền theo cây tổ chức</a:t>
            </a:r>
            <a:endParaRPr lang="en-US" sz="2250" dirty="0"/>
          </a:p>
        </p:txBody>
      </p:sp>
      <p:sp>
        <p:nvSpPr>
          <p:cNvPr id="20" name="Text 18"/>
          <p:cNvSpPr/>
          <p:nvPr/>
        </p:nvSpPr>
        <p:spPr>
          <a:xfrm>
            <a:off x="1810048" y="4511873"/>
            <a:ext cx="7063433"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7514F"/>
                </a:solidFill>
                <a:latin typeface="Be Vietnam Pro" pitchFamily="34" charset="0"/>
                <a:ea typeface="Be Vietnam Pro" pitchFamily="34" charset="-122"/>
                <a:cs typeface="Be Vietnam Pro" pitchFamily="34" charset="-120"/>
              </a:rPr>
              <a:t>Bốn vai trò trên cây đơn vị → hai lớp: kiểm tra vai trò và lọc theo đơn vị.</a:t>
            </a:r>
            <a:endParaRPr lang="en-US" sz="1800" dirty="0"/>
          </a:p>
        </p:txBody>
      </p:sp>
      <p:sp>
        <p:nvSpPr>
          <p:cNvPr id="21" name="Shape 19"/>
          <p:cNvSpPr/>
          <p:nvPr/>
        </p:nvSpPr>
        <p:spPr>
          <a:xfrm>
            <a:off x="9286875" y="3807023"/>
            <a:ext cx="8086725" cy="1640086"/>
          </a:xfrm>
          <a:prstGeom prst="rect">
            <a:avLst/>
          </a:prstGeom>
          <a:solidFill>
            <a:srgbClr val="FFFFFF"/>
          </a:solidFill>
          <a:ln w="9525">
            <a:solidFill>
              <a:srgbClr val="ECE6E2"/>
            </a:solidFill>
            <a:prstDash val="solid"/>
          </a:ln>
        </p:spPr>
      </p:sp>
      <p:sp>
        <p:nvSpPr>
          <p:cNvPr id="22" name="Text 20"/>
          <p:cNvSpPr/>
          <p:nvPr/>
        </p:nvSpPr>
        <p:spPr>
          <a:xfrm>
            <a:off x="9620250" y="4102298"/>
            <a:ext cx="410096" cy="1087636"/>
          </a:xfrm>
          <a:prstGeom prst="rect">
            <a:avLst/>
          </a:prstGeom>
          <a:noFill/>
          <a:ln/>
        </p:spPr>
        <p:txBody>
          <a:bodyPr wrap="square" lIns="25400" tIns="25400" rIns="25400" bIns="25400" rtlCol="0" anchor="t">
            <a:normAutofit/>
          </a:bodyPr>
          <a:lstStyle/>
          <a:p>
            <a:pPr algn="l" indent="0" marL="0">
              <a:lnSpc>
                <a:spcPct val="100000"/>
              </a:lnSpc>
              <a:buNone/>
            </a:pPr>
            <a:r>
              <a:rPr lang="en-US" sz="4200" b="1" dirty="0">
                <a:solidFill>
                  <a:srgbClr val="E7DFD9"/>
                </a:solidFill>
                <a:latin typeface="Archivo" pitchFamily="34" charset="0"/>
                <a:ea typeface="Archivo" pitchFamily="34" charset="-122"/>
                <a:cs typeface="Archivo" pitchFamily="34" charset="-120"/>
              </a:rPr>
              <a:t>4</a:t>
            </a:r>
            <a:endParaRPr lang="en-US" sz="4200" dirty="0"/>
          </a:p>
        </p:txBody>
      </p:sp>
      <p:sp>
        <p:nvSpPr>
          <p:cNvPr id="23" name="Text 21"/>
          <p:cNvSpPr/>
          <p:nvPr/>
        </p:nvSpPr>
        <p:spPr>
          <a:xfrm>
            <a:off x="10182746" y="4102298"/>
            <a:ext cx="7543227" cy="352425"/>
          </a:xfrm>
          <a:prstGeom prst="rect">
            <a:avLst/>
          </a:prstGeom>
          <a:noFill/>
          <a:ln/>
        </p:spPr>
        <p:txBody>
          <a:bodyPr wrap="square" lIns="25400" tIns="25400" rIns="25400" bIns="25400" rtlCol="0" anchor="t">
            <a:normAutofit/>
          </a:bodyPr>
          <a:lstStyle/>
          <a:p>
            <a:pPr algn="l" indent="0" marL="0">
              <a:buNone/>
            </a:pPr>
            <a:r>
              <a:rPr lang="en-US" sz="2250" b="1" dirty="0">
                <a:solidFill>
                  <a:srgbClr val="1E1A1B"/>
                </a:solidFill>
                <a:latin typeface="Archivo" pitchFamily="34" charset="0"/>
                <a:ea typeface="Archivo" pitchFamily="34" charset="-122"/>
                <a:cs typeface="Archivo" pitchFamily="34" charset="-120"/>
              </a:rPr>
              <a:t>Vận hành trong mạng nội bộ</a:t>
            </a:r>
            <a:endParaRPr lang="en-US" sz="2250" dirty="0"/>
          </a:p>
        </p:txBody>
      </p:sp>
      <p:sp>
        <p:nvSpPr>
          <p:cNvPr id="24" name="Text 22"/>
          <p:cNvSpPr/>
          <p:nvPr/>
        </p:nvSpPr>
        <p:spPr>
          <a:xfrm>
            <a:off x="10182746" y="4511873"/>
            <a:ext cx="7063203"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57514F"/>
                </a:solidFill>
                <a:latin typeface="Be Vietnam Pro" pitchFamily="34" charset="0"/>
                <a:ea typeface="Be Vietnam Pro" pitchFamily="34" charset="-122"/>
                <a:cs typeface="Be Vietnam Pro" pitchFamily="34" charset="-120"/>
              </a:rPr>
              <a:t>Không Internet → tự lưu phông chữ, tự sao lưu, tự khởi động lại bằng PM2.</a:t>
            </a:r>
            <a:endParaRPr lang="en-US" sz="1800" dirty="0"/>
          </a:p>
        </p:txBody>
      </p:sp>
      <p:sp>
        <p:nvSpPr>
          <p:cNvPr id="25" name="Shape 23"/>
          <p:cNvSpPr/>
          <p:nvPr/>
        </p:nvSpPr>
        <p:spPr>
          <a:xfrm>
            <a:off x="914400" y="9477375"/>
            <a:ext cx="16459200" cy="9525"/>
          </a:xfrm>
          <a:prstGeom prst="rect">
            <a:avLst/>
          </a:prstGeom>
          <a:solidFill>
            <a:srgbClr val="E8E2DE"/>
          </a:solidFill>
          <a:ln/>
        </p:spPr>
      </p:sp>
      <p:pic>
        <p:nvPicPr>
          <p:cNvPr id="26"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27" name="Text 24"/>
          <p:cNvSpPr/>
          <p:nvPr/>
        </p:nvSpPr>
        <p:spPr>
          <a:xfrm>
            <a:off x="6637288"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28" name="Text 25"/>
          <p:cNvSpPr/>
          <p:nvPr/>
        </p:nvSpPr>
        <p:spPr>
          <a:xfrm>
            <a:off x="17124015" y="9658350"/>
            <a:ext cx="325785"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10</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BF213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12510" b="1251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78101C">
                  <a:alpha val="50000"/>
                </a:srgbClr>
              </a:gs>
              <a:gs pos="55000">
                <a:srgbClr val="78101C">
                  <a:alpha val="0"/>
                </a:srgbClr>
              </a:gs>
            </a:gsLst>
            <a:lin ang="1500000" scaled="0"/>
          </a:gradFill>
          <a:ln/>
        </p:spPr>
      </p:sp>
      <p:pic>
        <p:nvPicPr>
          <p:cNvPr id="4" name="Image 1" descr="preencoded.png">    </p:cNvPr>
          <p:cNvPicPr>
            <a:picLocks noChangeAspect="1"/>
          </p:cNvPicPr>
          <p:nvPr/>
        </p:nvPicPr>
        <p:blipFill>
          <a:blip r:embed="rId2">
            <a:alphaModFix amt="96000"/>
          </a:blip>
          <a:stretch>
            <a:fillRect/>
          </a:stretch>
        </p:blipFill>
        <p:spPr>
          <a:xfrm>
            <a:off x="914400" y="609600"/>
            <a:ext cx="1794718" cy="762000"/>
          </a:xfrm>
          <a:prstGeom prst="rect">
            <a:avLst/>
          </a:prstGeom>
        </p:spPr>
      </p:pic>
      <p:sp>
        <p:nvSpPr>
          <p:cNvPr id="5" name="Text 1"/>
          <p:cNvSpPr/>
          <p:nvPr/>
        </p:nvSpPr>
        <p:spPr>
          <a:xfrm>
            <a:off x="14489460" y="5810250"/>
            <a:ext cx="3864069" cy="5372100"/>
          </a:xfrm>
          <a:prstGeom prst="rect">
            <a:avLst/>
          </a:prstGeom>
          <a:noFill/>
          <a:ln/>
        </p:spPr>
        <p:txBody>
          <a:bodyPr wrap="square" lIns="25400" tIns="25400" rIns="25400" bIns="25400" rtlCol="0" anchor="t">
            <a:normAutofit/>
          </a:bodyPr>
          <a:lstStyle/>
          <a:p>
            <a:pPr algn="l" indent="0" marL="0">
              <a:lnSpc>
                <a:spcPct val="105000"/>
              </a:lnSpc>
              <a:buNone/>
            </a:pPr>
            <a:r>
              <a:rPr lang="en-US" sz="40000" b="1" dirty="0">
                <a:solidFill>
                  <a:srgbClr val="FFFFFF">
                    <a:alpha val="13000"/>
                  </a:srgbClr>
                </a:solidFill>
                <a:latin typeface="Archivo" pitchFamily="34" charset="0"/>
                <a:ea typeface="Archivo" pitchFamily="34" charset="-122"/>
                <a:cs typeface="Archivo" pitchFamily="34" charset="-120"/>
              </a:rPr>
              <a:t>II</a:t>
            </a:r>
            <a:endParaRPr lang="en-US" sz="40000" dirty="0"/>
          </a:p>
        </p:txBody>
      </p:sp>
      <p:sp>
        <p:nvSpPr>
          <p:cNvPr id="6" name="Text 2"/>
          <p:cNvSpPr/>
          <p:nvPr/>
        </p:nvSpPr>
        <p:spPr>
          <a:xfrm>
            <a:off x="914400" y="3540919"/>
            <a:ext cx="18105120" cy="309563"/>
          </a:xfrm>
          <a:prstGeom prst="rect">
            <a:avLst/>
          </a:prstGeom>
          <a:noFill/>
          <a:ln/>
        </p:spPr>
        <p:txBody>
          <a:bodyPr wrap="square" lIns="25400" tIns="25400" rIns="25400" bIns="25400" rtlCol="0" anchor="t">
            <a:normAutofit/>
          </a:bodyPr>
          <a:lstStyle/>
          <a:p>
            <a:pPr algn="l" indent="0" marL="0">
              <a:buNone/>
            </a:pPr>
            <a:r>
              <a:rPr lang="en-US" sz="1950" b="1" spc="375" kern="0" dirty="0">
                <a:solidFill>
                  <a:srgbClr val="FCE3A0"/>
                </a:solidFill>
                <a:latin typeface="Archivo" pitchFamily="34" charset="0"/>
                <a:ea typeface="Archivo" pitchFamily="34" charset="-122"/>
                <a:cs typeface="Archivo" pitchFamily="34" charset="-120"/>
              </a:rPr>
              <a:t>PHẦN II</a:t>
            </a:r>
            <a:endParaRPr lang="en-US" sz="1950" dirty="0"/>
          </a:p>
        </p:txBody>
      </p:sp>
      <p:sp>
        <p:nvSpPr>
          <p:cNvPr id="7" name="Text 3"/>
          <p:cNvSpPr/>
          <p:nvPr/>
        </p:nvSpPr>
        <p:spPr>
          <a:xfrm>
            <a:off x="914400" y="4021931"/>
            <a:ext cx="1810512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dirty="0">
                <a:solidFill>
                  <a:srgbClr val="FFFFFF"/>
                </a:solidFill>
                <a:latin typeface="Archivo" pitchFamily="34" charset="0"/>
                <a:ea typeface="Archivo" pitchFamily="34" charset="-122"/>
                <a:cs typeface="Archivo" pitchFamily="34" charset="-120"/>
              </a:rPr>
              <a:t>Công nghệ &amp; Thiết kế</a:t>
            </a:r>
            <a:endParaRPr lang="en-US" sz="7200" dirty="0"/>
          </a:p>
        </p:txBody>
      </p:sp>
      <p:sp>
        <p:nvSpPr>
          <p:cNvPr id="8" name="Shape 4"/>
          <p:cNvSpPr/>
          <p:nvPr/>
        </p:nvSpPr>
        <p:spPr>
          <a:xfrm>
            <a:off x="914400" y="5441156"/>
            <a:ext cx="114300" cy="114300"/>
          </a:xfrm>
          <a:prstGeom prst="rect">
            <a:avLst/>
          </a:prstGeom>
          <a:solidFill>
            <a:srgbClr val="E59C0A"/>
          </a:solidFill>
          <a:ln/>
        </p:spPr>
      </p:sp>
      <p:sp>
        <p:nvSpPr>
          <p:cNvPr id="9" name="Text 5"/>
          <p:cNvSpPr/>
          <p:nvPr/>
        </p:nvSpPr>
        <p:spPr>
          <a:xfrm>
            <a:off x="1200150" y="5317331"/>
            <a:ext cx="4631517" cy="400050"/>
          </a:xfrm>
          <a:prstGeom prst="rect">
            <a:avLst/>
          </a:prstGeom>
          <a:noFill/>
          <a:ln/>
        </p:spPr>
        <p:txBody>
          <a:bodyPr wrap="square" lIns="0" tIns="0" rIns="0" bIns="0" rtlCol="0" anchor="t">
            <a:normAutofit/>
          </a:bodyPr>
          <a:lstStyle/>
          <a:p>
            <a:pPr algn="l" indent="0" marL="0">
              <a:buNone/>
            </a:pPr>
            <a:r>
              <a:rPr lang="en-US" sz="2250" dirty="0">
                <a:solidFill>
                  <a:srgbClr val="FFFFFF">
                    <a:alpha val="94000"/>
                  </a:srgbClr>
                </a:solidFill>
                <a:latin typeface="Be Vietnam Pro" pitchFamily="34" charset="0"/>
                <a:ea typeface="Be Vietnam Pro" pitchFamily="34" charset="-122"/>
                <a:cs typeface="Be Vietnam Pro" pitchFamily="34" charset="-120"/>
              </a:rPr>
              <a:t>Công nghệ và kiến trúc hệ thống</a:t>
            </a:r>
            <a:endParaRPr lang="en-US" sz="2250" dirty="0"/>
          </a:p>
        </p:txBody>
      </p:sp>
      <p:sp>
        <p:nvSpPr>
          <p:cNvPr id="10" name="Shape 6"/>
          <p:cNvSpPr/>
          <p:nvPr/>
        </p:nvSpPr>
        <p:spPr>
          <a:xfrm>
            <a:off x="914400" y="5974556"/>
            <a:ext cx="114300" cy="114300"/>
          </a:xfrm>
          <a:prstGeom prst="rect">
            <a:avLst/>
          </a:prstGeom>
          <a:solidFill>
            <a:srgbClr val="E59C0A"/>
          </a:solidFill>
          <a:ln/>
        </p:spPr>
      </p:sp>
      <p:sp>
        <p:nvSpPr>
          <p:cNvPr id="11" name="Text 7"/>
          <p:cNvSpPr/>
          <p:nvPr/>
        </p:nvSpPr>
        <p:spPr>
          <a:xfrm>
            <a:off x="1200150" y="5850731"/>
            <a:ext cx="3921617" cy="400050"/>
          </a:xfrm>
          <a:prstGeom prst="rect">
            <a:avLst/>
          </a:prstGeom>
          <a:noFill/>
          <a:ln/>
        </p:spPr>
        <p:txBody>
          <a:bodyPr wrap="square" lIns="0" tIns="0" rIns="0" bIns="0" rtlCol="0" anchor="t">
            <a:normAutofit/>
          </a:bodyPr>
          <a:lstStyle/>
          <a:p>
            <a:pPr algn="l" indent="0" marL="0">
              <a:buNone/>
            </a:pPr>
            <a:r>
              <a:rPr lang="en-US" sz="2250" dirty="0">
                <a:solidFill>
                  <a:srgbClr val="FFFFFF">
                    <a:alpha val="94000"/>
                  </a:srgbClr>
                </a:solidFill>
                <a:latin typeface="Be Vietnam Pro" pitchFamily="34" charset="0"/>
                <a:ea typeface="Be Vietnam Pro" pitchFamily="34" charset="-122"/>
                <a:cs typeface="Be Vietnam Pro" pitchFamily="34" charset="-120"/>
              </a:rPr>
              <a:t>Thiết kế cơ sở dữ liệu (ERD)</a:t>
            </a:r>
            <a:endParaRPr lang="en-US" sz="2250" dirty="0"/>
          </a:p>
        </p:txBody>
      </p:sp>
      <p:sp>
        <p:nvSpPr>
          <p:cNvPr id="12" name="Shape 8"/>
          <p:cNvSpPr/>
          <p:nvPr/>
        </p:nvSpPr>
        <p:spPr>
          <a:xfrm>
            <a:off x="914400" y="6507956"/>
            <a:ext cx="114300" cy="114300"/>
          </a:xfrm>
          <a:prstGeom prst="rect">
            <a:avLst/>
          </a:prstGeom>
          <a:solidFill>
            <a:srgbClr val="E59C0A"/>
          </a:solidFill>
          <a:ln/>
        </p:spPr>
      </p:sp>
      <p:sp>
        <p:nvSpPr>
          <p:cNvPr id="13" name="Text 9"/>
          <p:cNvSpPr/>
          <p:nvPr/>
        </p:nvSpPr>
        <p:spPr>
          <a:xfrm>
            <a:off x="1200150" y="6384131"/>
            <a:ext cx="6624939" cy="400050"/>
          </a:xfrm>
          <a:prstGeom prst="rect">
            <a:avLst/>
          </a:prstGeom>
          <a:noFill/>
          <a:ln/>
        </p:spPr>
        <p:txBody>
          <a:bodyPr wrap="square" lIns="0" tIns="0" rIns="0" bIns="0" rtlCol="0" anchor="t">
            <a:normAutofit/>
          </a:bodyPr>
          <a:lstStyle/>
          <a:p>
            <a:pPr algn="l" indent="0" marL="0">
              <a:buNone/>
            </a:pPr>
            <a:r>
              <a:rPr lang="en-US" sz="2250" dirty="0">
                <a:solidFill>
                  <a:srgbClr val="FFFFFF">
                    <a:alpha val="94000"/>
                  </a:srgbClr>
                </a:solidFill>
                <a:latin typeface="Be Vietnam Pro" pitchFamily="34" charset="0"/>
                <a:ea typeface="Be Vietnam Pro" pitchFamily="34" charset="-122"/>
                <a:cs typeface="Be Vietnam Pro" pitchFamily="34" charset="-120"/>
              </a:rPr>
              <a:t>Use-case, quy trình duyệt và Strategy pattern</a:t>
            </a:r>
            <a:endParaRPr lang="en-US" sz="2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570400"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 · CÔNG NGHỆ &amp; THIẾT KẾ</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Công nghệ sử dụng</a:t>
            </a:r>
            <a:endParaRPr lang="en-US" sz="3750" dirty="0"/>
          </a:p>
        </p:txBody>
      </p:sp>
      <p:sp>
        <p:nvSpPr>
          <p:cNvPr id="5" name="Shape 3"/>
          <p:cNvSpPr/>
          <p:nvPr/>
        </p:nvSpPr>
        <p:spPr>
          <a:xfrm>
            <a:off x="914400" y="1881187"/>
            <a:ext cx="8039100" cy="2474416"/>
          </a:xfrm>
          <a:prstGeom prst="rect">
            <a:avLst/>
          </a:prstGeom>
          <a:solidFill>
            <a:srgbClr val="FFFFFF"/>
          </a:solidFill>
          <a:ln/>
        </p:spPr>
      </p:sp>
      <p:sp>
        <p:nvSpPr>
          <p:cNvPr id="6" name="Shape 4"/>
          <p:cNvSpPr/>
          <p:nvPr/>
        </p:nvSpPr>
        <p:spPr>
          <a:xfrm>
            <a:off x="914400" y="4346079"/>
            <a:ext cx="8039100" cy="9525"/>
          </a:xfrm>
          <a:prstGeom prst="rect">
            <a:avLst/>
          </a:prstGeom>
          <a:solidFill>
            <a:srgbClr val="ECE6E2"/>
          </a:solidFill>
          <a:ln/>
        </p:spPr>
      </p:sp>
      <p:sp>
        <p:nvSpPr>
          <p:cNvPr id="7" name="Shape 5"/>
          <p:cNvSpPr/>
          <p:nvPr/>
        </p:nvSpPr>
        <p:spPr>
          <a:xfrm>
            <a:off x="914400" y="1881187"/>
            <a:ext cx="8039100" cy="38100"/>
          </a:xfrm>
          <a:prstGeom prst="rect">
            <a:avLst/>
          </a:prstGeom>
          <a:solidFill>
            <a:srgbClr val="C02034"/>
          </a:solidFill>
          <a:ln/>
        </p:spPr>
      </p:sp>
      <p:sp>
        <p:nvSpPr>
          <p:cNvPr id="8" name="Shape 6"/>
          <p:cNvSpPr/>
          <p:nvPr/>
        </p:nvSpPr>
        <p:spPr>
          <a:xfrm>
            <a:off x="914400" y="1881187"/>
            <a:ext cx="9525" cy="2474416"/>
          </a:xfrm>
          <a:prstGeom prst="rect">
            <a:avLst/>
          </a:prstGeom>
          <a:solidFill>
            <a:srgbClr val="ECE6E2"/>
          </a:solidFill>
          <a:ln/>
        </p:spPr>
      </p:sp>
      <p:sp>
        <p:nvSpPr>
          <p:cNvPr id="9" name="Shape 7"/>
          <p:cNvSpPr/>
          <p:nvPr/>
        </p:nvSpPr>
        <p:spPr>
          <a:xfrm>
            <a:off x="8943975" y="1881187"/>
            <a:ext cx="9525" cy="2474416"/>
          </a:xfrm>
          <a:prstGeom prst="rect">
            <a:avLst/>
          </a:prstGeom>
          <a:solidFill>
            <a:srgbClr val="ECE6E2"/>
          </a:solidFill>
          <a:ln/>
        </p:spPr>
      </p:sp>
      <p:sp>
        <p:nvSpPr>
          <p:cNvPr id="10" name="Text 8"/>
          <p:cNvSpPr/>
          <p:nvPr/>
        </p:nvSpPr>
        <p:spPr>
          <a:xfrm>
            <a:off x="1266825" y="2224088"/>
            <a:ext cx="8067675" cy="30003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C02034"/>
                </a:solidFill>
                <a:latin typeface="Archivo" pitchFamily="34" charset="0"/>
                <a:ea typeface="Archivo" pitchFamily="34" charset="-122"/>
                <a:cs typeface="Archivo" pitchFamily="34" charset="-120"/>
              </a:rPr>
              <a:t>Giao diện · Frontend</a:t>
            </a:r>
            <a:endParaRPr lang="en-US" sz="1875" dirty="0"/>
          </a:p>
        </p:txBody>
      </p:sp>
      <p:sp>
        <p:nvSpPr>
          <p:cNvPr id="11" name="Text 9"/>
          <p:cNvSpPr/>
          <p:nvPr/>
        </p:nvSpPr>
        <p:spPr>
          <a:xfrm>
            <a:off x="1266825" y="2695575"/>
            <a:ext cx="291480"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b="1" dirty="0">
                <a:solidFill>
                  <a:srgbClr val="C02034"/>
                </a:solidFill>
                <a:latin typeface="Be Vietnam Pro" pitchFamily="34" charset="0"/>
                <a:ea typeface="Be Vietnam Pro" pitchFamily="34" charset="-122"/>
                <a:cs typeface="Be Vietnam Pro" pitchFamily="34" charset="-120"/>
              </a:rPr>
              <a:t>—</a:t>
            </a:r>
            <a:endParaRPr lang="en-US" sz="1950" dirty="0"/>
          </a:p>
        </p:txBody>
      </p:sp>
      <p:sp>
        <p:nvSpPr>
          <p:cNvPr id="12" name="Text 10"/>
          <p:cNvSpPr/>
          <p:nvPr/>
        </p:nvSpPr>
        <p:spPr>
          <a:xfrm>
            <a:off x="1615455" y="2695575"/>
            <a:ext cx="4523251"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b="1" dirty="0">
                <a:solidFill>
                  <a:srgbClr val="1E1A1B"/>
                </a:solidFill>
                <a:latin typeface="Be Vietnam Pro" pitchFamily="34" charset="0"/>
                <a:ea typeface="Be Vietnam Pro" pitchFamily="34" charset="-122"/>
                <a:cs typeface="Be Vietnam Pro" pitchFamily="34" charset="-120"/>
              </a:rPr>
              <a:t>Next.js </a:t>
            </a:r>
            <a:pPr algn="l" indent="0" marL="0">
              <a:lnSpc>
                <a:spcPct val="135000"/>
              </a:lnSpc>
              <a:buNone/>
            </a:pPr>
            <a:r>
              <a:rPr lang="en-US" sz="1950" dirty="0">
                <a:solidFill>
                  <a:srgbClr val="3A3537"/>
                </a:solidFill>
                <a:latin typeface="Be Vietnam Pro" pitchFamily="34" charset="0"/>
                <a:ea typeface="Be Vietnam Pro" pitchFamily="34" charset="-122"/>
                <a:cs typeface="Be Vietnam Pro" pitchFamily="34" charset="-120"/>
              </a:rPr>
              <a:t>(App Router) + TypeScript</a:t>
            </a:r>
            <a:endParaRPr lang="en-US" sz="1950" dirty="0"/>
          </a:p>
        </p:txBody>
      </p:sp>
      <p:sp>
        <p:nvSpPr>
          <p:cNvPr id="13" name="Text 11"/>
          <p:cNvSpPr/>
          <p:nvPr/>
        </p:nvSpPr>
        <p:spPr>
          <a:xfrm>
            <a:off x="1266825" y="3201293"/>
            <a:ext cx="291480"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b="1" dirty="0">
                <a:solidFill>
                  <a:srgbClr val="C02034"/>
                </a:solidFill>
                <a:latin typeface="Be Vietnam Pro" pitchFamily="34" charset="0"/>
                <a:ea typeface="Be Vietnam Pro" pitchFamily="34" charset="-122"/>
                <a:cs typeface="Be Vietnam Pro" pitchFamily="34" charset="-120"/>
              </a:rPr>
              <a:t>—</a:t>
            </a:r>
            <a:endParaRPr lang="en-US" sz="1950" dirty="0"/>
          </a:p>
        </p:txBody>
      </p:sp>
      <p:sp>
        <p:nvSpPr>
          <p:cNvPr id="14" name="Text 12"/>
          <p:cNvSpPr/>
          <p:nvPr/>
        </p:nvSpPr>
        <p:spPr>
          <a:xfrm>
            <a:off x="1615455" y="3201293"/>
            <a:ext cx="5858068"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b="1" dirty="0">
                <a:solidFill>
                  <a:srgbClr val="1E1A1B"/>
                </a:solidFill>
                <a:latin typeface="Be Vietnam Pro" pitchFamily="34" charset="0"/>
                <a:ea typeface="Be Vietnam Pro" pitchFamily="34" charset="-122"/>
                <a:cs typeface="Be Vietnam Pro" pitchFamily="34" charset="-120"/>
              </a:rPr>
              <a:t>Ant Design </a:t>
            </a:r>
            <a:pPr algn="l" indent="0" marL="0">
              <a:lnSpc>
                <a:spcPct val="135000"/>
              </a:lnSpc>
              <a:buNone/>
            </a:pPr>
            <a:r>
              <a:rPr lang="en-US" sz="1950" dirty="0">
                <a:solidFill>
                  <a:srgbClr val="3A3537"/>
                </a:solidFill>
                <a:latin typeface="Be Vietnam Pro" pitchFamily="34" charset="0"/>
                <a:ea typeface="Be Vietnam Pro" pitchFamily="34" charset="-122"/>
                <a:cs typeface="Be Vietnam Pro" pitchFamily="34" charset="-120"/>
              </a:rPr>
              <a:t>(biểu mẫu, bảng) + Tailwind CSS</a:t>
            </a:r>
            <a:endParaRPr lang="en-US" sz="1950" dirty="0"/>
          </a:p>
        </p:txBody>
      </p:sp>
      <p:sp>
        <p:nvSpPr>
          <p:cNvPr id="15" name="Text 13"/>
          <p:cNvSpPr/>
          <p:nvPr/>
        </p:nvSpPr>
        <p:spPr>
          <a:xfrm>
            <a:off x="1266825" y="3707011"/>
            <a:ext cx="291480"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b="1" dirty="0">
                <a:solidFill>
                  <a:srgbClr val="C02034"/>
                </a:solidFill>
                <a:latin typeface="Be Vietnam Pro" pitchFamily="34" charset="0"/>
                <a:ea typeface="Be Vietnam Pro" pitchFamily="34" charset="-122"/>
                <a:cs typeface="Be Vietnam Pro" pitchFamily="34" charset="-120"/>
              </a:rPr>
              <a:t>—</a:t>
            </a:r>
            <a:endParaRPr lang="en-US" sz="1950" dirty="0"/>
          </a:p>
        </p:txBody>
      </p:sp>
      <p:sp>
        <p:nvSpPr>
          <p:cNvPr id="16" name="Text 14"/>
          <p:cNvSpPr/>
          <p:nvPr/>
        </p:nvSpPr>
        <p:spPr>
          <a:xfrm>
            <a:off x="1615455" y="3707011"/>
            <a:ext cx="7011494"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b="1" dirty="0">
                <a:solidFill>
                  <a:srgbClr val="1E1A1B"/>
                </a:solidFill>
                <a:latin typeface="Be Vietnam Pro" pitchFamily="34" charset="0"/>
                <a:ea typeface="Be Vietnam Pro" pitchFamily="34" charset="-122"/>
                <a:cs typeface="Be Vietnam Pro" pitchFamily="34" charset="-120"/>
              </a:rPr>
              <a:t>Zod </a:t>
            </a:r>
            <a:pPr algn="l" indent="0" marL="0">
              <a:lnSpc>
                <a:spcPct val="135000"/>
              </a:lnSpc>
              <a:buNone/>
            </a:pPr>
            <a:r>
              <a:rPr lang="en-US" sz="1950" dirty="0">
                <a:solidFill>
                  <a:srgbClr val="3A3537"/>
                </a:solidFill>
                <a:latin typeface="Be Vietnam Pro" pitchFamily="34" charset="0"/>
                <a:ea typeface="Be Vietnam Pro" pitchFamily="34" charset="-122"/>
                <a:cs typeface="Be Vietnam Pro" pitchFamily="34" charset="-120"/>
              </a:rPr>
              <a:t>kiểm tra dữ liệu; Socket.IO client nhận thông báo</a:t>
            </a:r>
            <a:endParaRPr lang="en-US" sz="1950" dirty="0"/>
          </a:p>
        </p:txBody>
      </p:sp>
      <p:sp>
        <p:nvSpPr>
          <p:cNvPr id="17" name="Shape 15"/>
          <p:cNvSpPr/>
          <p:nvPr/>
        </p:nvSpPr>
        <p:spPr>
          <a:xfrm>
            <a:off x="9334500" y="1881187"/>
            <a:ext cx="8039100" cy="2474416"/>
          </a:xfrm>
          <a:prstGeom prst="rect">
            <a:avLst/>
          </a:prstGeom>
          <a:solidFill>
            <a:srgbClr val="FFFFFF"/>
          </a:solidFill>
          <a:ln/>
        </p:spPr>
      </p:sp>
      <p:sp>
        <p:nvSpPr>
          <p:cNvPr id="18" name="Shape 16"/>
          <p:cNvSpPr/>
          <p:nvPr/>
        </p:nvSpPr>
        <p:spPr>
          <a:xfrm>
            <a:off x="9334500" y="4346079"/>
            <a:ext cx="8039100" cy="9525"/>
          </a:xfrm>
          <a:prstGeom prst="rect">
            <a:avLst/>
          </a:prstGeom>
          <a:solidFill>
            <a:srgbClr val="ECE6E2"/>
          </a:solidFill>
          <a:ln/>
        </p:spPr>
      </p:sp>
      <p:sp>
        <p:nvSpPr>
          <p:cNvPr id="19" name="Shape 17"/>
          <p:cNvSpPr/>
          <p:nvPr/>
        </p:nvSpPr>
        <p:spPr>
          <a:xfrm>
            <a:off x="9334500" y="1881187"/>
            <a:ext cx="8039100" cy="38100"/>
          </a:xfrm>
          <a:prstGeom prst="rect">
            <a:avLst/>
          </a:prstGeom>
          <a:solidFill>
            <a:srgbClr val="1E1A1B"/>
          </a:solidFill>
          <a:ln/>
        </p:spPr>
      </p:sp>
      <p:sp>
        <p:nvSpPr>
          <p:cNvPr id="20" name="Shape 18"/>
          <p:cNvSpPr/>
          <p:nvPr/>
        </p:nvSpPr>
        <p:spPr>
          <a:xfrm>
            <a:off x="9334500" y="1881187"/>
            <a:ext cx="9525" cy="2474416"/>
          </a:xfrm>
          <a:prstGeom prst="rect">
            <a:avLst/>
          </a:prstGeom>
          <a:solidFill>
            <a:srgbClr val="ECE6E2"/>
          </a:solidFill>
          <a:ln/>
        </p:spPr>
      </p:sp>
      <p:sp>
        <p:nvSpPr>
          <p:cNvPr id="21" name="Shape 19"/>
          <p:cNvSpPr/>
          <p:nvPr/>
        </p:nvSpPr>
        <p:spPr>
          <a:xfrm>
            <a:off x="17364075" y="1881187"/>
            <a:ext cx="9525" cy="2474416"/>
          </a:xfrm>
          <a:prstGeom prst="rect">
            <a:avLst/>
          </a:prstGeom>
          <a:solidFill>
            <a:srgbClr val="ECE6E2"/>
          </a:solidFill>
          <a:ln/>
        </p:spPr>
      </p:sp>
      <p:sp>
        <p:nvSpPr>
          <p:cNvPr id="22" name="Text 20"/>
          <p:cNvSpPr/>
          <p:nvPr/>
        </p:nvSpPr>
        <p:spPr>
          <a:xfrm>
            <a:off x="9686925" y="2224088"/>
            <a:ext cx="8067675" cy="30003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1E1A1B"/>
                </a:solidFill>
                <a:latin typeface="Archivo" pitchFamily="34" charset="0"/>
                <a:ea typeface="Archivo" pitchFamily="34" charset="-122"/>
                <a:cs typeface="Archivo" pitchFamily="34" charset="-120"/>
              </a:rPr>
              <a:t>Máy chủ &amp; CSDL · Backend</a:t>
            </a:r>
            <a:endParaRPr lang="en-US" sz="1875" dirty="0"/>
          </a:p>
        </p:txBody>
      </p:sp>
      <p:sp>
        <p:nvSpPr>
          <p:cNvPr id="23" name="Text 21"/>
          <p:cNvSpPr/>
          <p:nvPr/>
        </p:nvSpPr>
        <p:spPr>
          <a:xfrm>
            <a:off x="9686925" y="2695575"/>
            <a:ext cx="291480"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b="1" dirty="0">
                <a:solidFill>
                  <a:srgbClr val="1E1A1B"/>
                </a:solidFill>
                <a:latin typeface="Be Vietnam Pro" pitchFamily="34" charset="0"/>
                <a:ea typeface="Be Vietnam Pro" pitchFamily="34" charset="-122"/>
                <a:cs typeface="Be Vietnam Pro" pitchFamily="34" charset="-120"/>
              </a:rPr>
              <a:t>—</a:t>
            </a:r>
            <a:endParaRPr lang="en-US" sz="1950" dirty="0"/>
          </a:p>
        </p:txBody>
      </p:sp>
      <p:sp>
        <p:nvSpPr>
          <p:cNvPr id="24" name="Text 22"/>
          <p:cNvSpPr/>
          <p:nvPr/>
        </p:nvSpPr>
        <p:spPr>
          <a:xfrm>
            <a:off x="10035555" y="2695575"/>
            <a:ext cx="6155040"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b="1" dirty="0">
                <a:solidFill>
                  <a:srgbClr val="1E1A1B"/>
                </a:solidFill>
                <a:latin typeface="Be Vietnam Pro" pitchFamily="34" charset="0"/>
                <a:ea typeface="Be Vietnam Pro" pitchFamily="34" charset="-122"/>
                <a:cs typeface="Be Vietnam Pro" pitchFamily="34" charset="-120"/>
              </a:rPr>
              <a:t>Express </a:t>
            </a:r>
            <a:pPr algn="l" indent="0" marL="0">
              <a:lnSpc>
                <a:spcPct val="135000"/>
              </a:lnSpc>
              <a:buNone/>
            </a:pPr>
            <a:r>
              <a:rPr lang="en-US" sz="1950" dirty="0">
                <a:solidFill>
                  <a:srgbClr val="3A3537"/>
                </a:solidFill>
                <a:latin typeface="Be Vietnam Pro" pitchFamily="34" charset="0"/>
                <a:ea typeface="Be Vietnam Pro" pitchFamily="34" charset="-122"/>
                <a:cs typeface="Be Vietnam Pro" pitchFamily="34" charset="-120"/>
              </a:rPr>
              <a:t>+ TypeScript (REST API); </a:t>
            </a:r>
            <a:pPr algn="l" indent="0" marL="0">
              <a:lnSpc>
                <a:spcPct val="135000"/>
              </a:lnSpc>
              <a:buNone/>
            </a:pPr>
            <a:r>
              <a:rPr lang="en-US" sz="1950" b="1" dirty="0">
                <a:solidFill>
                  <a:srgbClr val="1E1A1B"/>
                </a:solidFill>
                <a:latin typeface="Be Vietnam Pro" pitchFamily="34" charset="0"/>
                <a:ea typeface="Be Vietnam Pro" pitchFamily="34" charset="-122"/>
                <a:cs typeface="Be Vietnam Pro" pitchFamily="34" charset="-120"/>
              </a:rPr>
              <a:t>Prisma </a:t>
            </a:r>
            <a:pPr algn="l" indent="0" marL="0">
              <a:lnSpc>
                <a:spcPct val="135000"/>
              </a:lnSpc>
              <a:buNone/>
            </a:pPr>
            <a:r>
              <a:rPr lang="en-US" sz="1950" dirty="0">
                <a:solidFill>
                  <a:srgbClr val="3A3537"/>
                </a:solidFill>
                <a:latin typeface="Be Vietnam Pro" pitchFamily="34" charset="0"/>
                <a:ea typeface="Be Vietnam Pro" pitchFamily="34" charset="-122"/>
                <a:cs typeface="Be Vietnam Pro" pitchFamily="34" charset="-120"/>
              </a:rPr>
              <a:t>ORM</a:t>
            </a:r>
            <a:endParaRPr lang="en-US" sz="1950" dirty="0"/>
          </a:p>
        </p:txBody>
      </p:sp>
      <p:sp>
        <p:nvSpPr>
          <p:cNvPr id="25" name="Text 23"/>
          <p:cNvSpPr/>
          <p:nvPr/>
        </p:nvSpPr>
        <p:spPr>
          <a:xfrm>
            <a:off x="9686925" y="3201293"/>
            <a:ext cx="291480"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b="1" dirty="0">
                <a:solidFill>
                  <a:srgbClr val="1E1A1B"/>
                </a:solidFill>
                <a:latin typeface="Be Vietnam Pro" pitchFamily="34" charset="0"/>
                <a:ea typeface="Be Vietnam Pro" pitchFamily="34" charset="-122"/>
                <a:cs typeface="Be Vietnam Pro" pitchFamily="34" charset="-120"/>
              </a:rPr>
              <a:t>—</a:t>
            </a:r>
            <a:endParaRPr lang="en-US" sz="1950" dirty="0"/>
          </a:p>
        </p:txBody>
      </p:sp>
      <p:sp>
        <p:nvSpPr>
          <p:cNvPr id="26" name="Text 24"/>
          <p:cNvSpPr/>
          <p:nvPr/>
        </p:nvSpPr>
        <p:spPr>
          <a:xfrm>
            <a:off x="10035555" y="3201293"/>
            <a:ext cx="5100742"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b="1" dirty="0">
                <a:solidFill>
                  <a:srgbClr val="1E1A1B"/>
                </a:solidFill>
                <a:latin typeface="Be Vietnam Pro" pitchFamily="34" charset="0"/>
                <a:ea typeface="Be Vietnam Pro" pitchFamily="34" charset="-122"/>
                <a:cs typeface="Be Vietnam Pro" pitchFamily="34" charset="-120"/>
              </a:rPr>
              <a:t>PostgreSQL </a:t>
            </a:r>
            <a:pPr algn="l" indent="0" marL="0">
              <a:lnSpc>
                <a:spcPct val="135000"/>
              </a:lnSpc>
              <a:buNone/>
            </a:pPr>
            <a:r>
              <a:rPr lang="en-US" sz="1950" dirty="0">
                <a:solidFill>
                  <a:srgbClr val="3A3537"/>
                </a:solidFill>
                <a:latin typeface="Be Vietnam Pro" pitchFamily="34" charset="0"/>
                <a:ea typeface="Be Vietnam Pro" pitchFamily="34" charset="-122"/>
                <a:cs typeface="Be Vietnam Pro" pitchFamily="34" charset="-120"/>
              </a:rPr>
              <a:t>(giao dịch ACID đa bảng)</a:t>
            </a:r>
            <a:endParaRPr lang="en-US" sz="1950" dirty="0"/>
          </a:p>
        </p:txBody>
      </p:sp>
      <p:sp>
        <p:nvSpPr>
          <p:cNvPr id="27" name="Text 25"/>
          <p:cNvSpPr/>
          <p:nvPr/>
        </p:nvSpPr>
        <p:spPr>
          <a:xfrm>
            <a:off x="9686925" y="3707011"/>
            <a:ext cx="291480"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b="1" dirty="0">
                <a:solidFill>
                  <a:srgbClr val="1E1A1B"/>
                </a:solidFill>
                <a:latin typeface="Be Vietnam Pro" pitchFamily="34" charset="0"/>
                <a:ea typeface="Be Vietnam Pro" pitchFamily="34" charset="-122"/>
                <a:cs typeface="Be Vietnam Pro" pitchFamily="34" charset="-120"/>
              </a:rPr>
              <a:t>—</a:t>
            </a:r>
            <a:endParaRPr lang="en-US" sz="1950" dirty="0"/>
          </a:p>
        </p:txBody>
      </p:sp>
      <p:sp>
        <p:nvSpPr>
          <p:cNvPr id="28" name="Text 26"/>
          <p:cNvSpPr/>
          <p:nvPr/>
        </p:nvSpPr>
        <p:spPr>
          <a:xfrm>
            <a:off x="10035555" y="3707011"/>
            <a:ext cx="7360198"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b="1" dirty="0">
                <a:solidFill>
                  <a:srgbClr val="1E1A1B"/>
                </a:solidFill>
                <a:latin typeface="Be Vietnam Pro" pitchFamily="34" charset="0"/>
                <a:ea typeface="Be Vietnam Pro" pitchFamily="34" charset="-122"/>
                <a:cs typeface="Be Vietnam Pro" pitchFamily="34" charset="-120"/>
              </a:rPr>
              <a:t>JWT </a:t>
            </a:r>
            <a:pPr algn="l" indent="0" marL="0">
              <a:lnSpc>
                <a:spcPct val="135000"/>
              </a:lnSpc>
              <a:buNone/>
            </a:pPr>
            <a:r>
              <a:rPr lang="en-US" sz="1950" dirty="0">
                <a:solidFill>
                  <a:srgbClr val="3A3537"/>
                </a:solidFill>
                <a:latin typeface="Be Vietnam Pro" pitchFamily="34" charset="0"/>
                <a:ea typeface="Be Vietnam Pro" pitchFamily="34" charset="-122"/>
                <a:cs typeface="Be Vietnam Pro" pitchFamily="34" charset="-120"/>
              </a:rPr>
              <a:t>hai token (access + refresh); bcrypt băm mật khẩu</a:t>
            </a:r>
            <a:endParaRPr lang="en-US" sz="1950" dirty="0"/>
          </a:p>
        </p:txBody>
      </p:sp>
      <p:sp>
        <p:nvSpPr>
          <p:cNvPr id="29" name="Text 27"/>
          <p:cNvSpPr/>
          <p:nvPr/>
        </p:nvSpPr>
        <p:spPr>
          <a:xfrm>
            <a:off x="914400" y="4698504"/>
            <a:ext cx="18105120" cy="266700"/>
          </a:xfrm>
          <a:prstGeom prst="rect">
            <a:avLst/>
          </a:prstGeom>
          <a:noFill/>
          <a:ln/>
        </p:spPr>
        <p:txBody>
          <a:bodyPr wrap="square" lIns="25400" tIns="25400" rIns="25400" bIns="25400" rtlCol="0" anchor="t">
            <a:normAutofit/>
          </a:bodyPr>
          <a:lstStyle/>
          <a:p>
            <a:pPr algn="l" indent="0" marL="0">
              <a:buNone/>
            </a:pPr>
            <a:r>
              <a:rPr lang="en-US" sz="1650" b="1" spc="75" kern="0" dirty="0">
                <a:solidFill>
                  <a:srgbClr val="9A938F"/>
                </a:solidFill>
                <a:latin typeface="Archivo" pitchFamily="34" charset="0"/>
                <a:ea typeface="Archivo" pitchFamily="34" charset="-122"/>
                <a:cs typeface="Archivo" pitchFamily="34" charset="-120"/>
              </a:rPr>
              <a:t>PHỤ TRỢ</a:t>
            </a:r>
            <a:endParaRPr lang="en-US" sz="1650" dirty="0"/>
          </a:p>
        </p:txBody>
      </p:sp>
      <p:sp>
        <p:nvSpPr>
          <p:cNvPr id="30" name="Shape 28"/>
          <p:cNvSpPr/>
          <p:nvPr/>
        </p:nvSpPr>
        <p:spPr>
          <a:xfrm>
            <a:off x="914400" y="5098554"/>
            <a:ext cx="1670745" cy="585788"/>
          </a:xfrm>
          <a:prstGeom prst="rect">
            <a:avLst/>
          </a:prstGeom>
          <a:solidFill>
            <a:srgbClr val="FFFFFF"/>
          </a:solidFill>
          <a:ln w="9525">
            <a:solidFill>
              <a:srgbClr val="E2DAD4"/>
            </a:solidFill>
            <a:prstDash val="solid"/>
          </a:ln>
        </p:spPr>
      </p:sp>
      <p:sp>
        <p:nvSpPr>
          <p:cNvPr id="31" name="Text 29"/>
          <p:cNvSpPr/>
          <p:nvPr/>
        </p:nvSpPr>
        <p:spPr>
          <a:xfrm>
            <a:off x="1171575" y="5241429"/>
            <a:ext cx="1232595" cy="338138"/>
          </a:xfrm>
          <a:prstGeom prst="rect">
            <a:avLst/>
          </a:prstGeom>
          <a:noFill/>
          <a:ln/>
        </p:spPr>
        <p:txBody>
          <a:bodyPr wrap="square" lIns="25400" tIns="25400" rIns="25400" bIns="25400" rtlCol="0" anchor="t">
            <a:normAutofit/>
          </a:bodyPr>
          <a:lstStyle/>
          <a:p>
            <a:pPr algn="l" indent="0" marL="0">
              <a:buNone/>
            </a:pPr>
            <a:r>
              <a:rPr lang="en-US" sz="1875" dirty="0">
                <a:solidFill>
                  <a:srgbClr val="1E1A1B"/>
                </a:solidFill>
                <a:latin typeface="Be Vietnam Pro" pitchFamily="34" charset="0"/>
                <a:ea typeface="Be Vietnam Pro" pitchFamily="34" charset="-122"/>
                <a:cs typeface="Be Vietnam Pro" pitchFamily="34" charset="-120"/>
              </a:rPr>
              <a:t>Socket.IO</a:t>
            </a:r>
            <a:endParaRPr lang="en-US" sz="1875" dirty="0"/>
          </a:p>
        </p:txBody>
      </p:sp>
      <p:sp>
        <p:nvSpPr>
          <p:cNvPr id="32" name="Shape 30"/>
          <p:cNvSpPr/>
          <p:nvPr/>
        </p:nvSpPr>
        <p:spPr>
          <a:xfrm>
            <a:off x="2737545" y="5098554"/>
            <a:ext cx="1034430" cy="585788"/>
          </a:xfrm>
          <a:prstGeom prst="rect">
            <a:avLst/>
          </a:prstGeom>
          <a:solidFill>
            <a:srgbClr val="FFFFFF"/>
          </a:solidFill>
          <a:ln w="9525">
            <a:solidFill>
              <a:srgbClr val="E2DAD4"/>
            </a:solidFill>
            <a:prstDash val="solid"/>
          </a:ln>
        </p:spPr>
      </p:sp>
      <p:sp>
        <p:nvSpPr>
          <p:cNvPr id="33" name="Text 31"/>
          <p:cNvSpPr/>
          <p:nvPr/>
        </p:nvSpPr>
        <p:spPr>
          <a:xfrm>
            <a:off x="2994720" y="5241429"/>
            <a:ext cx="596280" cy="338138"/>
          </a:xfrm>
          <a:prstGeom prst="rect">
            <a:avLst/>
          </a:prstGeom>
          <a:noFill/>
          <a:ln/>
        </p:spPr>
        <p:txBody>
          <a:bodyPr wrap="square" lIns="25400" tIns="25400" rIns="25400" bIns="25400" rtlCol="0" anchor="t">
            <a:normAutofit/>
          </a:bodyPr>
          <a:lstStyle/>
          <a:p>
            <a:pPr algn="l" indent="0" marL="0">
              <a:buNone/>
            </a:pPr>
            <a:r>
              <a:rPr lang="en-US" sz="1875" dirty="0">
                <a:solidFill>
                  <a:srgbClr val="1E1A1B"/>
                </a:solidFill>
                <a:latin typeface="Be Vietnam Pro" pitchFamily="34" charset="0"/>
                <a:ea typeface="Be Vietnam Pro" pitchFamily="34" charset="-122"/>
                <a:cs typeface="Be Vietnam Pro" pitchFamily="34" charset="-120"/>
              </a:rPr>
              <a:t>PM2</a:t>
            </a:r>
            <a:endParaRPr lang="en-US" sz="1875" dirty="0"/>
          </a:p>
        </p:txBody>
      </p:sp>
      <p:sp>
        <p:nvSpPr>
          <p:cNvPr id="34" name="Shape 32"/>
          <p:cNvSpPr/>
          <p:nvPr/>
        </p:nvSpPr>
        <p:spPr>
          <a:xfrm>
            <a:off x="3924374" y="5098554"/>
            <a:ext cx="1777157" cy="585788"/>
          </a:xfrm>
          <a:prstGeom prst="rect">
            <a:avLst/>
          </a:prstGeom>
          <a:solidFill>
            <a:srgbClr val="FFFFFF"/>
          </a:solidFill>
          <a:ln w="9525">
            <a:solidFill>
              <a:srgbClr val="E2DAD4"/>
            </a:solidFill>
            <a:prstDash val="solid"/>
          </a:ln>
        </p:spPr>
      </p:sp>
      <p:sp>
        <p:nvSpPr>
          <p:cNvPr id="35" name="Text 33"/>
          <p:cNvSpPr/>
          <p:nvPr/>
        </p:nvSpPr>
        <p:spPr>
          <a:xfrm>
            <a:off x="4181549" y="5241429"/>
            <a:ext cx="1339007" cy="338138"/>
          </a:xfrm>
          <a:prstGeom prst="rect">
            <a:avLst/>
          </a:prstGeom>
          <a:noFill/>
          <a:ln/>
        </p:spPr>
        <p:txBody>
          <a:bodyPr wrap="square" lIns="25400" tIns="25400" rIns="25400" bIns="25400" rtlCol="0" anchor="t">
            <a:normAutofit/>
          </a:bodyPr>
          <a:lstStyle/>
          <a:p>
            <a:pPr algn="l" indent="0" marL="0">
              <a:buNone/>
            </a:pPr>
            <a:r>
              <a:rPr lang="en-US" sz="1875" dirty="0">
                <a:solidFill>
                  <a:srgbClr val="1E1A1B"/>
                </a:solidFill>
                <a:latin typeface="Be Vietnam Pro" pitchFamily="34" charset="0"/>
                <a:ea typeface="Be Vietnam Pro" pitchFamily="34" charset="-122"/>
                <a:cs typeface="Be Vietnam Pro" pitchFamily="34" charset="-120"/>
              </a:rPr>
              <a:t>node-cron</a:t>
            </a:r>
            <a:endParaRPr lang="en-US" sz="1875" dirty="0"/>
          </a:p>
        </p:txBody>
      </p:sp>
      <p:sp>
        <p:nvSpPr>
          <p:cNvPr id="36" name="Shape 34"/>
          <p:cNvSpPr/>
          <p:nvPr/>
        </p:nvSpPr>
        <p:spPr>
          <a:xfrm>
            <a:off x="5853931" y="5098554"/>
            <a:ext cx="1413049" cy="585788"/>
          </a:xfrm>
          <a:prstGeom prst="rect">
            <a:avLst/>
          </a:prstGeom>
          <a:solidFill>
            <a:srgbClr val="FFFFFF"/>
          </a:solidFill>
          <a:ln w="9525">
            <a:solidFill>
              <a:srgbClr val="E2DAD4"/>
            </a:solidFill>
            <a:prstDash val="solid"/>
          </a:ln>
        </p:spPr>
      </p:sp>
      <p:sp>
        <p:nvSpPr>
          <p:cNvPr id="37" name="Text 35"/>
          <p:cNvSpPr/>
          <p:nvPr/>
        </p:nvSpPr>
        <p:spPr>
          <a:xfrm>
            <a:off x="6111106" y="5241429"/>
            <a:ext cx="974899" cy="338138"/>
          </a:xfrm>
          <a:prstGeom prst="rect">
            <a:avLst/>
          </a:prstGeom>
          <a:noFill/>
          <a:ln/>
        </p:spPr>
        <p:txBody>
          <a:bodyPr wrap="square" lIns="25400" tIns="25400" rIns="25400" bIns="25400" rtlCol="0" anchor="t">
            <a:normAutofit/>
          </a:bodyPr>
          <a:lstStyle/>
          <a:p>
            <a:pPr algn="l" indent="0" marL="0">
              <a:buNone/>
            </a:pPr>
            <a:r>
              <a:rPr lang="en-US" sz="1875" dirty="0">
                <a:solidFill>
                  <a:srgbClr val="1E1A1B"/>
                </a:solidFill>
                <a:latin typeface="Be Vietnam Pro" pitchFamily="34" charset="0"/>
                <a:ea typeface="Be Vietnam Pro" pitchFamily="34" charset="-122"/>
                <a:cs typeface="Be Vietnam Pro" pitchFamily="34" charset="-120"/>
              </a:rPr>
              <a:t>ExcelJS</a:t>
            </a:r>
            <a:endParaRPr lang="en-US" sz="1875" dirty="0"/>
          </a:p>
        </p:txBody>
      </p:sp>
      <p:sp>
        <p:nvSpPr>
          <p:cNvPr id="38" name="Shape 36"/>
          <p:cNvSpPr/>
          <p:nvPr/>
        </p:nvSpPr>
        <p:spPr>
          <a:xfrm>
            <a:off x="7419380" y="5098554"/>
            <a:ext cx="1259235" cy="585788"/>
          </a:xfrm>
          <a:prstGeom prst="rect">
            <a:avLst/>
          </a:prstGeom>
          <a:solidFill>
            <a:srgbClr val="FFFFFF"/>
          </a:solidFill>
          <a:ln w="9525">
            <a:solidFill>
              <a:srgbClr val="E2DAD4"/>
            </a:solidFill>
            <a:prstDash val="solid"/>
          </a:ln>
        </p:spPr>
      </p:sp>
      <p:sp>
        <p:nvSpPr>
          <p:cNvPr id="39" name="Text 37"/>
          <p:cNvSpPr/>
          <p:nvPr/>
        </p:nvSpPr>
        <p:spPr>
          <a:xfrm>
            <a:off x="7676555" y="5241429"/>
            <a:ext cx="821085" cy="338138"/>
          </a:xfrm>
          <a:prstGeom prst="rect">
            <a:avLst/>
          </a:prstGeom>
          <a:noFill/>
          <a:ln/>
        </p:spPr>
        <p:txBody>
          <a:bodyPr wrap="square" lIns="25400" tIns="25400" rIns="25400" bIns="25400" rtlCol="0" anchor="t">
            <a:normAutofit/>
          </a:bodyPr>
          <a:lstStyle/>
          <a:p>
            <a:pPr algn="l" indent="0" marL="0">
              <a:buNone/>
            </a:pPr>
            <a:r>
              <a:rPr lang="en-US" sz="1875" dirty="0">
                <a:solidFill>
                  <a:srgbClr val="1E1A1B"/>
                </a:solidFill>
                <a:latin typeface="Be Vietnam Pro" pitchFamily="34" charset="0"/>
                <a:ea typeface="Be Vietnam Pro" pitchFamily="34" charset="-122"/>
                <a:cs typeface="Be Vietnam Pro" pitchFamily="34" charset="-120"/>
              </a:rPr>
              <a:t>Multer</a:t>
            </a:r>
            <a:endParaRPr lang="en-US" sz="1875" dirty="0"/>
          </a:p>
        </p:txBody>
      </p:sp>
      <p:sp>
        <p:nvSpPr>
          <p:cNvPr id="40" name="Shape 38"/>
          <p:cNvSpPr/>
          <p:nvPr/>
        </p:nvSpPr>
        <p:spPr>
          <a:xfrm>
            <a:off x="8831014" y="5098554"/>
            <a:ext cx="1348308" cy="585788"/>
          </a:xfrm>
          <a:prstGeom prst="rect">
            <a:avLst/>
          </a:prstGeom>
          <a:solidFill>
            <a:srgbClr val="FFFFFF"/>
          </a:solidFill>
          <a:ln w="9525">
            <a:solidFill>
              <a:srgbClr val="E2DAD4"/>
            </a:solidFill>
            <a:prstDash val="solid"/>
          </a:ln>
        </p:spPr>
      </p:sp>
      <p:sp>
        <p:nvSpPr>
          <p:cNvPr id="41" name="Text 39"/>
          <p:cNvSpPr/>
          <p:nvPr/>
        </p:nvSpPr>
        <p:spPr>
          <a:xfrm>
            <a:off x="9088189" y="5241429"/>
            <a:ext cx="910158" cy="338138"/>
          </a:xfrm>
          <a:prstGeom prst="rect">
            <a:avLst/>
          </a:prstGeom>
          <a:noFill/>
          <a:ln/>
        </p:spPr>
        <p:txBody>
          <a:bodyPr wrap="square" lIns="25400" tIns="25400" rIns="25400" bIns="25400" rtlCol="0" anchor="t">
            <a:normAutofit/>
          </a:bodyPr>
          <a:lstStyle/>
          <a:p>
            <a:pPr algn="l" indent="0" marL="0">
              <a:buNone/>
            </a:pPr>
            <a:r>
              <a:rPr lang="en-US" sz="1875" dirty="0">
                <a:solidFill>
                  <a:srgbClr val="1E1A1B"/>
                </a:solidFill>
                <a:latin typeface="Be Vietnam Pro" pitchFamily="34" charset="0"/>
                <a:ea typeface="Be Vietnam Pro" pitchFamily="34" charset="-122"/>
                <a:cs typeface="Be Vietnam Pro" pitchFamily="34" charset="-120"/>
              </a:rPr>
              <a:t>Helmet</a:t>
            </a:r>
            <a:endParaRPr lang="en-US" sz="1875" dirty="0"/>
          </a:p>
        </p:txBody>
      </p:sp>
      <p:sp>
        <p:nvSpPr>
          <p:cNvPr id="42" name="Shape 40"/>
          <p:cNvSpPr/>
          <p:nvPr/>
        </p:nvSpPr>
        <p:spPr>
          <a:xfrm>
            <a:off x="914400" y="9477375"/>
            <a:ext cx="16459200" cy="9525"/>
          </a:xfrm>
          <a:prstGeom prst="rect">
            <a:avLst/>
          </a:prstGeom>
          <a:solidFill>
            <a:srgbClr val="E8E2DE"/>
          </a:solidFill>
          <a:ln/>
        </p:spPr>
      </p:sp>
      <p:pic>
        <p:nvPicPr>
          <p:cNvPr id="43"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44" name="Text 41"/>
          <p:cNvSpPr/>
          <p:nvPr/>
        </p:nvSpPr>
        <p:spPr>
          <a:xfrm>
            <a:off x="6637213"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45" name="Text 42"/>
          <p:cNvSpPr/>
          <p:nvPr/>
        </p:nvSpPr>
        <p:spPr>
          <a:xfrm>
            <a:off x="17123866" y="9658350"/>
            <a:ext cx="325934"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12</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570400"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 · CÔNG NGHỆ &amp; THIẾT KẾ</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Kiến trúc tổng quan hệ thống</a:t>
            </a:r>
            <a:endParaRPr lang="en-US" sz="3750" dirty="0"/>
          </a:p>
        </p:txBody>
      </p:sp>
      <p:sp>
        <p:nvSpPr>
          <p:cNvPr id="5" name="Text 3"/>
          <p:cNvSpPr/>
          <p:nvPr/>
        </p:nvSpPr>
        <p:spPr>
          <a:xfrm>
            <a:off x="914400" y="1633538"/>
            <a:ext cx="18105120" cy="338138"/>
          </a:xfrm>
          <a:prstGeom prst="rect">
            <a:avLst/>
          </a:prstGeom>
          <a:noFill/>
          <a:ln/>
        </p:spPr>
        <p:txBody>
          <a:bodyPr wrap="square" lIns="25400" tIns="25400" rIns="25400" bIns="25400" rtlCol="0" anchor="t">
            <a:normAutofit/>
          </a:bodyPr>
          <a:lstStyle/>
          <a:p>
            <a:pPr algn="l" indent="0" marL="0">
              <a:buNone/>
            </a:pPr>
            <a:r>
              <a:rPr lang="en-US" sz="1875" dirty="0">
                <a:solidFill>
                  <a:srgbClr val="57514F"/>
                </a:solidFill>
                <a:latin typeface="Be Vietnam Pro" pitchFamily="34" charset="0"/>
                <a:ea typeface="Be Vietnam Pro" pitchFamily="34" charset="-122"/>
                <a:cs typeface="Be Vietnam Pro" pitchFamily="34" charset="-120"/>
              </a:rPr>
              <a:t>Backend phân tầng </a:t>
            </a:r>
            <a:pPr algn="l" indent="0" marL="0">
              <a:buNone/>
            </a:pPr>
            <a:r>
              <a:rPr lang="en-US" sz="1875" b="1" dirty="0">
                <a:solidFill>
                  <a:srgbClr val="1E1A1B"/>
                </a:solidFill>
                <a:latin typeface="Be Vietnam Pro" pitchFamily="34" charset="0"/>
                <a:ea typeface="Be Vietnam Pro" pitchFamily="34" charset="-122"/>
                <a:cs typeface="Be Vietnam Pro" pitchFamily="34" charset="-120"/>
              </a:rPr>
              <a:t>Controller → Service → Repository (Prisma) → PostgreSQL</a:t>
            </a:r>
            <a:pPr algn="l" indent="0" marL="0">
              <a:buNone/>
            </a:pPr>
            <a:r>
              <a:rPr lang="en-US" sz="1875" dirty="0">
                <a:solidFill>
                  <a:srgbClr val="57514F"/>
                </a:solidFill>
                <a:latin typeface="Be Vietnam Pro" pitchFamily="34" charset="0"/>
                <a:ea typeface="Be Vietnam Pro" pitchFamily="34" charset="-122"/>
                <a:cs typeface="Be Vietnam Pro" pitchFamily="34" charset="-120"/>
              </a:rPr>
              <a:t>; trình duyệt gọi thẳng Backend qua REST API &amp; Socket.IO.</a:t>
            </a:r>
            <a:endParaRPr lang="en-US" sz="1875" dirty="0"/>
          </a:p>
        </p:txBody>
      </p:sp>
      <p:sp>
        <p:nvSpPr>
          <p:cNvPr id="6" name="Shape 4"/>
          <p:cNvSpPr/>
          <p:nvPr/>
        </p:nvSpPr>
        <p:spPr>
          <a:xfrm>
            <a:off x="4556150" y="2162175"/>
            <a:ext cx="9175700" cy="6886501"/>
          </a:xfrm>
          <a:prstGeom prst="rect">
            <a:avLst/>
          </a:prstGeom>
          <a:solidFill>
            <a:srgbClr val="FFFFFF"/>
          </a:solidFill>
          <a:ln w="9525">
            <a:solidFill>
              <a:srgbClr val="E8E2DE"/>
            </a:solidFill>
            <a:prstDash val="solid"/>
          </a:ln>
          <a:effectLst>
            <a:outerShdw sx="100000" sy="100000" kx="0" ky="0" algn="bl" rotWithShape="0" blurRad="152400" dist="19050" dir="5400000">
              <a:srgbClr val="000000">
                <a:alpha val="6000"/>
              </a:srgbClr>
            </a:outerShdw>
          </a:effectLst>
        </p:spPr>
      </p:sp>
      <p:pic>
        <p:nvPicPr>
          <p:cNvPr id="7" name="Image 0" descr="preencoded.png">    </p:cNvPr>
          <p:cNvPicPr>
            <a:picLocks noChangeAspect="1"/>
          </p:cNvPicPr>
          <p:nvPr/>
        </p:nvPicPr>
        <p:blipFill>
          <a:blip r:embed="rId1"/>
          <a:srcRect l="0" r="0" t="-34" b="-34"/>
          <a:stretch/>
        </p:blipFill>
        <p:spPr>
          <a:xfrm>
            <a:off x="4556150" y="2162175"/>
            <a:ext cx="9175700" cy="6886501"/>
          </a:xfrm>
          <a:prstGeom prst="rect">
            <a:avLst/>
          </a:prstGeom>
        </p:spPr>
      </p:pic>
      <p:sp>
        <p:nvSpPr>
          <p:cNvPr id="8" name="Shape 5"/>
          <p:cNvSpPr/>
          <p:nvPr/>
        </p:nvSpPr>
        <p:spPr>
          <a:xfrm>
            <a:off x="914400" y="9477375"/>
            <a:ext cx="16459200" cy="9525"/>
          </a:xfrm>
          <a:prstGeom prst="rect">
            <a:avLst/>
          </a:prstGeom>
          <a:solidFill>
            <a:srgbClr val="E8E2DE"/>
          </a:solidFill>
          <a:ln/>
        </p:spPr>
      </p:sp>
      <p:pic>
        <p:nvPicPr>
          <p:cNvPr id="9" name="Image 1" descr="preencoded.png">    </p:cNvPr>
          <p:cNvPicPr>
            <a:picLocks noChangeAspect="1"/>
          </p:cNvPicPr>
          <p:nvPr/>
        </p:nvPicPr>
        <p:blipFill>
          <a:blip r:embed="rId2"/>
          <a:stretch>
            <a:fillRect/>
          </a:stretch>
        </p:blipFill>
        <p:spPr>
          <a:xfrm>
            <a:off x="914400" y="9639300"/>
            <a:ext cx="443210" cy="266700"/>
          </a:xfrm>
          <a:prstGeom prst="rect">
            <a:avLst/>
          </a:prstGeom>
        </p:spPr>
      </p:pic>
      <p:sp>
        <p:nvSpPr>
          <p:cNvPr id="10" name="Text 6"/>
          <p:cNvSpPr/>
          <p:nvPr/>
        </p:nvSpPr>
        <p:spPr>
          <a:xfrm>
            <a:off x="6637213"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11" name="Text 7"/>
          <p:cNvSpPr/>
          <p:nvPr/>
        </p:nvSpPr>
        <p:spPr>
          <a:xfrm>
            <a:off x="17123866" y="9658350"/>
            <a:ext cx="325934"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13</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570400"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 · CÔNG NGHỆ &amp; THIẾT KẾ</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Thiết kế cơ sở dữ liệu</a:t>
            </a:r>
            <a:endParaRPr lang="en-US" sz="3750" dirty="0"/>
          </a:p>
        </p:txBody>
      </p:sp>
      <p:sp>
        <p:nvSpPr>
          <p:cNvPr id="5" name="Shape 3"/>
          <p:cNvSpPr/>
          <p:nvPr/>
        </p:nvSpPr>
        <p:spPr>
          <a:xfrm>
            <a:off x="914400" y="1862138"/>
            <a:ext cx="5295900" cy="1652588"/>
          </a:xfrm>
          <a:prstGeom prst="rect">
            <a:avLst/>
          </a:prstGeom>
          <a:solidFill>
            <a:srgbClr val="C02034"/>
          </a:solidFill>
          <a:ln/>
        </p:spPr>
      </p:sp>
      <p:sp>
        <p:nvSpPr>
          <p:cNvPr id="6" name="Text 4"/>
          <p:cNvSpPr/>
          <p:nvPr/>
        </p:nvSpPr>
        <p:spPr>
          <a:xfrm>
            <a:off x="1238250" y="2147888"/>
            <a:ext cx="5113020" cy="742950"/>
          </a:xfrm>
          <a:prstGeom prst="rect">
            <a:avLst/>
          </a:prstGeom>
          <a:noFill/>
          <a:ln/>
        </p:spPr>
        <p:txBody>
          <a:bodyPr wrap="square" lIns="25400" tIns="25400" rIns="25400" bIns="25400" rtlCol="0" anchor="t">
            <a:normAutofit/>
          </a:bodyPr>
          <a:lstStyle/>
          <a:p>
            <a:pPr algn="l" indent="0" marL="0">
              <a:lnSpc>
                <a:spcPct val="100000"/>
              </a:lnSpc>
              <a:buNone/>
            </a:pPr>
            <a:r>
              <a:rPr lang="en-US" sz="5550" b="1" dirty="0">
                <a:solidFill>
                  <a:srgbClr val="FFFFFF"/>
                </a:solidFill>
                <a:latin typeface="Archivo" pitchFamily="34" charset="0"/>
                <a:ea typeface="Archivo" pitchFamily="34" charset="-122"/>
                <a:cs typeface="Archivo" pitchFamily="34" charset="-120"/>
              </a:rPr>
              <a:t>23</a:t>
            </a:r>
            <a:endParaRPr lang="en-US" sz="5550" dirty="0"/>
          </a:p>
        </p:txBody>
      </p:sp>
      <p:sp>
        <p:nvSpPr>
          <p:cNvPr id="7" name="Text 5"/>
          <p:cNvSpPr/>
          <p:nvPr/>
        </p:nvSpPr>
        <p:spPr>
          <a:xfrm>
            <a:off x="1238250" y="2928938"/>
            <a:ext cx="5113020" cy="338138"/>
          </a:xfrm>
          <a:prstGeom prst="rect">
            <a:avLst/>
          </a:prstGeom>
          <a:noFill/>
          <a:ln/>
        </p:spPr>
        <p:txBody>
          <a:bodyPr wrap="square" lIns="25400" tIns="25400" rIns="25400" bIns="25400" rtlCol="0" anchor="t">
            <a:normAutofit/>
          </a:bodyPr>
          <a:lstStyle/>
          <a:p>
            <a:pPr algn="l" indent="0" marL="0">
              <a:buNone/>
            </a:pPr>
            <a:r>
              <a:rPr lang="en-US" sz="1875" dirty="0">
                <a:solidFill>
                  <a:srgbClr val="FFFFFF">
                    <a:alpha val="90000"/>
                  </a:srgbClr>
                </a:solidFill>
                <a:latin typeface="Be Vietnam Pro" pitchFamily="34" charset="0"/>
                <a:ea typeface="Be Vietnam Pro" pitchFamily="34" charset="-122"/>
                <a:cs typeface="Be Vietnam Pro" pitchFamily="34" charset="-120"/>
              </a:rPr>
              <a:t>bảng dữ liệu</a:t>
            </a:r>
            <a:endParaRPr lang="en-US" sz="1875" dirty="0"/>
          </a:p>
        </p:txBody>
      </p:sp>
      <p:sp>
        <p:nvSpPr>
          <p:cNvPr id="8" name="Shape 6"/>
          <p:cNvSpPr/>
          <p:nvPr/>
        </p:nvSpPr>
        <p:spPr>
          <a:xfrm>
            <a:off x="6496050" y="1862138"/>
            <a:ext cx="5295900" cy="1652588"/>
          </a:xfrm>
          <a:prstGeom prst="rect">
            <a:avLst/>
          </a:prstGeom>
          <a:solidFill>
            <a:srgbClr val="2A1416"/>
          </a:solidFill>
          <a:ln/>
        </p:spPr>
      </p:sp>
      <p:sp>
        <p:nvSpPr>
          <p:cNvPr id="9" name="Text 7"/>
          <p:cNvSpPr/>
          <p:nvPr/>
        </p:nvSpPr>
        <p:spPr>
          <a:xfrm>
            <a:off x="6819900" y="2147888"/>
            <a:ext cx="5113020" cy="742950"/>
          </a:xfrm>
          <a:prstGeom prst="rect">
            <a:avLst/>
          </a:prstGeom>
          <a:noFill/>
          <a:ln/>
        </p:spPr>
        <p:txBody>
          <a:bodyPr wrap="square" lIns="25400" tIns="25400" rIns="25400" bIns="25400" rtlCol="0" anchor="t">
            <a:normAutofit/>
          </a:bodyPr>
          <a:lstStyle/>
          <a:p>
            <a:pPr algn="l" indent="0" marL="0">
              <a:lnSpc>
                <a:spcPct val="100000"/>
              </a:lnSpc>
              <a:buNone/>
            </a:pPr>
            <a:r>
              <a:rPr lang="en-US" sz="5550" b="1" dirty="0">
                <a:solidFill>
                  <a:srgbClr val="FFFFFF"/>
                </a:solidFill>
                <a:latin typeface="Archivo" pitchFamily="34" charset="0"/>
                <a:ea typeface="Archivo" pitchFamily="34" charset="-122"/>
                <a:cs typeface="Archivo" pitchFamily="34" charset="-120"/>
              </a:rPr>
              <a:t>47</a:t>
            </a:r>
            <a:endParaRPr lang="en-US" sz="5550" dirty="0"/>
          </a:p>
        </p:txBody>
      </p:sp>
      <p:sp>
        <p:nvSpPr>
          <p:cNvPr id="10" name="Text 8"/>
          <p:cNvSpPr/>
          <p:nvPr/>
        </p:nvSpPr>
        <p:spPr>
          <a:xfrm>
            <a:off x="6819900" y="2928938"/>
            <a:ext cx="5113020" cy="338138"/>
          </a:xfrm>
          <a:prstGeom prst="rect">
            <a:avLst/>
          </a:prstGeom>
          <a:noFill/>
          <a:ln/>
        </p:spPr>
        <p:txBody>
          <a:bodyPr wrap="square" lIns="25400" tIns="25400" rIns="25400" bIns="25400" rtlCol="0" anchor="t">
            <a:normAutofit/>
          </a:bodyPr>
          <a:lstStyle/>
          <a:p>
            <a:pPr algn="l" indent="0" marL="0">
              <a:buNone/>
            </a:pPr>
            <a:r>
              <a:rPr lang="en-US" sz="1875" dirty="0">
                <a:solidFill>
                  <a:srgbClr val="FFFFFF">
                    <a:alpha val="90000"/>
                  </a:srgbClr>
                </a:solidFill>
                <a:latin typeface="Be Vietnam Pro" pitchFamily="34" charset="0"/>
                <a:ea typeface="Be Vietnam Pro" pitchFamily="34" charset="-122"/>
                <a:cs typeface="Be Vietnam Pro" pitchFamily="34" charset="-120"/>
              </a:rPr>
              <a:t>khoá ngoại</a:t>
            </a:r>
            <a:endParaRPr lang="en-US" sz="1875" dirty="0"/>
          </a:p>
        </p:txBody>
      </p:sp>
      <p:sp>
        <p:nvSpPr>
          <p:cNvPr id="11" name="Shape 9"/>
          <p:cNvSpPr/>
          <p:nvPr/>
        </p:nvSpPr>
        <p:spPr>
          <a:xfrm>
            <a:off x="12077700" y="1862138"/>
            <a:ext cx="5295900" cy="1652588"/>
          </a:xfrm>
          <a:prstGeom prst="rect">
            <a:avLst/>
          </a:prstGeom>
          <a:solidFill>
            <a:srgbClr val="FFFFFF"/>
          </a:solidFill>
          <a:ln w="9525">
            <a:solidFill>
              <a:srgbClr val="ECE6E2"/>
            </a:solidFill>
            <a:prstDash val="solid"/>
          </a:ln>
        </p:spPr>
      </p:sp>
      <p:sp>
        <p:nvSpPr>
          <p:cNvPr id="12" name="Text 10"/>
          <p:cNvSpPr/>
          <p:nvPr/>
        </p:nvSpPr>
        <p:spPr>
          <a:xfrm>
            <a:off x="12411075" y="2157413"/>
            <a:ext cx="5092065" cy="666750"/>
          </a:xfrm>
          <a:prstGeom prst="rect">
            <a:avLst/>
          </a:prstGeom>
          <a:noFill/>
          <a:ln/>
        </p:spPr>
        <p:txBody>
          <a:bodyPr wrap="square" lIns="25400" tIns="25400" rIns="25400" bIns="25400" rtlCol="0" anchor="t">
            <a:normAutofit/>
          </a:bodyPr>
          <a:lstStyle/>
          <a:p>
            <a:pPr algn="l" indent="0" marL="0">
              <a:lnSpc>
                <a:spcPct val="110000"/>
              </a:lnSpc>
              <a:buNone/>
            </a:pPr>
            <a:r>
              <a:rPr lang="en-US" sz="4500" b="1" dirty="0">
                <a:solidFill>
                  <a:srgbClr val="C02034"/>
                </a:solidFill>
                <a:latin typeface="Archivo" pitchFamily="34" charset="0"/>
                <a:ea typeface="Archivo" pitchFamily="34" charset="-122"/>
                <a:cs typeface="Archivo" pitchFamily="34" charset="-120"/>
              </a:rPr>
              <a:t>CUID</a:t>
            </a:r>
            <a:endParaRPr lang="en-US" sz="4500" dirty="0"/>
          </a:p>
        </p:txBody>
      </p:sp>
      <p:sp>
        <p:nvSpPr>
          <p:cNvPr id="13" name="Text 11"/>
          <p:cNvSpPr/>
          <p:nvPr/>
        </p:nvSpPr>
        <p:spPr>
          <a:xfrm>
            <a:off x="12411075" y="2862263"/>
            <a:ext cx="5092065" cy="338138"/>
          </a:xfrm>
          <a:prstGeom prst="rect">
            <a:avLst/>
          </a:prstGeom>
          <a:noFill/>
          <a:ln/>
        </p:spPr>
        <p:txBody>
          <a:bodyPr wrap="square" lIns="25400" tIns="25400" rIns="25400" bIns="25400" rtlCol="0" anchor="t">
            <a:normAutofit/>
          </a:bodyPr>
          <a:lstStyle/>
          <a:p>
            <a:pPr algn="l" indent="0" marL="0">
              <a:buNone/>
            </a:pPr>
            <a:r>
              <a:rPr lang="en-US" sz="1875" dirty="0">
                <a:solidFill>
                  <a:srgbClr val="57514F"/>
                </a:solidFill>
                <a:latin typeface="Be Vietnam Pro" pitchFamily="34" charset="0"/>
                <a:ea typeface="Be Vietnam Pro" pitchFamily="34" charset="-122"/>
                <a:cs typeface="Be Vietnam Pro" pitchFamily="34" charset="-120"/>
              </a:rPr>
              <a:t>khoá chính</a:t>
            </a:r>
            <a:endParaRPr lang="en-US" sz="1875" dirty="0"/>
          </a:p>
        </p:txBody>
      </p:sp>
      <p:sp>
        <p:nvSpPr>
          <p:cNvPr id="14" name="Shape 12"/>
          <p:cNvSpPr/>
          <p:nvPr/>
        </p:nvSpPr>
        <p:spPr>
          <a:xfrm>
            <a:off x="914400" y="3838575"/>
            <a:ext cx="8599959" cy="2866951"/>
          </a:xfrm>
          <a:prstGeom prst="rect">
            <a:avLst/>
          </a:prstGeom>
          <a:solidFill>
            <a:srgbClr val="FFFFFF"/>
          </a:solidFill>
          <a:ln w="9525">
            <a:solidFill>
              <a:srgbClr val="ECE6E2"/>
            </a:solidFill>
            <a:prstDash val="solid"/>
          </a:ln>
        </p:spPr>
      </p:sp>
      <p:sp>
        <p:nvSpPr>
          <p:cNvPr id="15" name="Text 13"/>
          <p:cNvSpPr/>
          <p:nvPr/>
        </p:nvSpPr>
        <p:spPr>
          <a:xfrm>
            <a:off x="1266825" y="4133850"/>
            <a:ext cx="8684620" cy="276225"/>
          </a:xfrm>
          <a:prstGeom prst="rect">
            <a:avLst/>
          </a:prstGeom>
          <a:noFill/>
          <a:ln/>
        </p:spPr>
        <p:txBody>
          <a:bodyPr wrap="square" lIns="25400" tIns="25400" rIns="25400" bIns="25400" rtlCol="0" anchor="t">
            <a:normAutofit/>
          </a:bodyPr>
          <a:lstStyle/>
          <a:p>
            <a:pPr algn="l" indent="0" marL="0">
              <a:buNone/>
            </a:pPr>
            <a:r>
              <a:rPr lang="en-US" sz="1725" b="1" spc="75" kern="0" dirty="0">
                <a:solidFill>
                  <a:srgbClr val="C02034"/>
                </a:solidFill>
                <a:latin typeface="Archivo" pitchFamily="34" charset="0"/>
                <a:ea typeface="Archivo" pitchFamily="34" charset="-122"/>
                <a:cs typeface="Archivo" pitchFamily="34" charset="-120"/>
              </a:rPr>
              <a:t>NHÓM BẢNG</a:t>
            </a:r>
            <a:endParaRPr lang="en-US" sz="1725" dirty="0"/>
          </a:p>
        </p:txBody>
      </p:sp>
      <p:sp>
        <p:nvSpPr>
          <p:cNvPr id="16" name="Text 14"/>
          <p:cNvSpPr/>
          <p:nvPr/>
        </p:nvSpPr>
        <p:spPr>
          <a:xfrm>
            <a:off x="1266825" y="4562475"/>
            <a:ext cx="8684620" cy="346695"/>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1E1A1B"/>
                </a:solidFill>
                <a:latin typeface="Be Vietnam Pro" pitchFamily="34" charset="0"/>
                <a:ea typeface="Be Vietnam Pro" pitchFamily="34" charset="-122"/>
                <a:cs typeface="Be Vietnam Pro" pitchFamily="34" charset="-120"/>
              </a:rPr>
              <a:t>Tổ chức: </a:t>
            </a:r>
            <a:pPr algn="l" indent="0" marL="0">
              <a:lnSpc>
                <a:spcPct val="135000"/>
              </a:lnSpc>
              <a:buNone/>
            </a:pPr>
            <a:r>
              <a:rPr lang="en-US" sz="1800" dirty="0">
                <a:solidFill>
                  <a:srgbClr val="3A3537"/>
                </a:solidFill>
                <a:latin typeface="Be Vietnam Pro" pitchFamily="34" charset="0"/>
                <a:ea typeface="Be Vietnam Pro" pitchFamily="34" charset="-122"/>
                <a:cs typeface="Be Vietnam Pro" pitchFamily="34" charset="-120"/>
              </a:rPr>
              <a:t>QuanNhan, CoQuanDonVi, DonViTrucThuoc, ChucVu</a:t>
            </a:r>
            <a:endParaRPr lang="en-US" sz="1800" dirty="0"/>
          </a:p>
        </p:txBody>
      </p:sp>
      <p:sp>
        <p:nvSpPr>
          <p:cNvPr id="17" name="Text 15"/>
          <p:cNvSpPr/>
          <p:nvPr/>
        </p:nvSpPr>
        <p:spPr>
          <a:xfrm>
            <a:off x="1266825" y="5023470"/>
            <a:ext cx="8131962" cy="655290"/>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1E1A1B"/>
                </a:solidFill>
                <a:latin typeface="Be Vietnam Pro" pitchFamily="34" charset="0"/>
                <a:ea typeface="Be Vietnam Pro" pitchFamily="34" charset="-122"/>
                <a:cs typeface="Be Vietnam Pro" pitchFamily="34" charset="-120"/>
              </a:rPr>
              <a:t>Đề xuất &amp; hồ sơ: </a:t>
            </a:r>
            <a:pPr algn="l" indent="0" marL="0">
              <a:lnSpc>
                <a:spcPct val="135000"/>
              </a:lnSpc>
              <a:buNone/>
            </a:pPr>
            <a:r>
              <a:rPr lang="en-US" sz="1800" dirty="0">
                <a:solidFill>
                  <a:srgbClr val="3A3537"/>
                </a:solidFill>
                <a:latin typeface="Be Vietnam Pro" pitchFamily="34" charset="0"/>
                <a:ea typeface="Be Vietnam Pro" pitchFamily="34" charset="-122"/>
                <a:cs typeface="Be Vietnam Pro" pitchFamily="34" charset="-120"/>
              </a:rPr>
              <a:t>BangDeXuat, DanhHieuHangNam, HoSoNienHan, HoSoCongHien</a:t>
            </a:r>
            <a:endParaRPr lang="en-US" sz="1800" dirty="0"/>
          </a:p>
        </p:txBody>
      </p:sp>
      <p:sp>
        <p:nvSpPr>
          <p:cNvPr id="18" name="Text 16"/>
          <p:cNvSpPr/>
          <p:nvPr/>
        </p:nvSpPr>
        <p:spPr>
          <a:xfrm>
            <a:off x="1266825" y="5793060"/>
            <a:ext cx="8131962" cy="655290"/>
          </a:xfrm>
          <a:prstGeom prst="rect">
            <a:avLst/>
          </a:prstGeom>
          <a:noFill/>
          <a:ln/>
        </p:spPr>
        <p:txBody>
          <a:bodyPr wrap="square" lIns="25400" tIns="25400" rIns="25400" bIns="25400" rtlCol="0" anchor="t">
            <a:normAutofit/>
          </a:bodyPr>
          <a:lstStyle/>
          <a:p>
            <a:pPr algn="l" indent="0" marL="0">
              <a:lnSpc>
                <a:spcPct val="135000"/>
              </a:lnSpc>
              <a:buNone/>
            </a:pPr>
            <a:r>
              <a:rPr lang="en-US" sz="1800" b="1" dirty="0">
                <a:solidFill>
                  <a:srgbClr val="1E1A1B"/>
                </a:solidFill>
                <a:latin typeface="Be Vietnam Pro" pitchFamily="34" charset="0"/>
                <a:ea typeface="Be Vietnam Pro" pitchFamily="34" charset="-122"/>
                <a:cs typeface="Be Vietnam Pro" pitchFamily="34" charset="-120"/>
              </a:rPr>
              <a:t>Tài khoản &amp; phụ trợ: </a:t>
            </a:r>
            <a:pPr algn="l" indent="0" marL="0">
              <a:lnSpc>
                <a:spcPct val="135000"/>
              </a:lnSpc>
              <a:buNone/>
            </a:pPr>
            <a:r>
              <a:rPr lang="en-US" sz="1800" dirty="0">
                <a:solidFill>
                  <a:srgbClr val="3A3537"/>
                </a:solidFill>
                <a:latin typeface="Be Vietnam Pro" pitchFamily="34" charset="0"/>
                <a:ea typeface="Be Vietnam Pro" pitchFamily="34" charset="-122"/>
                <a:cs typeface="Be Vietnam Pro" pitchFamily="34" charset="-120"/>
              </a:rPr>
              <a:t>TaiKhoan (4 vai trò), SystemLog, ThongBao, FileQuyetDinh, SystemSetting</a:t>
            </a:r>
            <a:endParaRPr lang="en-US" sz="1800" dirty="0"/>
          </a:p>
        </p:txBody>
      </p:sp>
      <p:sp>
        <p:nvSpPr>
          <p:cNvPr id="19" name="Shape 17"/>
          <p:cNvSpPr/>
          <p:nvPr/>
        </p:nvSpPr>
        <p:spPr>
          <a:xfrm>
            <a:off x="9895359" y="3838575"/>
            <a:ext cx="7478167" cy="2866951"/>
          </a:xfrm>
          <a:prstGeom prst="rect">
            <a:avLst/>
          </a:prstGeom>
          <a:solidFill>
            <a:srgbClr val="FBF3E2"/>
          </a:solidFill>
          <a:ln w="9525">
            <a:solidFill>
              <a:srgbClr val="F0E2C4"/>
            </a:solidFill>
            <a:prstDash val="solid"/>
          </a:ln>
        </p:spPr>
      </p:sp>
      <p:sp>
        <p:nvSpPr>
          <p:cNvPr id="20" name="Text 18"/>
          <p:cNvSpPr/>
          <p:nvPr/>
        </p:nvSpPr>
        <p:spPr>
          <a:xfrm>
            <a:off x="10247784" y="4133850"/>
            <a:ext cx="7450648" cy="276225"/>
          </a:xfrm>
          <a:prstGeom prst="rect">
            <a:avLst/>
          </a:prstGeom>
          <a:noFill/>
          <a:ln/>
        </p:spPr>
        <p:txBody>
          <a:bodyPr wrap="square" lIns="25400" tIns="25400" rIns="25400" bIns="25400" rtlCol="0" anchor="t">
            <a:normAutofit/>
          </a:bodyPr>
          <a:lstStyle/>
          <a:p>
            <a:pPr algn="l" indent="0" marL="0">
              <a:buNone/>
            </a:pPr>
            <a:r>
              <a:rPr lang="en-US" sz="1725" b="1" spc="75" kern="0" dirty="0">
                <a:solidFill>
                  <a:srgbClr val="B07A09"/>
                </a:solidFill>
                <a:latin typeface="Archivo" pitchFamily="34" charset="0"/>
                <a:ea typeface="Archivo" pitchFamily="34" charset="-122"/>
                <a:cs typeface="Archivo" pitchFamily="34" charset="-120"/>
              </a:rPr>
              <a:t>ĐIỂM THIẾT KẾ ĐẶC BIỆT</a:t>
            </a:r>
            <a:endParaRPr lang="en-US" sz="1725" dirty="0"/>
          </a:p>
        </p:txBody>
      </p:sp>
      <p:sp>
        <p:nvSpPr>
          <p:cNvPr id="21" name="Text 19"/>
          <p:cNvSpPr/>
          <p:nvPr/>
        </p:nvSpPr>
        <p:spPr>
          <a:xfrm>
            <a:off x="10247784" y="4562475"/>
            <a:ext cx="6976516" cy="1073944"/>
          </a:xfrm>
          <a:prstGeom prst="rect">
            <a:avLst/>
          </a:prstGeom>
          <a:noFill/>
          <a:ln/>
        </p:spPr>
        <p:txBody>
          <a:bodyPr wrap="square" lIns="25400" tIns="25400" rIns="25400" bIns="25400" rtlCol="0" anchor="t">
            <a:normAutofit/>
          </a:bodyPr>
          <a:lstStyle/>
          <a:p>
            <a:pPr algn="l" indent="0" marL="0">
              <a:lnSpc>
                <a:spcPct val="145000"/>
              </a:lnSpc>
              <a:buNone/>
            </a:pPr>
            <a:r>
              <a:rPr lang="en-US" sz="1875" b="1" dirty="0">
                <a:solidFill>
                  <a:srgbClr val="1E1A1B"/>
                </a:solidFill>
                <a:latin typeface="Be Vietnam Pro" pitchFamily="34" charset="0"/>
                <a:ea typeface="Be Vietnam Pro" pitchFamily="34" charset="-122"/>
                <a:cs typeface="Be Vietnam Pro" pitchFamily="34" charset="-120"/>
              </a:rPr>
              <a:t>FileQuyetDinh </a:t>
            </a:r>
            <a:pPr algn="l" indent="0" marL="0">
              <a:lnSpc>
                <a:spcPct val="145000"/>
              </a:lnSpc>
              <a:buNone/>
            </a:pPr>
            <a:r>
              <a:rPr lang="en-US" sz="1875" dirty="0">
                <a:solidFill>
                  <a:srgbClr val="3A3537"/>
                </a:solidFill>
                <a:latin typeface="Be Vietnam Pro" pitchFamily="34" charset="0"/>
                <a:ea typeface="Be Vietnam Pro" pitchFamily="34" charset="-122"/>
                <a:cs typeface="Be Vietnam Pro" pitchFamily="34" charset="-120"/>
              </a:rPr>
              <a:t>liên kết 8 bảng khen thưởng qua cột số quyết định (khoá tự nhiên); đổi số QĐ thì tự lan truyền sang mọi bản ghi.</a:t>
            </a:r>
            <a:endParaRPr lang="en-US" sz="1875" dirty="0"/>
          </a:p>
        </p:txBody>
      </p:sp>
      <p:sp>
        <p:nvSpPr>
          <p:cNvPr id="22" name="Shape 20"/>
          <p:cNvSpPr/>
          <p:nvPr/>
        </p:nvSpPr>
        <p:spPr>
          <a:xfrm>
            <a:off x="914400" y="9477375"/>
            <a:ext cx="16459200" cy="9525"/>
          </a:xfrm>
          <a:prstGeom prst="rect">
            <a:avLst/>
          </a:prstGeom>
          <a:solidFill>
            <a:srgbClr val="E8E2DE"/>
          </a:solidFill>
          <a:ln/>
        </p:spPr>
      </p:sp>
      <p:pic>
        <p:nvPicPr>
          <p:cNvPr id="23"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24" name="Text 21"/>
          <p:cNvSpPr/>
          <p:nvPr/>
        </p:nvSpPr>
        <p:spPr>
          <a:xfrm>
            <a:off x="6637139"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25" name="Text 22"/>
          <p:cNvSpPr/>
          <p:nvPr/>
        </p:nvSpPr>
        <p:spPr>
          <a:xfrm>
            <a:off x="17123718" y="9658350"/>
            <a:ext cx="326082"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14</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570400"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 · CÔNG NGHỆ &amp; THIẾT KẾ</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Sơ đồ ERD tổng quan</a:t>
            </a:r>
            <a:endParaRPr lang="en-US" sz="3750" dirty="0"/>
          </a:p>
        </p:txBody>
      </p:sp>
      <p:sp>
        <p:nvSpPr>
          <p:cNvPr id="5" name="Text 3"/>
          <p:cNvSpPr/>
          <p:nvPr/>
        </p:nvSpPr>
        <p:spPr>
          <a:xfrm>
            <a:off x="914400" y="1633538"/>
            <a:ext cx="18105120" cy="338138"/>
          </a:xfrm>
          <a:prstGeom prst="rect">
            <a:avLst/>
          </a:prstGeom>
          <a:noFill/>
          <a:ln/>
        </p:spPr>
        <p:txBody>
          <a:bodyPr wrap="square" lIns="25400" tIns="25400" rIns="25400" bIns="25400" rtlCol="0" anchor="t">
            <a:normAutofit/>
          </a:bodyPr>
          <a:lstStyle/>
          <a:p>
            <a:pPr algn="l" indent="0" marL="0">
              <a:buNone/>
            </a:pPr>
            <a:r>
              <a:rPr lang="en-US" sz="1875" dirty="0">
                <a:solidFill>
                  <a:srgbClr val="57514F"/>
                </a:solidFill>
                <a:latin typeface="Be Vietnam Pro" pitchFamily="34" charset="0"/>
                <a:ea typeface="Be Vietnam Pro" pitchFamily="34" charset="-122"/>
                <a:cs typeface="Be Vietnam Pro" pitchFamily="34" charset="-120"/>
              </a:rPr>
              <a:t>23 bảng chia thành sáu nhóm dữ liệu nghiệp vụ; quan hệ chi tiết ở các slide tiếp theo.</a:t>
            </a:r>
            <a:endParaRPr lang="en-US" sz="1875" dirty="0"/>
          </a:p>
        </p:txBody>
      </p:sp>
      <p:sp>
        <p:nvSpPr>
          <p:cNvPr id="6" name="Shape 4"/>
          <p:cNvSpPr/>
          <p:nvPr/>
        </p:nvSpPr>
        <p:spPr>
          <a:xfrm>
            <a:off x="7311107" y="2162175"/>
            <a:ext cx="3665786" cy="6886501"/>
          </a:xfrm>
          <a:prstGeom prst="rect">
            <a:avLst/>
          </a:prstGeom>
          <a:solidFill>
            <a:srgbClr val="FFFFFF"/>
          </a:solidFill>
          <a:ln w="9525">
            <a:solidFill>
              <a:srgbClr val="E8E2DE"/>
            </a:solidFill>
            <a:prstDash val="solid"/>
          </a:ln>
          <a:effectLst>
            <a:outerShdw sx="100000" sy="100000" kx="0" ky="0" algn="bl" rotWithShape="0" blurRad="152400" dist="19050" dir="5400000">
              <a:srgbClr val="000000">
                <a:alpha val="6000"/>
              </a:srgbClr>
            </a:outerShdw>
          </a:effectLst>
        </p:spPr>
      </p:sp>
      <p:pic>
        <p:nvPicPr>
          <p:cNvPr id="7" name="Image 0" descr="preencoded.png">    </p:cNvPr>
          <p:cNvPicPr>
            <a:picLocks noChangeAspect="1"/>
          </p:cNvPicPr>
          <p:nvPr/>
        </p:nvPicPr>
        <p:blipFill>
          <a:blip r:embed="rId1"/>
          <a:srcRect l="-122" r="-122" t="0" b="0"/>
          <a:stretch/>
        </p:blipFill>
        <p:spPr>
          <a:xfrm>
            <a:off x="7311107" y="2162175"/>
            <a:ext cx="3665786" cy="6886501"/>
          </a:xfrm>
          <a:prstGeom prst="rect">
            <a:avLst/>
          </a:prstGeom>
        </p:spPr>
      </p:pic>
      <p:sp>
        <p:nvSpPr>
          <p:cNvPr id="8" name="Shape 5"/>
          <p:cNvSpPr/>
          <p:nvPr/>
        </p:nvSpPr>
        <p:spPr>
          <a:xfrm>
            <a:off x="914400" y="9477375"/>
            <a:ext cx="16459200" cy="9525"/>
          </a:xfrm>
          <a:prstGeom prst="rect">
            <a:avLst/>
          </a:prstGeom>
          <a:solidFill>
            <a:srgbClr val="E8E2DE"/>
          </a:solidFill>
          <a:ln/>
        </p:spPr>
      </p:sp>
      <p:pic>
        <p:nvPicPr>
          <p:cNvPr id="9" name="Image 1" descr="preencoded.png">    </p:cNvPr>
          <p:cNvPicPr>
            <a:picLocks noChangeAspect="1"/>
          </p:cNvPicPr>
          <p:nvPr/>
        </p:nvPicPr>
        <p:blipFill>
          <a:blip r:embed="rId2"/>
          <a:stretch>
            <a:fillRect/>
          </a:stretch>
        </p:blipFill>
        <p:spPr>
          <a:xfrm>
            <a:off x="914400" y="9639300"/>
            <a:ext cx="443210" cy="266700"/>
          </a:xfrm>
          <a:prstGeom prst="rect">
            <a:avLst/>
          </a:prstGeom>
        </p:spPr>
      </p:pic>
      <p:sp>
        <p:nvSpPr>
          <p:cNvPr id="10" name="Text 6"/>
          <p:cNvSpPr/>
          <p:nvPr/>
        </p:nvSpPr>
        <p:spPr>
          <a:xfrm>
            <a:off x="6637288"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11" name="Text 7"/>
          <p:cNvSpPr/>
          <p:nvPr/>
        </p:nvSpPr>
        <p:spPr>
          <a:xfrm>
            <a:off x="17124015" y="9658350"/>
            <a:ext cx="325785"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15</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570400"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 · CÔNG NGHỆ &amp; THIẾT KẾ</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ERD — Tổ chức, Quân nhân, Tài khoản</a:t>
            </a:r>
            <a:endParaRPr lang="en-US" sz="3750" dirty="0"/>
          </a:p>
        </p:txBody>
      </p:sp>
      <p:sp>
        <p:nvSpPr>
          <p:cNvPr id="5" name="Text 3"/>
          <p:cNvSpPr/>
          <p:nvPr/>
        </p:nvSpPr>
        <p:spPr>
          <a:xfrm>
            <a:off x="914400" y="1633538"/>
            <a:ext cx="18105120" cy="338138"/>
          </a:xfrm>
          <a:prstGeom prst="rect">
            <a:avLst/>
          </a:prstGeom>
          <a:noFill/>
          <a:ln/>
        </p:spPr>
        <p:txBody>
          <a:bodyPr wrap="square" lIns="25400" tIns="25400" rIns="25400" bIns="25400" rtlCol="0" anchor="t">
            <a:normAutofit/>
          </a:bodyPr>
          <a:lstStyle/>
          <a:p>
            <a:pPr algn="l" indent="0" marL="0">
              <a:buNone/>
            </a:pPr>
            <a:r>
              <a:rPr lang="en-US" sz="1875" dirty="0">
                <a:solidFill>
                  <a:srgbClr val="57514F"/>
                </a:solidFill>
                <a:latin typeface="Be Vietnam Pro" pitchFamily="34" charset="0"/>
                <a:ea typeface="Be Vietnam Pro" pitchFamily="34" charset="-122"/>
                <a:cs typeface="Be Vietnam Pro" pitchFamily="34" charset="-120"/>
              </a:rPr>
              <a:t>Mỗi quân nhân gắn một chức vụ và một đơn vị, có tối đa một tài khoản; lịch sử chức vụ phục vụ tính tháng cống hiến.</a:t>
            </a:r>
            <a:endParaRPr lang="en-US" sz="1875" dirty="0"/>
          </a:p>
        </p:txBody>
      </p:sp>
      <p:sp>
        <p:nvSpPr>
          <p:cNvPr id="6" name="Shape 4"/>
          <p:cNvSpPr/>
          <p:nvPr/>
        </p:nvSpPr>
        <p:spPr>
          <a:xfrm>
            <a:off x="4376142" y="2162175"/>
            <a:ext cx="9535716" cy="6886501"/>
          </a:xfrm>
          <a:prstGeom prst="rect">
            <a:avLst/>
          </a:prstGeom>
          <a:solidFill>
            <a:srgbClr val="FFFFFF"/>
          </a:solidFill>
          <a:ln w="9525">
            <a:solidFill>
              <a:srgbClr val="E8E2DE"/>
            </a:solidFill>
            <a:prstDash val="solid"/>
          </a:ln>
          <a:effectLst>
            <a:outerShdw sx="100000" sy="100000" kx="0" ky="0" algn="bl" rotWithShape="0" blurRad="152400" dist="19050" dir="5400000">
              <a:srgbClr val="000000">
                <a:alpha val="6000"/>
              </a:srgbClr>
            </a:outerShdw>
          </a:effectLst>
        </p:spPr>
      </p:sp>
      <p:pic>
        <p:nvPicPr>
          <p:cNvPr id="7" name="Image 0" descr="preencoded.png">    </p:cNvPr>
          <p:cNvPicPr>
            <a:picLocks noChangeAspect="1"/>
          </p:cNvPicPr>
          <p:nvPr/>
        </p:nvPicPr>
        <p:blipFill>
          <a:blip r:embed="rId1"/>
          <a:srcRect l="0" r="0" t="-38" b="-38"/>
          <a:stretch/>
        </p:blipFill>
        <p:spPr>
          <a:xfrm>
            <a:off x="4376142" y="2162175"/>
            <a:ext cx="9535716" cy="6886501"/>
          </a:xfrm>
          <a:prstGeom prst="rect">
            <a:avLst/>
          </a:prstGeom>
        </p:spPr>
      </p:pic>
      <p:sp>
        <p:nvSpPr>
          <p:cNvPr id="8" name="Shape 5"/>
          <p:cNvSpPr/>
          <p:nvPr/>
        </p:nvSpPr>
        <p:spPr>
          <a:xfrm>
            <a:off x="914400" y="9477375"/>
            <a:ext cx="16459200" cy="9525"/>
          </a:xfrm>
          <a:prstGeom prst="rect">
            <a:avLst/>
          </a:prstGeom>
          <a:solidFill>
            <a:srgbClr val="E8E2DE"/>
          </a:solidFill>
          <a:ln/>
        </p:spPr>
      </p:sp>
      <p:pic>
        <p:nvPicPr>
          <p:cNvPr id="9" name="Image 1" descr="preencoded.png">    </p:cNvPr>
          <p:cNvPicPr>
            <a:picLocks noChangeAspect="1"/>
          </p:cNvPicPr>
          <p:nvPr/>
        </p:nvPicPr>
        <p:blipFill>
          <a:blip r:embed="rId2"/>
          <a:stretch>
            <a:fillRect/>
          </a:stretch>
        </p:blipFill>
        <p:spPr>
          <a:xfrm>
            <a:off x="914400" y="9639300"/>
            <a:ext cx="443210" cy="266700"/>
          </a:xfrm>
          <a:prstGeom prst="rect">
            <a:avLst/>
          </a:prstGeom>
        </p:spPr>
      </p:pic>
      <p:sp>
        <p:nvSpPr>
          <p:cNvPr id="10" name="Text 6"/>
          <p:cNvSpPr/>
          <p:nvPr/>
        </p:nvSpPr>
        <p:spPr>
          <a:xfrm>
            <a:off x="6637213"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11" name="Text 7"/>
          <p:cNvSpPr/>
          <p:nvPr/>
        </p:nvSpPr>
        <p:spPr>
          <a:xfrm>
            <a:off x="17123866" y="9658350"/>
            <a:ext cx="325934"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16</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570400"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 · CÔNG NGHỆ &amp; THIẾT KẾ</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ERD — Đề xuất khen thưởng</a:t>
            </a:r>
            <a:endParaRPr lang="en-US" sz="3750" dirty="0"/>
          </a:p>
        </p:txBody>
      </p:sp>
      <p:sp>
        <p:nvSpPr>
          <p:cNvPr id="5" name="Text 3"/>
          <p:cNvSpPr/>
          <p:nvPr/>
        </p:nvSpPr>
        <p:spPr>
          <a:xfrm>
            <a:off x="914400" y="1633538"/>
            <a:ext cx="18105120" cy="338138"/>
          </a:xfrm>
          <a:prstGeom prst="rect">
            <a:avLst/>
          </a:prstGeom>
          <a:noFill/>
          <a:ln/>
        </p:spPr>
        <p:txBody>
          <a:bodyPr wrap="square" lIns="25400" tIns="25400" rIns="25400" bIns="25400" rtlCol="0" anchor="t">
            <a:normAutofit/>
          </a:bodyPr>
          <a:lstStyle/>
          <a:p>
            <a:pPr algn="l" indent="0" marL="0">
              <a:buNone/>
            </a:pPr>
            <a:r>
              <a:rPr lang="en-US" sz="1875" dirty="0">
                <a:solidFill>
                  <a:srgbClr val="57514F"/>
                </a:solidFill>
                <a:latin typeface="Be Vietnam Pro" pitchFamily="34" charset="0"/>
                <a:ea typeface="Be Vietnam Pro" pitchFamily="34" charset="-122"/>
                <a:cs typeface="Be Vietnam Pro" pitchFamily="34" charset="-120"/>
              </a:rPr>
              <a:t>BangDeXuat là trung tâm; chi tiết từng loại nằm trong cột JSON, chỉ ghi thành bản ghi khi phê duyệt.</a:t>
            </a:r>
            <a:endParaRPr lang="en-US" sz="1875" dirty="0"/>
          </a:p>
        </p:txBody>
      </p:sp>
      <p:sp>
        <p:nvSpPr>
          <p:cNvPr id="6" name="Shape 4"/>
          <p:cNvSpPr/>
          <p:nvPr/>
        </p:nvSpPr>
        <p:spPr>
          <a:xfrm>
            <a:off x="6056709" y="2162175"/>
            <a:ext cx="6174507" cy="6886501"/>
          </a:xfrm>
          <a:prstGeom prst="rect">
            <a:avLst/>
          </a:prstGeom>
          <a:solidFill>
            <a:srgbClr val="FFFFFF"/>
          </a:solidFill>
          <a:ln w="9525">
            <a:solidFill>
              <a:srgbClr val="E8E2DE"/>
            </a:solidFill>
            <a:prstDash val="solid"/>
          </a:ln>
          <a:effectLst>
            <a:outerShdw sx="100000" sy="100000" kx="0" ky="0" algn="bl" rotWithShape="0" blurRad="152400" dist="19050" dir="5400000">
              <a:srgbClr val="000000">
                <a:alpha val="6000"/>
              </a:srgbClr>
            </a:outerShdw>
          </a:effectLst>
        </p:spPr>
      </p:sp>
      <p:pic>
        <p:nvPicPr>
          <p:cNvPr id="7" name="Image 0" descr="preencoded.png">    </p:cNvPr>
          <p:cNvPicPr>
            <a:picLocks noChangeAspect="1"/>
          </p:cNvPicPr>
          <p:nvPr/>
        </p:nvPicPr>
        <p:blipFill>
          <a:blip r:embed="rId1"/>
          <a:srcRect l="-16" r="-16" t="0" b="0"/>
          <a:stretch/>
        </p:blipFill>
        <p:spPr>
          <a:xfrm>
            <a:off x="6056709" y="2162175"/>
            <a:ext cx="6174507" cy="6886501"/>
          </a:xfrm>
          <a:prstGeom prst="rect">
            <a:avLst/>
          </a:prstGeom>
        </p:spPr>
      </p:pic>
      <p:sp>
        <p:nvSpPr>
          <p:cNvPr id="8" name="Shape 5"/>
          <p:cNvSpPr/>
          <p:nvPr/>
        </p:nvSpPr>
        <p:spPr>
          <a:xfrm>
            <a:off x="914400" y="9477375"/>
            <a:ext cx="16459200" cy="9525"/>
          </a:xfrm>
          <a:prstGeom prst="rect">
            <a:avLst/>
          </a:prstGeom>
          <a:solidFill>
            <a:srgbClr val="E8E2DE"/>
          </a:solidFill>
          <a:ln/>
        </p:spPr>
      </p:sp>
      <p:pic>
        <p:nvPicPr>
          <p:cNvPr id="9" name="Image 1" descr="preencoded.png">    </p:cNvPr>
          <p:cNvPicPr>
            <a:picLocks noChangeAspect="1"/>
          </p:cNvPicPr>
          <p:nvPr/>
        </p:nvPicPr>
        <p:blipFill>
          <a:blip r:embed="rId2"/>
          <a:stretch>
            <a:fillRect/>
          </a:stretch>
        </p:blipFill>
        <p:spPr>
          <a:xfrm>
            <a:off x="914400" y="9639300"/>
            <a:ext cx="443210" cy="266700"/>
          </a:xfrm>
          <a:prstGeom prst="rect">
            <a:avLst/>
          </a:prstGeom>
        </p:spPr>
      </p:pic>
      <p:sp>
        <p:nvSpPr>
          <p:cNvPr id="10" name="Text 6"/>
          <p:cNvSpPr/>
          <p:nvPr/>
        </p:nvSpPr>
        <p:spPr>
          <a:xfrm>
            <a:off x="6637213"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11" name="Text 7"/>
          <p:cNvSpPr/>
          <p:nvPr/>
        </p:nvSpPr>
        <p:spPr>
          <a:xfrm>
            <a:off x="17123866" y="9658350"/>
            <a:ext cx="325934"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17</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570400"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 · CÔNG NGHỆ &amp; THIẾT KẾ</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ERD — Khen thưởng &amp; hồ sơ cá nhân</a:t>
            </a:r>
            <a:endParaRPr lang="en-US" sz="3750" dirty="0"/>
          </a:p>
        </p:txBody>
      </p:sp>
      <p:sp>
        <p:nvSpPr>
          <p:cNvPr id="5" name="Text 3"/>
          <p:cNvSpPr/>
          <p:nvPr/>
        </p:nvSpPr>
        <p:spPr>
          <a:xfrm>
            <a:off x="914400" y="1633538"/>
            <a:ext cx="18105120" cy="338138"/>
          </a:xfrm>
          <a:prstGeom prst="rect">
            <a:avLst/>
          </a:prstGeom>
          <a:noFill/>
          <a:ln/>
        </p:spPr>
        <p:txBody>
          <a:bodyPr wrap="square" lIns="25400" tIns="25400" rIns="25400" bIns="25400" rtlCol="0" anchor="t">
            <a:normAutofit/>
          </a:bodyPr>
          <a:lstStyle/>
          <a:p>
            <a:pPr algn="l" indent="0" marL="0">
              <a:buNone/>
            </a:pPr>
            <a:r>
              <a:rPr lang="en-US" sz="1875" dirty="0">
                <a:solidFill>
                  <a:srgbClr val="57514F"/>
                </a:solidFill>
                <a:latin typeface="Be Vietnam Pro" pitchFamily="34" charset="0"/>
                <a:ea typeface="Be Vietnam Pro" pitchFamily="34" charset="-122"/>
                <a:cs typeface="Be Vietnam Pro" pitchFamily="34" charset="-120"/>
              </a:rPr>
              <a:t>Nhiều bản ghi danh hiệu hằng năm, NCKH, HCCSVV; quan hệ một–một với ba bảng hồ sơ suy diễn.</a:t>
            </a:r>
            <a:endParaRPr lang="en-US" sz="1875" dirty="0"/>
          </a:p>
        </p:txBody>
      </p:sp>
      <p:sp>
        <p:nvSpPr>
          <p:cNvPr id="6" name="Shape 4"/>
          <p:cNvSpPr/>
          <p:nvPr/>
        </p:nvSpPr>
        <p:spPr>
          <a:xfrm>
            <a:off x="4642991" y="2162175"/>
            <a:ext cx="9002018" cy="6886501"/>
          </a:xfrm>
          <a:prstGeom prst="rect">
            <a:avLst/>
          </a:prstGeom>
          <a:solidFill>
            <a:srgbClr val="FFFFFF"/>
          </a:solidFill>
          <a:ln w="9525">
            <a:solidFill>
              <a:srgbClr val="E8E2DE"/>
            </a:solidFill>
            <a:prstDash val="solid"/>
          </a:ln>
          <a:effectLst>
            <a:outerShdw sx="100000" sy="100000" kx="0" ky="0" algn="bl" rotWithShape="0" blurRad="152400" dist="19050" dir="5400000">
              <a:srgbClr val="000000">
                <a:alpha val="6000"/>
              </a:srgbClr>
            </a:outerShdw>
          </a:effectLst>
        </p:spPr>
      </p:sp>
      <p:pic>
        <p:nvPicPr>
          <p:cNvPr id="7" name="Image 0" descr="preencoded.png">    </p:cNvPr>
          <p:cNvPicPr>
            <a:picLocks noChangeAspect="1"/>
          </p:cNvPicPr>
          <p:nvPr/>
        </p:nvPicPr>
        <p:blipFill>
          <a:blip r:embed="rId1"/>
          <a:srcRect l="0" r="0" t="-32" b="-32"/>
          <a:stretch/>
        </p:blipFill>
        <p:spPr>
          <a:xfrm>
            <a:off x="4642991" y="2162175"/>
            <a:ext cx="9002018" cy="6886501"/>
          </a:xfrm>
          <a:prstGeom prst="rect">
            <a:avLst/>
          </a:prstGeom>
        </p:spPr>
      </p:pic>
      <p:sp>
        <p:nvSpPr>
          <p:cNvPr id="8" name="Shape 5"/>
          <p:cNvSpPr/>
          <p:nvPr/>
        </p:nvSpPr>
        <p:spPr>
          <a:xfrm>
            <a:off x="914400" y="9477375"/>
            <a:ext cx="16459200" cy="9525"/>
          </a:xfrm>
          <a:prstGeom prst="rect">
            <a:avLst/>
          </a:prstGeom>
          <a:solidFill>
            <a:srgbClr val="E8E2DE"/>
          </a:solidFill>
          <a:ln/>
        </p:spPr>
      </p:sp>
      <p:pic>
        <p:nvPicPr>
          <p:cNvPr id="9" name="Image 1" descr="preencoded.png">    </p:cNvPr>
          <p:cNvPicPr>
            <a:picLocks noChangeAspect="1"/>
          </p:cNvPicPr>
          <p:nvPr/>
        </p:nvPicPr>
        <p:blipFill>
          <a:blip r:embed="rId2"/>
          <a:stretch>
            <a:fillRect/>
          </a:stretch>
        </p:blipFill>
        <p:spPr>
          <a:xfrm>
            <a:off x="914400" y="9639300"/>
            <a:ext cx="443210" cy="266700"/>
          </a:xfrm>
          <a:prstGeom prst="rect">
            <a:avLst/>
          </a:prstGeom>
        </p:spPr>
      </p:pic>
      <p:sp>
        <p:nvSpPr>
          <p:cNvPr id="10" name="Text 6"/>
          <p:cNvSpPr/>
          <p:nvPr/>
        </p:nvSpPr>
        <p:spPr>
          <a:xfrm>
            <a:off x="6637213"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11" name="Text 7"/>
          <p:cNvSpPr/>
          <p:nvPr/>
        </p:nvSpPr>
        <p:spPr>
          <a:xfrm>
            <a:off x="17123866" y="9658350"/>
            <a:ext cx="325934"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18</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570400"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 · CÔNG NGHỆ &amp; THIẾT KẾ</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ERD — Khen thưởng &amp; hồ sơ đơn vị</a:t>
            </a:r>
            <a:endParaRPr lang="en-US" sz="3750" dirty="0"/>
          </a:p>
        </p:txBody>
      </p:sp>
      <p:sp>
        <p:nvSpPr>
          <p:cNvPr id="5" name="Text 3"/>
          <p:cNvSpPr/>
          <p:nvPr/>
        </p:nvSpPr>
        <p:spPr>
          <a:xfrm>
            <a:off x="914400" y="1633538"/>
            <a:ext cx="18105120" cy="338138"/>
          </a:xfrm>
          <a:prstGeom prst="rect">
            <a:avLst/>
          </a:prstGeom>
          <a:noFill/>
          <a:ln/>
        </p:spPr>
        <p:txBody>
          <a:bodyPr wrap="square" lIns="25400" tIns="25400" rIns="25400" bIns="25400" rtlCol="0" anchor="t">
            <a:normAutofit/>
          </a:bodyPr>
          <a:lstStyle/>
          <a:p>
            <a:pPr algn="l" indent="0" marL="0">
              <a:buNone/>
            </a:pPr>
            <a:r>
              <a:rPr lang="en-US" sz="1875" dirty="0">
                <a:solidFill>
                  <a:srgbClr val="57514F"/>
                </a:solidFill>
                <a:latin typeface="Be Vietnam Pro" pitchFamily="34" charset="0"/>
                <a:ea typeface="Be Vietnam Pro" pitchFamily="34" charset="-122"/>
                <a:cs typeface="Be Vietnam Pro" pitchFamily="34" charset="-120"/>
              </a:rPr>
              <a:t>Hai bảng đều gắn với một đơn vị được khen (cơ quan hoặc đơn vị trực thuộc); duy nhất theo cặp (đơn vị, năm).</a:t>
            </a:r>
            <a:endParaRPr lang="en-US" sz="1875" dirty="0"/>
          </a:p>
        </p:txBody>
      </p:sp>
      <p:sp>
        <p:nvSpPr>
          <p:cNvPr id="6" name="Shape 4"/>
          <p:cNvSpPr/>
          <p:nvPr/>
        </p:nvSpPr>
        <p:spPr>
          <a:xfrm>
            <a:off x="4143375" y="2662238"/>
            <a:ext cx="10001250" cy="5886450"/>
          </a:xfrm>
          <a:prstGeom prst="rect">
            <a:avLst/>
          </a:prstGeom>
          <a:solidFill>
            <a:srgbClr val="FFFFFF"/>
          </a:solidFill>
          <a:ln w="9525">
            <a:solidFill>
              <a:srgbClr val="E8E2DE"/>
            </a:solidFill>
            <a:prstDash val="solid"/>
          </a:ln>
          <a:effectLst>
            <a:outerShdw sx="100000" sy="100000" kx="0" ky="0" algn="bl" rotWithShape="0" blurRad="152400" dist="19050" dir="5400000">
              <a:srgbClr val="000000">
                <a:alpha val="6000"/>
              </a:srgbClr>
            </a:outerShdw>
          </a:effectLst>
        </p:spPr>
      </p:sp>
      <p:pic>
        <p:nvPicPr>
          <p:cNvPr id="7" name="Image 0" descr="preencoded.png">    </p:cNvPr>
          <p:cNvPicPr>
            <a:picLocks noChangeAspect="1"/>
          </p:cNvPicPr>
          <p:nvPr/>
        </p:nvPicPr>
        <p:blipFill>
          <a:blip r:embed="rId1"/>
          <a:srcRect l="0" r="0" t="-67" b="-67"/>
          <a:stretch/>
        </p:blipFill>
        <p:spPr>
          <a:xfrm>
            <a:off x="4143375" y="2662238"/>
            <a:ext cx="10001250" cy="5886450"/>
          </a:xfrm>
          <a:prstGeom prst="rect">
            <a:avLst/>
          </a:prstGeom>
        </p:spPr>
      </p:pic>
      <p:sp>
        <p:nvSpPr>
          <p:cNvPr id="8" name="Shape 5"/>
          <p:cNvSpPr/>
          <p:nvPr/>
        </p:nvSpPr>
        <p:spPr>
          <a:xfrm>
            <a:off x="914400" y="9477375"/>
            <a:ext cx="16459200" cy="9525"/>
          </a:xfrm>
          <a:prstGeom prst="rect">
            <a:avLst/>
          </a:prstGeom>
          <a:solidFill>
            <a:srgbClr val="E8E2DE"/>
          </a:solidFill>
          <a:ln/>
        </p:spPr>
      </p:sp>
      <p:pic>
        <p:nvPicPr>
          <p:cNvPr id="9" name="Image 1" descr="preencoded.png">    </p:cNvPr>
          <p:cNvPicPr>
            <a:picLocks noChangeAspect="1"/>
          </p:cNvPicPr>
          <p:nvPr/>
        </p:nvPicPr>
        <p:blipFill>
          <a:blip r:embed="rId2"/>
          <a:stretch>
            <a:fillRect/>
          </a:stretch>
        </p:blipFill>
        <p:spPr>
          <a:xfrm>
            <a:off x="914400" y="9639300"/>
            <a:ext cx="443210" cy="266700"/>
          </a:xfrm>
          <a:prstGeom prst="rect">
            <a:avLst/>
          </a:prstGeom>
        </p:spPr>
      </p:pic>
      <p:sp>
        <p:nvSpPr>
          <p:cNvPr id="10" name="Text 6"/>
          <p:cNvSpPr/>
          <p:nvPr/>
        </p:nvSpPr>
        <p:spPr>
          <a:xfrm>
            <a:off x="6637288"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11" name="Text 7"/>
          <p:cNvSpPr/>
          <p:nvPr/>
        </p:nvSpPr>
        <p:spPr>
          <a:xfrm>
            <a:off x="17124015" y="9658350"/>
            <a:ext cx="325785"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19</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570400"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 · CÔNG NGHỆ &amp; THIẾT KẾ</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ERD — Quyết định</a:t>
            </a:r>
            <a:endParaRPr lang="en-US" sz="3750" dirty="0"/>
          </a:p>
        </p:txBody>
      </p:sp>
      <p:sp>
        <p:nvSpPr>
          <p:cNvPr id="5" name="Text 3"/>
          <p:cNvSpPr/>
          <p:nvPr/>
        </p:nvSpPr>
        <p:spPr>
          <a:xfrm>
            <a:off x="914400" y="1633538"/>
            <a:ext cx="18105120" cy="338138"/>
          </a:xfrm>
          <a:prstGeom prst="rect">
            <a:avLst/>
          </a:prstGeom>
          <a:noFill/>
          <a:ln/>
        </p:spPr>
        <p:txBody>
          <a:bodyPr wrap="square" lIns="25400" tIns="25400" rIns="25400" bIns="25400" rtlCol="0" anchor="t">
            <a:normAutofit/>
          </a:bodyPr>
          <a:lstStyle/>
          <a:p>
            <a:pPr algn="l" indent="0" marL="0">
              <a:buNone/>
            </a:pPr>
            <a:r>
              <a:rPr lang="en-US" sz="1875" dirty="0">
                <a:solidFill>
                  <a:srgbClr val="57514F"/>
                </a:solidFill>
                <a:latin typeface="Be Vietnam Pro" pitchFamily="34" charset="0"/>
                <a:ea typeface="Be Vietnam Pro" pitchFamily="34" charset="-122"/>
                <a:cs typeface="Be Vietnam Pro" pitchFamily="34" charset="-120"/>
              </a:rPr>
              <a:t>Khoá ngoại trỏ tới cột số quyết định; đổi số thì lan truyền, không xoá khi còn tham chiếu.</a:t>
            </a:r>
            <a:endParaRPr lang="en-US" sz="1875" dirty="0"/>
          </a:p>
        </p:txBody>
      </p:sp>
      <p:sp>
        <p:nvSpPr>
          <p:cNvPr id="6" name="Shape 4"/>
          <p:cNvSpPr/>
          <p:nvPr/>
        </p:nvSpPr>
        <p:spPr>
          <a:xfrm>
            <a:off x="5809134" y="2162175"/>
            <a:ext cx="6669732" cy="6886501"/>
          </a:xfrm>
          <a:prstGeom prst="rect">
            <a:avLst/>
          </a:prstGeom>
          <a:solidFill>
            <a:srgbClr val="FFFFFF"/>
          </a:solidFill>
          <a:ln w="9525">
            <a:solidFill>
              <a:srgbClr val="E8E2DE"/>
            </a:solidFill>
            <a:prstDash val="solid"/>
          </a:ln>
          <a:effectLst>
            <a:outerShdw sx="100000" sy="100000" kx="0" ky="0" algn="bl" rotWithShape="0" blurRad="152400" dist="19050" dir="5400000">
              <a:srgbClr val="000000">
                <a:alpha val="6000"/>
              </a:srgbClr>
            </a:outerShdw>
          </a:effectLst>
        </p:spPr>
      </p:sp>
      <p:pic>
        <p:nvPicPr>
          <p:cNvPr id="7" name="Image 0" descr="preencoded.png">    </p:cNvPr>
          <p:cNvPicPr>
            <a:picLocks noChangeAspect="1"/>
          </p:cNvPicPr>
          <p:nvPr/>
        </p:nvPicPr>
        <p:blipFill>
          <a:blip r:embed="rId1"/>
          <a:srcRect l="-5" r="-5" t="0" b="0"/>
          <a:stretch/>
        </p:blipFill>
        <p:spPr>
          <a:xfrm>
            <a:off x="5809134" y="2162175"/>
            <a:ext cx="6669732" cy="6886501"/>
          </a:xfrm>
          <a:prstGeom prst="rect">
            <a:avLst/>
          </a:prstGeom>
        </p:spPr>
      </p:pic>
      <p:sp>
        <p:nvSpPr>
          <p:cNvPr id="8" name="Shape 5"/>
          <p:cNvSpPr/>
          <p:nvPr/>
        </p:nvSpPr>
        <p:spPr>
          <a:xfrm>
            <a:off x="914400" y="9477375"/>
            <a:ext cx="16459200" cy="9525"/>
          </a:xfrm>
          <a:prstGeom prst="rect">
            <a:avLst/>
          </a:prstGeom>
          <a:solidFill>
            <a:srgbClr val="E8E2DE"/>
          </a:solidFill>
          <a:ln/>
        </p:spPr>
      </p:sp>
      <p:pic>
        <p:nvPicPr>
          <p:cNvPr id="9" name="Image 1" descr="preencoded.png">    </p:cNvPr>
          <p:cNvPicPr>
            <a:picLocks noChangeAspect="1"/>
          </p:cNvPicPr>
          <p:nvPr/>
        </p:nvPicPr>
        <p:blipFill>
          <a:blip r:embed="rId2"/>
          <a:stretch>
            <a:fillRect/>
          </a:stretch>
        </p:blipFill>
        <p:spPr>
          <a:xfrm>
            <a:off x="914400" y="9639300"/>
            <a:ext cx="443210" cy="266700"/>
          </a:xfrm>
          <a:prstGeom prst="rect">
            <a:avLst/>
          </a:prstGeom>
        </p:spPr>
      </p:pic>
      <p:sp>
        <p:nvSpPr>
          <p:cNvPr id="10" name="Text 6"/>
          <p:cNvSpPr/>
          <p:nvPr/>
        </p:nvSpPr>
        <p:spPr>
          <a:xfrm>
            <a:off x="6637288"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11" name="Text 7"/>
          <p:cNvSpPr/>
          <p:nvPr/>
        </p:nvSpPr>
        <p:spPr>
          <a:xfrm>
            <a:off x="17124015" y="9658350"/>
            <a:ext cx="325785"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20</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570400"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 · CÔNG NGHỆ &amp; THIẾT KẾ</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ERD — Hệ thống</a:t>
            </a:r>
            <a:endParaRPr lang="en-US" sz="3750" dirty="0"/>
          </a:p>
        </p:txBody>
      </p:sp>
      <p:sp>
        <p:nvSpPr>
          <p:cNvPr id="5" name="Text 3"/>
          <p:cNvSpPr/>
          <p:nvPr/>
        </p:nvSpPr>
        <p:spPr>
          <a:xfrm>
            <a:off x="914400" y="1633538"/>
            <a:ext cx="18105120" cy="338138"/>
          </a:xfrm>
          <a:prstGeom prst="rect">
            <a:avLst/>
          </a:prstGeom>
          <a:noFill/>
          <a:ln/>
        </p:spPr>
        <p:txBody>
          <a:bodyPr wrap="square" lIns="25400" tIns="25400" rIns="25400" bIns="25400" rtlCol="0" anchor="t">
            <a:normAutofit/>
          </a:bodyPr>
          <a:lstStyle/>
          <a:p>
            <a:pPr algn="l" indent="0" marL="0">
              <a:buNone/>
            </a:pPr>
            <a:r>
              <a:rPr lang="en-US" sz="1875" dirty="0">
                <a:solidFill>
                  <a:srgbClr val="57514F"/>
                </a:solidFill>
                <a:latin typeface="Be Vietnam Pro" pitchFamily="34" charset="0"/>
                <a:ea typeface="Be Vietnam Pro" pitchFamily="34" charset="-122"/>
                <a:cs typeface="Be Vietnam Pro" pitchFamily="34" charset="-120"/>
              </a:rPr>
              <a:t>SystemLog gắn người thực hiện; ThongBao gắn người nhận và trỏ về nhật ký; SystemSetting lưu khoá–giá trị.</a:t>
            </a:r>
            <a:endParaRPr lang="en-US" sz="1875" dirty="0"/>
          </a:p>
        </p:txBody>
      </p:sp>
      <p:sp>
        <p:nvSpPr>
          <p:cNvPr id="6" name="Shape 4"/>
          <p:cNvSpPr/>
          <p:nvPr/>
        </p:nvSpPr>
        <p:spPr>
          <a:xfrm>
            <a:off x="5715000" y="2795588"/>
            <a:ext cx="6858000" cy="5619750"/>
          </a:xfrm>
          <a:prstGeom prst="rect">
            <a:avLst/>
          </a:prstGeom>
          <a:solidFill>
            <a:srgbClr val="FFFFFF"/>
          </a:solidFill>
          <a:ln w="9525">
            <a:solidFill>
              <a:srgbClr val="E8E2DE"/>
            </a:solidFill>
            <a:prstDash val="solid"/>
          </a:ln>
          <a:effectLst>
            <a:outerShdw sx="100000" sy="100000" kx="0" ky="0" algn="bl" rotWithShape="0" blurRad="152400" dist="19050" dir="5400000">
              <a:srgbClr val="000000">
                <a:alpha val="6000"/>
              </a:srgbClr>
            </a:outerShdw>
          </a:effectLst>
        </p:spPr>
      </p:sp>
      <p:pic>
        <p:nvPicPr>
          <p:cNvPr id="7" name="Image 0" descr="preencoded.png">    </p:cNvPr>
          <p:cNvPicPr>
            <a:picLocks noChangeAspect="1"/>
          </p:cNvPicPr>
          <p:nvPr/>
        </p:nvPicPr>
        <p:blipFill>
          <a:blip r:embed="rId1"/>
          <a:srcRect l="0" r="0" t="-31" b="-31"/>
          <a:stretch/>
        </p:blipFill>
        <p:spPr>
          <a:xfrm>
            <a:off x="5715000" y="2795588"/>
            <a:ext cx="6858000" cy="5619750"/>
          </a:xfrm>
          <a:prstGeom prst="rect">
            <a:avLst/>
          </a:prstGeom>
        </p:spPr>
      </p:pic>
      <p:sp>
        <p:nvSpPr>
          <p:cNvPr id="8" name="Shape 5"/>
          <p:cNvSpPr/>
          <p:nvPr/>
        </p:nvSpPr>
        <p:spPr>
          <a:xfrm>
            <a:off x="914400" y="9477375"/>
            <a:ext cx="16459200" cy="9525"/>
          </a:xfrm>
          <a:prstGeom prst="rect">
            <a:avLst/>
          </a:prstGeom>
          <a:solidFill>
            <a:srgbClr val="E8E2DE"/>
          </a:solidFill>
          <a:ln/>
        </p:spPr>
      </p:sp>
      <p:pic>
        <p:nvPicPr>
          <p:cNvPr id="9" name="Image 1" descr="preencoded.png">    </p:cNvPr>
          <p:cNvPicPr>
            <a:picLocks noChangeAspect="1"/>
          </p:cNvPicPr>
          <p:nvPr/>
        </p:nvPicPr>
        <p:blipFill>
          <a:blip r:embed="rId2"/>
          <a:stretch>
            <a:fillRect/>
          </a:stretch>
        </p:blipFill>
        <p:spPr>
          <a:xfrm>
            <a:off x="914400" y="9639300"/>
            <a:ext cx="443210" cy="266700"/>
          </a:xfrm>
          <a:prstGeom prst="rect">
            <a:avLst/>
          </a:prstGeom>
        </p:spPr>
      </p:pic>
      <p:sp>
        <p:nvSpPr>
          <p:cNvPr id="10" name="Text 6"/>
          <p:cNvSpPr/>
          <p:nvPr/>
        </p:nvSpPr>
        <p:spPr>
          <a:xfrm>
            <a:off x="6637213"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11" name="Text 7"/>
          <p:cNvSpPr/>
          <p:nvPr/>
        </p:nvSpPr>
        <p:spPr>
          <a:xfrm>
            <a:off x="17123866" y="9658350"/>
            <a:ext cx="325934"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21</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570400"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 · CÔNG NGHỆ &amp; THIẾT KẾ</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Phân tích chức năng — Use-case</a:t>
            </a:r>
            <a:endParaRPr lang="en-US" sz="3750" dirty="0"/>
          </a:p>
        </p:txBody>
      </p:sp>
      <p:sp>
        <p:nvSpPr>
          <p:cNvPr id="5" name="Text 3"/>
          <p:cNvSpPr/>
          <p:nvPr/>
        </p:nvSpPr>
        <p:spPr>
          <a:xfrm>
            <a:off x="914400" y="1633538"/>
            <a:ext cx="18105120" cy="338138"/>
          </a:xfrm>
          <a:prstGeom prst="rect">
            <a:avLst/>
          </a:prstGeom>
          <a:noFill/>
          <a:ln/>
        </p:spPr>
        <p:txBody>
          <a:bodyPr wrap="square" lIns="25400" tIns="25400" rIns="25400" bIns="25400" rtlCol="0" anchor="t">
            <a:normAutofit/>
          </a:bodyPr>
          <a:lstStyle/>
          <a:p>
            <a:pPr algn="l" indent="0" marL="0">
              <a:buNone/>
            </a:pPr>
            <a:r>
              <a:rPr lang="en-US" sz="1875" dirty="0">
                <a:solidFill>
                  <a:srgbClr val="57514F"/>
                </a:solidFill>
                <a:latin typeface="Be Vietnam Pro" pitchFamily="34" charset="0"/>
                <a:ea typeface="Be Vietnam Pro" pitchFamily="34" charset="-122"/>
                <a:cs typeface="Be Vietnam Pro" pitchFamily="34" charset="-120"/>
              </a:rPr>
              <a:t>Bốn vai trò; hai lớp phân quyền: kiểm tra vai trò ở route + lọc dữ liệu theo đơn vị.</a:t>
            </a:r>
            <a:endParaRPr lang="en-US" sz="1875" dirty="0"/>
          </a:p>
        </p:txBody>
      </p:sp>
      <p:sp>
        <p:nvSpPr>
          <p:cNvPr id="6" name="Shape 4"/>
          <p:cNvSpPr/>
          <p:nvPr/>
        </p:nvSpPr>
        <p:spPr>
          <a:xfrm>
            <a:off x="4547592" y="2162175"/>
            <a:ext cx="9192741" cy="6886501"/>
          </a:xfrm>
          <a:prstGeom prst="rect">
            <a:avLst/>
          </a:prstGeom>
          <a:solidFill>
            <a:srgbClr val="FFFFFF"/>
          </a:solidFill>
          <a:ln w="9525">
            <a:solidFill>
              <a:srgbClr val="E8E2DE"/>
            </a:solidFill>
            <a:prstDash val="solid"/>
          </a:ln>
          <a:effectLst>
            <a:outerShdw sx="100000" sy="100000" kx="0" ky="0" algn="bl" rotWithShape="0" blurRad="152400" dist="19050" dir="5400000">
              <a:srgbClr val="000000">
                <a:alpha val="6000"/>
              </a:srgbClr>
            </a:outerShdw>
          </a:effectLst>
        </p:spPr>
      </p:sp>
      <p:pic>
        <p:nvPicPr>
          <p:cNvPr id="7" name="Image 0" descr="preencoded.png">    </p:cNvPr>
          <p:cNvPicPr>
            <a:picLocks noChangeAspect="1"/>
          </p:cNvPicPr>
          <p:nvPr/>
        </p:nvPicPr>
        <p:blipFill>
          <a:blip r:embed="rId1"/>
          <a:srcRect l="0" r="0" t="-34" b="-34"/>
          <a:stretch/>
        </p:blipFill>
        <p:spPr>
          <a:xfrm>
            <a:off x="4547592" y="2162175"/>
            <a:ext cx="9192741" cy="6886501"/>
          </a:xfrm>
          <a:prstGeom prst="rect">
            <a:avLst/>
          </a:prstGeom>
        </p:spPr>
      </p:pic>
      <p:sp>
        <p:nvSpPr>
          <p:cNvPr id="8" name="Shape 5"/>
          <p:cNvSpPr/>
          <p:nvPr/>
        </p:nvSpPr>
        <p:spPr>
          <a:xfrm>
            <a:off x="914400" y="9477375"/>
            <a:ext cx="16459200" cy="9525"/>
          </a:xfrm>
          <a:prstGeom prst="rect">
            <a:avLst/>
          </a:prstGeom>
          <a:solidFill>
            <a:srgbClr val="E8E2DE"/>
          </a:solidFill>
          <a:ln/>
        </p:spPr>
      </p:sp>
      <p:pic>
        <p:nvPicPr>
          <p:cNvPr id="9" name="Image 1" descr="preencoded.png">    </p:cNvPr>
          <p:cNvPicPr>
            <a:picLocks noChangeAspect="1"/>
          </p:cNvPicPr>
          <p:nvPr/>
        </p:nvPicPr>
        <p:blipFill>
          <a:blip r:embed="rId2"/>
          <a:stretch>
            <a:fillRect/>
          </a:stretch>
        </p:blipFill>
        <p:spPr>
          <a:xfrm>
            <a:off x="914400" y="9639300"/>
            <a:ext cx="443210" cy="266700"/>
          </a:xfrm>
          <a:prstGeom prst="rect">
            <a:avLst/>
          </a:prstGeom>
        </p:spPr>
      </p:pic>
      <p:sp>
        <p:nvSpPr>
          <p:cNvPr id="10" name="Text 6"/>
          <p:cNvSpPr/>
          <p:nvPr/>
        </p:nvSpPr>
        <p:spPr>
          <a:xfrm>
            <a:off x="6637213"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11" name="Text 7"/>
          <p:cNvSpPr/>
          <p:nvPr/>
        </p:nvSpPr>
        <p:spPr>
          <a:xfrm>
            <a:off x="17123866" y="9658350"/>
            <a:ext cx="325934"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22</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570400"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 · CÔNG NGHỆ &amp; THIẾT KẾ</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Quy trình duyệt đề xuất</a:t>
            </a:r>
            <a:endParaRPr lang="en-US" sz="3750" dirty="0"/>
          </a:p>
        </p:txBody>
      </p:sp>
      <p:sp>
        <p:nvSpPr>
          <p:cNvPr id="5" name="Shape 3"/>
          <p:cNvSpPr/>
          <p:nvPr/>
        </p:nvSpPr>
        <p:spPr>
          <a:xfrm>
            <a:off x="914400" y="1881187"/>
            <a:ext cx="3943350" cy="2223046"/>
          </a:xfrm>
          <a:prstGeom prst="rect">
            <a:avLst/>
          </a:prstGeom>
          <a:solidFill>
            <a:srgbClr val="FFFFFF"/>
          </a:solidFill>
          <a:ln w="9525">
            <a:solidFill>
              <a:srgbClr val="ECE6E2"/>
            </a:solidFill>
            <a:prstDash val="solid"/>
          </a:ln>
        </p:spPr>
      </p:sp>
      <p:sp>
        <p:nvSpPr>
          <p:cNvPr id="6" name="Shape 4"/>
          <p:cNvSpPr/>
          <p:nvPr/>
        </p:nvSpPr>
        <p:spPr>
          <a:xfrm>
            <a:off x="1190625" y="2157413"/>
            <a:ext cx="495300" cy="495300"/>
          </a:xfrm>
          <a:prstGeom prst="ellipse">
            <a:avLst/>
          </a:prstGeom>
          <a:solidFill>
            <a:srgbClr val="C02034"/>
          </a:solidFill>
          <a:ln/>
        </p:spPr>
      </p:sp>
      <p:sp>
        <p:nvSpPr>
          <p:cNvPr id="7" name="Text 5"/>
          <p:cNvSpPr/>
          <p:nvPr/>
        </p:nvSpPr>
        <p:spPr>
          <a:xfrm>
            <a:off x="1152525" y="2157413"/>
            <a:ext cx="571500" cy="5334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chivo" pitchFamily="34" charset="0"/>
                <a:ea typeface="Archivo" pitchFamily="34" charset="-122"/>
                <a:cs typeface="Archivo" pitchFamily="34" charset="-120"/>
              </a:rPr>
              <a:t>1</a:t>
            </a:r>
            <a:endParaRPr lang="en-US" sz="1800" dirty="0"/>
          </a:p>
        </p:txBody>
      </p:sp>
      <p:sp>
        <p:nvSpPr>
          <p:cNvPr id="8" name="Text 6"/>
          <p:cNvSpPr/>
          <p:nvPr/>
        </p:nvSpPr>
        <p:spPr>
          <a:xfrm>
            <a:off x="1190625" y="2843213"/>
            <a:ext cx="3729990" cy="314325"/>
          </a:xfrm>
          <a:prstGeom prst="rect">
            <a:avLst/>
          </a:prstGeom>
          <a:noFill/>
          <a:ln/>
        </p:spPr>
        <p:txBody>
          <a:bodyPr wrap="square" lIns="25400" tIns="25400" rIns="25400" bIns="25400" rtlCol="0" anchor="t">
            <a:normAutofit/>
          </a:bodyPr>
          <a:lstStyle/>
          <a:p>
            <a:pPr algn="l" indent="0" marL="0">
              <a:buNone/>
            </a:pPr>
            <a:r>
              <a:rPr lang="en-US" sz="2025" b="1" dirty="0">
                <a:solidFill>
                  <a:srgbClr val="1E1A1B"/>
                </a:solidFill>
                <a:latin typeface="Archivo" pitchFamily="34" charset="0"/>
                <a:ea typeface="Archivo" pitchFamily="34" charset="-122"/>
                <a:cs typeface="Archivo" pitchFamily="34" charset="-120"/>
              </a:rPr>
              <a:t>Tạo đề xuất</a:t>
            </a:r>
            <a:endParaRPr lang="en-US" sz="2025" dirty="0"/>
          </a:p>
        </p:txBody>
      </p:sp>
      <p:sp>
        <p:nvSpPr>
          <p:cNvPr id="9" name="Text 7"/>
          <p:cNvSpPr/>
          <p:nvPr/>
        </p:nvSpPr>
        <p:spPr>
          <a:xfrm>
            <a:off x="1190625" y="3214688"/>
            <a:ext cx="3492627" cy="651421"/>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57514F"/>
                </a:solidFill>
                <a:latin typeface="Be Vietnam Pro" pitchFamily="34" charset="0"/>
                <a:ea typeface="Be Vietnam Pro" pitchFamily="34" charset="-122"/>
                <a:cs typeface="Be Vietnam Pro" pitchFamily="34" charset="-120"/>
              </a:rPr>
              <a:t>Chỉ huy đơn vị chọn quân nhân, lập đợt</a:t>
            </a:r>
            <a:endParaRPr lang="en-US" sz="1725" dirty="0"/>
          </a:p>
        </p:txBody>
      </p:sp>
      <p:sp>
        <p:nvSpPr>
          <p:cNvPr id="10" name="Shape 8"/>
          <p:cNvSpPr/>
          <p:nvPr/>
        </p:nvSpPr>
        <p:spPr>
          <a:xfrm>
            <a:off x="5086350" y="1881187"/>
            <a:ext cx="3943350" cy="2223046"/>
          </a:xfrm>
          <a:prstGeom prst="rect">
            <a:avLst/>
          </a:prstGeom>
          <a:solidFill>
            <a:srgbClr val="FFFFFF"/>
          </a:solidFill>
          <a:ln w="9525">
            <a:solidFill>
              <a:srgbClr val="ECE6E2"/>
            </a:solidFill>
            <a:prstDash val="solid"/>
          </a:ln>
        </p:spPr>
      </p:sp>
      <p:sp>
        <p:nvSpPr>
          <p:cNvPr id="11" name="Shape 9"/>
          <p:cNvSpPr/>
          <p:nvPr/>
        </p:nvSpPr>
        <p:spPr>
          <a:xfrm>
            <a:off x="5362575" y="2157413"/>
            <a:ext cx="495300" cy="495300"/>
          </a:xfrm>
          <a:prstGeom prst="ellipse">
            <a:avLst/>
          </a:prstGeom>
          <a:solidFill>
            <a:srgbClr val="C02034"/>
          </a:solidFill>
          <a:ln/>
        </p:spPr>
      </p:sp>
      <p:sp>
        <p:nvSpPr>
          <p:cNvPr id="12" name="Text 10"/>
          <p:cNvSpPr/>
          <p:nvPr/>
        </p:nvSpPr>
        <p:spPr>
          <a:xfrm>
            <a:off x="5324475" y="2157413"/>
            <a:ext cx="571500" cy="5334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chivo" pitchFamily="34" charset="0"/>
                <a:ea typeface="Archivo" pitchFamily="34" charset="-122"/>
                <a:cs typeface="Archivo" pitchFamily="34" charset="-120"/>
              </a:rPr>
              <a:t>2</a:t>
            </a:r>
            <a:endParaRPr lang="en-US" sz="1800" dirty="0"/>
          </a:p>
        </p:txBody>
      </p:sp>
      <p:sp>
        <p:nvSpPr>
          <p:cNvPr id="13" name="Text 11"/>
          <p:cNvSpPr/>
          <p:nvPr/>
        </p:nvSpPr>
        <p:spPr>
          <a:xfrm>
            <a:off x="5362575" y="2843213"/>
            <a:ext cx="3729990" cy="314325"/>
          </a:xfrm>
          <a:prstGeom prst="rect">
            <a:avLst/>
          </a:prstGeom>
          <a:noFill/>
          <a:ln/>
        </p:spPr>
        <p:txBody>
          <a:bodyPr wrap="square" lIns="25400" tIns="25400" rIns="25400" bIns="25400" rtlCol="0" anchor="t">
            <a:normAutofit/>
          </a:bodyPr>
          <a:lstStyle/>
          <a:p>
            <a:pPr algn="l" indent="0" marL="0">
              <a:buNone/>
            </a:pPr>
            <a:r>
              <a:rPr lang="en-US" sz="2025" b="1" dirty="0">
                <a:solidFill>
                  <a:srgbClr val="1E1A1B"/>
                </a:solidFill>
                <a:latin typeface="Archivo" pitchFamily="34" charset="0"/>
                <a:ea typeface="Archivo" pitchFamily="34" charset="-122"/>
                <a:cs typeface="Archivo" pitchFamily="34" charset="-120"/>
              </a:rPr>
              <a:t>Kiểm tra điều kiện</a:t>
            </a:r>
            <a:endParaRPr lang="en-US" sz="2025" dirty="0"/>
          </a:p>
        </p:txBody>
      </p:sp>
      <p:sp>
        <p:nvSpPr>
          <p:cNvPr id="14" name="Text 12"/>
          <p:cNvSpPr/>
          <p:nvPr/>
        </p:nvSpPr>
        <p:spPr>
          <a:xfrm>
            <a:off x="5362575" y="3214688"/>
            <a:ext cx="3492627" cy="651421"/>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57514F"/>
                </a:solidFill>
                <a:latin typeface="Be Vietnam Pro" pitchFamily="34" charset="0"/>
                <a:ea typeface="Be Vietnam Pro" pitchFamily="34" charset="-122"/>
                <a:cs typeface="Be Vietnam Pro" pitchFamily="34" charset="-120"/>
              </a:rPr>
              <a:t>Hệ thống xét tự động, cảnh báo trùng</a:t>
            </a:r>
            <a:endParaRPr lang="en-US" sz="1725" dirty="0"/>
          </a:p>
        </p:txBody>
      </p:sp>
      <p:sp>
        <p:nvSpPr>
          <p:cNvPr id="15" name="Shape 13"/>
          <p:cNvSpPr/>
          <p:nvPr/>
        </p:nvSpPr>
        <p:spPr>
          <a:xfrm>
            <a:off x="9258300" y="1881187"/>
            <a:ext cx="3943350" cy="2223046"/>
          </a:xfrm>
          <a:prstGeom prst="rect">
            <a:avLst/>
          </a:prstGeom>
          <a:solidFill>
            <a:srgbClr val="FFFFFF"/>
          </a:solidFill>
          <a:ln w="9525">
            <a:solidFill>
              <a:srgbClr val="ECE6E2"/>
            </a:solidFill>
            <a:prstDash val="solid"/>
          </a:ln>
        </p:spPr>
      </p:sp>
      <p:sp>
        <p:nvSpPr>
          <p:cNvPr id="16" name="Shape 14"/>
          <p:cNvSpPr/>
          <p:nvPr/>
        </p:nvSpPr>
        <p:spPr>
          <a:xfrm>
            <a:off x="9534525" y="2157413"/>
            <a:ext cx="495300" cy="495300"/>
          </a:xfrm>
          <a:prstGeom prst="ellipse">
            <a:avLst/>
          </a:prstGeom>
          <a:solidFill>
            <a:srgbClr val="C02034"/>
          </a:solidFill>
          <a:ln/>
        </p:spPr>
      </p:sp>
      <p:sp>
        <p:nvSpPr>
          <p:cNvPr id="17" name="Text 15"/>
          <p:cNvSpPr/>
          <p:nvPr/>
        </p:nvSpPr>
        <p:spPr>
          <a:xfrm>
            <a:off x="9496425" y="2157413"/>
            <a:ext cx="571500" cy="5334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chivo" pitchFamily="34" charset="0"/>
                <a:ea typeface="Archivo" pitchFamily="34" charset="-122"/>
                <a:cs typeface="Archivo" pitchFamily="34" charset="-120"/>
              </a:rPr>
              <a:t>3</a:t>
            </a:r>
            <a:endParaRPr lang="en-US" sz="1800" dirty="0"/>
          </a:p>
        </p:txBody>
      </p:sp>
      <p:sp>
        <p:nvSpPr>
          <p:cNvPr id="18" name="Text 16"/>
          <p:cNvSpPr/>
          <p:nvPr/>
        </p:nvSpPr>
        <p:spPr>
          <a:xfrm>
            <a:off x="9534525" y="2843213"/>
            <a:ext cx="3729990" cy="314325"/>
          </a:xfrm>
          <a:prstGeom prst="rect">
            <a:avLst/>
          </a:prstGeom>
          <a:noFill/>
          <a:ln/>
        </p:spPr>
        <p:txBody>
          <a:bodyPr wrap="square" lIns="25400" tIns="25400" rIns="25400" bIns="25400" rtlCol="0" anchor="t">
            <a:normAutofit/>
          </a:bodyPr>
          <a:lstStyle/>
          <a:p>
            <a:pPr algn="l" indent="0" marL="0">
              <a:buNone/>
            </a:pPr>
            <a:r>
              <a:rPr lang="en-US" sz="2025" b="1" dirty="0">
                <a:solidFill>
                  <a:srgbClr val="1E1A1B"/>
                </a:solidFill>
                <a:latin typeface="Archivo" pitchFamily="34" charset="0"/>
                <a:ea typeface="Archivo" pitchFamily="34" charset="-122"/>
                <a:cs typeface="Archivo" pitchFamily="34" charset="-120"/>
              </a:rPr>
              <a:t>Gắn quyết định</a:t>
            </a:r>
            <a:endParaRPr lang="en-US" sz="2025" dirty="0"/>
          </a:p>
        </p:txBody>
      </p:sp>
      <p:sp>
        <p:nvSpPr>
          <p:cNvPr id="19" name="Text 17"/>
          <p:cNvSpPr/>
          <p:nvPr/>
        </p:nvSpPr>
        <p:spPr>
          <a:xfrm>
            <a:off x="9534525" y="3214688"/>
            <a:ext cx="3492627" cy="651421"/>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57514F"/>
                </a:solidFill>
                <a:latin typeface="Be Vietnam Pro" pitchFamily="34" charset="0"/>
                <a:ea typeface="Be Vietnam Pro" pitchFamily="34" charset="-122"/>
                <a:cs typeface="Be Vietnam Pro" pitchFamily="34" charset="-120"/>
              </a:rPr>
              <a:t>Nhập số QĐ + đính kèm PDF đã ký</a:t>
            </a:r>
            <a:endParaRPr lang="en-US" sz="1725" dirty="0"/>
          </a:p>
        </p:txBody>
      </p:sp>
      <p:sp>
        <p:nvSpPr>
          <p:cNvPr id="20" name="Shape 18"/>
          <p:cNvSpPr/>
          <p:nvPr/>
        </p:nvSpPr>
        <p:spPr>
          <a:xfrm>
            <a:off x="13430250" y="1881187"/>
            <a:ext cx="3943350" cy="2223046"/>
          </a:xfrm>
          <a:prstGeom prst="rect">
            <a:avLst/>
          </a:prstGeom>
          <a:solidFill>
            <a:srgbClr val="FFFFFF"/>
          </a:solidFill>
          <a:ln w="9525">
            <a:solidFill>
              <a:srgbClr val="ECE6E2"/>
            </a:solidFill>
            <a:prstDash val="solid"/>
          </a:ln>
        </p:spPr>
      </p:sp>
      <p:sp>
        <p:nvSpPr>
          <p:cNvPr id="21" name="Shape 19"/>
          <p:cNvSpPr/>
          <p:nvPr/>
        </p:nvSpPr>
        <p:spPr>
          <a:xfrm>
            <a:off x="13706475" y="2157413"/>
            <a:ext cx="495300" cy="495300"/>
          </a:xfrm>
          <a:prstGeom prst="ellipse">
            <a:avLst/>
          </a:prstGeom>
          <a:solidFill>
            <a:srgbClr val="C02034"/>
          </a:solidFill>
          <a:ln/>
        </p:spPr>
      </p:sp>
      <p:sp>
        <p:nvSpPr>
          <p:cNvPr id="22" name="Text 20"/>
          <p:cNvSpPr/>
          <p:nvPr/>
        </p:nvSpPr>
        <p:spPr>
          <a:xfrm>
            <a:off x="13668375" y="2157413"/>
            <a:ext cx="571500" cy="5334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chivo" pitchFamily="34" charset="0"/>
                <a:ea typeface="Archivo" pitchFamily="34" charset="-122"/>
                <a:cs typeface="Archivo" pitchFamily="34" charset="-120"/>
              </a:rPr>
              <a:t>4</a:t>
            </a:r>
            <a:endParaRPr lang="en-US" sz="1800" dirty="0"/>
          </a:p>
        </p:txBody>
      </p:sp>
      <p:sp>
        <p:nvSpPr>
          <p:cNvPr id="23" name="Text 21"/>
          <p:cNvSpPr/>
          <p:nvPr/>
        </p:nvSpPr>
        <p:spPr>
          <a:xfrm>
            <a:off x="13706475" y="2843213"/>
            <a:ext cx="3729990" cy="314325"/>
          </a:xfrm>
          <a:prstGeom prst="rect">
            <a:avLst/>
          </a:prstGeom>
          <a:noFill/>
          <a:ln/>
        </p:spPr>
        <p:txBody>
          <a:bodyPr wrap="square" lIns="25400" tIns="25400" rIns="25400" bIns="25400" rtlCol="0" anchor="t">
            <a:normAutofit/>
          </a:bodyPr>
          <a:lstStyle/>
          <a:p>
            <a:pPr algn="l" indent="0" marL="0">
              <a:buNone/>
            </a:pPr>
            <a:r>
              <a:rPr lang="en-US" sz="2025" b="1" dirty="0">
                <a:solidFill>
                  <a:srgbClr val="1E1A1B"/>
                </a:solidFill>
                <a:latin typeface="Archivo" pitchFamily="34" charset="0"/>
                <a:ea typeface="Archivo" pitchFamily="34" charset="-122"/>
                <a:cs typeface="Archivo" pitchFamily="34" charset="-120"/>
              </a:rPr>
              <a:t>Phê duyệt &amp; ghi</a:t>
            </a:r>
            <a:endParaRPr lang="en-US" sz="2025" dirty="0"/>
          </a:p>
        </p:txBody>
      </p:sp>
      <p:sp>
        <p:nvSpPr>
          <p:cNvPr id="24" name="Text 22"/>
          <p:cNvSpPr/>
          <p:nvPr/>
        </p:nvSpPr>
        <p:spPr>
          <a:xfrm>
            <a:off x="13706475" y="3214688"/>
            <a:ext cx="3492627" cy="651421"/>
          </a:xfrm>
          <a:prstGeom prst="rect">
            <a:avLst/>
          </a:prstGeom>
          <a:noFill/>
          <a:ln/>
        </p:spPr>
        <p:txBody>
          <a:bodyPr wrap="square" lIns="25400" tIns="25400" rIns="25400" bIns="25400" rtlCol="0" anchor="t">
            <a:normAutofit/>
          </a:bodyPr>
          <a:lstStyle/>
          <a:p>
            <a:pPr algn="l" indent="0" marL="0">
              <a:lnSpc>
                <a:spcPct val="140000"/>
              </a:lnSpc>
              <a:buNone/>
            </a:pPr>
            <a:r>
              <a:rPr lang="en-US" sz="1725" dirty="0">
                <a:solidFill>
                  <a:srgbClr val="57514F"/>
                </a:solidFill>
                <a:latin typeface="Be Vietnam Pro" pitchFamily="34" charset="0"/>
                <a:ea typeface="Be Vietnam Pro" pitchFamily="34" charset="-122"/>
                <a:cs typeface="Be Vietnam Pro" pitchFamily="34" charset="-120"/>
              </a:rPr>
              <a:t>Ghi danh hiệu, tính lại hồ sơ, nhật ký</a:t>
            </a:r>
            <a:endParaRPr lang="en-US" sz="1725" dirty="0"/>
          </a:p>
        </p:txBody>
      </p:sp>
      <p:sp>
        <p:nvSpPr>
          <p:cNvPr id="25" name="Shape 23"/>
          <p:cNvSpPr/>
          <p:nvPr/>
        </p:nvSpPr>
        <p:spPr>
          <a:xfrm>
            <a:off x="914400" y="4428083"/>
            <a:ext cx="16459200" cy="1331565"/>
          </a:xfrm>
          <a:prstGeom prst="rect">
            <a:avLst/>
          </a:prstGeom>
          <a:solidFill>
            <a:srgbClr val="2A1416"/>
          </a:solidFill>
          <a:ln/>
        </p:spPr>
      </p:sp>
      <p:sp>
        <p:nvSpPr>
          <p:cNvPr id="26" name="Text 24"/>
          <p:cNvSpPr/>
          <p:nvPr/>
        </p:nvSpPr>
        <p:spPr>
          <a:xfrm>
            <a:off x="1295400" y="4732883"/>
            <a:ext cx="17266920" cy="28575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CE3A0"/>
                </a:solidFill>
                <a:latin typeface="Archivo" pitchFamily="34" charset="0"/>
                <a:ea typeface="Archivo" pitchFamily="34" charset="-122"/>
                <a:cs typeface="Archivo" pitchFamily="34" charset="-120"/>
              </a:rPr>
              <a:t>Toàn bộ bước phê duyệt nằm trong MỘT giao dịch</a:t>
            </a:r>
            <a:endParaRPr lang="en-US" sz="1800" dirty="0"/>
          </a:p>
        </p:txBody>
      </p:sp>
      <p:sp>
        <p:nvSpPr>
          <p:cNvPr id="27" name="Text 25"/>
          <p:cNvSpPr/>
          <p:nvPr/>
        </p:nvSpPr>
        <p:spPr>
          <a:xfrm>
            <a:off x="1295400" y="5094833"/>
            <a:ext cx="17266920" cy="398115"/>
          </a:xfrm>
          <a:prstGeom prst="rect">
            <a:avLst/>
          </a:prstGeom>
          <a:noFill/>
          <a:ln/>
        </p:spPr>
        <p:txBody>
          <a:bodyPr wrap="square" lIns="25400" tIns="25400" rIns="25400" bIns="25400" rtlCol="0" anchor="t">
            <a:normAutofit/>
          </a:bodyPr>
          <a:lstStyle/>
          <a:p>
            <a:pPr algn="l" indent="0" marL="0">
              <a:lnSpc>
                <a:spcPct val="140000"/>
              </a:lnSpc>
              <a:buNone/>
            </a:pPr>
            <a:r>
              <a:rPr lang="en-US" sz="2025" dirty="0">
                <a:solidFill>
                  <a:srgbClr val="FFFFFF">
                    <a:alpha val="92000"/>
                  </a:srgbClr>
                </a:solidFill>
                <a:latin typeface="Be Vietnam Pro" pitchFamily="34" charset="0"/>
                <a:ea typeface="Be Vietnam Pro" pitchFamily="34" charset="-122"/>
                <a:cs typeface="Be Vietnam Pro" pitchFamily="34" charset="-120"/>
              </a:rPr>
              <a:t>Ghi danh hiệu → đổi trạng thái → tính lại hồ sơ → ghi nhật ký; lỗi bất kỳ thì hoàn tác toàn bộ.</a:t>
            </a:r>
            <a:endParaRPr lang="en-US" sz="2025" dirty="0"/>
          </a:p>
        </p:txBody>
      </p:sp>
      <p:sp>
        <p:nvSpPr>
          <p:cNvPr id="28" name="Shape 26"/>
          <p:cNvSpPr/>
          <p:nvPr/>
        </p:nvSpPr>
        <p:spPr>
          <a:xfrm>
            <a:off x="914400" y="9477375"/>
            <a:ext cx="16459200" cy="9525"/>
          </a:xfrm>
          <a:prstGeom prst="rect">
            <a:avLst/>
          </a:prstGeom>
          <a:solidFill>
            <a:srgbClr val="E8E2DE"/>
          </a:solidFill>
          <a:ln/>
        </p:spPr>
      </p:sp>
      <p:pic>
        <p:nvPicPr>
          <p:cNvPr id="29"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30" name="Text 27"/>
          <p:cNvSpPr/>
          <p:nvPr/>
        </p:nvSpPr>
        <p:spPr>
          <a:xfrm>
            <a:off x="6637213"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31" name="Text 28"/>
          <p:cNvSpPr/>
          <p:nvPr/>
        </p:nvSpPr>
        <p:spPr>
          <a:xfrm>
            <a:off x="17123866" y="9658350"/>
            <a:ext cx="325934"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23</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570400"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 · CÔNG NGHỆ &amp; THIẾT KẾ</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Kiến trúc phần mềm — Strategy pattern</a:t>
            </a:r>
            <a:endParaRPr lang="en-US" sz="3750" dirty="0"/>
          </a:p>
        </p:txBody>
      </p:sp>
      <p:sp>
        <p:nvSpPr>
          <p:cNvPr id="5" name="Text 3"/>
          <p:cNvSpPr/>
          <p:nvPr/>
        </p:nvSpPr>
        <p:spPr>
          <a:xfrm>
            <a:off x="914400" y="1633538"/>
            <a:ext cx="18105120" cy="338138"/>
          </a:xfrm>
          <a:prstGeom prst="rect">
            <a:avLst/>
          </a:prstGeom>
          <a:noFill/>
          <a:ln/>
        </p:spPr>
        <p:txBody>
          <a:bodyPr wrap="square" lIns="25400" tIns="25400" rIns="25400" bIns="25400" rtlCol="0" anchor="t">
            <a:normAutofit/>
          </a:bodyPr>
          <a:lstStyle/>
          <a:p>
            <a:pPr algn="l" indent="0" marL="0">
              <a:buNone/>
            </a:pPr>
            <a:r>
              <a:rPr lang="en-US" sz="1875" dirty="0">
                <a:solidFill>
                  <a:srgbClr val="57514F"/>
                </a:solidFill>
                <a:latin typeface="Be Vietnam Pro" pitchFamily="34" charset="0"/>
                <a:ea typeface="Be Vietnam Pro" pitchFamily="34" charset="-122"/>
                <a:cs typeface="Be Vietnam Pro" pitchFamily="34" charset="-120"/>
              </a:rPr>
              <a:t>Một giao diện chung, mỗi loại một tệp, điều phối qua Registry — thêm loại mới chỉ cần một tệp + một dòng đăng ký.</a:t>
            </a:r>
            <a:endParaRPr lang="en-US" sz="1875" dirty="0"/>
          </a:p>
        </p:txBody>
      </p:sp>
      <p:sp>
        <p:nvSpPr>
          <p:cNvPr id="6" name="Shape 4"/>
          <p:cNvSpPr/>
          <p:nvPr/>
        </p:nvSpPr>
        <p:spPr>
          <a:xfrm>
            <a:off x="4321969" y="2162175"/>
            <a:ext cx="9643988" cy="6886501"/>
          </a:xfrm>
          <a:prstGeom prst="rect">
            <a:avLst/>
          </a:prstGeom>
          <a:solidFill>
            <a:srgbClr val="FFFFFF"/>
          </a:solidFill>
          <a:ln w="9525">
            <a:solidFill>
              <a:srgbClr val="E8E2DE"/>
            </a:solidFill>
            <a:prstDash val="solid"/>
          </a:ln>
          <a:effectLst>
            <a:outerShdw sx="100000" sy="100000" kx="0" ky="0" algn="bl" rotWithShape="0" blurRad="152400" dist="19050" dir="5400000">
              <a:srgbClr val="000000">
                <a:alpha val="6000"/>
              </a:srgbClr>
            </a:outerShdw>
          </a:effectLst>
        </p:spPr>
      </p:sp>
      <p:pic>
        <p:nvPicPr>
          <p:cNvPr id="7" name="Image 0" descr="preencoded.png">    </p:cNvPr>
          <p:cNvPicPr>
            <a:picLocks noChangeAspect="1"/>
          </p:cNvPicPr>
          <p:nvPr/>
        </p:nvPicPr>
        <p:blipFill>
          <a:blip r:embed="rId1"/>
          <a:srcRect l="0" r="0" t="-39" b="-39"/>
          <a:stretch/>
        </p:blipFill>
        <p:spPr>
          <a:xfrm>
            <a:off x="4321969" y="2162175"/>
            <a:ext cx="9643988" cy="6886501"/>
          </a:xfrm>
          <a:prstGeom prst="rect">
            <a:avLst/>
          </a:prstGeom>
        </p:spPr>
      </p:pic>
      <p:sp>
        <p:nvSpPr>
          <p:cNvPr id="8" name="Shape 5"/>
          <p:cNvSpPr/>
          <p:nvPr/>
        </p:nvSpPr>
        <p:spPr>
          <a:xfrm>
            <a:off x="914400" y="9477375"/>
            <a:ext cx="16459200" cy="9525"/>
          </a:xfrm>
          <a:prstGeom prst="rect">
            <a:avLst/>
          </a:prstGeom>
          <a:solidFill>
            <a:srgbClr val="E8E2DE"/>
          </a:solidFill>
          <a:ln/>
        </p:spPr>
      </p:sp>
      <p:pic>
        <p:nvPicPr>
          <p:cNvPr id="9" name="Image 1" descr="preencoded.png">    </p:cNvPr>
          <p:cNvPicPr>
            <a:picLocks noChangeAspect="1"/>
          </p:cNvPicPr>
          <p:nvPr/>
        </p:nvPicPr>
        <p:blipFill>
          <a:blip r:embed="rId2"/>
          <a:stretch>
            <a:fillRect/>
          </a:stretch>
        </p:blipFill>
        <p:spPr>
          <a:xfrm>
            <a:off x="914400" y="9639300"/>
            <a:ext cx="443210" cy="266700"/>
          </a:xfrm>
          <a:prstGeom prst="rect">
            <a:avLst/>
          </a:prstGeom>
        </p:spPr>
      </p:pic>
      <p:sp>
        <p:nvSpPr>
          <p:cNvPr id="10" name="Text 6"/>
          <p:cNvSpPr/>
          <p:nvPr/>
        </p:nvSpPr>
        <p:spPr>
          <a:xfrm>
            <a:off x="6637139"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11" name="Text 7"/>
          <p:cNvSpPr/>
          <p:nvPr/>
        </p:nvSpPr>
        <p:spPr>
          <a:xfrm>
            <a:off x="17123718" y="9658350"/>
            <a:ext cx="326082"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24</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BF213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12510" b="1251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78101C">
                  <a:alpha val="50000"/>
                </a:srgbClr>
              </a:gs>
              <a:gs pos="55000">
                <a:srgbClr val="78101C">
                  <a:alpha val="0"/>
                </a:srgbClr>
              </a:gs>
            </a:gsLst>
            <a:lin ang="1500000" scaled="0"/>
          </a:gradFill>
          <a:ln/>
        </p:spPr>
      </p:sp>
      <p:pic>
        <p:nvPicPr>
          <p:cNvPr id="4" name="Image 1" descr="preencoded.png">    </p:cNvPr>
          <p:cNvPicPr>
            <a:picLocks noChangeAspect="1"/>
          </p:cNvPicPr>
          <p:nvPr/>
        </p:nvPicPr>
        <p:blipFill>
          <a:blip r:embed="rId2">
            <a:alphaModFix amt="96000"/>
          </a:blip>
          <a:stretch>
            <a:fillRect/>
          </a:stretch>
        </p:blipFill>
        <p:spPr>
          <a:xfrm>
            <a:off x="914400" y="609600"/>
            <a:ext cx="1794718" cy="762000"/>
          </a:xfrm>
          <a:prstGeom prst="rect">
            <a:avLst/>
          </a:prstGeom>
        </p:spPr>
      </p:pic>
      <p:sp>
        <p:nvSpPr>
          <p:cNvPr id="5" name="Text 1"/>
          <p:cNvSpPr/>
          <p:nvPr/>
        </p:nvSpPr>
        <p:spPr>
          <a:xfrm>
            <a:off x="12923565" y="5810250"/>
            <a:ext cx="5796104" cy="5372100"/>
          </a:xfrm>
          <a:prstGeom prst="rect">
            <a:avLst/>
          </a:prstGeom>
          <a:noFill/>
          <a:ln/>
        </p:spPr>
        <p:txBody>
          <a:bodyPr wrap="square" lIns="25400" tIns="25400" rIns="25400" bIns="25400" rtlCol="0" anchor="t">
            <a:normAutofit/>
          </a:bodyPr>
          <a:lstStyle/>
          <a:p>
            <a:pPr algn="l" indent="0" marL="0">
              <a:lnSpc>
                <a:spcPct val="105000"/>
              </a:lnSpc>
              <a:buNone/>
            </a:pPr>
            <a:r>
              <a:rPr lang="en-US" sz="40000" b="1" dirty="0">
                <a:solidFill>
                  <a:srgbClr val="FFFFFF">
                    <a:alpha val="13000"/>
                  </a:srgbClr>
                </a:solidFill>
                <a:latin typeface="Archivo" pitchFamily="34" charset="0"/>
                <a:ea typeface="Archivo" pitchFamily="34" charset="-122"/>
                <a:cs typeface="Archivo" pitchFamily="34" charset="-120"/>
              </a:rPr>
              <a:t>III</a:t>
            </a:r>
            <a:endParaRPr lang="en-US" sz="40000" dirty="0"/>
          </a:p>
        </p:txBody>
      </p:sp>
      <p:sp>
        <p:nvSpPr>
          <p:cNvPr id="6" name="Text 2"/>
          <p:cNvSpPr/>
          <p:nvPr/>
        </p:nvSpPr>
        <p:spPr>
          <a:xfrm>
            <a:off x="914400" y="3540919"/>
            <a:ext cx="18105120" cy="309563"/>
          </a:xfrm>
          <a:prstGeom prst="rect">
            <a:avLst/>
          </a:prstGeom>
          <a:noFill/>
          <a:ln/>
        </p:spPr>
        <p:txBody>
          <a:bodyPr wrap="square" lIns="25400" tIns="25400" rIns="25400" bIns="25400" rtlCol="0" anchor="t">
            <a:normAutofit/>
          </a:bodyPr>
          <a:lstStyle/>
          <a:p>
            <a:pPr algn="l" indent="0" marL="0">
              <a:buNone/>
            </a:pPr>
            <a:r>
              <a:rPr lang="en-US" sz="1950" b="1" spc="375" kern="0" dirty="0">
                <a:solidFill>
                  <a:srgbClr val="FCE3A0"/>
                </a:solidFill>
                <a:latin typeface="Archivo" pitchFamily="34" charset="0"/>
                <a:ea typeface="Archivo" pitchFamily="34" charset="-122"/>
                <a:cs typeface="Archivo" pitchFamily="34" charset="-120"/>
              </a:rPr>
              <a:t>PHẦN III</a:t>
            </a:r>
            <a:endParaRPr lang="en-US" sz="1950" dirty="0"/>
          </a:p>
        </p:txBody>
      </p:sp>
      <p:sp>
        <p:nvSpPr>
          <p:cNvPr id="7" name="Text 3"/>
          <p:cNvSpPr/>
          <p:nvPr/>
        </p:nvSpPr>
        <p:spPr>
          <a:xfrm>
            <a:off x="914400" y="4021931"/>
            <a:ext cx="1810512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dirty="0">
                <a:solidFill>
                  <a:srgbClr val="FFFFFF"/>
                </a:solidFill>
                <a:latin typeface="Archivo" pitchFamily="34" charset="0"/>
                <a:ea typeface="Archivo" pitchFamily="34" charset="-122"/>
                <a:cs typeface="Archivo" pitchFamily="34" charset="-120"/>
              </a:rPr>
              <a:t>Các đóng góp nổi bật</a:t>
            </a:r>
            <a:endParaRPr lang="en-US" sz="7200" dirty="0"/>
          </a:p>
        </p:txBody>
      </p:sp>
      <p:sp>
        <p:nvSpPr>
          <p:cNvPr id="8" name="Shape 4"/>
          <p:cNvSpPr/>
          <p:nvPr/>
        </p:nvSpPr>
        <p:spPr>
          <a:xfrm>
            <a:off x="914400" y="5441156"/>
            <a:ext cx="114300" cy="114300"/>
          </a:xfrm>
          <a:prstGeom prst="rect">
            <a:avLst/>
          </a:prstGeom>
          <a:solidFill>
            <a:srgbClr val="E59C0A"/>
          </a:solidFill>
          <a:ln/>
        </p:spPr>
      </p:sp>
      <p:sp>
        <p:nvSpPr>
          <p:cNvPr id="9" name="Text 5"/>
          <p:cNvSpPr/>
          <p:nvPr/>
        </p:nvSpPr>
        <p:spPr>
          <a:xfrm>
            <a:off x="1200150" y="5317331"/>
            <a:ext cx="4235331" cy="400050"/>
          </a:xfrm>
          <a:prstGeom prst="rect">
            <a:avLst/>
          </a:prstGeom>
          <a:noFill/>
          <a:ln/>
        </p:spPr>
        <p:txBody>
          <a:bodyPr wrap="square" lIns="0" tIns="0" rIns="0" bIns="0" rtlCol="0" anchor="t">
            <a:normAutofit/>
          </a:bodyPr>
          <a:lstStyle/>
          <a:p>
            <a:pPr algn="l" indent="0" marL="0">
              <a:buNone/>
            </a:pPr>
            <a:r>
              <a:rPr lang="en-US" sz="2250" dirty="0">
                <a:solidFill>
                  <a:srgbClr val="FFFFFF">
                    <a:alpha val="94000"/>
                  </a:srgbClr>
                </a:solidFill>
                <a:latin typeface="Be Vietnam Pro" pitchFamily="34" charset="0"/>
                <a:ea typeface="Be Vietnam Pro" pitchFamily="34" charset="-122"/>
                <a:cs typeface="Be Vietnam Pro" pitchFamily="34" charset="-120"/>
              </a:rPr>
              <a:t>Tự động xét điều kiện và gợi ý</a:t>
            </a:r>
            <a:endParaRPr lang="en-US" sz="2250" dirty="0"/>
          </a:p>
        </p:txBody>
      </p:sp>
      <p:sp>
        <p:nvSpPr>
          <p:cNvPr id="10" name="Shape 6"/>
          <p:cNvSpPr/>
          <p:nvPr/>
        </p:nvSpPr>
        <p:spPr>
          <a:xfrm>
            <a:off x="914400" y="5974556"/>
            <a:ext cx="114300" cy="114300"/>
          </a:xfrm>
          <a:prstGeom prst="rect">
            <a:avLst/>
          </a:prstGeom>
          <a:solidFill>
            <a:srgbClr val="E59C0A"/>
          </a:solidFill>
          <a:ln/>
        </p:spPr>
      </p:sp>
      <p:sp>
        <p:nvSpPr>
          <p:cNvPr id="11" name="Text 7"/>
          <p:cNvSpPr/>
          <p:nvPr/>
        </p:nvSpPr>
        <p:spPr>
          <a:xfrm>
            <a:off x="1200150" y="5850731"/>
            <a:ext cx="5896184" cy="400050"/>
          </a:xfrm>
          <a:prstGeom prst="rect">
            <a:avLst/>
          </a:prstGeom>
          <a:noFill/>
          <a:ln/>
        </p:spPr>
        <p:txBody>
          <a:bodyPr wrap="square" lIns="0" tIns="0" rIns="0" bIns="0" rtlCol="0" anchor="t">
            <a:normAutofit/>
          </a:bodyPr>
          <a:lstStyle/>
          <a:p>
            <a:pPr algn="l" indent="0" marL="0">
              <a:buNone/>
            </a:pPr>
            <a:r>
              <a:rPr lang="en-US" sz="2250" dirty="0">
                <a:solidFill>
                  <a:srgbClr val="FFFFFF">
                    <a:alpha val="94000"/>
                  </a:srgbClr>
                </a:solidFill>
                <a:latin typeface="Be Vietnam Pro" pitchFamily="34" charset="0"/>
                <a:ea typeface="Be Vietnam Pro" pitchFamily="34" charset="-122"/>
                <a:cs typeface="Be Vietnam Pro" pitchFamily="34" charset="-120"/>
              </a:rPr>
              <a:t>Số hoá quy trình; nhập Excel có giao dịch</a:t>
            </a:r>
            <a:endParaRPr lang="en-US" sz="2250" dirty="0"/>
          </a:p>
        </p:txBody>
      </p:sp>
      <p:sp>
        <p:nvSpPr>
          <p:cNvPr id="12" name="Shape 8"/>
          <p:cNvSpPr/>
          <p:nvPr/>
        </p:nvSpPr>
        <p:spPr>
          <a:xfrm>
            <a:off x="914400" y="6507956"/>
            <a:ext cx="114300" cy="114300"/>
          </a:xfrm>
          <a:prstGeom prst="rect">
            <a:avLst/>
          </a:prstGeom>
          <a:solidFill>
            <a:srgbClr val="E59C0A"/>
          </a:solidFill>
          <a:ln/>
        </p:spPr>
      </p:sp>
      <p:sp>
        <p:nvSpPr>
          <p:cNvPr id="13" name="Text 9"/>
          <p:cNvSpPr/>
          <p:nvPr/>
        </p:nvSpPr>
        <p:spPr>
          <a:xfrm>
            <a:off x="1200150" y="6384131"/>
            <a:ext cx="4200304" cy="400050"/>
          </a:xfrm>
          <a:prstGeom prst="rect">
            <a:avLst/>
          </a:prstGeom>
          <a:noFill/>
          <a:ln/>
        </p:spPr>
        <p:txBody>
          <a:bodyPr wrap="square" lIns="0" tIns="0" rIns="0" bIns="0" rtlCol="0" anchor="t">
            <a:normAutofit/>
          </a:bodyPr>
          <a:lstStyle/>
          <a:p>
            <a:pPr algn="l" indent="0" marL="0">
              <a:buNone/>
            </a:pPr>
            <a:r>
              <a:rPr lang="en-US" sz="2250" dirty="0">
                <a:solidFill>
                  <a:srgbClr val="FFFFFF">
                    <a:alpha val="94000"/>
                  </a:srgbClr>
                </a:solidFill>
                <a:latin typeface="Be Vietnam Pro" pitchFamily="34" charset="0"/>
                <a:ea typeface="Be Vietnam Pro" pitchFamily="34" charset="-122"/>
                <a:cs typeface="Be Vietnam Pro" pitchFamily="34" charset="-120"/>
              </a:rPr>
              <a:t>Lưu vết, sao lưu và thông báo</a:t>
            </a:r>
            <a:endParaRPr lang="en-US" sz="2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3430399"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III · ĐÓNG GÓP · 01</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Tự động xét điều kiện &amp; gợi ý chủ động</a:t>
            </a:r>
            <a:endParaRPr lang="en-US" sz="3750" dirty="0"/>
          </a:p>
        </p:txBody>
      </p:sp>
      <p:sp>
        <p:nvSpPr>
          <p:cNvPr id="5" name="Shape 3"/>
          <p:cNvSpPr/>
          <p:nvPr/>
        </p:nvSpPr>
        <p:spPr>
          <a:xfrm>
            <a:off x="914400" y="1843088"/>
            <a:ext cx="5295900" cy="7205663"/>
          </a:xfrm>
          <a:prstGeom prst="rect">
            <a:avLst/>
          </a:prstGeom>
          <a:solidFill>
            <a:srgbClr val="FFFFFF"/>
          </a:solidFill>
          <a:ln w="9525">
            <a:solidFill>
              <a:srgbClr val="ECE6E2"/>
            </a:solidFill>
            <a:prstDash val="solid"/>
          </a:ln>
        </p:spPr>
      </p:sp>
      <p:sp>
        <p:nvSpPr>
          <p:cNvPr id="6" name="Shape 4"/>
          <p:cNvSpPr/>
          <p:nvPr/>
        </p:nvSpPr>
        <p:spPr>
          <a:xfrm>
            <a:off x="923925" y="1852612"/>
            <a:ext cx="5276850" cy="571500"/>
          </a:xfrm>
          <a:prstGeom prst="rect">
            <a:avLst/>
          </a:prstGeom>
          <a:solidFill>
            <a:srgbClr val="F2ECE7"/>
          </a:solidFill>
          <a:ln/>
        </p:spPr>
      </p:sp>
      <p:sp>
        <p:nvSpPr>
          <p:cNvPr id="7" name="Text 5"/>
          <p:cNvSpPr/>
          <p:nvPr/>
        </p:nvSpPr>
        <p:spPr>
          <a:xfrm>
            <a:off x="1209675" y="2024062"/>
            <a:ext cx="4863655" cy="26670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7A716C"/>
                </a:solidFill>
                <a:latin typeface="Archivo" pitchFamily="34" charset="0"/>
                <a:ea typeface="Archivo" pitchFamily="34" charset="-122"/>
                <a:cs typeface="Archivo" pitchFamily="34" charset="-120"/>
              </a:rPr>
              <a:t>VẤN ĐỀ</a:t>
            </a:r>
            <a:endParaRPr lang="en-US" sz="1650" dirty="0"/>
          </a:p>
        </p:txBody>
      </p:sp>
      <p:sp>
        <p:nvSpPr>
          <p:cNvPr id="8" name="Text 6"/>
          <p:cNvSpPr/>
          <p:nvPr/>
        </p:nvSpPr>
        <p:spPr>
          <a:xfrm>
            <a:off x="1209675" y="2690812"/>
            <a:ext cx="4863655"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A3537"/>
                </a:solidFill>
                <a:latin typeface="Be Vietnam Pro" pitchFamily="34" charset="0"/>
                <a:ea typeface="Be Vietnam Pro" pitchFamily="34" charset="-122"/>
                <a:cs typeface="Be Vietnam Pro" pitchFamily="34" charset="-120"/>
              </a:rPr>
              <a:t>Xét chuỗi thủ công (cửa sổ 3/7 năm, đếm BKBQP/CSTĐTQ, kiểm NCKH) tốn thời gian, dễ sai và bỏ sót.</a:t>
            </a:r>
            <a:endParaRPr lang="en-US" sz="1950" dirty="0"/>
          </a:p>
        </p:txBody>
      </p:sp>
      <p:sp>
        <p:nvSpPr>
          <p:cNvPr id="9" name="Shape 7"/>
          <p:cNvSpPr/>
          <p:nvPr/>
        </p:nvSpPr>
        <p:spPr>
          <a:xfrm>
            <a:off x="6496050" y="1843088"/>
            <a:ext cx="5295900" cy="7205663"/>
          </a:xfrm>
          <a:prstGeom prst="rect">
            <a:avLst/>
          </a:prstGeom>
          <a:solidFill>
            <a:srgbClr val="FFFFFF"/>
          </a:solidFill>
          <a:ln w="9525">
            <a:solidFill>
              <a:srgbClr val="ECE6E2"/>
            </a:solidFill>
            <a:prstDash val="solid"/>
          </a:ln>
        </p:spPr>
      </p:sp>
      <p:sp>
        <p:nvSpPr>
          <p:cNvPr id="10" name="Shape 8"/>
          <p:cNvSpPr/>
          <p:nvPr/>
        </p:nvSpPr>
        <p:spPr>
          <a:xfrm>
            <a:off x="6505575" y="1852612"/>
            <a:ext cx="5276850" cy="571500"/>
          </a:xfrm>
          <a:prstGeom prst="rect">
            <a:avLst/>
          </a:prstGeom>
          <a:solidFill>
            <a:srgbClr val="1E1A1B"/>
          </a:solidFill>
          <a:ln/>
        </p:spPr>
      </p:sp>
      <p:sp>
        <p:nvSpPr>
          <p:cNvPr id="11" name="Text 9"/>
          <p:cNvSpPr/>
          <p:nvPr/>
        </p:nvSpPr>
        <p:spPr>
          <a:xfrm>
            <a:off x="6791325" y="2024062"/>
            <a:ext cx="4863655" cy="26670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FFFF"/>
                </a:solidFill>
                <a:latin typeface="Archivo" pitchFamily="34" charset="0"/>
                <a:ea typeface="Archivo" pitchFamily="34" charset="-122"/>
                <a:cs typeface="Archivo" pitchFamily="34" charset="-120"/>
              </a:rPr>
              <a:t>CÁCH LÀM</a:t>
            </a:r>
            <a:endParaRPr lang="en-US" sz="1650" dirty="0"/>
          </a:p>
        </p:txBody>
      </p:sp>
      <p:sp>
        <p:nvSpPr>
          <p:cNvPr id="12" name="Text 10"/>
          <p:cNvSpPr/>
          <p:nvPr/>
        </p:nvSpPr>
        <p:spPr>
          <a:xfrm>
            <a:off x="6791325" y="2690812"/>
            <a:ext cx="4863655" cy="1833339"/>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A3537"/>
                </a:solidFill>
                <a:latin typeface="Be Vietnam Pro" pitchFamily="34" charset="0"/>
                <a:ea typeface="Be Vietnam Pro" pitchFamily="34" charset="-122"/>
                <a:cs typeface="Be Vietnam Pro" pitchFamily="34" charset="-120"/>
              </a:rPr>
              <a:t>Mỗi cấp danh hiệu = một dòng cấu hình; một hàm thuần đọc cấu hình + ngữ cảnh chuỗi. Dùng chung cho tính lại hồ sơ và kiểm tra khi phê duyệt; tự sinh gợi ý theo năm.</a:t>
            </a:r>
            <a:endParaRPr lang="en-US" sz="1950" dirty="0"/>
          </a:p>
        </p:txBody>
      </p:sp>
      <p:sp>
        <p:nvSpPr>
          <p:cNvPr id="13" name="Shape 11"/>
          <p:cNvSpPr/>
          <p:nvPr/>
        </p:nvSpPr>
        <p:spPr>
          <a:xfrm>
            <a:off x="12077700" y="1843088"/>
            <a:ext cx="5295900" cy="7205663"/>
          </a:xfrm>
          <a:prstGeom prst="rect">
            <a:avLst/>
          </a:prstGeom>
          <a:solidFill>
            <a:srgbClr val="C02034"/>
          </a:solidFill>
          <a:ln/>
        </p:spPr>
      </p:sp>
      <p:sp>
        <p:nvSpPr>
          <p:cNvPr id="14" name="Shape 12"/>
          <p:cNvSpPr/>
          <p:nvPr/>
        </p:nvSpPr>
        <p:spPr>
          <a:xfrm>
            <a:off x="12077700" y="1843088"/>
            <a:ext cx="5295900" cy="571500"/>
          </a:xfrm>
          <a:prstGeom prst="rect">
            <a:avLst/>
          </a:prstGeom>
          <a:solidFill>
            <a:srgbClr val="8E1622"/>
          </a:solidFill>
          <a:ln/>
        </p:spPr>
      </p:sp>
      <p:sp>
        <p:nvSpPr>
          <p:cNvPr id="15" name="Text 13"/>
          <p:cNvSpPr/>
          <p:nvPr/>
        </p:nvSpPr>
        <p:spPr>
          <a:xfrm>
            <a:off x="12363450" y="2014538"/>
            <a:ext cx="4883277" cy="26670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CE3A0"/>
                </a:solidFill>
                <a:latin typeface="Archivo" pitchFamily="34" charset="0"/>
                <a:ea typeface="Archivo" pitchFamily="34" charset="-122"/>
                <a:cs typeface="Archivo" pitchFamily="34" charset="-120"/>
              </a:rPr>
              <a:t>KẾT QUẢ</a:t>
            </a:r>
            <a:endParaRPr lang="en-US" sz="1650" dirty="0"/>
          </a:p>
        </p:txBody>
      </p:sp>
      <p:sp>
        <p:nvSpPr>
          <p:cNvPr id="16" name="Text 14"/>
          <p:cNvSpPr/>
          <p:nvPr/>
        </p:nvSpPr>
        <p:spPr>
          <a:xfrm>
            <a:off x="12363450" y="2681288"/>
            <a:ext cx="4883277"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FFFFFF"/>
                </a:solidFill>
                <a:latin typeface="Be Vietnam Pro" pitchFamily="34" charset="0"/>
                <a:ea typeface="Be Vietnam Pro" pitchFamily="34" charset="-122"/>
                <a:cs typeface="Be Vietnam Pro" pitchFamily="34" charset="-120"/>
              </a:rPr>
              <a:t>Thời gian xét mỗi quân nhân giảm từ vài chục phút xuống gần như tức thời; bắt được cả ca lỡ đợt vốn dễ bị bỏ sót.</a:t>
            </a:r>
            <a:endParaRPr lang="en-US" sz="1950" dirty="0"/>
          </a:p>
        </p:txBody>
      </p:sp>
      <p:sp>
        <p:nvSpPr>
          <p:cNvPr id="17" name="Shape 15"/>
          <p:cNvSpPr/>
          <p:nvPr/>
        </p:nvSpPr>
        <p:spPr>
          <a:xfrm>
            <a:off x="914400" y="9477375"/>
            <a:ext cx="16459200" cy="9525"/>
          </a:xfrm>
          <a:prstGeom prst="rect">
            <a:avLst/>
          </a:prstGeom>
          <a:solidFill>
            <a:srgbClr val="E8E2DE"/>
          </a:solidFill>
          <a:ln/>
        </p:spPr>
      </p:sp>
      <p:pic>
        <p:nvPicPr>
          <p:cNvPr id="18"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19" name="Text 16"/>
          <p:cNvSpPr/>
          <p:nvPr/>
        </p:nvSpPr>
        <p:spPr>
          <a:xfrm>
            <a:off x="6637213"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20" name="Text 17"/>
          <p:cNvSpPr/>
          <p:nvPr/>
        </p:nvSpPr>
        <p:spPr>
          <a:xfrm>
            <a:off x="17123866" y="9658350"/>
            <a:ext cx="325934"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26</a:t>
            </a:r>
            <a:endParaRPr lang="en-US" sz="1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3430399"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III · ĐÓNG GÓP · 02</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Số hoá quy trình đề xuất &amp; lưu vết</a:t>
            </a:r>
            <a:endParaRPr lang="en-US" sz="3750" dirty="0"/>
          </a:p>
        </p:txBody>
      </p:sp>
      <p:sp>
        <p:nvSpPr>
          <p:cNvPr id="5" name="Shape 3"/>
          <p:cNvSpPr/>
          <p:nvPr/>
        </p:nvSpPr>
        <p:spPr>
          <a:xfrm>
            <a:off x="914400" y="1843088"/>
            <a:ext cx="5295900" cy="7205663"/>
          </a:xfrm>
          <a:prstGeom prst="rect">
            <a:avLst/>
          </a:prstGeom>
          <a:solidFill>
            <a:srgbClr val="FFFFFF"/>
          </a:solidFill>
          <a:ln w="9525">
            <a:solidFill>
              <a:srgbClr val="ECE6E2"/>
            </a:solidFill>
            <a:prstDash val="solid"/>
          </a:ln>
        </p:spPr>
      </p:sp>
      <p:sp>
        <p:nvSpPr>
          <p:cNvPr id="6" name="Shape 4"/>
          <p:cNvSpPr/>
          <p:nvPr/>
        </p:nvSpPr>
        <p:spPr>
          <a:xfrm>
            <a:off x="923925" y="1852612"/>
            <a:ext cx="5276850" cy="571500"/>
          </a:xfrm>
          <a:prstGeom prst="rect">
            <a:avLst/>
          </a:prstGeom>
          <a:solidFill>
            <a:srgbClr val="F2ECE7"/>
          </a:solidFill>
          <a:ln/>
        </p:spPr>
      </p:sp>
      <p:sp>
        <p:nvSpPr>
          <p:cNvPr id="7" name="Text 5"/>
          <p:cNvSpPr/>
          <p:nvPr/>
        </p:nvSpPr>
        <p:spPr>
          <a:xfrm>
            <a:off x="1209675" y="2024062"/>
            <a:ext cx="4863655" cy="26670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7A716C"/>
                </a:solidFill>
                <a:latin typeface="Archivo" pitchFamily="34" charset="0"/>
                <a:ea typeface="Archivo" pitchFamily="34" charset="-122"/>
                <a:cs typeface="Archivo" pitchFamily="34" charset="-120"/>
              </a:rPr>
              <a:t>VẤN ĐỀ</a:t>
            </a:r>
            <a:endParaRPr lang="en-US" sz="1650" dirty="0"/>
          </a:p>
        </p:txBody>
      </p:sp>
      <p:sp>
        <p:nvSpPr>
          <p:cNvPr id="8" name="Text 6"/>
          <p:cNvSpPr/>
          <p:nvPr/>
        </p:nvSpPr>
        <p:spPr>
          <a:xfrm>
            <a:off x="1209675" y="2690812"/>
            <a:ext cx="4863655"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A3537"/>
                </a:solidFill>
                <a:latin typeface="Be Vietnam Pro" pitchFamily="34" charset="0"/>
                <a:ea typeface="Be Vietnam Pro" pitchFamily="34" charset="-122"/>
                <a:cs typeface="Be Vietnam Pro" pitchFamily="34" charset="-120"/>
              </a:rPr>
              <a:t>Quy trình giấy nhiều bước kéo dài 5–10 ngày; sửa giữa chừng không truy được ai, vì sao.</a:t>
            </a:r>
            <a:endParaRPr lang="en-US" sz="1950" dirty="0"/>
          </a:p>
        </p:txBody>
      </p:sp>
      <p:sp>
        <p:nvSpPr>
          <p:cNvPr id="9" name="Shape 7"/>
          <p:cNvSpPr/>
          <p:nvPr/>
        </p:nvSpPr>
        <p:spPr>
          <a:xfrm>
            <a:off x="6496050" y="1843088"/>
            <a:ext cx="5295900" cy="7205663"/>
          </a:xfrm>
          <a:prstGeom prst="rect">
            <a:avLst/>
          </a:prstGeom>
          <a:solidFill>
            <a:srgbClr val="FFFFFF"/>
          </a:solidFill>
          <a:ln w="9525">
            <a:solidFill>
              <a:srgbClr val="ECE6E2"/>
            </a:solidFill>
            <a:prstDash val="solid"/>
          </a:ln>
        </p:spPr>
      </p:sp>
      <p:sp>
        <p:nvSpPr>
          <p:cNvPr id="10" name="Shape 8"/>
          <p:cNvSpPr/>
          <p:nvPr/>
        </p:nvSpPr>
        <p:spPr>
          <a:xfrm>
            <a:off x="6505575" y="1852612"/>
            <a:ext cx="5276850" cy="571500"/>
          </a:xfrm>
          <a:prstGeom prst="rect">
            <a:avLst/>
          </a:prstGeom>
          <a:solidFill>
            <a:srgbClr val="1E1A1B"/>
          </a:solidFill>
          <a:ln/>
        </p:spPr>
      </p:sp>
      <p:sp>
        <p:nvSpPr>
          <p:cNvPr id="11" name="Text 9"/>
          <p:cNvSpPr/>
          <p:nvPr/>
        </p:nvSpPr>
        <p:spPr>
          <a:xfrm>
            <a:off x="6791325" y="2024062"/>
            <a:ext cx="4863655" cy="26670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FFFF"/>
                </a:solidFill>
                <a:latin typeface="Archivo" pitchFamily="34" charset="0"/>
                <a:ea typeface="Archivo" pitchFamily="34" charset="-122"/>
                <a:cs typeface="Archivo" pitchFamily="34" charset="-120"/>
              </a:rPr>
              <a:t>CÁCH LÀM</a:t>
            </a:r>
            <a:endParaRPr lang="en-US" sz="1650" dirty="0"/>
          </a:p>
        </p:txBody>
      </p:sp>
      <p:sp>
        <p:nvSpPr>
          <p:cNvPr id="12" name="Text 10"/>
          <p:cNvSpPr/>
          <p:nvPr/>
        </p:nvSpPr>
        <p:spPr>
          <a:xfrm>
            <a:off x="6791325" y="2690812"/>
            <a:ext cx="4863655" cy="1833339"/>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A3537"/>
                </a:solidFill>
                <a:latin typeface="Be Vietnam Pro" pitchFamily="34" charset="0"/>
                <a:ea typeface="Be Vietnam Pro" pitchFamily="34" charset="-122"/>
                <a:cs typeface="Be Vietnam Pro" pitchFamily="34" charset="-120"/>
              </a:rPr>
              <a:t>Đề xuất là thực thể ba trạng thái; bảy loại theo một giao diện chung. Nhập số QĐ + đính kèm PDF rồi phê duyệt trong một giao dịch, sau đó tính lại hồ sơ và ghi nhật ký.</a:t>
            </a:r>
            <a:endParaRPr lang="en-US" sz="1950" dirty="0"/>
          </a:p>
        </p:txBody>
      </p:sp>
      <p:sp>
        <p:nvSpPr>
          <p:cNvPr id="13" name="Shape 11"/>
          <p:cNvSpPr/>
          <p:nvPr/>
        </p:nvSpPr>
        <p:spPr>
          <a:xfrm>
            <a:off x="12077700" y="1843088"/>
            <a:ext cx="5295900" cy="7205663"/>
          </a:xfrm>
          <a:prstGeom prst="rect">
            <a:avLst/>
          </a:prstGeom>
          <a:solidFill>
            <a:srgbClr val="C02034"/>
          </a:solidFill>
          <a:ln/>
        </p:spPr>
      </p:sp>
      <p:sp>
        <p:nvSpPr>
          <p:cNvPr id="14" name="Shape 12"/>
          <p:cNvSpPr/>
          <p:nvPr/>
        </p:nvSpPr>
        <p:spPr>
          <a:xfrm>
            <a:off x="12077700" y="1843088"/>
            <a:ext cx="5295900" cy="571500"/>
          </a:xfrm>
          <a:prstGeom prst="rect">
            <a:avLst/>
          </a:prstGeom>
          <a:solidFill>
            <a:srgbClr val="8E1622"/>
          </a:solidFill>
          <a:ln/>
        </p:spPr>
      </p:sp>
      <p:sp>
        <p:nvSpPr>
          <p:cNvPr id="15" name="Text 13"/>
          <p:cNvSpPr/>
          <p:nvPr/>
        </p:nvSpPr>
        <p:spPr>
          <a:xfrm>
            <a:off x="12363450" y="2014538"/>
            <a:ext cx="4883277" cy="26670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CE3A0"/>
                </a:solidFill>
                <a:latin typeface="Archivo" pitchFamily="34" charset="0"/>
                <a:ea typeface="Archivo" pitchFamily="34" charset="-122"/>
                <a:cs typeface="Archivo" pitchFamily="34" charset="-120"/>
              </a:rPr>
              <a:t>KẾT QUẢ</a:t>
            </a:r>
            <a:endParaRPr lang="en-US" sz="1650" dirty="0"/>
          </a:p>
        </p:txBody>
      </p:sp>
      <p:sp>
        <p:nvSpPr>
          <p:cNvPr id="16" name="Text 14"/>
          <p:cNvSpPr/>
          <p:nvPr/>
        </p:nvSpPr>
        <p:spPr>
          <a:xfrm>
            <a:off x="12363450" y="2681288"/>
            <a:ext cx="4883277"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FFFFFF"/>
                </a:solidFill>
                <a:latin typeface="Be Vietnam Pro" pitchFamily="34" charset="0"/>
                <a:ea typeface="Be Vietnam Pro" pitchFamily="34" charset="-122"/>
                <a:cs typeface="Be Vietnam Pro" pitchFamily="34" charset="-120"/>
              </a:rPr>
              <a:t>Rút một đợt xét xuống còn trong ngày; truy vết trọn vòng đời đề xuất kèm người, thời điểm, lý do.</a:t>
            </a:r>
            <a:endParaRPr lang="en-US" sz="1950" dirty="0"/>
          </a:p>
        </p:txBody>
      </p:sp>
      <p:sp>
        <p:nvSpPr>
          <p:cNvPr id="17" name="Shape 15"/>
          <p:cNvSpPr/>
          <p:nvPr/>
        </p:nvSpPr>
        <p:spPr>
          <a:xfrm>
            <a:off x="914400" y="9477375"/>
            <a:ext cx="16459200" cy="9525"/>
          </a:xfrm>
          <a:prstGeom prst="rect">
            <a:avLst/>
          </a:prstGeom>
          <a:solidFill>
            <a:srgbClr val="E8E2DE"/>
          </a:solidFill>
          <a:ln/>
        </p:spPr>
      </p:sp>
      <p:pic>
        <p:nvPicPr>
          <p:cNvPr id="18"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19" name="Text 16"/>
          <p:cNvSpPr/>
          <p:nvPr/>
        </p:nvSpPr>
        <p:spPr>
          <a:xfrm>
            <a:off x="6637213"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20" name="Text 17"/>
          <p:cNvSpPr/>
          <p:nvPr/>
        </p:nvSpPr>
        <p:spPr>
          <a:xfrm>
            <a:off x="17123866" y="9658350"/>
            <a:ext cx="325934"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27</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3430399"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III · ĐÓNG GÓP · 03</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Nhập Excel hàng loạt có giao dịch</a:t>
            </a:r>
            <a:endParaRPr lang="en-US" sz="3750" dirty="0"/>
          </a:p>
        </p:txBody>
      </p:sp>
      <p:sp>
        <p:nvSpPr>
          <p:cNvPr id="5" name="Shape 3"/>
          <p:cNvSpPr/>
          <p:nvPr/>
        </p:nvSpPr>
        <p:spPr>
          <a:xfrm>
            <a:off x="914400" y="1843088"/>
            <a:ext cx="5295900" cy="7205663"/>
          </a:xfrm>
          <a:prstGeom prst="rect">
            <a:avLst/>
          </a:prstGeom>
          <a:solidFill>
            <a:srgbClr val="FFFFFF"/>
          </a:solidFill>
          <a:ln w="9525">
            <a:solidFill>
              <a:srgbClr val="ECE6E2"/>
            </a:solidFill>
            <a:prstDash val="solid"/>
          </a:ln>
        </p:spPr>
      </p:sp>
      <p:sp>
        <p:nvSpPr>
          <p:cNvPr id="6" name="Shape 4"/>
          <p:cNvSpPr/>
          <p:nvPr/>
        </p:nvSpPr>
        <p:spPr>
          <a:xfrm>
            <a:off x="923925" y="1852612"/>
            <a:ext cx="5276850" cy="571500"/>
          </a:xfrm>
          <a:prstGeom prst="rect">
            <a:avLst/>
          </a:prstGeom>
          <a:solidFill>
            <a:srgbClr val="F2ECE7"/>
          </a:solidFill>
          <a:ln/>
        </p:spPr>
      </p:sp>
      <p:sp>
        <p:nvSpPr>
          <p:cNvPr id="7" name="Text 5"/>
          <p:cNvSpPr/>
          <p:nvPr/>
        </p:nvSpPr>
        <p:spPr>
          <a:xfrm>
            <a:off x="1209675" y="2024062"/>
            <a:ext cx="4863655" cy="26670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7A716C"/>
                </a:solidFill>
                <a:latin typeface="Archivo" pitchFamily="34" charset="0"/>
                <a:ea typeface="Archivo" pitchFamily="34" charset="-122"/>
                <a:cs typeface="Archivo" pitchFamily="34" charset="-120"/>
              </a:rPr>
              <a:t>VẤN ĐỀ</a:t>
            </a:r>
            <a:endParaRPr lang="en-US" sz="1650" dirty="0"/>
          </a:p>
        </p:txBody>
      </p:sp>
      <p:sp>
        <p:nvSpPr>
          <p:cNvPr id="8" name="Text 6"/>
          <p:cNvSpPr/>
          <p:nvPr/>
        </p:nvSpPr>
        <p:spPr>
          <a:xfrm>
            <a:off x="1209675" y="2690812"/>
            <a:ext cx="4863655"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A3537"/>
                </a:solidFill>
                <a:latin typeface="Be Vietnam Pro" pitchFamily="34" charset="0"/>
                <a:ea typeface="Be Vietnam Pro" pitchFamily="34" charset="-122"/>
                <a:cs typeface="Be Vietnam Pro" pitchFamily="34" charset="-120"/>
              </a:rPr>
              <a:t>Di trú dữ liệu lịch sử lớn (~50.000 danh hiệu, ~15.000 lịch sử chức vụ); nhập tay mất nhiều tháng.</a:t>
            </a:r>
            <a:endParaRPr lang="en-US" sz="1950" dirty="0"/>
          </a:p>
        </p:txBody>
      </p:sp>
      <p:sp>
        <p:nvSpPr>
          <p:cNvPr id="9" name="Shape 7"/>
          <p:cNvSpPr/>
          <p:nvPr/>
        </p:nvSpPr>
        <p:spPr>
          <a:xfrm>
            <a:off x="6496050" y="1843088"/>
            <a:ext cx="5295900" cy="7205663"/>
          </a:xfrm>
          <a:prstGeom prst="rect">
            <a:avLst/>
          </a:prstGeom>
          <a:solidFill>
            <a:srgbClr val="FFFFFF"/>
          </a:solidFill>
          <a:ln w="9525">
            <a:solidFill>
              <a:srgbClr val="ECE6E2"/>
            </a:solidFill>
            <a:prstDash val="solid"/>
          </a:ln>
        </p:spPr>
      </p:sp>
      <p:sp>
        <p:nvSpPr>
          <p:cNvPr id="10" name="Shape 8"/>
          <p:cNvSpPr/>
          <p:nvPr/>
        </p:nvSpPr>
        <p:spPr>
          <a:xfrm>
            <a:off x="6505575" y="1852612"/>
            <a:ext cx="5276850" cy="571500"/>
          </a:xfrm>
          <a:prstGeom prst="rect">
            <a:avLst/>
          </a:prstGeom>
          <a:solidFill>
            <a:srgbClr val="1E1A1B"/>
          </a:solidFill>
          <a:ln/>
        </p:spPr>
      </p:sp>
      <p:sp>
        <p:nvSpPr>
          <p:cNvPr id="11" name="Text 9"/>
          <p:cNvSpPr/>
          <p:nvPr/>
        </p:nvSpPr>
        <p:spPr>
          <a:xfrm>
            <a:off x="6791325" y="2024062"/>
            <a:ext cx="4863655" cy="26670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FFFF"/>
                </a:solidFill>
                <a:latin typeface="Archivo" pitchFamily="34" charset="0"/>
                <a:ea typeface="Archivo" pitchFamily="34" charset="-122"/>
                <a:cs typeface="Archivo" pitchFamily="34" charset="-120"/>
              </a:rPr>
              <a:t>CÁCH LÀM</a:t>
            </a:r>
            <a:endParaRPr lang="en-US" sz="1650" dirty="0"/>
          </a:p>
        </p:txBody>
      </p:sp>
      <p:sp>
        <p:nvSpPr>
          <p:cNvPr id="12" name="Text 10"/>
          <p:cNvSpPr/>
          <p:nvPr/>
        </p:nvSpPr>
        <p:spPr>
          <a:xfrm>
            <a:off x="6791325" y="2690812"/>
            <a:ext cx="4863655" cy="1833339"/>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A3537"/>
                </a:solidFill>
                <a:latin typeface="Be Vietnam Pro" pitchFamily="34" charset="0"/>
                <a:ea typeface="Be Vietnam Pro" pitchFamily="34" charset="-122"/>
                <a:cs typeface="Be Vietnam Pro" pitchFamily="34" charset="-120"/>
              </a:rPr>
              <a:t>Hai bước: </a:t>
            </a:r>
            <a:pPr algn="l" indent="0" marL="0">
              <a:lnSpc>
                <a:spcPct val="145000"/>
              </a:lnSpc>
              <a:buNone/>
            </a:pPr>
            <a:r>
              <a:rPr lang="en-US" sz="1950" b="1" dirty="0">
                <a:solidFill>
                  <a:srgbClr val="1E1A1B"/>
                </a:solidFill>
                <a:latin typeface="Be Vietnam Pro" pitchFamily="34" charset="0"/>
                <a:ea typeface="Be Vietnam Pro" pitchFamily="34" charset="-122"/>
                <a:cs typeface="Be Vietnam Pro" pitchFamily="34" charset="-120"/>
              </a:rPr>
              <a:t>Xem trước </a:t>
            </a:r>
            <a:pPr algn="l" indent="0" marL="0">
              <a:lnSpc>
                <a:spcPct val="145000"/>
              </a:lnSpc>
              <a:buNone/>
            </a:pPr>
            <a:r>
              <a:rPr lang="en-US" sz="1950" dirty="0">
                <a:solidFill>
                  <a:srgbClr val="3A3537"/>
                </a:solidFill>
                <a:latin typeface="Be Vietnam Pro" pitchFamily="34" charset="0"/>
                <a:ea typeface="Be Vietnam Pro" pitchFamily="34" charset="-122"/>
                <a:cs typeface="Be Vietnam Pro" pitchFamily="34" charset="-120"/>
              </a:rPr>
              <a:t>(đối chiếu Zod + quy tắc, liệt kê dòng lỗi, chưa ghi) và </a:t>
            </a:r>
            <a:pPr algn="l" indent="0" marL="0">
              <a:lnSpc>
                <a:spcPct val="145000"/>
              </a:lnSpc>
              <a:buNone/>
            </a:pPr>
            <a:r>
              <a:rPr lang="en-US" sz="1950" b="1" dirty="0">
                <a:solidFill>
                  <a:srgbClr val="1E1A1B"/>
                </a:solidFill>
                <a:latin typeface="Be Vietnam Pro" pitchFamily="34" charset="0"/>
                <a:ea typeface="Be Vietnam Pro" pitchFamily="34" charset="-122"/>
                <a:cs typeface="Be Vietnam Pro" pitchFamily="34" charset="-120"/>
              </a:rPr>
              <a:t>Xác nhận </a:t>
            </a:r>
            <a:pPr algn="l" indent="0" marL="0">
              <a:lnSpc>
                <a:spcPct val="145000"/>
              </a:lnSpc>
              <a:buNone/>
            </a:pPr>
            <a:r>
              <a:rPr lang="en-US" sz="1950" dirty="0">
                <a:solidFill>
                  <a:srgbClr val="3A3537"/>
                </a:solidFill>
                <a:latin typeface="Be Vietnam Pro" pitchFamily="34" charset="0"/>
                <a:ea typeface="Be Vietnam Pro" pitchFamily="34" charset="-122"/>
                <a:cs typeface="Be Vietnam Pro" pitchFamily="34" charset="-120"/>
              </a:rPr>
              <a:t>(ghi trong một giao dịch, lỗi thì hoàn tác toàn bộ); tệp mẫu có danh sách thả xuống.</a:t>
            </a:r>
            <a:endParaRPr lang="en-US" sz="1950" dirty="0"/>
          </a:p>
        </p:txBody>
      </p:sp>
      <p:sp>
        <p:nvSpPr>
          <p:cNvPr id="13" name="Shape 11"/>
          <p:cNvSpPr/>
          <p:nvPr/>
        </p:nvSpPr>
        <p:spPr>
          <a:xfrm>
            <a:off x="12077700" y="1843088"/>
            <a:ext cx="5295900" cy="7205663"/>
          </a:xfrm>
          <a:prstGeom prst="rect">
            <a:avLst/>
          </a:prstGeom>
          <a:solidFill>
            <a:srgbClr val="C02034"/>
          </a:solidFill>
          <a:ln/>
        </p:spPr>
      </p:sp>
      <p:sp>
        <p:nvSpPr>
          <p:cNvPr id="14" name="Shape 12"/>
          <p:cNvSpPr/>
          <p:nvPr/>
        </p:nvSpPr>
        <p:spPr>
          <a:xfrm>
            <a:off x="12077700" y="1843088"/>
            <a:ext cx="5295900" cy="571500"/>
          </a:xfrm>
          <a:prstGeom prst="rect">
            <a:avLst/>
          </a:prstGeom>
          <a:solidFill>
            <a:srgbClr val="8E1622"/>
          </a:solidFill>
          <a:ln/>
        </p:spPr>
      </p:sp>
      <p:sp>
        <p:nvSpPr>
          <p:cNvPr id="15" name="Text 13"/>
          <p:cNvSpPr/>
          <p:nvPr/>
        </p:nvSpPr>
        <p:spPr>
          <a:xfrm>
            <a:off x="12363450" y="2014538"/>
            <a:ext cx="4883277" cy="26670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CE3A0"/>
                </a:solidFill>
                <a:latin typeface="Archivo" pitchFamily="34" charset="0"/>
                <a:ea typeface="Archivo" pitchFamily="34" charset="-122"/>
                <a:cs typeface="Archivo" pitchFamily="34" charset="-120"/>
              </a:rPr>
              <a:t>KẾT QUẢ</a:t>
            </a:r>
            <a:endParaRPr lang="en-US" sz="1650" dirty="0"/>
          </a:p>
        </p:txBody>
      </p:sp>
      <p:sp>
        <p:nvSpPr>
          <p:cNvPr id="16" name="Text 14"/>
          <p:cNvSpPr/>
          <p:nvPr/>
        </p:nvSpPr>
        <p:spPr>
          <a:xfrm>
            <a:off x="12363450" y="2681288"/>
            <a:ext cx="4883277"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FFFFFF"/>
                </a:solidFill>
                <a:latin typeface="Be Vietnam Pro" pitchFamily="34" charset="0"/>
                <a:ea typeface="Be Vietnam Pro" pitchFamily="34" charset="-122"/>
                <a:cs typeface="Be Vietnam Pro" pitchFamily="34" charset="-120"/>
              </a:rPr>
              <a:t>Di trú khối lớn trong thời gian ngắn, không bản ghi nào dở dang; hỗ trợ xuất danh sách ra Excel.</a:t>
            </a:r>
            <a:endParaRPr lang="en-US" sz="1950" dirty="0"/>
          </a:p>
        </p:txBody>
      </p:sp>
      <p:sp>
        <p:nvSpPr>
          <p:cNvPr id="17" name="Shape 15"/>
          <p:cNvSpPr/>
          <p:nvPr/>
        </p:nvSpPr>
        <p:spPr>
          <a:xfrm>
            <a:off x="914400" y="9477375"/>
            <a:ext cx="16459200" cy="9525"/>
          </a:xfrm>
          <a:prstGeom prst="rect">
            <a:avLst/>
          </a:prstGeom>
          <a:solidFill>
            <a:srgbClr val="E8E2DE"/>
          </a:solidFill>
          <a:ln/>
        </p:spPr>
      </p:sp>
      <p:pic>
        <p:nvPicPr>
          <p:cNvPr id="18"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19" name="Text 16"/>
          <p:cNvSpPr/>
          <p:nvPr/>
        </p:nvSpPr>
        <p:spPr>
          <a:xfrm>
            <a:off x="6637213"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20" name="Text 17"/>
          <p:cNvSpPr/>
          <p:nvPr/>
        </p:nvSpPr>
        <p:spPr>
          <a:xfrm>
            <a:off x="17123866" y="9658350"/>
            <a:ext cx="325934"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28</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3430563"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III · ĐÓNG GÓP · 04</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Lưu vết đầy đủ, sao lưu định kỳ &amp; thông báo</a:t>
            </a:r>
            <a:endParaRPr lang="en-US" sz="3750" dirty="0"/>
          </a:p>
        </p:txBody>
      </p:sp>
      <p:sp>
        <p:nvSpPr>
          <p:cNvPr id="5" name="Shape 3"/>
          <p:cNvSpPr/>
          <p:nvPr/>
        </p:nvSpPr>
        <p:spPr>
          <a:xfrm>
            <a:off x="914400" y="1843088"/>
            <a:ext cx="5295900" cy="7205663"/>
          </a:xfrm>
          <a:prstGeom prst="rect">
            <a:avLst/>
          </a:prstGeom>
          <a:solidFill>
            <a:srgbClr val="FFFFFF"/>
          </a:solidFill>
          <a:ln w="9525">
            <a:solidFill>
              <a:srgbClr val="ECE6E2"/>
            </a:solidFill>
            <a:prstDash val="solid"/>
          </a:ln>
        </p:spPr>
      </p:sp>
      <p:sp>
        <p:nvSpPr>
          <p:cNvPr id="6" name="Shape 4"/>
          <p:cNvSpPr/>
          <p:nvPr/>
        </p:nvSpPr>
        <p:spPr>
          <a:xfrm>
            <a:off x="923925" y="1852612"/>
            <a:ext cx="5276850" cy="571500"/>
          </a:xfrm>
          <a:prstGeom prst="rect">
            <a:avLst/>
          </a:prstGeom>
          <a:solidFill>
            <a:srgbClr val="F2ECE7"/>
          </a:solidFill>
          <a:ln/>
        </p:spPr>
      </p:sp>
      <p:sp>
        <p:nvSpPr>
          <p:cNvPr id="7" name="Text 5"/>
          <p:cNvSpPr/>
          <p:nvPr/>
        </p:nvSpPr>
        <p:spPr>
          <a:xfrm>
            <a:off x="1209675" y="2024062"/>
            <a:ext cx="4863655" cy="26670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7A716C"/>
                </a:solidFill>
                <a:latin typeface="Archivo" pitchFamily="34" charset="0"/>
                <a:ea typeface="Archivo" pitchFamily="34" charset="-122"/>
                <a:cs typeface="Archivo" pitchFamily="34" charset="-120"/>
              </a:rPr>
              <a:t>VẤN ĐỀ</a:t>
            </a:r>
            <a:endParaRPr lang="en-US" sz="1650" dirty="0"/>
          </a:p>
        </p:txBody>
      </p:sp>
      <p:sp>
        <p:nvSpPr>
          <p:cNvPr id="8" name="Text 6"/>
          <p:cNvSpPr/>
          <p:nvPr/>
        </p:nvSpPr>
        <p:spPr>
          <a:xfrm>
            <a:off x="1209675" y="2690812"/>
            <a:ext cx="4863655"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A3537"/>
                </a:solidFill>
                <a:latin typeface="Be Vietnam Pro" pitchFamily="34" charset="0"/>
                <a:ea typeface="Be Vietnam Pro" pitchFamily="34" charset="-122"/>
                <a:cs typeface="Be Vietnam Pro" pitchFamily="34" charset="-120"/>
              </a:rPr>
              <a:t>Tệp dùng chung không lưu vết sửa/xoá; sao lưu phụ thuộc kỷ luật cá nhân.</a:t>
            </a:r>
            <a:endParaRPr lang="en-US" sz="1950" dirty="0"/>
          </a:p>
        </p:txBody>
      </p:sp>
      <p:sp>
        <p:nvSpPr>
          <p:cNvPr id="9" name="Shape 7"/>
          <p:cNvSpPr/>
          <p:nvPr/>
        </p:nvSpPr>
        <p:spPr>
          <a:xfrm>
            <a:off x="6496050" y="1843088"/>
            <a:ext cx="5295900" cy="7205663"/>
          </a:xfrm>
          <a:prstGeom prst="rect">
            <a:avLst/>
          </a:prstGeom>
          <a:solidFill>
            <a:srgbClr val="FFFFFF"/>
          </a:solidFill>
          <a:ln w="9525">
            <a:solidFill>
              <a:srgbClr val="ECE6E2"/>
            </a:solidFill>
            <a:prstDash val="solid"/>
          </a:ln>
        </p:spPr>
      </p:sp>
      <p:sp>
        <p:nvSpPr>
          <p:cNvPr id="10" name="Shape 8"/>
          <p:cNvSpPr/>
          <p:nvPr/>
        </p:nvSpPr>
        <p:spPr>
          <a:xfrm>
            <a:off x="6505575" y="1852612"/>
            <a:ext cx="5276850" cy="571500"/>
          </a:xfrm>
          <a:prstGeom prst="rect">
            <a:avLst/>
          </a:prstGeom>
          <a:solidFill>
            <a:srgbClr val="1E1A1B"/>
          </a:solidFill>
          <a:ln/>
        </p:spPr>
      </p:sp>
      <p:sp>
        <p:nvSpPr>
          <p:cNvPr id="11" name="Text 9"/>
          <p:cNvSpPr/>
          <p:nvPr/>
        </p:nvSpPr>
        <p:spPr>
          <a:xfrm>
            <a:off x="6791325" y="2024062"/>
            <a:ext cx="4863655" cy="26670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FFFF"/>
                </a:solidFill>
                <a:latin typeface="Archivo" pitchFamily="34" charset="0"/>
                <a:ea typeface="Archivo" pitchFamily="34" charset="-122"/>
                <a:cs typeface="Archivo" pitchFamily="34" charset="-120"/>
              </a:rPr>
              <a:t>CÁCH LÀM</a:t>
            </a:r>
            <a:endParaRPr lang="en-US" sz="1650" dirty="0"/>
          </a:p>
        </p:txBody>
      </p:sp>
      <p:sp>
        <p:nvSpPr>
          <p:cNvPr id="12" name="Text 10"/>
          <p:cNvSpPr/>
          <p:nvPr/>
        </p:nvSpPr>
        <p:spPr>
          <a:xfrm>
            <a:off x="6791325" y="2690812"/>
            <a:ext cx="4863655" cy="1833339"/>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A3537"/>
                </a:solidFill>
                <a:latin typeface="Be Vietnam Pro" pitchFamily="34" charset="0"/>
                <a:ea typeface="Be Vietnam Pro" pitchFamily="34" charset="-122"/>
                <a:cs typeface="Be Vietnam Pro" pitchFamily="34" charset="-120"/>
              </a:rPr>
              <a:t>Nhật ký ghi mọi thao tác: người, hành động, đối tượng, IP, dữ liệu trước/sau. Sao lưu định kỳ tự động (node-cron); thông báo thời gian thực qua Socket.IO và lưu để xem lại.</a:t>
            </a:r>
            <a:endParaRPr lang="en-US" sz="1950" dirty="0"/>
          </a:p>
        </p:txBody>
      </p:sp>
      <p:sp>
        <p:nvSpPr>
          <p:cNvPr id="13" name="Shape 11"/>
          <p:cNvSpPr/>
          <p:nvPr/>
        </p:nvSpPr>
        <p:spPr>
          <a:xfrm>
            <a:off x="12077700" y="1843088"/>
            <a:ext cx="5295900" cy="7205663"/>
          </a:xfrm>
          <a:prstGeom prst="rect">
            <a:avLst/>
          </a:prstGeom>
          <a:solidFill>
            <a:srgbClr val="C02034"/>
          </a:solidFill>
          <a:ln/>
        </p:spPr>
      </p:sp>
      <p:sp>
        <p:nvSpPr>
          <p:cNvPr id="14" name="Shape 12"/>
          <p:cNvSpPr/>
          <p:nvPr/>
        </p:nvSpPr>
        <p:spPr>
          <a:xfrm>
            <a:off x="12077700" y="1843088"/>
            <a:ext cx="5295900" cy="571500"/>
          </a:xfrm>
          <a:prstGeom prst="rect">
            <a:avLst/>
          </a:prstGeom>
          <a:solidFill>
            <a:srgbClr val="8E1622"/>
          </a:solidFill>
          <a:ln/>
        </p:spPr>
      </p:sp>
      <p:sp>
        <p:nvSpPr>
          <p:cNvPr id="15" name="Text 13"/>
          <p:cNvSpPr/>
          <p:nvPr/>
        </p:nvSpPr>
        <p:spPr>
          <a:xfrm>
            <a:off x="12363450" y="2014538"/>
            <a:ext cx="4883277" cy="26670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CE3A0"/>
                </a:solidFill>
                <a:latin typeface="Archivo" pitchFamily="34" charset="0"/>
                <a:ea typeface="Archivo" pitchFamily="34" charset="-122"/>
                <a:cs typeface="Archivo" pitchFamily="34" charset="-120"/>
              </a:rPr>
              <a:t>KẾT QUẢ</a:t>
            </a:r>
            <a:endParaRPr lang="en-US" sz="1650" dirty="0"/>
          </a:p>
        </p:txBody>
      </p:sp>
      <p:sp>
        <p:nvSpPr>
          <p:cNvPr id="16" name="Text 14"/>
          <p:cNvSpPr/>
          <p:nvPr/>
        </p:nvSpPr>
        <p:spPr>
          <a:xfrm>
            <a:off x="12363450" y="2681288"/>
            <a:ext cx="4883277"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FFFFFF"/>
                </a:solidFill>
                <a:latin typeface="Be Vietnam Pro" pitchFamily="34" charset="0"/>
                <a:ea typeface="Be Vietnam Pro" pitchFamily="34" charset="-122"/>
                <a:cs typeface="Be Vietnam Pro" pitchFamily="34" charset="-120"/>
              </a:rPr>
              <a:t>Mọi thay đổi đều truy vết được; luôn có bản sao lưu hằng ngày sẵn sàng khôi phục.</a:t>
            </a:r>
            <a:endParaRPr lang="en-US" sz="1950" dirty="0"/>
          </a:p>
        </p:txBody>
      </p:sp>
      <p:sp>
        <p:nvSpPr>
          <p:cNvPr id="17" name="Shape 15"/>
          <p:cNvSpPr/>
          <p:nvPr/>
        </p:nvSpPr>
        <p:spPr>
          <a:xfrm>
            <a:off x="914400" y="9477375"/>
            <a:ext cx="16459200" cy="9525"/>
          </a:xfrm>
          <a:prstGeom prst="rect">
            <a:avLst/>
          </a:prstGeom>
          <a:solidFill>
            <a:srgbClr val="E8E2DE"/>
          </a:solidFill>
          <a:ln/>
        </p:spPr>
      </p:sp>
      <p:pic>
        <p:nvPicPr>
          <p:cNvPr id="18"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19" name="Text 16"/>
          <p:cNvSpPr/>
          <p:nvPr/>
        </p:nvSpPr>
        <p:spPr>
          <a:xfrm>
            <a:off x="6637288"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20" name="Text 17"/>
          <p:cNvSpPr/>
          <p:nvPr/>
        </p:nvSpPr>
        <p:spPr>
          <a:xfrm>
            <a:off x="17124015" y="9658350"/>
            <a:ext cx="325785"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29</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BF213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12510" b="1251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78101C">
                  <a:alpha val="50000"/>
                </a:srgbClr>
              </a:gs>
              <a:gs pos="55000">
                <a:srgbClr val="78101C">
                  <a:alpha val="0"/>
                </a:srgbClr>
              </a:gs>
            </a:gsLst>
            <a:lin ang="1500000" scaled="0"/>
          </a:gradFill>
          <a:ln/>
        </p:spPr>
      </p:sp>
      <p:pic>
        <p:nvPicPr>
          <p:cNvPr id="4" name="Image 1" descr="preencoded.png">    </p:cNvPr>
          <p:cNvPicPr>
            <a:picLocks noChangeAspect="1"/>
          </p:cNvPicPr>
          <p:nvPr/>
        </p:nvPicPr>
        <p:blipFill>
          <a:blip r:embed="rId2">
            <a:alphaModFix amt="96000"/>
          </a:blip>
          <a:stretch>
            <a:fillRect/>
          </a:stretch>
        </p:blipFill>
        <p:spPr>
          <a:xfrm>
            <a:off x="914400" y="609600"/>
            <a:ext cx="1794718" cy="762000"/>
          </a:xfrm>
          <a:prstGeom prst="rect">
            <a:avLst/>
          </a:prstGeom>
        </p:spPr>
      </p:pic>
      <p:sp>
        <p:nvSpPr>
          <p:cNvPr id="5" name="Text 1"/>
          <p:cNvSpPr/>
          <p:nvPr/>
        </p:nvSpPr>
        <p:spPr>
          <a:xfrm>
            <a:off x="12642279" y="5810250"/>
            <a:ext cx="6210293" cy="5372100"/>
          </a:xfrm>
          <a:prstGeom prst="rect">
            <a:avLst/>
          </a:prstGeom>
          <a:noFill/>
          <a:ln/>
        </p:spPr>
        <p:txBody>
          <a:bodyPr wrap="square" lIns="25400" tIns="25400" rIns="25400" bIns="25400" rtlCol="0" anchor="t">
            <a:normAutofit/>
          </a:bodyPr>
          <a:lstStyle/>
          <a:p>
            <a:pPr algn="l" indent="0" marL="0">
              <a:lnSpc>
                <a:spcPct val="105000"/>
              </a:lnSpc>
              <a:buNone/>
            </a:pPr>
            <a:r>
              <a:rPr lang="en-US" sz="40000" b="1" dirty="0">
                <a:solidFill>
                  <a:srgbClr val="FFFFFF">
                    <a:alpha val="13000"/>
                  </a:srgbClr>
                </a:solidFill>
                <a:latin typeface="Archivo" pitchFamily="34" charset="0"/>
                <a:ea typeface="Archivo" pitchFamily="34" charset="-122"/>
                <a:cs typeface="Archivo" pitchFamily="34" charset="-120"/>
              </a:rPr>
              <a:t>IV</a:t>
            </a:r>
            <a:endParaRPr lang="en-US" sz="40000" dirty="0"/>
          </a:p>
        </p:txBody>
      </p:sp>
      <p:sp>
        <p:nvSpPr>
          <p:cNvPr id="6" name="Text 2"/>
          <p:cNvSpPr/>
          <p:nvPr/>
        </p:nvSpPr>
        <p:spPr>
          <a:xfrm>
            <a:off x="914400" y="3807619"/>
            <a:ext cx="18105120" cy="309563"/>
          </a:xfrm>
          <a:prstGeom prst="rect">
            <a:avLst/>
          </a:prstGeom>
          <a:noFill/>
          <a:ln/>
        </p:spPr>
        <p:txBody>
          <a:bodyPr wrap="square" lIns="25400" tIns="25400" rIns="25400" bIns="25400" rtlCol="0" anchor="t">
            <a:normAutofit/>
          </a:bodyPr>
          <a:lstStyle/>
          <a:p>
            <a:pPr algn="l" indent="0" marL="0">
              <a:buNone/>
            </a:pPr>
            <a:r>
              <a:rPr lang="en-US" sz="1950" b="1" spc="375" kern="0" dirty="0">
                <a:solidFill>
                  <a:srgbClr val="FCE3A0"/>
                </a:solidFill>
                <a:latin typeface="Archivo" pitchFamily="34" charset="0"/>
                <a:ea typeface="Archivo" pitchFamily="34" charset="-122"/>
                <a:cs typeface="Archivo" pitchFamily="34" charset="-120"/>
              </a:rPr>
              <a:t>PHẦN IV</a:t>
            </a:r>
            <a:endParaRPr lang="en-US" sz="1950" dirty="0"/>
          </a:p>
        </p:txBody>
      </p:sp>
      <p:sp>
        <p:nvSpPr>
          <p:cNvPr id="7" name="Text 3"/>
          <p:cNvSpPr/>
          <p:nvPr/>
        </p:nvSpPr>
        <p:spPr>
          <a:xfrm>
            <a:off x="914400" y="4288631"/>
            <a:ext cx="1810512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dirty="0">
                <a:solidFill>
                  <a:srgbClr val="FFFFFF"/>
                </a:solidFill>
                <a:latin typeface="Archivo" pitchFamily="34" charset="0"/>
                <a:ea typeface="Archivo" pitchFamily="34" charset="-122"/>
                <a:cs typeface="Archivo" pitchFamily="34" charset="-120"/>
              </a:rPr>
              <a:t>Đánh giá &amp; Tổng kết</a:t>
            </a:r>
            <a:endParaRPr lang="en-US" sz="7200" dirty="0"/>
          </a:p>
        </p:txBody>
      </p:sp>
      <p:sp>
        <p:nvSpPr>
          <p:cNvPr id="8" name="Shape 4"/>
          <p:cNvSpPr/>
          <p:nvPr/>
        </p:nvSpPr>
        <p:spPr>
          <a:xfrm>
            <a:off x="914400" y="5707856"/>
            <a:ext cx="114300" cy="114300"/>
          </a:xfrm>
          <a:prstGeom prst="rect">
            <a:avLst/>
          </a:prstGeom>
          <a:solidFill>
            <a:srgbClr val="E59C0A"/>
          </a:solidFill>
          <a:ln/>
        </p:spPr>
      </p:sp>
      <p:sp>
        <p:nvSpPr>
          <p:cNvPr id="9" name="Text 5"/>
          <p:cNvSpPr/>
          <p:nvPr/>
        </p:nvSpPr>
        <p:spPr>
          <a:xfrm>
            <a:off x="1200150" y="5584031"/>
            <a:ext cx="3092226" cy="400050"/>
          </a:xfrm>
          <a:prstGeom prst="rect">
            <a:avLst/>
          </a:prstGeom>
          <a:noFill/>
          <a:ln/>
        </p:spPr>
        <p:txBody>
          <a:bodyPr wrap="square" lIns="0" tIns="0" rIns="0" bIns="0" rtlCol="0" anchor="t">
            <a:normAutofit/>
          </a:bodyPr>
          <a:lstStyle/>
          <a:p>
            <a:pPr algn="l" indent="0" marL="0">
              <a:buNone/>
            </a:pPr>
            <a:r>
              <a:rPr lang="en-US" sz="2250" dirty="0">
                <a:solidFill>
                  <a:srgbClr val="FFFFFF">
                    <a:alpha val="94000"/>
                  </a:srgbClr>
                </a:solidFill>
                <a:latin typeface="Be Vietnam Pro" pitchFamily="34" charset="0"/>
                <a:ea typeface="Be Vietnam Pro" pitchFamily="34" charset="-122"/>
                <a:cs typeface="Be Vietnam Pro" pitchFamily="34" charset="-120"/>
              </a:rPr>
              <a:t>Kiểm thử và triển khai</a:t>
            </a:r>
            <a:endParaRPr lang="en-US" sz="2250" dirty="0"/>
          </a:p>
        </p:txBody>
      </p:sp>
      <p:sp>
        <p:nvSpPr>
          <p:cNvPr id="10" name="Shape 6"/>
          <p:cNvSpPr/>
          <p:nvPr/>
        </p:nvSpPr>
        <p:spPr>
          <a:xfrm>
            <a:off x="914400" y="6241256"/>
            <a:ext cx="114300" cy="114300"/>
          </a:xfrm>
          <a:prstGeom prst="rect">
            <a:avLst/>
          </a:prstGeom>
          <a:solidFill>
            <a:srgbClr val="E59C0A"/>
          </a:solidFill>
          <a:ln/>
        </p:spPr>
      </p:sp>
      <p:sp>
        <p:nvSpPr>
          <p:cNvPr id="11" name="Text 7"/>
          <p:cNvSpPr/>
          <p:nvPr/>
        </p:nvSpPr>
        <p:spPr>
          <a:xfrm>
            <a:off x="1200150" y="6117431"/>
            <a:ext cx="4041416" cy="400050"/>
          </a:xfrm>
          <a:prstGeom prst="rect">
            <a:avLst/>
          </a:prstGeom>
          <a:noFill/>
          <a:ln/>
        </p:spPr>
        <p:txBody>
          <a:bodyPr wrap="square" lIns="0" tIns="0" rIns="0" bIns="0" rtlCol="0" anchor="t">
            <a:normAutofit/>
          </a:bodyPr>
          <a:lstStyle/>
          <a:p>
            <a:pPr algn="l" indent="0" marL="0">
              <a:buNone/>
            </a:pPr>
            <a:r>
              <a:rPr lang="en-US" sz="2250" dirty="0">
                <a:solidFill>
                  <a:srgbClr val="FFFFFF">
                    <a:alpha val="94000"/>
                  </a:srgbClr>
                </a:solidFill>
                <a:latin typeface="Be Vietnam Pro" pitchFamily="34" charset="0"/>
                <a:ea typeface="Be Vietnam Pro" pitchFamily="34" charset="-122"/>
                <a:cs typeface="Be Vietnam Pro" pitchFamily="34" charset="-120"/>
              </a:rPr>
              <a:t>Kết luận và hướng phát triển</a:t>
            </a:r>
            <a:endParaRPr lang="en-US" sz="2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478886"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IV · ĐÁNH GIÁ &amp; TỔNG KẾT</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Kiểm thử và triển khai</a:t>
            </a:r>
            <a:endParaRPr lang="en-US" sz="3750" dirty="0"/>
          </a:p>
        </p:txBody>
      </p:sp>
      <p:sp>
        <p:nvSpPr>
          <p:cNvPr id="5" name="Shape 3"/>
          <p:cNvSpPr/>
          <p:nvPr/>
        </p:nvSpPr>
        <p:spPr>
          <a:xfrm>
            <a:off x="914400" y="1881187"/>
            <a:ext cx="8039100" cy="3300338"/>
          </a:xfrm>
          <a:prstGeom prst="rect">
            <a:avLst/>
          </a:prstGeom>
          <a:solidFill>
            <a:srgbClr val="FFFFFF"/>
          </a:solidFill>
          <a:ln/>
        </p:spPr>
      </p:sp>
      <p:sp>
        <p:nvSpPr>
          <p:cNvPr id="6" name="Shape 4"/>
          <p:cNvSpPr/>
          <p:nvPr/>
        </p:nvSpPr>
        <p:spPr>
          <a:xfrm>
            <a:off x="914400" y="5172001"/>
            <a:ext cx="8039100" cy="9525"/>
          </a:xfrm>
          <a:prstGeom prst="rect">
            <a:avLst/>
          </a:prstGeom>
          <a:solidFill>
            <a:srgbClr val="ECE6E2"/>
          </a:solidFill>
          <a:ln/>
        </p:spPr>
      </p:sp>
      <p:sp>
        <p:nvSpPr>
          <p:cNvPr id="7" name="Shape 5"/>
          <p:cNvSpPr/>
          <p:nvPr/>
        </p:nvSpPr>
        <p:spPr>
          <a:xfrm>
            <a:off x="914400" y="1881187"/>
            <a:ext cx="8039100" cy="38100"/>
          </a:xfrm>
          <a:prstGeom prst="rect">
            <a:avLst/>
          </a:prstGeom>
          <a:solidFill>
            <a:srgbClr val="C02034"/>
          </a:solidFill>
          <a:ln/>
        </p:spPr>
      </p:sp>
      <p:sp>
        <p:nvSpPr>
          <p:cNvPr id="8" name="Shape 6"/>
          <p:cNvSpPr/>
          <p:nvPr/>
        </p:nvSpPr>
        <p:spPr>
          <a:xfrm>
            <a:off x="914400" y="1881187"/>
            <a:ext cx="9525" cy="3300338"/>
          </a:xfrm>
          <a:prstGeom prst="rect">
            <a:avLst/>
          </a:prstGeom>
          <a:solidFill>
            <a:srgbClr val="ECE6E2"/>
          </a:solidFill>
          <a:ln/>
        </p:spPr>
      </p:sp>
      <p:sp>
        <p:nvSpPr>
          <p:cNvPr id="9" name="Shape 7"/>
          <p:cNvSpPr/>
          <p:nvPr/>
        </p:nvSpPr>
        <p:spPr>
          <a:xfrm>
            <a:off x="8943975" y="1881187"/>
            <a:ext cx="9525" cy="3300338"/>
          </a:xfrm>
          <a:prstGeom prst="rect">
            <a:avLst/>
          </a:prstGeom>
          <a:solidFill>
            <a:srgbClr val="ECE6E2"/>
          </a:solidFill>
          <a:ln/>
        </p:spPr>
      </p:sp>
      <p:sp>
        <p:nvSpPr>
          <p:cNvPr id="10" name="Text 8"/>
          <p:cNvSpPr/>
          <p:nvPr/>
        </p:nvSpPr>
        <p:spPr>
          <a:xfrm>
            <a:off x="1285875" y="2243138"/>
            <a:ext cx="8025765" cy="30003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C02034"/>
                </a:solidFill>
                <a:latin typeface="Archivo" pitchFamily="34" charset="0"/>
                <a:ea typeface="Archivo" pitchFamily="34" charset="-122"/>
                <a:cs typeface="Archivo" pitchFamily="34" charset="-120"/>
              </a:rPr>
              <a:t>Kiểm thử</a:t>
            </a:r>
            <a:endParaRPr lang="en-US" sz="1875" dirty="0"/>
          </a:p>
        </p:txBody>
      </p:sp>
      <p:sp>
        <p:nvSpPr>
          <p:cNvPr id="11" name="Text 9"/>
          <p:cNvSpPr/>
          <p:nvPr/>
        </p:nvSpPr>
        <p:spPr>
          <a:xfrm>
            <a:off x="1285875" y="2733675"/>
            <a:ext cx="291480"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C02034"/>
                </a:solidFill>
                <a:latin typeface="Be Vietnam Pro" pitchFamily="34" charset="0"/>
                <a:ea typeface="Be Vietnam Pro" pitchFamily="34" charset="-122"/>
                <a:cs typeface="Be Vietnam Pro" pitchFamily="34" charset="-120"/>
              </a:rPr>
              <a:t>—</a:t>
            </a:r>
            <a:endParaRPr lang="en-US" sz="1950" dirty="0"/>
          </a:p>
        </p:txBody>
      </p:sp>
      <p:sp>
        <p:nvSpPr>
          <p:cNvPr id="12" name="Text 10"/>
          <p:cNvSpPr/>
          <p:nvPr/>
        </p:nvSpPr>
        <p:spPr>
          <a:xfrm>
            <a:off x="1634505" y="2733675"/>
            <a:ext cx="7155946"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3A3537"/>
                </a:solidFill>
                <a:latin typeface="Be Vietnam Pro" pitchFamily="34" charset="0"/>
                <a:ea typeface="Be Vietnam Pro" pitchFamily="34" charset="-122"/>
                <a:cs typeface="Be Vietnam Pro" pitchFamily="34" charset="-120"/>
              </a:rPr>
              <a:t>Hộp đen thủ công qua giao diện (8 nhóm chức năng) + tự động bằng Jest cho quy tắc chuỗi lõi</a:t>
            </a:r>
            <a:endParaRPr lang="en-US" sz="1950" dirty="0"/>
          </a:p>
        </p:txBody>
      </p:sp>
      <p:sp>
        <p:nvSpPr>
          <p:cNvPr id="13" name="Text 11"/>
          <p:cNvSpPr/>
          <p:nvPr/>
        </p:nvSpPr>
        <p:spPr>
          <a:xfrm>
            <a:off x="1285875" y="3617565"/>
            <a:ext cx="291480"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C02034"/>
                </a:solidFill>
                <a:latin typeface="Be Vietnam Pro" pitchFamily="34" charset="0"/>
                <a:ea typeface="Be Vietnam Pro" pitchFamily="34" charset="-122"/>
                <a:cs typeface="Be Vietnam Pro" pitchFamily="34" charset="-120"/>
              </a:rPr>
              <a:t>—</a:t>
            </a:r>
            <a:endParaRPr lang="en-US" sz="1950" dirty="0"/>
          </a:p>
        </p:txBody>
      </p:sp>
      <p:sp>
        <p:nvSpPr>
          <p:cNvPr id="14" name="Text 12"/>
          <p:cNvSpPr/>
          <p:nvPr/>
        </p:nvSpPr>
        <p:spPr>
          <a:xfrm>
            <a:off x="1634505" y="3617565"/>
            <a:ext cx="5976022"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3A3537"/>
                </a:solidFill>
                <a:latin typeface="Be Vietnam Pro" pitchFamily="34" charset="0"/>
                <a:ea typeface="Be Vietnam Pro" pitchFamily="34" charset="-122"/>
                <a:cs typeface="Be Vietnam Pro" pitchFamily="34" charset="-120"/>
              </a:rPr>
              <a:t>Tương thích trên 5 dòng máy và 4 trình duyệt</a:t>
            </a:r>
            <a:endParaRPr lang="en-US" sz="1950" dirty="0"/>
          </a:p>
        </p:txBody>
      </p:sp>
      <p:sp>
        <p:nvSpPr>
          <p:cNvPr id="15" name="Text 13"/>
          <p:cNvSpPr/>
          <p:nvPr/>
        </p:nvSpPr>
        <p:spPr>
          <a:xfrm>
            <a:off x="1285875" y="4154760"/>
            <a:ext cx="291480"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C02034"/>
                </a:solidFill>
                <a:latin typeface="Be Vietnam Pro" pitchFamily="34" charset="0"/>
                <a:ea typeface="Be Vietnam Pro" pitchFamily="34" charset="-122"/>
                <a:cs typeface="Be Vietnam Pro" pitchFamily="34" charset="-120"/>
              </a:rPr>
              <a:t>—</a:t>
            </a:r>
            <a:endParaRPr lang="en-US" sz="1950" dirty="0"/>
          </a:p>
        </p:txBody>
      </p:sp>
      <p:sp>
        <p:nvSpPr>
          <p:cNvPr id="16" name="Text 14"/>
          <p:cNvSpPr/>
          <p:nvPr/>
        </p:nvSpPr>
        <p:spPr>
          <a:xfrm>
            <a:off x="1634505" y="4154760"/>
            <a:ext cx="7155946"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3A3537"/>
                </a:solidFill>
                <a:latin typeface="Be Vietnam Pro" pitchFamily="34" charset="0"/>
                <a:ea typeface="Be Vietnam Pro" pitchFamily="34" charset="-122"/>
                <a:cs typeface="Be Vietnam Pro" pitchFamily="34" charset="-120"/>
              </a:rPr>
              <a:t>Kịch bản trọng yếu: tranh chấp ghi, BKTTCP cửa sổ 7 năm, chống giả mạo qua API, lỡ đợt</a:t>
            </a:r>
            <a:endParaRPr lang="en-US" sz="1950" dirty="0"/>
          </a:p>
        </p:txBody>
      </p:sp>
      <p:sp>
        <p:nvSpPr>
          <p:cNvPr id="17" name="Shape 15"/>
          <p:cNvSpPr/>
          <p:nvPr/>
        </p:nvSpPr>
        <p:spPr>
          <a:xfrm>
            <a:off x="9334500" y="1881187"/>
            <a:ext cx="8039100" cy="3300338"/>
          </a:xfrm>
          <a:prstGeom prst="rect">
            <a:avLst/>
          </a:prstGeom>
          <a:solidFill>
            <a:srgbClr val="FFFFFF"/>
          </a:solidFill>
          <a:ln/>
        </p:spPr>
      </p:sp>
      <p:sp>
        <p:nvSpPr>
          <p:cNvPr id="18" name="Shape 16"/>
          <p:cNvSpPr/>
          <p:nvPr/>
        </p:nvSpPr>
        <p:spPr>
          <a:xfrm>
            <a:off x="9334500" y="5172001"/>
            <a:ext cx="8039100" cy="9525"/>
          </a:xfrm>
          <a:prstGeom prst="rect">
            <a:avLst/>
          </a:prstGeom>
          <a:solidFill>
            <a:srgbClr val="ECE6E2"/>
          </a:solidFill>
          <a:ln/>
        </p:spPr>
      </p:sp>
      <p:sp>
        <p:nvSpPr>
          <p:cNvPr id="19" name="Shape 17"/>
          <p:cNvSpPr/>
          <p:nvPr/>
        </p:nvSpPr>
        <p:spPr>
          <a:xfrm>
            <a:off x="9334500" y="1881187"/>
            <a:ext cx="8039100" cy="38100"/>
          </a:xfrm>
          <a:prstGeom prst="rect">
            <a:avLst/>
          </a:prstGeom>
          <a:solidFill>
            <a:srgbClr val="1E1A1B"/>
          </a:solidFill>
          <a:ln/>
        </p:spPr>
      </p:sp>
      <p:sp>
        <p:nvSpPr>
          <p:cNvPr id="20" name="Shape 18"/>
          <p:cNvSpPr/>
          <p:nvPr/>
        </p:nvSpPr>
        <p:spPr>
          <a:xfrm>
            <a:off x="9334500" y="1881187"/>
            <a:ext cx="9525" cy="3300338"/>
          </a:xfrm>
          <a:prstGeom prst="rect">
            <a:avLst/>
          </a:prstGeom>
          <a:solidFill>
            <a:srgbClr val="ECE6E2"/>
          </a:solidFill>
          <a:ln/>
        </p:spPr>
      </p:sp>
      <p:sp>
        <p:nvSpPr>
          <p:cNvPr id="21" name="Shape 19"/>
          <p:cNvSpPr/>
          <p:nvPr/>
        </p:nvSpPr>
        <p:spPr>
          <a:xfrm>
            <a:off x="17364075" y="1881187"/>
            <a:ext cx="9525" cy="3300338"/>
          </a:xfrm>
          <a:prstGeom prst="rect">
            <a:avLst/>
          </a:prstGeom>
          <a:solidFill>
            <a:srgbClr val="ECE6E2"/>
          </a:solidFill>
          <a:ln/>
        </p:spPr>
      </p:sp>
      <p:sp>
        <p:nvSpPr>
          <p:cNvPr id="22" name="Text 20"/>
          <p:cNvSpPr/>
          <p:nvPr/>
        </p:nvSpPr>
        <p:spPr>
          <a:xfrm>
            <a:off x="9705975" y="2243138"/>
            <a:ext cx="8025765" cy="300038"/>
          </a:xfrm>
          <a:prstGeom prst="rect">
            <a:avLst/>
          </a:prstGeom>
          <a:noFill/>
          <a:ln/>
        </p:spPr>
        <p:txBody>
          <a:bodyPr wrap="square" lIns="25400" tIns="25400" rIns="25400" bIns="25400" rtlCol="0" anchor="t">
            <a:normAutofit/>
          </a:bodyPr>
          <a:lstStyle/>
          <a:p>
            <a:pPr algn="l" indent="0" marL="0">
              <a:buNone/>
            </a:pPr>
            <a:r>
              <a:rPr lang="en-US" sz="1875" b="1" spc="38" kern="0" dirty="0">
                <a:solidFill>
                  <a:srgbClr val="1E1A1B"/>
                </a:solidFill>
                <a:latin typeface="Archivo" pitchFamily="34" charset="0"/>
                <a:ea typeface="Archivo" pitchFamily="34" charset="-122"/>
                <a:cs typeface="Archivo" pitchFamily="34" charset="-120"/>
              </a:rPr>
              <a:t>Triển khai mạng nội bộ</a:t>
            </a:r>
            <a:endParaRPr lang="en-US" sz="1875" dirty="0"/>
          </a:p>
        </p:txBody>
      </p:sp>
      <p:sp>
        <p:nvSpPr>
          <p:cNvPr id="23" name="Text 21"/>
          <p:cNvSpPr/>
          <p:nvPr/>
        </p:nvSpPr>
        <p:spPr>
          <a:xfrm>
            <a:off x="9705975" y="2733675"/>
            <a:ext cx="291480"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E1A1B"/>
                </a:solidFill>
                <a:latin typeface="Be Vietnam Pro" pitchFamily="34" charset="0"/>
                <a:ea typeface="Be Vietnam Pro" pitchFamily="34" charset="-122"/>
                <a:cs typeface="Be Vietnam Pro" pitchFamily="34" charset="-120"/>
              </a:rPr>
              <a:t>—</a:t>
            </a:r>
            <a:endParaRPr lang="en-US" sz="1950" dirty="0"/>
          </a:p>
        </p:txBody>
      </p:sp>
      <p:sp>
        <p:nvSpPr>
          <p:cNvPr id="24" name="Text 22"/>
          <p:cNvSpPr/>
          <p:nvPr/>
        </p:nvSpPr>
        <p:spPr>
          <a:xfrm>
            <a:off x="10054605" y="2733675"/>
            <a:ext cx="7155946"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3A3537"/>
                </a:solidFill>
                <a:latin typeface="Be Vietnam Pro" pitchFamily="34" charset="0"/>
                <a:ea typeface="Be Vietnam Pro" pitchFamily="34" charset="-122"/>
                <a:cs typeface="Be Vietnam Pro" pitchFamily="34" charset="-120"/>
              </a:rPr>
              <a:t>Máy chủ Windows Server (Node.js 20 LTS, PostgreSQL 15)</a:t>
            </a:r>
            <a:endParaRPr lang="en-US" sz="1950" dirty="0"/>
          </a:p>
        </p:txBody>
      </p:sp>
      <p:sp>
        <p:nvSpPr>
          <p:cNvPr id="25" name="Text 23"/>
          <p:cNvSpPr/>
          <p:nvPr/>
        </p:nvSpPr>
        <p:spPr>
          <a:xfrm>
            <a:off x="9705975" y="3617565"/>
            <a:ext cx="291480"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E1A1B"/>
                </a:solidFill>
                <a:latin typeface="Be Vietnam Pro" pitchFamily="34" charset="0"/>
                <a:ea typeface="Be Vietnam Pro" pitchFamily="34" charset="-122"/>
                <a:cs typeface="Be Vietnam Pro" pitchFamily="34" charset="-120"/>
              </a:rPr>
              <a:t>—</a:t>
            </a:r>
            <a:endParaRPr lang="en-US" sz="1950" dirty="0"/>
          </a:p>
        </p:txBody>
      </p:sp>
      <p:sp>
        <p:nvSpPr>
          <p:cNvPr id="26" name="Text 24"/>
          <p:cNvSpPr/>
          <p:nvPr/>
        </p:nvSpPr>
        <p:spPr>
          <a:xfrm>
            <a:off x="10054605" y="3617565"/>
            <a:ext cx="6867101"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E1A1B"/>
                </a:solidFill>
                <a:latin typeface="Be Vietnam Pro" pitchFamily="34" charset="0"/>
                <a:ea typeface="Be Vietnam Pro" pitchFamily="34" charset="-122"/>
                <a:cs typeface="Be Vietnam Pro" pitchFamily="34" charset="-120"/>
              </a:rPr>
              <a:t>prisma migrate dev </a:t>
            </a:r>
            <a:pPr algn="l" indent="0" marL="0">
              <a:lnSpc>
                <a:spcPct val="140000"/>
              </a:lnSpc>
              <a:buNone/>
            </a:pPr>
            <a:r>
              <a:rPr lang="en-US" sz="1950" dirty="0">
                <a:solidFill>
                  <a:srgbClr val="3A3537"/>
                </a:solidFill>
                <a:latin typeface="Be Vietnam Pro" pitchFamily="34" charset="0"/>
                <a:ea typeface="Be Vietnam Pro" pitchFamily="34" charset="-122"/>
                <a:cs typeface="Be Vietnam Pro" pitchFamily="34" charset="-120"/>
              </a:rPr>
              <a:t>tạo lược đồ + tài khoản quản trị</a:t>
            </a:r>
            <a:endParaRPr lang="en-US" sz="1950" dirty="0"/>
          </a:p>
        </p:txBody>
      </p:sp>
      <p:sp>
        <p:nvSpPr>
          <p:cNvPr id="27" name="Text 25"/>
          <p:cNvSpPr/>
          <p:nvPr/>
        </p:nvSpPr>
        <p:spPr>
          <a:xfrm>
            <a:off x="9705975" y="4154760"/>
            <a:ext cx="291480"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E1A1B"/>
                </a:solidFill>
                <a:latin typeface="Be Vietnam Pro" pitchFamily="34" charset="0"/>
                <a:ea typeface="Be Vietnam Pro" pitchFamily="34" charset="-122"/>
                <a:cs typeface="Be Vietnam Pro" pitchFamily="34" charset="-120"/>
              </a:rPr>
              <a:t>—</a:t>
            </a:r>
            <a:endParaRPr lang="en-US" sz="1950" dirty="0"/>
          </a:p>
        </p:txBody>
      </p:sp>
      <p:sp>
        <p:nvSpPr>
          <p:cNvPr id="28" name="Text 26"/>
          <p:cNvSpPr/>
          <p:nvPr/>
        </p:nvSpPr>
        <p:spPr>
          <a:xfrm>
            <a:off x="10054605" y="4154760"/>
            <a:ext cx="6955914"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E1A1B"/>
                </a:solidFill>
                <a:latin typeface="Be Vietnam Pro" pitchFamily="34" charset="0"/>
                <a:ea typeface="Be Vietnam Pro" pitchFamily="34" charset="-122"/>
                <a:cs typeface="Be Vietnam Pro" pitchFamily="34" charset="-120"/>
              </a:rPr>
              <a:t>pm2 start </a:t>
            </a:r>
            <a:pPr algn="l" indent="0" marL="0">
              <a:lnSpc>
                <a:spcPct val="140000"/>
              </a:lnSpc>
              <a:buNone/>
            </a:pPr>
            <a:r>
              <a:rPr lang="en-US" sz="1950" dirty="0">
                <a:solidFill>
                  <a:srgbClr val="3A3537"/>
                </a:solidFill>
                <a:latin typeface="Be Vietnam Pro" pitchFamily="34" charset="0"/>
                <a:ea typeface="Be Vietnam Pro" pitchFamily="34" charset="-122"/>
                <a:cs typeface="Be Vietnam Pro" pitchFamily="34" charset="-120"/>
              </a:rPr>
              <a:t>chạy backend (4000) và frontend (3000)</a:t>
            </a:r>
            <a:endParaRPr lang="en-US" sz="1950" dirty="0"/>
          </a:p>
        </p:txBody>
      </p:sp>
      <p:sp>
        <p:nvSpPr>
          <p:cNvPr id="29" name="Shape 27"/>
          <p:cNvSpPr/>
          <p:nvPr/>
        </p:nvSpPr>
        <p:spPr>
          <a:xfrm>
            <a:off x="914400" y="9477375"/>
            <a:ext cx="16459200" cy="9525"/>
          </a:xfrm>
          <a:prstGeom prst="rect">
            <a:avLst/>
          </a:prstGeom>
          <a:solidFill>
            <a:srgbClr val="E8E2DE"/>
          </a:solidFill>
          <a:ln/>
        </p:spPr>
      </p:sp>
      <p:pic>
        <p:nvPicPr>
          <p:cNvPr id="30"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31" name="Text 28"/>
          <p:cNvSpPr/>
          <p:nvPr/>
        </p:nvSpPr>
        <p:spPr>
          <a:xfrm>
            <a:off x="6637213"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32" name="Text 29"/>
          <p:cNvSpPr/>
          <p:nvPr/>
        </p:nvSpPr>
        <p:spPr>
          <a:xfrm>
            <a:off x="17123866" y="9658350"/>
            <a:ext cx="325934"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31</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CFAF8"/>
        </a:solidFill>
      </p:bgPr>
    </p:bg>
    <p:spTree>
      <p:nvGrpSpPr>
        <p:cNvPr id="1" name=""/>
        <p:cNvGrpSpPr/>
        <p:nvPr/>
      </p:nvGrpSpPr>
      <p:grpSpPr>
        <a:xfrm>
          <a:off x="0" y="0"/>
          <a:ext cx="0" cy="0"/>
          <a:chOff x="0" y="0"/>
          <a:chExt cx="0" cy="0"/>
        </a:xfrm>
      </p:grpSpPr>
      <p:sp>
        <p:nvSpPr>
          <p:cNvPr id="2" name="Shape 0"/>
          <p:cNvSpPr/>
          <p:nvPr/>
        </p:nvSpPr>
        <p:spPr>
          <a:xfrm>
            <a:off x="914400" y="795338"/>
            <a:ext cx="323850" cy="38100"/>
          </a:xfrm>
          <a:prstGeom prst="rect">
            <a:avLst/>
          </a:prstGeom>
          <a:solidFill>
            <a:srgbClr val="C02034"/>
          </a:solidFill>
          <a:ln/>
        </p:spPr>
      </p:sp>
      <p:sp>
        <p:nvSpPr>
          <p:cNvPr id="3" name="Text 1"/>
          <p:cNvSpPr/>
          <p:nvPr/>
        </p:nvSpPr>
        <p:spPr>
          <a:xfrm>
            <a:off x="1371600" y="704850"/>
            <a:ext cx="4478886" cy="257175"/>
          </a:xfrm>
          <a:prstGeom prst="rect">
            <a:avLst/>
          </a:prstGeom>
          <a:noFill/>
          <a:ln/>
        </p:spPr>
        <p:txBody>
          <a:bodyPr wrap="none" lIns="25400" tIns="25400" rIns="25400" bIns="25400" rtlCol="0" anchor="t">
            <a:normAutofit/>
          </a:bodyPr>
          <a:lstStyle/>
          <a:p>
            <a:pPr algn="l" indent="0" marL="0">
              <a:buNone/>
            </a:pPr>
            <a:r>
              <a:rPr lang="en-US" sz="1575" b="1" spc="225" kern="0" dirty="0">
                <a:solidFill>
                  <a:srgbClr val="C02034"/>
                </a:solidFill>
                <a:latin typeface="Archivo" pitchFamily="34" charset="0"/>
                <a:ea typeface="Archivo" pitchFamily="34" charset="-122"/>
                <a:cs typeface="Archivo" pitchFamily="34" charset="-120"/>
              </a:rPr>
              <a:t>PHẦN IV · ĐÁNH GIÁ &amp; TỔNG KẾT</a:t>
            </a:r>
            <a:endParaRPr lang="en-US" sz="1575" dirty="0"/>
          </a:p>
        </p:txBody>
      </p:sp>
      <p:sp>
        <p:nvSpPr>
          <p:cNvPr id="4" name="Text 2"/>
          <p:cNvSpPr/>
          <p:nvPr/>
        </p:nvSpPr>
        <p:spPr>
          <a:xfrm>
            <a:off x="914400" y="1057275"/>
            <a:ext cx="18105120" cy="538163"/>
          </a:xfrm>
          <a:prstGeom prst="rect">
            <a:avLst/>
          </a:prstGeom>
          <a:noFill/>
          <a:ln/>
        </p:spPr>
        <p:txBody>
          <a:bodyPr wrap="square" lIns="25400" tIns="25400" rIns="25400" bIns="25400" rtlCol="0" anchor="t">
            <a:normAutofit/>
          </a:bodyPr>
          <a:lstStyle/>
          <a:p>
            <a:pPr algn="l" indent="0" marL="0">
              <a:lnSpc>
                <a:spcPct val="105000"/>
              </a:lnSpc>
              <a:buNone/>
            </a:pPr>
            <a:r>
              <a:rPr lang="en-US" sz="3750" b="1" dirty="0">
                <a:solidFill>
                  <a:srgbClr val="1E1A1B"/>
                </a:solidFill>
                <a:latin typeface="Archivo" pitchFamily="34" charset="0"/>
                <a:ea typeface="Archivo" pitchFamily="34" charset="-122"/>
                <a:cs typeface="Archivo" pitchFamily="34" charset="-120"/>
              </a:rPr>
              <a:t>Kết luận và hướng phát triển</a:t>
            </a:r>
            <a:endParaRPr lang="en-US" sz="3750" dirty="0"/>
          </a:p>
        </p:txBody>
      </p:sp>
      <p:sp>
        <p:nvSpPr>
          <p:cNvPr id="5" name="Shape 3"/>
          <p:cNvSpPr/>
          <p:nvPr/>
        </p:nvSpPr>
        <p:spPr>
          <a:xfrm>
            <a:off x="914400" y="1862138"/>
            <a:ext cx="5295900" cy="7186613"/>
          </a:xfrm>
          <a:prstGeom prst="rect">
            <a:avLst/>
          </a:prstGeom>
          <a:solidFill>
            <a:srgbClr val="C02034"/>
          </a:solidFill>
          <a:ln/>
        </p:spPr>
      </p:sp>
      <p:sp>
        <p:nvSpPr>
          <p:cNvPr id="6" name="Text 4"/>
          <p:cNvSpPr/>
          <p:nvPr/>
        </p:nvSpPr>
        <p:spPr>
          <a:xfrm>
            <a:off x="1238250" y="2166938"/>
            <a:ext cx="5113020" cy="28575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FCE3A0"/>
                </a:solidFill>
                <a:latin typeface="Archivo" pitchFamily="34" charset="0"/>
                <a:ea typeface="Archivo" pitchFamily="34" charset="-122"/>
                <a:cs typeface="Archivo" pitchFamily="34" charset="-120"/>
              </a:rPr>
              <a:t>ĐÃ ĐẠT ĐƯỢC</a:t>
            </a:r>
            <a:endParaRPr lang="en-US" sz="1800" dirty="0"/>
          </a:p>
        </p:txBody>
      </p:sp>
      <p:sp>
        <p:nvSpPr>
          <p:cNvPr id="7" name="Text 5"/>
          <p:cNvSpPr/>
          <p:nvPr/>
        </p:nvSpPr>
        <p:spPr>
          <a:xfrm>
            <a:off x="1238250" y="2624138"/>
            <a:ext cx="4787646"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FFFFFF"/>
                </a:solidFill>
                <a:latin typeface="Be Vietnam Pro" pitchFamily="34" charset="0"/>
                <a:ea typeface="Be Vietnam Pro" pitchFamily="34" charset="-122"/>
                <a:cs typeface="Be Vietnam Pro" pitchFamily="34" charset="-120"/>
              </a:rPr>
              <a:t>Hoàn thành bảy nhóm khen thưởng, bốn vai trò; tự động hoá xét duyệt; kiểm thử kỹ; triển khai nội bộ.</a:t>
            </a:r>
            <a:endParaRPr lang="en-US" sz="1950" dirty="0"/>
          </a:p>
        </p:txBody>
      </p:sp>
      <p:sp>
        <p:nvSpPr>
          <p:cNvPr id="8" name="Shape 6"/>
          <p:cNvSpPr/>
          <p:nvPr/>
        </p:nvSpPr>
        <p:spPr>
          <a:xfrm>
            <a:off x="6496050" y="1862138"/>
            <a:ext cx="5295900" cy="7186613"/>
          </a:xfrm>
          <a:prstGeom prst="rect">
            <a:avLst/>
          </a:prstGeom>
          <a:solidFill>
            <a:srgbClr val="FFFFFF"/>
          </a:solidFill>
          <a:ln w="9525">
            <a:solidFill>
              <a:srgbClr val="ECE6E2"/>
            </a:solidFill>
            <a:prstDash val="solid"/>
          </a:ln>
        </p:spPr>
      </p:sp>
      <p:sp>
        <p:nvSpPr>
          <p:cNvPr id="9" name="Text 7"/>
          <p:cNvSpPr/>
          <p:nvPr/>
        </p:nvSpPr>
        <p:spPr>
          <a:xfrm>
            <a:off x="6829425" y="2176463"/>
            <a:ext cx="5092065" cy="28575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9A938F"/>
                </a:solidFill>
                <a:latin typeface="Archivo" pitchFamily="34" charset="0"/>
                <a:ea typeface="Archivo" pitchFamily="34" charset="-122"/>
                <a:cs typeface="Archivo" pitchFamily="34" charset="-120"/>
              </a:rPr>
              <a:t>HẠN CHẾ</a:t>
            </a:r>
            <a:endParaRPr lang="en-US" sz="1800" dirty="0"/>
          </a:p>
        </p:txBody>
      </p:sp>
      <p:sp>
        <p:nvSpPr>
          <p:cNvPr id="10" name="Text 8"/>
          <p:cNvSpPr/>
          <p:nvPr/>
        </p:nvSpPr>
        <p:spPr>
          <a:xfrm>
            <a:off x="6829425" y="2633663"/>
            <a:ext cx="4768025" cy="1474291"/>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A3537"/>
                </a:solidFill>
                <a:latin typeface="Be Vietnam Pro" pitchFamily="34" charset="0"/>
                <a:ea typeface="Be Vietnam Pro" pitchFamily="34" charset="-122"/>
                <a:cs typeface="Be Vietnam Pro" pitchFamily="34" charset="-120"/>
              </a:rPr>
              <a:t>Chưa hỗ trợ danh hiệu cao hơn BKTTCP; chưa có module thống kê chuyên sâu; chạy một tiến trình; ký số còn ở dạng PDF.</a:t>
            </a:r>
            <a:endParaRPr lang="en-US" sz="1950" dirty="0"/>
          </a:p>
        </p:txBody>
      </p:sp>
      <p:sp>
        <p:nvSpPr>
          <p:cNvPr id="11" name="Shape 9"/>
          <p:cNvSpPr/>
          <p:nvPr/>
        </p:nvSpPr>
        <p:spPr>
          <a:xfrm>
            <a:off x="12077700" y="1862138"/>
            <a:ext cx="5295900" cy="7186613"/>
          </a:xfrm>
          <a:prstGeom prst="rect">
            <a:avLst/>
          </a:prstGeom>
          <a:solidFill>
            <a:srgbClr val="FBF3E2"/>
          </a:solidFill>
          <a:ln/>
        </p:spPr>
      </p:sp>
      <p:sp>
        <p:nvSpPr>
          <p:cNvPr id="12" name="Shape 10"/>
          <p:cNvSpPr/>
          <p:nvPr/>
        </p:nvSpPr>
        <p:spPr>
          <a:xfrm>
            <a:off x="12077700" y="9039225"/>
            <a:ext cx="5295900" cy="9525"/>
          </a:xfrm>
          <a:prstGeom prst="rect">
            <a:avLst/>
          </a:prstGeom>
          <a:solidFill>
            <a:srgbClr val="F0E2C4"/>
          </a:solidFill>
          <a:ln/>
        </p:spPr>
      </p:sp>
      <p:sp>
        <p:nvSpPr>
          <p:cNvPr id="13" name="Shape 11"/>
          <p:cNvSpPr/>
          <p:nvPr/>
        </p:nvSpPr>
        <p:spPr>
          <a:xfrm>
            <a:off x="12077700" y="1862138"/>
            <a:ext cx="5295900" cy="38100"/>
          </a:xfrm>
          <a:prstGeom prst="rect">
            <a:avLst/>
          </a:prstGeom>
          <a:solidFill>
            <a:srgbClr val="E59C0A"/>
          </a:solidFill>
          <a:ln/>
        </p:spPr>
      </p:sp>
      <p:sp>
        <p:nvSpPr>
          <p:cNvPr id="14" name="Shape 12"/>
          <p:cNvSpPr/>
          <p:nvPr/>
        </p:nvSpPr>
        <p:spPr>
          <a:xfrm>
            <a:off x="12077700" y="1862138"/>
            <a:ext cx="9525" cy="7186613"/>
          </a:xfrm>
          <a:prstGeom prst="rect">
            <a:avLst/>
          </a:prstGeom>
          <a:solidFill>
            <a:srgbClr val="F0E2C4"/>
          </a:solidFill>
          <a:ln/>
        </p:spPr>
      </p:sp>
      <p:sp>
        <p:nvSpPr>
          <p:cNvPr id="15" name="Shape 13"/>
          <p:cNvSpPr/>
          <p:nvPr/>
        </p:nvSpPr>
        <p:spPr>
          <a:xfrm>
            <a:off x="17364075" y="1862138"/>
            <a:ext cx="9525" cy="7186613"/>
          </a:xfrm>
          <a:prstGeom prst="rect">
            <a:avLst/>
          </a:prstGeom>
          <a:solidFill>
            <a:srgbClr val="F0E2C4"/>
          </a:solidFill>
          <a:ln/>
        </p:spPr>
      </p:sp>
      <p:sp>
        <p:nvSpPr>
          <p:cNvPr id="16" name="Text 14"/>
          <p:cNvSpPr/>
          <p:nvPr/>
        </p:nvSpPr>
        <p:spPr>
          <a:xfrm>
            <a:off x="12411075" y="2205038"/>
            <a:ext cx="5092065" cy="285750"/>
          </a:xfrm>
          <a:prstGeom prst="rect">
            <a:avLst/>
          </a:prstGeom>
          <a:noFill/>
          <a:ln/>
        </p:spPr>
        <p:txBody>
          <a:bodyPr wrap="square" lIns="25400" tIns="25400" rIns="25400" bIns="25400" rtlCol="0" anchor="t">
            <a:normAutofit/>
          </a:bodyPr>
          <a:lstStyle/>
          <a:p>
            <a:pPr algn="l" indent="0" marL="0">
              <a:buNone/>
            </a:pPr>
            <a:r>
              <a:rPr lang="en-US" sz="1800" b="1" spc="75" kern="0" dirty="0">
                <a:solidFill>
                  <a:srgbClr val="B07A09"/>
                </a:solidFill>
                <a:latin typeface="Archivo" pitchFamily="34" charset="0"/>
                <a:ea typeface="Archivo" pitchFamily="34" charset="-122"/>
                <a:cs typeface="Archivo" pitchFamily="34" charset="-120"/>
              </a:rPr>
              <a:t>HƯỚNG PHÁT TRIỂN</a:t>
            </a:r>
            <a:endParaRPr lang="en-US" sz="1800" dirty="0"/>
          </a:p>
        </p:txBody>
      </p:sp>
      <p:sp>
        <p:nvSpPr>
          <p:cNvPr id="17" name="Text 15"/>
          <p:cNvSpPr/>
          <p:nvPr/>
        </p:nvSpPr>
        <p:spPr>
          <a:xfrm>
            <a:off x="12411075" y="2662238"/>
            <a:ext cx="4768025" cy="1115244"/>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3A3537"/>
                </a:solidFill>
                <a:latin typeface="Be Vietnam Pro" pitchFamily="34" charset="0"/>
                <a:ea typeface="Be Vietnam Pro" pitchFamily="34" charset="-122"/>
                <a:cs typeface="Be Vietnam Pro" pitchFamily="34" charset="-120"/>
              </a:rPr>
              <a:t>Ứng dụng di động; module phân tích – báo cáo; tích hợp ký số (Smart Card / USB token); mở rộng đa tiến trình.</a:t>
            </a:r>
            <a:endParaRPr lang="en-US" sz="1950" dirty="0"/>
          </a:p>
        </p:txBody>
      </p:sp>
      <p:sp>
        <p:nvSpPr>
          <p:cNvPr id="18" name="Shape 16"/>
          <p:cNvSpPr/>
          <p:nvPr/>
        </p:nvSpPr>
        <p:spPr>
          <a:xfrm>
            <a:off x="914400" y="9477375"/>
            <a:ext cx="16459200" cy="9525"/>
          </a:xfrm>
          <a:prstGeom prst="rect">
            <a:avLst/>
          </a:prstGeom>
          <a:solidFill>
            <a:srgbClr val="E8E2DE"/>
          </a:solidFill>
          <a:ln/>
        </p:spPr>
      </p:sp>
      <p:pic>
        <p:nvPicPr>
          <p:cNvPr id="19" name="Image 0" descr="preencoded.png">    </p:cNvPr>
          <p:cNvPicPr>
            <a:picLocks noChangeAspect="1"/>
          </p:cNvPicPr>
          <p:nvPr/>
        </p:nvPicPr>
        <p:blipFill>
          <a:blip r:embed="rId1"/>
          <a:stretch>
            <a:fillRect/>
          </a:stretch>
        </p:blipFill>
        <p:spPr>
          <a:xfrm>
            <a:off x="914400" y="9639300"/>
            <a:ext cx="443210" cy="266700"/>
          </a:xfrm>
          <a:prstGeom prst="rect">
            <a:avLst/>
          </a:prstGeom>
        </p:spPr>
      </p:pic>
      <p:sp>
        <p:nvSpPr>
          <p:cNvPr id="20" name="Text 17"/>
          <p:cNvSpPr/>
          <p:nvPr/>
        </p:nvSpPr>
        <p:spPr>
          <a:xfrm>
            <a:off x="6637213" y="9639300"/>
            <a:ext cx="5727836"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A938F"/>
                </a:solidFill>
                <a:latin typeface="Be Vietnam Pro" pitchFamily="34" charset="0"/>
                <a:ea typeface="Be Vietnam Pro" pitchFamily="34" charset="-122"/>
                <a:cs typeface="Be Vietnam Pro" pitchFamily="34" charset="-120"/>
              </a:rPr>
              <a:t>Phần mềm Quản lý Khen thưởng · ĐATN 2025/2026</a:t>
            </a:r>
            <a:endParaRPr lang="en-US" sz="1650" dirty="0"/>
          </a:p>
        </p:txBody>
      </p:sp>
      <p:sp>
        <p:nvSpPr>
          <p:cNvPr id="21" name="Text 18"/>
          <p:cNvSpPr/>
          <p:nvPr/>
        </p:nvSpPr>
        <p:spPr>
          <a:xfrm>
            <a:off x="17123866" y="9658350"/>
            <a:ext cx="325934" cy="266700"/>
          </a:xfrm>
          <a:prstGeom prst="rect">
            <a:avLst/>
          </a:prstGeom>
          <a:noFill/>
          <a:ln/>
        </p:spPr>
        <p:txBody>
          <a:bodyPr wrap="square" lIns="25400" tIns="25400" rIns="25400" bIns="25400" rtlCol="0" anchor="t">
            <a:normAutofit/>
          </a:bodyPr>
          <a:lstStyle/>
          <a:p>
            <a:pPr algn="l" indent="0" marL="0">
              <a:buNone/>
            </a:pPr>
            <a:r>
              <a:rPr lang="en-US" sz="1650" b="1" dirty="0">
                <a:solidFill>
                  <a:srgbClr val="C02034"/>
                </a:solidFill>
                <a:latin typeface="Archivo" pitchFamily="34" charset="0"/>
                <a:ea typeface="Archivo" pitchFamily="34" charset="-122"/>
                <a:cs typeface="Archivo" pitchFamily="34" charset="-120"/>
              </a:rPr>
              <a:t>32</a:t>
            </a:r>
            <a:endParaRPr lang="en-US" sz="1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BF213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12510" b="1251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78101C">
                  <a:alpha val="55000"/>
                </a:srgbClr>
              </a:gs>
              <a:gs pos="60000">
                <a:srgbClr val="78101C">
                  <a:alpha val="8000"/>
                </a:srgbClr>
              </a:gs>
            </a:gsLst>
            <a:lin ang="1500000" scaled="0"/>
          </a:gradFill>
          <a:ln/>
        </p:spPr>
      </p:sp>
      <p:pic>
        <p:nvPicPr>
          <p:cNvPr id="4" name="Image 1" descr="preencoded.png">    </p:cNvPr>
          <p:cNvPicPr>
            <a:picLocks noChangeAspect="1"/>
          </p:cNvPicPr>
          <p:nvPr/>
        </p:nvPicPr>
        <p:blipFill>
          <a:blip r:embed="rId2"/>
          <a:stretch>
            <a:fillRect/>
          </a:stretch>
        </p:blipFill>
        <p:spPr>
          <a:xfrm>
            <a:off x="914400" y="704850"/>
            <a:ext cx="2153617" cy="914400"/>
          </a:xfrm>
          <a:prstGeom prst="rect">
            <a:avLst/>
          </a:prstGeom>
        </p:spPr>
      </p:pic>
      <p:sp>
        <p:nvSpPr>
          <p:cNvPr id="5" name="Shape 1"/>
          <p:cNvSpPr/>
          <p:nvPr/>
        </p:nvSpPr>
        <p:spPr>
          <a:xfrm>
            <a:off x="914400" y="3867150"/>
            <a:ext cx="438150" cy="38100"/>
          </a:xfrm>
          <a:prstGeom prst="rect">
            <a:avLst/>
          </a:prstGeom>
          <a:solidFill>
            <a:srgbClr val="E59C0A"/>
          </a:solidFill>
          <a:ln/>
        </p:spPr>
      </p:sp>
      <p:sp>
        <p:nvSpPr>
          <p:cNvPr id="6" name="Text 2"/>
          <p:cNvSpPr/>
          <p:nvPr/>
        </p:nvSpPr>
        <p:spPr>
          <a:xfrm>
            <a:off x="1504950" y="3762375"/>
            <a:ext cx="877565" cy="285750"/>
          </a:xfrm>
          <a:prstGeom prst="rect">
            <a:avLst/>
          </a:prstGeom>
          <a:noFill/>
          <a:ln/>
        </p:spPr>
        <p:txBody>
          <a:bodyPr wrap="square" lIns="25400" tIns="25400" rIns="25400" bIns="25400" rtlCol="0" anchor="t">
            <a:normAutofit/>
          </a:bodyPr>
          <a:lstStyle/>
          <a:p>
            <a:pPr algn="l" indent="0" marL="0">
              <a:buNone/>
            </a:pPr>
            <a:r>
              <a:rPr lang="en-US" sz="1800" b="1" spc="300" kern="0" dirty="0">
                <a:solidFill>
                  <a:srgbClr val="FCE3A0"/>
                </a:solidFill>
                <a:latin typeface="Archivo" pitchFamily="34" charset="0"/>
                <a:ea typeface="Archivo" pitchFamily="34" charset="-122"/>
                <a:cs typeface="Archivo" pitchFamily="34" charset="-120"/>
              </a:rPr>
              <a:t>Q &amp; A</a:t>
            </a:r>
            <a:endParaRPr lang="en-US" sz="1800" dirty="0"/>
          </a:p>
        </p:txBody>
      </p:sp>
      <p:sp>
        <p:nvSpPr>
          <p:cNvPr id="7" name="Text 3"/>
          <p:cNvSpPr/>
          <p:nvPr/>
        </p:nvSpPr>
        <p:spPr>
          <a:xfrm>
            <a:off x="914400" y="4276725"/>
            <a:ext cx="18105120" cy="1028700"/>
          </a:xfrm>
          <a:prstGeom prst="rect">
            <a:avLst/>
          </a:prstGeom>
          <a:noFill/>
          <a:ln/>
        </p:spPr>
        <p:txBody>
          <a:bodyPr wrap="square" lIns="25400" tIns="25400" rIns="25400" bIns="25400" rtlCol="0" anchor="t">
            <a:normAutofit/>
          </a:bodyPr>
          <a:lstStyle/>
          <a:p>
            <a:pPr algn="l" indent="0" marL="0">
              <a:lnSpc>
                <a:spcPct val="100000"/>
              </a:lnSpc>
              <a:buNone/>
            </a:pPr>
            <a:r>
              <a:rPr lang="en-US" sz="7800" b="1" dirty="0">
                <a:solidFill>
                  <a:srgbClr val="FFFFFF"/>
                </a:solidFill>
                <a:latin typeface="Archivo" pitchFamily="34" charset="0"/>
                <a:ea typeface="Archivo" pitchFamily="34" charset="-122"/>
                <a:cs typeface="Archivo" pitchFamily="34" charset="-120"/>
              </a:rPr>
              <a:t>Trân trọng cảm ơn!</a:t>
            </a:r>
            <a:endParaRPr lang="en-US" sz="7800" dirty="0"/>
          </a:p>
        </p:txBody>
      </p:sp>
      <p:sp>
        <p:nvSpPr>
          <p:cNvPr id="8" name="Text 4"/>
          <p:cNvSpPr/>
          <p:nvPr/>
        </p:nvSpPr>
        <p:spPr>
          <a:xfrm>
            <a:off x="914400" y="5553075"/>
            <a:ext cx="10791825" cy="1009650"/>
          </a:xfrm>
          <a:prstGeom prst="rect">
            <a:avLst/>
          </a:prstGeom>
          <a:noFill/>
          <a:ln/>
        </p:spPr>
        <p:txBody>
          <a:bodyPr wrap="square" lIns="25400" tIns="25400" rIns="25400" bIns="25400" rtlCol="0" anchor="t">
            <a:normAutofit/>
          </a:bodyPr>
          <a:lstStyle/>
          <a:p>
            <a:pPr algn="l" indent="0" marL="0">
              <a:lnSpc>
                <a:spcPct val="150000"/>
              </a:lnSpc>
              <a:buNone/>
            </a:pPr>
            <a:r>
              <a:rPr lang="en-US" sz="2550" dirty="0">
                <a:solidFill>
                  <a:srgbClr val="FFFFFF">
                    <a:alpha val="94000"/>
                  </a:srgbClr>
                </a:solidFill>
                <a:latin typeface="Be Vietnam Pro" pitchFamily="34" charset="0"/>
                <a:ea typeface="Be Vietnam Pro" pitchFamily="34" charset="-122"/>
                <a:cs typeface="Be Vietnam Pro" pitchFamily="34" charset="-120"/>
              </a:rPr>
              <a:t>Em xin cảm ơn Hội đồng đã lắng nghe phần trình bày. Em rất mong nhận được nhận xét và câu hỏi từ Hội đồng.</a:t>
            </a:r>
            <a:endParaRPr lang="en-US" sz="2550" dirty="0"/>
          </a:p>
        </p:txBody>
      </p:sp>
      <p:sp>
        <p:nvSpPr>
          <p:cNvPr id="9" name="Shape 5"/>
          <p:cNvSpPr/>
          <p:nvPr/>
        </p:nvSpPr>
        <p:spPr>
          <a:xfrm>
            <a:off x="914400" y="8662988"/>
            <a:ext cx="16459200" cy="9525"/>
          </a:xfrm>
          <a:prstGeom prst="rect">
            <a:avLst/>
          </a:prstGeom>
          <a:solidFill>
            <a:srgbClr val="FFFFFF">
              <a:alpha val="32000"/>
            </a:srgbClr>
          </a:solidFill>
          <a:ln/>
        </p:spPr>
      </p:sp>
      <p:sp>
        <p:nvSpPr>
          <p:cNvPr id="10" name="Text 6"/>
          <p:cNvSpPr/>
          <p:nvPr/>
        </p:nvSpPr>
        <p:spPr>
          <a:xfrm>
            <a:off x="914400" y="8958263"/>
            <a:ext cx="4941860" cy="242888"/>
          </a:xfrm>
          <a:prstGeom prst="rect">
            <a:avLst/>
          </a:prstGeom>
          <a:noFill/>
          <a:ln/>
        </p:spPr>
        <p:txBody>
          <a:bodyPr wrap="square" lIns="25400" tIns="25400" rIns="25400" bIns="25400" rtlCol="0" anchor="t">
            <a:normAutofit/>
          </a:bodyPr>
          <a:lstStyle/>
          <a:p>
            <a:pPr algn="l" indent="0" marL="0">
              <a:buNone/>
            </a:pPr>
            <a:r>
              <a:rPr lang="en-US" sz="1500" b="1" spc="150" kern="0" dirty="0">
                <a:solidFill>
                  <a:srgbClr val="FCE3A0"/>
                </a:solidFill>
                <a:latin typeface="Archivo" pitchFamily="34" charset="0"/>
                <a:ea typeface="Archivo" pitchFamily="34" charset="-122"/>
                <a:cs typeface="Archivo" pitchFamily="34" charset="-120"/>
              </a:rPr>
              <a:t>SINH VIÊN THỰC HIỆN</a:t>
            </a:r>
            <a:endParaRPr lang="en-US" sz="1500" dirty="0"/>
          </a:p>
        </p:txBody>
      </p:sp>
      <p:sp>
        <p:nvSpPr>
          <p:cNvPr id="11" name="Text 7"/>
          <p:cNvSpPr/>
          <p:nvPr/>
        </p:nvSpPr>
        <p:spPr>
          <a:xfrm>
            <a:off x="914400" y="9239250"/>
            <a:ext cx="4941860"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Be Vietnam Pro" pitchFamily="34" charset="0"/>
                <a:ea typeface="Be Vietnam Pro" pitchFamily="34" charset="-122"/>
                <a:cs typeface="Be Vietnam Pro" pitchFamily="34" charset="-120"/>
              </a:rPr>
              <a:t>Trần Anh Đức · MSSV 20220120</a:t>
            </a:r>
            <a:endParaRPr lang="en-US" sz="2250" dirty="0"/>
          </a:p>
        </p:txBody>
      </p:sp>
      <p:sp>
        <p:nvSpPr>
          <p:cNvPr id="12" name="Text 8"/>
          <p:cNvSpPr/>
          <p:nvPr/>
        </p:nvSpPr>
        <p:spPr>
          <a:xfrm>
            <a:off x="6169000" y="8958263"/>
            <a:ext cx="2975856" cy="242888"/>
          </a:xfrm>
          <a:prstGeom prst="rect">
            <a:avLst/>
          </a:prstGeom>
          <a:noFill/>
          <a:ln/>
        </p:spPr>
        <p:txBody>
          <a:bodyPr wrap="square" lIns="25400" tIns="25400" rIns="25400" bIns="25400" rtlCol="0" anchor="t">
            <a:normAutofit/>
          </a:bodyPr>
          <a:lstStyle/>
          <a:p>
            <a:pPr algn="l" indent="0" marL="0">
              <a:buNone/>
            </a:pPr>
            <a:r>
              <a:rPr lang="en-US" sz="1500" b="1" spc="150" kern="0" dirty="0">
                <a:solidFill>
                  <a:srgbClr val="FCE3A0"/>
                </a:solidFill>
                <a:latin typeface="Archivo" pitchFamily="34" charset="0"/>
                <a:ea typeface="Archivo" pitchFamily="34" charset="-122"/>
                <a:cs typeface="Archivo" pitchFamily="34" charset="-120"/>
              </a:rPr>
              <a:t>GIẢNG VIÊN HƯỚNG DẪN</a:t>
            </a:r>
            <a:endParaRPr lang="en-US" sz="1500" dirty="0"/>
          </a:p>
        </p:txBody>
      </p:sp>
      <p:sp>
        <p:nvSpPr>
          <p:cNvPr id="13" name="Text 9"/>
          <p:cNvSpPr/>
          <p:nvPr/>
        </p:nvSpPr>
        <p:spPr>
          <a:xfrm>
            <a:off x="6169000" y="9239250"/>
            <a:ext cx="2975856" cy="400050"/>
          </a:xfrm>
          <a:prstGeom prst="rect">
            <a:avLst/>
          </a:prstGeom>
          <a:noFill/>
          <a:ln/>
        </p:spPr>
        <p:txBody>
          <a:bodyPr wrap="square" lIns="25400" tIns="25400" rIns="25400" bIns="25400" rtlCol="0" anchor="t">
            <a:normAutofit/>
          </a:bodyPr>
          <a:lstStyle/>
          <a:p>
            <a:pPr algn="l" indent="0" marL="0">
              <a:buNone/>
            </a:pPr>
            <a:r>
              <a:rPr lang="en-US" sz="2250" b="1" dirty="0">
                <a:solidFill>
                  <a:srgbClr val="FFFFFF"/>
                </a:solidFill>
                <a:latin typeface="Be Vietnam Pro" pitchFamily="34" charset="0"/>
                <a:ea typeface="Be Vietnam Pro" pitchFamily="34" charset="-122"/>
                <a:cs typeface="Be Vietnam Pro" pitchFamily="34" charset="-120"/>
              </a:rPr>
              <a:t>ThS. Lê Đức Trung</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2026-06-18T01:48:00Z</dcterms:created>
  <dcterms:modified xsi:type="dcterms:W3CDTF">2026-06-18T01:48:00Z</dcterms:modified>
</cp:coreProperties>
</file>